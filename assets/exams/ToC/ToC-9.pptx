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4" r:id="rId1"/>
  </p:sldMasterIdLst>
  <p:notesMasterIdLst>
    <p:notesMasterId r:id="rId28"/>
  </p:notesMasterIdLst>
  <p:sldIdLst>
    <p:sldId id="369" r:id="rId2"/>
    <p:sldId id="307" r:id="rId3"/>
    <p:sldId id="348" r:id="rId4"/>
    <p:sldId id="349" r:id="rId5"/>
    <p:sldId id="350" r:id="rId6"/>
    <p:sldId id="351" r:id="rId7"/>
    <p:sldId id="352" r:id="rId8"/>
    <p:sldId id="285" r:id="rId9"/>
    <p:sldId id="313" r:id="rId10"/>
    <p:sldId id="353" r:id="rId11"/>
    <p:sldId id="354" r:id="rId12"/>
    <p:sldId id="355" r:id="rId13"/>
    <p:sldId id="356" r:id="rId14"/>
    <p:sldId id="286" r:id="rId15"/>
    <p:sldId id="357" r:id="rId16"/>
    <p:sldId id="358" r:id="rId17"/>
    <p:sldId id="314" r:id="rId18"/>
    <p:sldId id="359" r:id="rId19"/>
    <p:sldId id="362" r:id="rId20"/>
    <p:sldId id="364" r:id="rId21"/>
    <p:sldId id="363" r:id="rId22"/>
    <p:sldId id="365" r:id="rId23"/>
    <p:sldId id="360" r:id="rId24"/>
    <p:sldId id="361" r:id="rId25"/>
    <p:sldId id="366" r:id="rId26"/>
    <p:sldId id="37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75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56" autoAdjust="0"/>
    <p:restoredTop sz="96404" autoAdjust="0"/>
  </p:normalViewPr>
  <p:slideViewPr>
    <p:cSldViewPr snapToGrid="0">
      <p:cViewPr varScale="1">
        <p:scale>
          <a:sx n="107" d="100"/>
          <a:sy n="107" d="100"/>
        </p:scale>
        <p:origin x="1160" y="160"/>
      </p:cViewPr>
      <p:guideLst/>
    </p:cSldViewPr>
  </p:slideViewPr>
  <p:outlineViewPr>
    <p:cViewPr>
      <p:scale>
        <a:sx n="33" d="100"/>
        <a:sy n="33" d="100"/>
      </p:scale>
      <p:origin x="0" y="-546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0DDE67-59A0-3C4A-890A-468253F431D6}" type="datetimeFigureOut">
              <a:rPr lang="tr-TR" smtClean="0"/>
              <a:t>21.11.2025</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49F921-94E2-2146-8BC6-089D7989E1CD}" type="slidenum">
              <a:rPr lang="tr-TR" smtClean="0"/>
              <a:t>‹#›</a:t>
            </a:fld>
            <a:endParaRPr lang="tr-TR"/>
          </a:p>
        </p:txBody>
      </p:sp>
    </p:spTree>
    <p:extLst>
      <p:ext uri="{BB962C8B-B14F-4D97-AF65-F5344CB8AC3E}">
        <p14:creationId xmlns:p14="http://schemas.microsoft.com/office/powerpoint/2010/main" val="403187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ct val="0"/>
              </a:spcBef>
              <a:spcAft>
                <a:spcPct val="0"/>
              </a:spcAft>
              <a:buClrTx/>
              <a:buSzTx/>
              <a:buFontTx/>
              <a:buNone/>
              <a:defRPr/>
            </a:pPr>
            <a:r>
              <a:rPr lang="en-US"/>
              <a:t>This is the lesson </a:t>
            </a:r>
            <a:r>
              <a:rPr lang="tr-TR"/>
              <a:t>nine</a:t>
            </a:r>
            <a:r>
              <a:rPr lang="en-US"/>
              <a:t> in Theory of Computation. We continue the chapter Context Free Languages. We will learn Push Down Automata.</a:t>
            </a:r>
          </a:p>
        </p:txBody>
      </p:sp>
      <p:sp>
        <p:nvSpPr>
          <p:cNvPr id="4" name="Slayt Numarası Yer Tutucusu 3"/>
          <p:cNvSpPr>
            <a:spLocks noGrp="1"/>
          </p:cNvSpPr>
          <p:nvPr>
            <p:ph type="sldNum" sz="quarter" idx="10"/>
          </p:nvPr>
        </p:nvSpPr>
        <p:spPr/>
        <p:txBody>
          <a:bodyPr/>
          <a:lstStyle/>
          <a:p>
            <a:fld id="{6049F921-94E2-2146-8BC6-089D7989E1CD}" type="slidenum">
              <a:rPr lang="tr-TR" smtClean="0"/>
              <a:t>1</a:t>
            </a:fld>
            <a:endParaRPr lang="tr-TR"/>
          </a:p>
        </p:txBody>
      </p:sp>
    </p:spTree>
    <p:extLst>
      <p:ext uri="{BB962C8B-B14F-4D97-AF65-F5344CB8AC3E}">
        <p14:creationId xmlns:p14="http://schemas.microsoft.com/office/powerpoint/2010/main" val="3355099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Today, we will introduce a new automaton system. As we will see, the class of languages that can be accepted by these automata is, exactly the class of context-free languages. Let's start with informal description of deterministic pushdown automaton. Such an automaton looks like the figure at the screen.</a:t>
            </a:r>
          </a:p>
        </p:txBody>
      </p:sp>
      <p:sp>
        <p:nvSpPr>
          <p:cNvPr id="4" name="Slayt Numarası Yer Tutucusu 3"/>
          <p:cNvSpPr>
            <a:spLocks noGrp="1"/>
          </p:cNvSpPr>
          <p:nvPr>
            <p:ph type="sldNum" sz="quarter" idx="10"/>
          </p:nvPr>
        </p:nvSpPr>
        <p:spPr/>
        <p:txBody>
          <a:bodyPr/>
          <a:lstStyle/>
          <a:p>
            <a:fld id="{6049F921-94E2-2146-8BC6-089D7989E1CD}" type="slidenum">
              <a:rPr lang="tr-TR" smtClean="0"/>
              <a:t>2</a:t>
            </a:fld>
            <a:endParaRPr lang="tr-TR"/>
          </a:p>
        </p:txBody>
      </p:sp>
    </p:spTree>
    <p:extLst>
      <p:ext uri="{BB962C8B-B14F-4D97-AF65-F5344CB8AC3E}">
        <p14:creationId xmlns:p14="http://schemas.microsoft.com/office/powerpoint/2010/main" val="2589314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first, There is a tape which is divided into cells. Each cell, stores a symbol belonging to a finite set Capital sigma, called the tape alphabet. There is a special symbol, here we can use hashtag symbol instead, that is not contained in Capital sigma; this symbol is called the blank symbol. If a cell contains blank symbol, then this means that the cell is actually empty.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p:txBody>
      </p:sp>
      <p:sp>
        <p:nvSpPr>
          <p:cNvPr id="4" name="Slayt Numarası Yer Tutucusu 3"/>
          <p:cNvSpPr>
            <a:spLocks noGrp="1"/>
          </p:cNvSpPr>
          <p:nvPr>
            <p:ph type="sldNum" sz="quarter" idx="10"/>
          </p:nvPr>
        </p:nvSpPr>
        <p:spPr/>
        <p:txBody>
          <a:bodyPr/>
          <a:lstStyle/>
          <a:p>
            <a:fld id="{6049F921-94E2-2146-8BC6-089D7989E1CD}" type="slidenum">
              <a:rPr lang="tr-TR" smtClean="0"/>
              <a:t>3</a:t>
            </a:fld>
            <a:endParaRPr lang="tr-TR"/>
          </a:p>
        </p:txBody>
      </p:sp>
    </p:spTree>
    <p:extLst>
      <p:ext uri="{BB962C8B-B14F-4D97-AF65-F5344CB8AC3E}">
        <p14:creationId xmlns:p14="http://schemas.microsoft.com/office/powerpoint/2010/main" val="38390162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second, There is a tape head, which can move along the tape, one cell to the right per move. But it can not go to the left. This tape head also read the cell it currently scans.</a:t>
            </a:r>
          </a:p>
        </p:txBody>
      </p:sp>
      <p:sp>
        <p:nvSpPr>
          <p:cNvPr id="4" name="Slayt Numarası Yer Tutucusu 3"/>
          <p:cNvSpPr>
            <a:spLocks noGrp="1"/>
          </p:cNvSpPr>
          <p:nvPr>
            <p:ph type="sldNum" sz="quarter" idx="10"/>
          </p:nvPr>
        </p:nvSpPr>
        <p:spPr/>
        <p:txBody>
          <a:bodyPr/>
          <a:lstStyle/>
          <a:p>
            <a:fld id="{6049F921-94E2-2146-8BC6-089D7989E1CD}" type="slidenum">
              <a:rPr lang="tr-TR" smtClean="0"/>
              <a:t>4</a:t>
            </a:fld>
            <a:endParaRPr lang="tr-TR"/>
          </a:p>
        </p:txBody>
      </p:sp>
    </p:spTree>
    <p:extLst>
      <p:ext uri="{BB962C8B-B14F-4D97-AF65-F5344CB8AC3E}">
        <p14:creationId xmlns:p14="http://schemas.microsoft.com/office/powerpoint/2010/main" val="3409956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third, There is a stack. So we can store something now. But we can use only symbols defined in gamma, called the stack alphabet. This set contains a special symbol dollar.</a:t>
            </a:r>
          </a:p>
        </p:txBody>
      </p:sp>
      <p:sp>
        <p:nvSpPr>
          <p:cNvPr id="4" name="Slayt Numarası Yer Tutucusu 3"/>
          <p:cNvSpPr>
            <a:spLocks noGrp="1"/>
          </p:cNvSpPr>
          <p:nvPr>
            <p:ph type="sldNum" sz="quarter" idx="10"/>
          </p:nvPr>
        </p:nvSpPr>
        <p:spPr/>
        <p:txBody>
          <a:bodyPr/>
          <a:lstStyle/>
          <a:p>
            <a:fld id="{6049F921-94E2-2146-8BC6-089D7989E1CD}" type="slidenum">
              <a:rPr lang="tr-TR" smtClean="0"/>
              <a:t>5</a:t>
            </a:fld>
            <a:endParaRPr lang="tr-TR"/>
          </a:p>
        </p:txBody>
      </p:sp>
    </p:spTree>
    <p:extLst>
      <p:ext uri="{BB962C8B-B14F-4D97-AF65-F5344CB8AC3E}">
        <p14:creationId xmlns:p14="http://schemas.microsoft.com/office/powerpoint/2010/main" val="2300752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fourth, There is a stack head, which can read the top symbol of the stack.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head can also pop the top symbol, and it can push symbols of gamma onto the stack.</a:t>
            </a:r>
          </a:p>
        </p:txBody>
      </p:sp>
      <p:sp>
        <p:nvSpPr>
          <p:cNvPr id="4" name="Slayt Numarası Yer Tutucusu 3"/>
          <p:cNvSpPr>
            <a:spLocks noGrp="1"/>
          </p:cNvSpPr>
          <p:nvPr>
            <p:ph type="sldNum" sz="quarter" idx="10"/>
          </p:nvPr>
        </p:nvSpPr>
        <p:spPr/>
        <p:txBody>
          <a:bodyPr/>
          <a:lstStyle/>
          <a:p>
            <a:fld id="{6049F921-94E2-2146-8BC6-089D7989E1CD}" type="slidenum">
              <a:rPr lang="tr-TR" smtClean="0"/>
              <a:t>6</a:t>
            </a:fld>
            <a:endParaRPr lang="tr-TR"/>
          </a:p>
        </p:txBody>
      </p:sp>
    </p:spTree>
    <p:extLst>
      <p:ext uri="{BB962C8B-B14F-4D97-AF65-F5344CB8AC3E}">
        <p14:creationId xmlns:p14="http://schemas.microsoft.com/office/powerpoint/2010/main" val="2885974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fifth, There is a state control, which can be in any one of a finite number of states.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set of states is denoted by capital Q. The set capital Q contains one special state lowercase q, called the start state.</a:t>
            </a:r>
          </a:p>
        </p:txBody>
      </p:sp>
      <p:sp>
        <p:nvSpPr>
          <p:cNvPr id="4" name="Slayt Numarası Yer Tutucusu 3"/>
          <p:cNvSpPr>
            <a:spLocks noGrp="1"/>
          </p:cNvSpPr>
          <p:nvPr>
            <p:ph type="sldNum" sz="quarter" idx="10"/>
          </p:nvPr>
        </p:nvSpPr>
        <p:spPr/>
        <p:txBody>
          <a:bodyPr/>
          <a:lstStyle/>
          <a:p>
            <a:fld id="{6049F921-94E2-2146-8BC6-089D7989E1CD}" type="slidenum">
              <a:rPr lang="tr-TR" smtClean="0"/>
              <a:t>7</a:t>
            </a:fld>
            <a:endParaRPr lang="tr-TR"/>
          </a:p>
        </p:txBody>
      </p:sp>
    </p:spTree>
    <p:extLst>
      <p:ext uri="{BB962C8B-B14F-4D97-AF65-F5344CB8AC3E}">
        <p14:creationId xmlns:p14="http://schemas.microsoft.com/office/powerpoint/2010/main" val="1775222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Formal Definition</a:t>
            </a:r>
          </a:p>
          <a:p>
            <a:r>
              <a:rPr lang="en-US" sz="1200" b="0" i="0" u="none" strike="noStrike" kern="1200" baseline="0" dirty="0">
                <a:solidFill>
                  <a:schemeClr val="tx1"/>
                </a:solidFill>
                <a:latin typeface="+mn-lt"/>
                <a:ea typeface="+mn-ea"/>
                <a:cs typeface="+mn-cs"/>
              </a:rPr>
              <a:t>A deterministic pushdown automata is a 5-tuple, capital M = sigma, gamma, capital Q, delta, lowercase q), where</a:t>
            </a:r>
          </a:p>
          <a:p>
            <a:r>
              <a:rPr lang="en-US" sz="1200" b="0" i="0" u="none" strike="noStrike" kern="1200" baseline="0" dirty="0">
                <a:solidFill>
                  <a:schemeClr val="tx1"/>
                </a:solidFill>
                <a:latin typeface="+mn-lt"/>
                <a:ea typeface="+mn-ea"/>
                <a:cs typeface="+mn-cs"/>
              </a:rPr>
              <a:t>sigma is a finite set, called the tape alphabet; the blank symbol hashtag is not contained in sigma,</a:t>
            </a:r>
          </a:p>
          <a:p>
            <a:r>
              <a:rPr lang="en-US" sz="1200" b="0" i="0" u="none" strike="noStrike" kern="1200" baseline="0" dirty="0">
                <a:solidFill>
                  <a:schemeClr val="tx1"/>
                </a:solidFill>
                <a:latin typeface="+mn-lt"/>
                <a:ea typeface="+mn-ea"/>
                <a:cs typeface="+mn-cs"/>
              </a:rPr>
              <a:t>Gamma is a finite set, called the stack alphabet; this alphabet contains the special symbol dollar,</a:t>
            </a:r>
          </a:p>
          <a:p>
            <a:r>
              <a:rPr lang="en-US" sz="1200" b="0" i="0" u="none" strike="noStrike" kern="1200" baseline="0" dirty="0">
                <a:solidFill>
                  <a:schemeClr val="tx1"/>
                </a:solidFill>
                <a:latin typeface="+mn-lt"/>
                <a:ea typeface="+mn-ea"/>
                <a:cs typeface="+mn-cs"/>
              </a:rPr>
              <a:t>Capital Q is a finite set, whose elements are called states,</a:t>
            </a:r>
          </a:p>
          <a:p>
            <a:r>
              <a:rPr lang="en-US" sz="1200" b="0" i="0" u="none" strike="noStrike" kern="1200" baseline="0" dirty="0">
                <a:solidFill>
                  <a:schemeClr val="tx1"/>
                </a:solidFill>
                <a:latin typeface="+mn-lt"/>
                <a:ea typeface="+mn-ea"/>
                <a:cs typeface="+mn-cs"/>
              </a:rPr>
              <a:t>Lowercase q is an element of capital Q; it is called the start state,</a:t>
            </a:r>
          </a:p>
          <a:p>
            <a:r>
              <a:rPr lang="en-US" sz="1200" b="0" i="0" u="none" strike="noStrike" kern="1200" baseline="0" dirty="0">
                <a:solidFill>
                  <a:schemeClr val="tx1"/>
                </a:solidFill>
                <a:latin typeface="+mn-lt"/>
                <a:ea typeface="+mn-ea"/>
                <a:cs typeface="+mn-cs"/>
              </a:rPr>
              <a:t>Delta is called the transition function, which is a function</a:t>
            </a:r>
          </a:p>
          <a:p>
            <a:r>
              <a:rPr lang="en-US" sz="1200" b="0" i="0" u="none" strike="noStrike" kern="1200" baseline="0" dirty="0">
                <a:solidFill>
                  <a:schemeClr val="tx1"/>
                </a:solidFill>
                <a:latin typeface="+mn-lt"/>
                <a:ea typeface="+mn-ea"/>
                <a:cs typeface="+mn-cs"/>
              </a:rPr>
              <a:t>capital Q </a:t>
            </a:r>
            <a:r>
              <a:rPr lang="en-US" sz="1200" b="0" i="0" u="none" strike="noStrike" kern="1200" baseline="0" dirty="0" err="1">
                <a:solidFill>
                  <a:schemeClr val="tx1"/>
                </a:solidFill>
                <a:latin typeface="+mn-lt"/>
                <a:ea typeface="+mn-ea"/>
                <a:cs typeface="+mn-cs"/>
              </a:rPr>
              <a:t>cartesian</a:t>
            </a:r>
            <a:r>
              <a:rPr lang="en-US" sz="1200" b="0" i="0" u="none" strike="noStrike" kern="1200" baseline="0" dirty="0">
                <a:solidFill>
                  <a:schemeClr val="tx1"/>
                </a:solidFill>
                <a:latin typeface="+mn-lt"/>
                <a:ea typeface="+mn-ea"/>
                <a:cs typeface="+mn-cs"/>
              </a:rPr>
              <a:t> product sigma with blank symbol </a:t>
            </a:r>
            <a:r>
              <a:rPr lang="en-US" sz="1200" b="0" i="0" u="none" strike="noStrike" kern="1200" baseline="0" dirty="0" err="1">
                <a:solidFill>
                  <a:schemeClr val="tx1"/>
                </a:solidFill>
                <a:latin typeface="+mn-lt"/>
                <a:ea typeface="+mn-ea"/>
                <a:cs typeface="+mn-cs"/>
              </a:rPr>
              <a:t>cartesian</a:t>
            </a:r>
            <a:r>
              <a:rPr lang="en-US" sz="1200" b="0" i="0" u="none" strike="noStrike" kern="1200" baseline="0" dirty="0">
                <a:solidFill>
                  <a:schemeClr val="tx1"/>
                </a:solidFill>
                <a:latin typeface="+mn-lt"/>
                <a:ea typeface="+mn-ea"/>
                <a:cs typeface="+mn-cs"/>
              </a:rPr>
              <a:t> product  Gamma goes to capital Q </a:t>
            </a:r>
            <a:r>
              <a:rPr lang="en-US" sz="1200" b="0" i="0" u="none" strike="noStrike" kern="1200" baseline="0" dirty="0" err="1">
                <a:solidFill>
                  <a:schemeClr val="tx1"/>
                </a:solidFill>
                <a:latin typeface="+mn-lt"/>
                <a:ea typeface="+mn-ea"/>
                <a:cs typeface="+mn-cs"/>
              </a:rPr>
              <a:t>cartesian</a:t>
            </a:r>
            <a:r>
              <a:rPr lang="en-US" sz="1200" b="0" i="0" u="none" strike="noStrike" kern="1200" baseline="0" dirty="0">
                <a:solidFill>
                  <a:schemeClr val="tx1"/>
                </a:solidFill>
                <a:latin typeface="+mn-lt"/>
                <a:ea typeface="+mn-ea"/>
                <a:cs typeface="+mn-cs"/>
              </a:rPr>
              <a:t> product  capital N or capital R </a:t>
            </a:r>
            <a:r>
              <a:rPr lang="en-US" sz="1200" b="0" i="0" u="none" strike="noStrike" kern="1200" baseline="0" dirty="0" err="1">
                <a:solidFill>
                  <a:schemeClr val="tx1"/>
                </a:solidFill>
                <a:latin typeface="+mn-lt"/>
                <a:ea typeface="+mn-ea"/>
                <a:cs typeface="+mn-cs"/>
              </a:rPr>
              <a:t>cartesian</a:t>
            </a:r>
            <a:r>
              <a:rPr lang="en-US" sz="1200" b="0" i="0" u="none" strike="noStrike" kern="1200" baseline="0" dirty="0">
                <a:solidFill>
                  <a:schemeClr val="tx1"/>
                </a:solidFill>
                <a:latin typeface="+mn-lt"/>
                <a:ea typeface="+mn-ea"/>
                <a:cs typeface="+mn-cs"/>
              </a:rPr>
              <a:t> product  Gamma star </a:t>
            </a:r>
          </a:p>
        </p:txBody>
      </p:sp>
      <p:sp>
        <p:nvSpPr>
          <p:cNvPr id="4" name="Slayt Numarası Yer Tutucusu 3"/>
          <p:cNvSpPr>
            <a:spLocks noGrp="1"/>
          </p:cNvSpPr>
          <p:nvPr>
            <p:ph type="sldNum" sz="quarter" idx="5"/>
          </p:nvPr>
        </p:nvSpPr>
        <p:spPr/>
        <p:txBody>
          <a:bodyPr/>
          <a:lstStyle/>
          <a:p>
            <a:fld id="{6049F921-94E2-2146-8BC6-089D7989E1CD}" type="slidenum">
              <a:rPr lang="tr-TR" smtClean="0"/>
              <a:t>8</a:t>
            </a:fld>
            <a:endParaRPr lang="tr-TR"/>
          </a:p>
        </p:txBody>
      </p:sp>
    </p:spTree>
    <p:extLst>
      <p:ext uri="{BB962C8B-B14F-4D97-AF65-F5344CB8AC3E}">
        <p14:creationId xmlns:p14="http://schemas.microsoft.com/office/powerpoint/2010/main" val="1096034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For easy understanding, we will first give an example delta rule.</a:t>
            </a:r>
          </a:p>
          <a:p>
            <a:r>
              <a:rPr lang="en-US" sz="1200" dirty="0"/>
              <a:t>When we focus on the states here, we will see that the state has not changed. Thus, we can read it as 'stay in the same state'.</a:t>
            </a:r>
          </a:p>
        </p:txBody>
      </p:sp>
      <p:sp>
        <p:nvSpPr>
          <p:cNvPr id="4" name="Slayt Numarası Yer Tutucusu 3"/>
          <p:cNvSpPr>
            <a:spLocks noGrp="1"/>
          </p:cNvSpPr>
          <p:nvPr>
            <p:ph type="sldNum" sz="quarter" idx="5"/>
          </p:nvPr>
        </p:nvSpPr>
        <p:spPr/>
        <p:txBody>
          <a:bodyPr/>
          <a:lstStyle/>
          <a:p>
            <a:fld id="{6049F921-94E2-2146-8BC6-089D7989E1CD}" type="slidenum">
              <a:rPr lang="tr-TR" smtClean="0"/>
              <a:t>9</a:t>
            </a:fld>
            <a:endParaRPr lang="tr-TR"/>
          </a:p>
        </p:txBody>
      </p:sp>
    </p:spTree>
    <p:extLst>
      <p:ext uri="{BB962C8B-B14F-4D97-AF65-F5344CB8AC3E}">
        <p14:creationId xmlns:p14="http://schemas.microsoft.com/office/powerpoint/2010/main" val="35588217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Then, we can focus at the second letters on the rule. When we look at the second letter on left </a:t>
            </a:r>
            <a:r>
              <a:rPr lang="en-US" sz="1200" dirty="0" err="1"/>
              <a:t>handside</a:t>
            </a:r>
            <a:r>
              <a:rPr lang="en-US" sz="1200" dirty="0"/>
              <a:t>, there is an A-symbol. It means that tape head read this symbol from the tape. </a:t>
            </a:r>
          </a:p>
          <a:p>
            <a:r>
              <a:rPr lang="en-US" sz="1200" dirty="0"/>
              <a:t>The second letter at the right hand-side, there is a capital-R-symbol. It means that 'tape head must go one cell to the right'. If we use N-symbol instead, then it means 'tape head must stay the same tape cell'. Now we can read the rule as </a:t>
            </a:r>
          </a:p>
          <a:p>
            <a:r>
              <a:rPr lang="en-US" sz="1200" dirty="0"/>
              <a:t>'when the tape head reads an A-symbol from the tape in state q, state controller have to stay the same state and the tape head must go one cell to the right'.</a:t>
            </a:r>
          </a:p>
        </p:txBody>
      </p:sp>
      <p:sp>
        <p:nvSpPr>
          <p:cNvPr id="4" name="Slayt Numarası Yer Tutucusu 3"/>
          <p:cNvSpPr>
            <a:spLocks noGrp="1"/>
          </p:cNvSpPr>
          <p:nvPr>
            <p:ph type="sldNum" sz="quarter" idx="5"/>
          </p:nvPr>
        </p:nvSpPr>
        <p:spPr/>
        <p:txBody>
          <a:bodyPr/>
          <a:lstStyle/>
          <a:p>
            <a:fld id="{6049F921-94E2-2146-8BC6-089D7989E1CD}" type="slidenum">
              <a:rPr lang="tr-TR" smtClean="0"/>
              <a:t>10</a:t>
            </a:fld>
            <a:endParaRPr lang="tr-TR"/>
          </a:p>
        </p:txBody>
      </p:sp>
    </p:spTree>
    <p:extLst>
      <p:ext uri="{BB962C8B-B14F-4D97-AF65-F5344CB8AC3E}">
        <p14:creationId xmlns:p14="http://schemas.microsoft.com/office/powerpoint/2010/main" val="1429485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And last, the third part of the rule is read. On the left hand-side, there is a dollar symbol. We can understand that 'when stack head pop the dollar symbol from the stack, this rule can start'. </a:t>
            </a:r>
          </a:p>
          <a:p>
            <a:endParaRPr lang="en-US" sz="1200" dirty="0"/>
          </a:p>
          <a:p>
            <a:r>
              <a:rPr lang="en-US" sz="1200" dirty="0"/>
              <a:t>On the right </a:t>
            </a:r>
            <a:r>
              <a:rPr lang="en-US" sz="1200" dirty="0" err="1"/>
              <a:t>handside</a:t>
            </a:r>
            <a:r>
              <a:rPr lang="en-US" sz="1200" dirty="0"/>
              <a:t>, there are two symbols for the third part: a dollar and an S-symbol. When this rule run, the stack head must push these two symbols into the stack in order. At first the dollar, then the S symbol.</a:t>
            </a:r>
          </a:p>
        </p:txBody>
      </p:sp>
      <p:sp>
        <p:nvSpPr>
          <p:cNvPr id="4" name="Slayt Numarası Yer Tutucusu 3"/>
          <p:cNvSpPr>
            <a:spLocks noGrp="1"/>
          </p:cNvSpPr>
          <p:nvPr>
            <p:ph type="sldNum" sz="quarter" idx="5"/>
          </p:nvPr>
        </p:nvSpPr>
        <p:spPr/>
        <p:txBody>
          <a:bodyPr/>
          <a:lstStyle/>
          <a:p>
            <a:fld id="{6049F921-94E2-2146-8BC6-089D7989E1CD}" type="slidenum">
              <a:rPr lang="tr-TR" smtClean="0"/>
              <a:t>11</a:t>
            </a:fld>
            <a:endParaRPr lang="tr-TR"/>
          </a:p>
        </p:txBody>
      </p:sp>
    </p:spTree>
    <p:extLst>
      <p:ext uri="{BB962C8B-B14F-4D97-AF65-F5344CB8AC3E}">
        <p14:creationId xmlns:p14="http://schemas.microsoft.com/office/powerpoint/2010/main" val="725174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When the state controller is in the q state, if the tape head read an a-symbol and the stack head pop a dollar symbol</a:t>
            </a:r>
          </a:p>
        </p:txBody>
      </p:sp>
      <p:sp>
        <p:nvSpPr>
          <p:cNvPr id="4" name="Slayt Numarası Yer Tutucusu 3"/>
          <p:cNvSpPr>
            <a:spLocks noGrp="1"/>
          </p:cNvSpPr>
          <p:nvPr>
            <p:ph type="sldNum" sz="quarter" idx="5"/>
          </p:nvPr>
        </p:nvSpPr>
        <p:spPr/>
        <p:txBody>
          <a:bodyPr/>
          <a:lstStyle/>
          <a:p>
            <a:fld id="{6049F921-94E2-2146-8BC6-089D7989E1CD}" type="slidenum">
              <a:rPr lang="tr-TR" smtClean="0"/>
              <a:t>12</a:t>
            </a:fld>
            <a:endParaRPr lang="tr-TR"/>
          </a:p>
        </p:txBody>
      </p:sp>
    </p:spTree>
    <p:extLst>
      <p:ext uri="{BB962C8B-B14F-4D97-AF65-F5344CB8AC3E}">
        <p14:creationId xmlns:p14="http://schemas.microsoft.com/office/powerpoint/2010/main" val="2987080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Stay the q state, </a:t>
            </a:r>
          </a:p>
          <a:p>
            <a:r>
              <a:rPr lang="en-US" sz="1200" dirty="0"/>
              <a:t>move the tape head one cell to the right, </a:t>
            </a:r>
          </a:p>
          <a:p>
            <a:r>
              <a:rPr lang="en-US" sz="1200" dirty="0"/>
              <a:t>and push a dollar and the an S symbol into the stack </a:t>
            </a:r>
          </a:p>
        </p:txBody>
      </p:sp>
      <p:sp>
        <p:nvSpPr>
          <p:cNvPr id="4" name="Slayt Numarası Yer Tutucusu 3"/>
          <p:cNvSpPr>
            <a:spLocks noGrp="1"/>
          </p:cNvSpPr>
          <p:nvPr>
            <p:ph type="sldNum" sz="quarter" idx="5"/>
          </p:nvPr>
        </p:nvSpPr>
        <p:spPr/>
        <p:txBody>
          <a:bodyPr/>
          <a:lstStyle/>
          <a:p>
            <a:fld id="{6049F921-94E2-2146-8BC6-089D7989E1CD}" type="slidenum">
              <a:rPr lang="tr-TR" smtClean="0"/>
              <a:t>13</a:t>
            </a:fld>
            <a:endParaRPr lang="tr-TR"/>
          </a:p>
        </p:txBody>
      </p:sp>
    </p:spTree>
    <p:extLst>
      <p:ext uri="{BB962C8B-B14F-4D97-AF65-F5344CB8AC3E}">
        <p14:creationId xmlns:p14="http://schemas.microsoft.com/office/powerpoint/2010/main" val="248863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User can enter a string into the tape, but cannot see the stack. Only state controller can use the stack.</a:t>
            </a:r>
          </a:p>
          <a:p>
            <a:endParaRPr lang="tr-TR" sz="1200" dirty="0"/>
          </a:p>
          <a:p>
            <a:r>
              <a:rPr lang="en-US" sz="1200" dirty="0"/>
              <a:t>When the program is started, we will assume that the tape head is on the first letter of the string written by the user.</a:t>
            </a:r>
          </a:p>
        </p:txBody>
      </p:sp>
      <p:sp>
        <p:nvSpPr>
          <p:cNvPr id="4" name="Slayt Numarası Yer Tutucusu 3"/>
          <p:cNvSpPr>
            <a:spLocks noGrp="1"/>
          </p:cNvSpPr>
          <p:nvPr>
            <p:ph type="sldNum" sz="quarter" idx="5"/>
          </p:nvPr>
        </p:nvSpPr>
        <p:spPr/>
        <p:txBody>
          <a:bodyPr/>
          <a:lstStyle/>
          <a:p>
            <a:fld id="{6049F921-94E2-2146-8BC6-089D7989E1CD}" type="slidenum">
              <a:rPr lang="tr-TR" smtClean="0"/>
              <a:t>14</a:t>
            </a:fld>
            <a:endParaRPr lang="tr-TR"/>
          </a:p>
        </p:txBody>
      </p:sp>
    </p:spTree>
    <p:extLst>
      <p:ext uri="{BB962C8B-B14F-4D97-AF65-F5344CB8AC3E}">
        <p14:creationId xmlns:p14="http://schemas.microsoft.com/office/powerpoint/2010/main" val="2423764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State controller starts on the start state q, and the stack has only one dollar symbol. </a:t>
            </a:r>
          </a:p>
          <a:p>
            <a:endParaRPr lang="en-US" sz="1200" dirty="0"/>
          </a:p>
          <a:p>
            <a:r>
              <a:rPr lang="en-US" sz="1200" dirty="0"/>
              <a:t>A command is selected according to the symbol to be read from the tape, and the operation on the right hand side is performed. </a:t>
            </a:r>
          </a:p>
          <a:p>
            <a:endParaRPr lang="en-US" sz="1200" dirty="0"/>
          </a:p>
          <a:p>
            <a:r>
              <a:rPr lang="en-US" sz="1200" dirty="0"/>
              <a:t>After that process, a new command is selected according to these three parameters</a:t>
            </a:r>
          </a:p>
          <a:p>
            <a:r>
              <a:rPr lang="en-US" sz="1200" dirty="0"/>
              <a:t>1) the state controller stay on which state, 2) what is read from the tape, 3) what is popped from the stack. Then the working steps the selected rule say are continued.</a:t>
            </a:r>
          </a:p>
        </p:txBody>
      </p:sp>
      <p:sp>
        <p:nvSpPr>
          <p:cNvPr id="4" name="Slayt Numarası Yer Tutucusu 3"/>
          <p:cNvSpPr>
            <a:spLocks noGrp="1"/>
          </p:cNvSpPr>
          <p:nvPr>
            <p:ph type="sldNum" sz="quarter" idx="5"/>
          </p:nvPr>
        </p:nvSpPr>
        <p:spPr/>
        <p:txBody>
          <a:bodyPr/>
          <a:lstStyle/>
          <a:p>
            <a:fld id="{6049F921-94E2-2146-8BC6-089D7989E1CD}" type="slidenum">
              <a:rPr lang="tr-TR" smtClean="0"/>
              <a:t>15</a:t>
            </a:fld>
            <a:endParaRPr lang="tr-TR"/>
          </a:p>
        </p:txBody>
      </p:sp>
    </p:spTree>
    <p:extLst>
      <p:ext uri="{BB962C8B-B14F-4D97-AF65-F5344CB8AC3E}">
        <p14:creationId xmlns:p14="http://schemas.microsoft.com/office/powerpoint/2010/main" val="20749801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dirty="0"/>
              <a:t>When the stack gets empty, Pushdown Automata terminates.</a:t>
            </a:r>
          </a:p>
          <a:p>
            <a:r>
              <a:rPr lang="en-US" sz="1200" dirty="0"/>
              <a:t>When Pushdown Automata terminates, if the tape head is on the cell immediately to the right cell of the last symbol of the string, this is good news.</a:t>
            </a:r>
          </a:p>
          <a:p>
            <a:r>
              <a:rPr lang="en-US" sz="1200" dirty="0"/>
              <a:t>Because the string on the tape is accepted.</a:t>
            </a:r>
          </a:p>
        </p:txBody>
      </p:sp>
      <p:sp>
        <p:nvSpPr>
          <p:cNvPr id="4" name="Slayt Numarası Yer Tutucusu 3"/>
          <p:cNvSpPr>
            <a:spLocks noGrp="1"/>
          </p:cNvSpPr>
          <p:nvPr>
            <p:ph type="sldNum" sz="quarter" idx="5"/>
          </p:nvPr>
        </p:nvSpPr>
        <p:spPr/>
        <p:txBody>
          <a:bodyPr/>
          <a:lstStyle/>
          <a:p>
            <a:fld id="{6049F921-94E2-2146-8BC6-089D7989E1CD}" type="slidenum">
              <a:rPr lang="tr-TR" smtClean="0"/>
              <a:t>16</a:t>
            </a:fld>
            <a:endParaRPr lang="tr-TR"/>
          </a:p>
        </p:txBody>
      </p:sp>
    </p:spTree>
    <p:extLst>
      <p:ext uri="{BB962C8B-B14F-4D97-AF65-F5344CB8AC3E}">
        <p14:creationId xmlns:p14="http://schemas.microsoft.com/office/powerpoint/2010/main" val="7826388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dirty="0"/>
              <a:t>We've seen the problem before when learning context free grammar. We will use symbol-a instead of left parenthesis and symbol-b instead of right parenthesis.</a:t>
            </a:r>
            <a:endParaRPr lang="tr-TR" dirty="0"/>
          </a:p>
          <a:p>
            <a:pPr marL="0" indent="0">
              <a:buNone/>
            </a:pPr>
            <a:r>
              <a:rPr lang="en-US" dirty="0"/>
              <a:t>Algorithm: remember the number of a's, then match them with b's.</a:t>
            </a:r>
          </a:p>
          <a:p>
            <a:pPr marL="0" indent="0">
              <a:buNone/>
            </a:pPr>
            <a:endParaRPr lang="en-US" dirty="0"/>
          </a:p>
          <a:p>
            <a:pPr marL="0" indent="0">
              <a:buNone/>
            </a:pPr>
            <a:r>
              <a:rPr lang="en-US" dirty="0"/>
              <a:t>We can use the stack to remember the a's. For each a-symbol reading, we push a symbol we defined (let's say S) into the stack. We then delete one of these symbols from the stack each time b is read.</a:t>
            </a:r>
          </a:p>
        </p:txBody>
      </p:sp>
      <p:sp>
        <p:nvSpPr>
          <p:cNvPr id="4" name="Slayt Numarası Yer Tutucusu 3"/>
          <p:cNvSpPr>
            <a:spLocks noGrp="1"/>
          </p:cNvSpPr>
          <p:nvPr>
            <p:ph type="sldNum" sz="quarter" idx="5"/>
          </p:nvPr>
        </p:nvSpPr>
        <p:spPr/>
        <p:txBody>
          <a:bodyPr/>
          <a:lstStyle/>
          <a:p>
            <a:fld id="{6049F921-94E2-2146-8BC6-089D7989E1CD}" type="slidenum">
              <a:rPr lang="tr-TR" smtClean="0"/>
              <a:t>17</a:t>
            </a:fld>
            <a:endParaRPr lang="tr-TR"/>
          </a:p>
        </p:txBody>
      </p:sp>
    </p:spTree>
    <p:extLst>
      <p:ext uri="{BB962C8B-B14F-4D97-AF65-F5344CB8AC3E}">
        <p14:creationId xmlns:p14="http://schemas.microsoft.com/office/powerpoint/2010/main" val="926949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This is our solution. There are two rejection situations and one acceptance situation. In two rules, we must push a symbol onto the stack to remember the number of a's. We also have a rule to forget these stored symbols by deleting them from the stack.</a:t>
            </a:r>
          </a:p>
        </p:txBody>
      </p:sp>
      <p:sp>
        <p:nvSpPr>
          <p:cNvPr id="4" name="Slayt Numarası Yer Tutucusu 3"/>
          <p:cNvSpPr>
            <a:spLocks noGrp="1"/>
          </p:cNvSpPr>
          <p:nvPr>
            <p:ph type="sldNum" sz="quarter" idx="10"/>
          </p:nvPr>
        </p:nvSpPr>
        <p:spPr/>
        <p:txBody>
          <a:bodyPr/>
          <a:lstStyle/>
          <a:p>
            <a:fld id="{464F05E7-666C-4291-B07E-B8BAE79ECBCA}" type="slidenum">
              <a:rPr lang="tr-TR" smtClean="0"/>
              <a:t>18</a:t>
            </a:fld>
            <a:endParaRPr lang="tr-TR"/>
          </a:p>
        </p:txBody>
      </p:sp>
    </p:spTree>
    <p:extLst>
      <p:ext uri="{BB962C8B-B14F-4D97-AF65-F5344CB8AC3E}">
        <p14:creationId xmlns:p14="http://schemas.microsoft.com/office/powerpoint/2010/main" val="34458652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Notice that we have divided the rules into two groups according to the symbol coming from the stack. When do you think the top </a:t>
            </a:r>
            <a:r>
              <a:rPr lang="en-US" sz="1200" dirty="0">
                <a:solidFill>
                  <a:schemeClr val="tx1"/>
                </a:solidFill>
              </a:rPr>
              <a:t>part</a:t>
            </a:r>
            <a:r>
              <a:rPr lang="en-US" dirty="0"/>
              <a:t> will work?</a:t>
            </a:r>
          </a:p>
        </p:txBody>
      </p:sp>
      <p:sp>
        <p:nvSpPr>
          <p:cNvPr id="4" name="Slayt Numarası Yer Tutucusu 3"/>
          <p:cNvSpPr>
            <a:spLocks noGrp="1"/>
          </p:cNvSpPr>
          <p:nvPr>
            <p:ph type="sldNum" sz="quarter" idx="10"/>
          </p:nvPr>
        </p:nvSpPr>
        <p:spPr/>
        <p:txBody>
          <a:bodyPr/>
          <a:lstStyle/>
          <a:p>
            <a:fld id="{464F05E7-666C-4291-B07E-B8BAE79ECBCA}" type="slidenum">
              <a:rPr lang="tr-TR" smtClean="0"/>
              <a:t>19</a:t>
            </a:fld>
            <a:endParaRPr lang="tr-TR"/>
          </a:p>
        </p:txBody>
      </p:sp>
    </p:spTree>
    <p:extLst>
      <p:ext uri="{BB962C8B-B14F-4D97-AF65-F5344CB8AC3E}">
        <p14:creationId xmlns:p14="http://schemas.microsoft.com/office/powerpoint/2010/main" val="28822467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If the stack is empty in the start state, the initialization of the pushdown automaton should come to mind immediately. So that should be our first answer.</a:t>
            </a:r>
            <a:endParaRPr lang="tr-TR" dirty="0"/>
          </a:p>
          <a:p>
            <a:r>
              <a:rPr lang="en-US" dirty="0"/>
              <a:t>The other case is that after some a-symbols arrive, when an equal number of b-symbols arrive, all the stored ones in the stack are forgotten. Briefly, at that moment when the number of a's equals the number of b's, the stack is empty.</a:t>
            </a:r>
          </a:p>
        </p:txBody>
      </p:sp>
      <p:sp>
        <p:nvSpPr>
          <p:cNvPr id="4" name="Slayt Numarası Yer Tutucusu 3"/>
          <p:cNvSpPr>
            <a:spLocks noGrp="1"/>
          </p:cNvSpPr>
          <p:nvPr>
            <p:ph type="sldNum" sz="quarter" idx="10"/>
          </p:nvPr>
        </p:nvSpPr>
        <p:spPr/>
        <p:txBody>
          <a:bodyPr/>
          <a:lstStyle/>
          <a:p>
            <a:fld id="{464F05E7-666C-4291-B07E-B8BAE79ECBCA}" type="slidenum">
              <a:rPr lang="tr-TR" smtClean="0"/>
              <a:t>20</a:t>
            </a:fld>
            <a:endParaRPr lang="tr-TR"/>
          </a:p>
        </p:txBody>
      </p:sp>
    </p:spTree>
    <p:extLst>
      <p:ext uri="{BB962C8B-B14F-4D97-AF65-F5344CB8AC3E}">
        <p14:creationId xmlns:p14="http://schemas.microsoft.com/office/powerpoint/2010/main" val="41286574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So when does this part work? How can we define it?</a:t>
            </a:r>
          </a:p>
        </p:txBody>
      </p:sp>
      <p:sp>
        <p:nvSpPr>
          <p:cNvPr id="4" name="Slayt Numarası Yer Tutucusu 3"/>
          <p:cNvSpPr>
            <a:spLocks noGrp="1"/>
          </p:cNvSpPr>
          <p:nvPr>
            <p:ph type="sldNum" sz="quarter" idx="10"/>
          </p:nvPr>
        </p:nvSpPr>
        <p:spPr/>
        <p:txBody>
          <a:bodyPr/>
          <a:lstStyle/>
          <a:p>
            <a:fld id="{464F05E7-666C-4291-B07E-B8BAE79ECBCA}" type="slidenum">
              <a:rPr lang="tr-TR" smtClean="0"/>
              <a:t>21</a:t>
            </a:fld>
            <a:endParaRPr lang="tr-TR"/>
          </a:p>
        </p:txBody>
      </p:sp>
    </p:spTree>
    <p:extLst>
      <p:ext uri="{BB962C8B-B14F-4D97-AF65-F5344CB8AC3E}">
        <p14:creationId xmlns:p14="http://schemas.microsoft.com/office/powerpoint/2010/main" val="39825107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dirty="0"/>
              <a:t>This part is easier to describe. Whenever the number of a's is at least one more than the number of b's, one of these rules works, depending on the symbol from the tape.</a:t>
            </a:r>
          </a:p>
        </p:txBody>
      </p:sp>
      <p:sp>
        <p:nvSpPr>
          <p:cNvPr id="4" name="Slayt Numarası Yer Tutucusu 3"/>
          <p:cNvSpPr>
            <a:spLocks noGrp="1"/>
          </p:cNvSpPr>
          <p:nvPr>
            <p:ph type="sldNum" sz="quarter" idx="10"/>
          </p:nvPr>
        </p:nvSpPr>
        <p:spPr/>
        <p:txBody>
          <a:bodyPr/>
          <a:lstStyle/>
          <a:p>
            <a:fld id="{464F05E7-666C-4291-B07E-B8BAE79ECBCA}" type="slidenum">
              <a:rPr lang="tr-TR" smtClean="0"/>
              <a:t>22</a:t>
            </a:fld>
            <a:endParaRPr lang="tr-TR"/>
          </a:p>
        </p:txBody>
      </p:sp>
    </p:spTree>
    <p:extLst>
      <p:ext uri="{BB962C8B-B14F-4D97-AF65-F5344CB8AC3E}">
        <p14:creationId xmlns:p14="http://schemas.microsoft.com/office/powerpoint/2010/main" val="33649744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sz="1200" dirty="0"/>
              <a:t>As in the previous slide, we will have remember, forget, accept and reject rules in this solution.</a:t>
            </a:r>
            <a:endParaRPr lang="tr-TR" sz="1200" dirty="0"/>
          </a:p>
          <a:p>
            <a:pPr marL="0" indent="0">
              <a:lnSpc>
                <a:spcPct val="150000"/>
              </a:lnSpc>
              <a:buNone/>
            </a:pPr>
            <a:r>
              <a:rPr lang="en-US" sz="1200" dirty="0"/>
              <a:t>Let's do a different 'it's your turn' to answer this question. </a:t>
            </a:r>
          </a:p>
          <a:p>
            <a:pPr marL="0" indent="0">
              <a:lnSpc>
                <a:spcPct val="150000"/>
              </a:lnSpc>
              <a:buNone/>
            </a:pPr>
            <a:r>
              <a:rPr lang="en-US" sz="1200" dirty="0"/>
              <a:t>Whoever gets on the board, tells the solution to his friends, and answers all coming questions will get extra points.</a:t>
            </a:r>
            <a:endParaRPr lang="tr-TR"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23</a:t>
            </a:fld>
            <a:endParaRPr lang="tr-TR"/>
          </a:p>
        </p:txBody>
      </p:sp>
    </p:spTree>
    <p:extLst>
      <p:ext uri="{BB962C8B-B14F-4D97-AF65-F5344CB8AC3E}">
        <p14:creationId xmlns:p14="http://schemas.microsoft.com/office/powerpoint/2010/main" val="4291541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lnSpc>
                <a:spcPct val="150000"/>
              </a:lnSpc>
              <a:buNone/>
            </a:pPr>
            <a:r>
              <a:rPr lang="en-US" sz="1200" dirty="0"/>
              <a:t>Here we will use the term non-deterministic push-down automata. Because we cannot solve it with the deterministic one.</a:t>
            </a:r>
            <a:r>
              <a:rPr lang="tr-TR" sz="1200" dirty="0"/>
              <a:t> </a:t>
            </a:r>
          </a:p>
          <a:p>
            <a:pPr marL="0" indent="0">
              <a:lnSpc>
                <a:spcPct val="150000"/>
              </a:lnSpc>
              <a:buNone/>
            </a:pPr>
            <a:r>
              <a:rPr lang="en-US" sz="1200" dirty="0"/>
              <a:t>If you notice in the previous examples, we wrote a rule for each situation. But since we weren't sure about the b symbol in middle here, we will add extra rules where we are in doubt.</a:t>
            </a:r>
            <a:r>
              <a:rPr lang="tr-TR" sz="1200" dirty="0"/>
              <a:t> </a:t>
            </a:r>
          </a:p>
          <a:p>
            <a:pPr marL="0" indent="0">
              <a:lnSpc>
                <a:spcPct val="150000"/>
              </a:lnSpc>
              <a:buNone/>
            </a:pPr>
            <a:r>
              <a:rPr lang="en-US" sz="1200" dirty="0"/>
              <a:t>The example string shown on the right has b in the middle, but someone else might not. Moreover, it is not possible to find the middle letter b with a limited stack unit. That's why we should look at every letter b that is read as the letter b in the middle.</a:t>
            </a:r>
            <a:endParaRPr lang="tr-TR" sz="1200" dirty="0"/>
          </a:p>
        </p:txBody>
      </p:sp>
      <p:sp>
        <p:nvSpPr>
          <p:cNvPr id="4" name="Slayt Numarası Yer Tutucusu 3"/>
          <p:cNvSpPr>
            <a:spLocks noGrp="1"/>
          </p:cNvSpPr>
          <p:nvPr>
            <p:ph type="sldNum" sz="quarter" idx="5"/>
          </p:nvPr>
        </p:nvSpPr>
        <p:spPr/>
        <p:txBody>
          <a:bodyPr/>
          <a:lstStyle/>
          <a:p>
            <a:fld id="{6049F921-94E2-2146-8BC6-089D7989E1CD}" type="slidenum">
              <a:rPr lang="tr-TR" smtClean="0"/>
              <a:t>24</a:t>
            </a:fld>
            <a:endParaRPr lang="tr-TR"/>
          </a:p>
        </p:txBody>
      </p:sp>
    </p:spTree>
    <p:extLst>
      <p:ext uri="{BB962C8B-B14F-4D97-AF65-F5344CB8AC3E}">
        <p14:creationId xmlns:p14="http://schemas.microsoft.com/office/powerpoint/2010/main" val="308096000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pPr marL="0" indent="0">
              <a:buNone/>
            </a:pPr>
            <a:r>
              <a:rPr lang="en-US" sz="1200" b="0" dirty="0"/>
              <a:t>Theorem. Let sigma be an alphabet and capital A subset of sigma star be a language. Then capital A is Context Free, if and only if there exists a nondeterministic Push Down Automaton that accepts capital A.</a:t>
            </a:r>
          </a:p>
          <a:p>
            <a:pPr marL="0" indent="0">
              <a:buNone/>
            </a:pPr>
            <a:r>
              <a:rPr lang="en-US" sz="1200" b="0" dirty="0"/>
              <a:t>In order to apply the transformation here, context-free grammar must be in the </a:t>
            </a:r>
            <a:r>
              <a:rPr lang="en-US" sz="1200" b="0" dirty="0" err="1"/>
              <a:t>chomsky</a:t>
            </a:r>
            <a:r>
              <a:rPr lang="en-US" sz="1200" b="0" dirty="0"/>
              <a:t> normal form.</a:t>
            </a:r>
          </a:p>
          <a:p>
            <a:pPr marL="0" indent="0">
              <a:buNone/>
            </a:pPr>
            <a:r>
              <a:rPr lang="en-US" sz="1200" b="0" dirty="0"/>
              <a:t>The first transformation rule say that. Each A goes to BC rule transforms as q-lowercase-a-capital-A goes to q-N-C-B, for all lowercase-a is element of sigma</a:t>
            </a:r>
          </a:p>
          <a:p>
            <a:pPr marL="0" indent="0">
              <a:buNone/>
            </a:pPr>
            <a:r>
              <a:rPr lang="en-US" sz="1200" b="0" dirty="0"/>
              <a:t>The second transformation rule say that. Each capital-A goes to symbol-a rule transforms as q-lowercase-a-capital-A goes to q-R-epsilon</a:t>
            </a:r>
          </a:p>
          <a:p>
            <a:pPr marL="0" indent="0">
              <a:buNone/>
            </a:pPr>
            <a:r>
              <a:rPr lang="en-US" sz="1200" b="0" dirty="0"/>
              <a:t>The third transformation rule say that. Each dollar goes to epsilon rule transforms as q-hashtag-dollar goes to q-N-epsilon</a:t>
            </a:r>
          </a:p>
        </p:txBody>
      </p:sp>
      <p:sp>
        <p:nvSpPr>
          <p:cNvPr id="4" name="Slayt Numarası Yer Tutucusu 3"/>
          <p:cNvSpPr>
            <a:spLocks noGrp="1"/>
          </p:cNvSpPr>
          <p:nvPr>
            <p:ph type="sldNum" sz="quarter" idx="5"/>
          </p:nvPr>
        </p:nvSpPr>
        <p:spPr/>
        <p:txBody>
          <a:bodyPr/>
          <a:lstStyle/>
          <a:p>
            <a:fld id="{6049F921-94E2-2146-8BC6-089D7989E1CD}" type="slidenum">
              <a:rPr lang="tr-TR" smtClean="0"/>
              <a:t>25</a:t>
            </a:fld>
            <a:endParaRPr lang="tr-TR"/>
          </a:p>
        </p:txBody>
      </p:sp>
    </p:spTree>
    <p:extLst>
      <p:ext uri="{BB962C8B-B14F-4D97-AF65-F5344CB8AC3E}">
        <p14:creationId xmlns:p14="http://schemas.microsoft.com/office/powerpoint/2010/main" val="3824656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en-US" sz="1200"/>
              <a:t>That’s all.</a:t>
            </a:r>
          </a:p>
          <a:p>
            <a:endParaRPr lang="en-US" sz="1200"/>
          </a:p>
          <a:p>
            <a:r>
              <a:rPr lang="en-US" altLang="tr-TR" sz="1200"/>
              <a:t>Thanks for listening.</a:t>
            </a:r>
          </a:p>
        </p:txBody>
      </p:sp>
      <p:sp>
        <p:nvSpPr>
          <p:cNvPr id="4" name="Slayt Numarası Yer Tutucusu 3"/>
          <p:cNvSpPr>
            <a:spLocks noGrp="1"/>
          </p:cNvSpPr>
          <p:nvPr>
            <p:ph type="sldNum" sz="quarter" idx="10"/>
          </p:nvPr>
        </p:nvSpPr>
        <p:spPr/>
        <p:txBody>
          <a:bodyPr/>
          <a:lstStyle/>
          <a:p>
            <a:fld id="{464F05E7-666C-4291-B07E-B8BAE79ECBCA}" type="slidenum">
              <a:rPr lang="tr-TR" smtClean="0"/>
              <a:t>26</a:t>
            </a:fld>
            <a:endParaRPr lang="tr-TR"/>
          </a:p>
        </p:txBody>
      </p:sp>
    </p:spTree>
    <p:extLst>
      <p:ext uri="{BB962C8B-B14F-4D97-AF65-F5344CB8AC3E}">
        <p14:creationId xmlns:p14="http://schemas.microsoft.com/office/powerpoint/2010/main" val="6138402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tr-TR"/>
              <a:t>Asıl başlık stili için tıklatın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062904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tr-TR"/>
              <a:t>Asıl başlık stili için tıklatın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945659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457744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tr-TR"/>
              <a:t>Asıl başlık stili için tıklatın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6141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tr-TR"/>
              <a:t>Asıl başlık stili için tıklatın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F36C430-287F-DD4C-AA12-0A938495B580}" type="datetimeFigureOut">
              <a:rPr lang="tr-TR" smtClean="0"/>
              <a:t>21.11.2025</a:t>
            </a:fld>
            <a:endParaRPr lang="tr-TR"/>
          </a:p>
        </p:txBody>
      </p:sp>
      <p:sp>
        <p:nvSpPr>
          <p:cNvPr id="8" name="Footer Placeholder 7"/>
          <p:cNvSpPr>
            <a:spLocks noGrp="1"/>
          </p:cNvSpPr>
          <p:nvPr>
            <p:ph type="ftr" sz="quarter" idx="11"/>
          </p:nvPr>
        </p:nvSpPr>
        <p:spPr/>
        <p:txBody>
          <a:bodyPr/>
          <a:lstStyle/>
          <a:p>
            <a:endParaRPr lang="tr-T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63016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AF36C430-287F-DD4C-AA12-0A938495B580}" type="datetimeFigureOut">
              <a:rPr lang="tr-TR" smtClean="0"/>
              <a:t>21.11.2025</a:t>
            </a:fld>
            <a:endParaRPr lang="tr-TR"/>
          </a:p>
        </p:txBody>
      </p:sp>
      <p:sp>
        <p:nvSpPr>
          <p:cNvPr id="4" name="Footer Placeholder 3"/>
          <p:cNvSpPr>
            <a:spLocks noGrp="1"/>
          </p:cNvSpPr>
          <p:nvPr>
            <p:ph type="ftr" sz="quarter" idx="11"/>
          </p:nvPr>
        </p:nvSpPr>
        <p:spPr/>
        <p:txBody>
          <a:bodyPr/>
          <a:lstStyle/>
          <a:p>
            <a:endParaRPr lang="tr-T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701496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36C430-287F-DD4C-AA12-0A938495B580}" type="datetimeFigureOut">
              <a:rPr lang="tr-TR" smtClean="0"/>
              <a:t>21.11.2025</a:t>
            </a:fld>
            <a:endParaRPr lang="tr-TR"/>
          </a:p>
        </p:txBody>
      </p:sp>
      <p:sp>
        <p:nvSpPr>
          <p:cNvPr id="3" name="Footer Placeholder 2"/>
          <p:cNvSpPr>
            <a:spLocks noGrp="1"/>
          </p:cNvSpPr>
          <p:nvPr>
            <p:ph type="ftr" sz="quarter" idx="11"/>
          </p:nvPr>
        </p:nvSpPr>
        <p:spPr/>
        <p:txBody>
          <a:bodyPr/>
          <a:lstStyle/>
          <a:p>
            <a:endParaRPr lang="tr-T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412631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tr-TR"/>
              <a:t>Asıl başlık stili için tıklatın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7925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simgeyi tıklatın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32395677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tr-TR"/>
              <a:t>Asıl başlık stili için tıklatın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41957197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9DD1268-69E4-B14A-81C8-E49092695496}" type="slidenum">
              <a:rPr lang="tr-TR" smtClean="0"/>
              <a:t>‹#›</a:t>
            </a:fld>
            <a:endParaRPr lang="tr-T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637715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tr-TR"/>
              <a:t>Asıl başlık stili için tıklatın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750182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55355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tr-TR"/>
              <a:t>Asıl başlık stili için tıklatın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tr-TR"/>
              <a:t>Asıl metin stillerini düzenle</a:t>
            </a:r>
          </a:p>
        </p:txBody>
      </p:sp>
      <p:sp>
        <p:nvSpPr>
          <p:cNvPr id="5" name="Date Placeholder 4"/>
          <p:cNvSpPr>
            <a:spLocks noGrp="1"/>
          </p:cNvSpPr>
          <p:nvPr>
            <p:ph type="dt" sz="half" idx="10"/>
          </p:nvPr>
        </p:nvSpPr>
        <p:spPr/>
        <p:txBody>
          <a:bodyPr/>
          <a:lstStyle/>
          <a:p>
            <a:fld id="{AF36C430-287F-DD4C-AA12-0A938495B580}" type="datetimeFigureOut">
              <a:rPr lang="tr-TR" smtClean="0"/>
              <a:t>21.11.2025</a:t>
            </a:fld>
            <a:endParaRPr lang="tr-TR"/>
          </a:p>
        </p:txBody>
      </p:sp>
      <p:sp>
        <p:nvSpPr>
          <p:cNvPr id="6" name="Footer Placeholder 5"/>
          <p:cNvSpPr>
            <a:spLocks noGrp="1"/>
          </p:cNvSpPr>
          <p:nvPr>
            <p:ph type="ftr" sz="quarter" idx="11"/>
          </p:nvPr>
        </p:nvSpPr>
        <p:spPr/>
        <p:txBody>
          <a:bodyPr/>
          <a:lstStyle/>
          <a:p>
            <a:endParaRPr lang="tr-T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151361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64624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tr-TR"/>
              <a:t>Asıl başlık stili için tıklatın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F36C430-287F-DD4C-AA12-0A938495B580}" type="datetimeFigureOut">
              <a:rPr lang="tr-TR" smtClean="0"/>
              <a:t>21.11.2025</a:t>
            </a:fld>
            <a:endParaRPr lang="tr-TR"/>
          </a:p>
        </p:txBody>
      </p:sp>
      <p:sp>
        <p:nvSpPr>
          <p:cNvPr id="5" name="Footer Placeholder 4"/>
          <p:cNvSpPr>
            <a:spLocks noGrp="1"/>
          </p:cNvSpPr>
          <p:nvPr>
            <p:ph type="ftr" sz="quarter" idx="11"/>
          </p:nvPr>
        </p:nvSpPr>
        <p:spPr/>
        <p:txBody>
          <a:bodyPr/>
          <a:lstStyle/>
          <a:p>
            <a:endParaRPr lang="tr-T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9DD1268-69E4-B14A-81C8-E49092695496}" type="slidenum">
              <a:rPr lang="tr-TR" smtClean="0"/>
              <a:t>‹#›</a:t>
            </a:fld>
            <a:endParaRPr lang="tr-TR"/>
          </a:p>
        </p:txBody>
      </p:sp>
    </p:spTree>
    <p:extLst>
      <p:ext uri="{BB962C8B-B14F-4D97-AF65-F5344CB8AC3E}">
        <p14:creationId xmlns:p14="http://schemas.microsoft.com/office/powerpoint/2010/main" val="20545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tr-TR"/>
              <a:t>Asıl başlık stili için tıklatın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AF36C430-287F-DD4C-AA12-0A938495B580}" type="datetimeFigureOut">
              <a:rPr lang="tr-TR" smtClean="0"/>
              <a:t>21.11.2025</a:t>
            </a:fld>
            <a:endParaRPr lang="tr-T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tr-T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9DD1268-69E4-B14A-81C8-E49092695496}" type="slidenum">
              <a:rPr lang="tr-TR" smtClean="0"/>
              <a:t>‹#›</a:t>
            </a:fld>
            <a:endParaRPr lang="tr-TR"/>
          </a:p>
        </p:txBody>
      </p:sp>
    </p:spTree>
    <p:extLst>
      <p:ext uri="{BB962C8B-B14F-4D97-AF65-F5344CB8AC3E}">
        <p14:creationId xmlns:p14="http://schemas.microsoft.com/office/powerpoint/2010/main" val="101904302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normAutofit fontScale="90000"/>
          </a:bodyPr>
          <a:lstStyle/>
          <a:p>
            <a:br>
              <a:rPr lang="en-US" dirty="0"/>
            </a:br>
            <a:r>
              <a:rPr lang="en-US" dirty="0"/>
              <a:t>Theory of Computation </a:t>
            </a:r>
            <a:br>
              <a:rPr lang="tr-TR" dirty="0"/>
            </a:br>
            <a:r>
              <a:rPr lang="en-US" sz="3600" dirty="0"/>
              <a:t>Lesson </a:t>
            </a:r>
            <a:r>
              <a:rPr lang="tr-TR" sz="3600" dirty="0"/>
              <a:t>9</a:t>
            </a:r>
            <a:endParaRPr lang="en-US" sz="3600" dirty="0"/>
          </a:p>
        </p:txBody>
      </p:sp>
      <p:sp>
        <p:nvSpPr>
          <p:cNvPr id="3" name="Alt Başlık 2"/>
          <p:cNvSpPr>
            <a:spLocks noGrp="1"/>
          </p:cNvSpPr>
          <p:nvPr>
            <p:ph type="subTitle" idx="1"/>
          </p:nvPr>
        </p:nvSpPr>
        <p:spPr/>
        <p:txBody>
          <a:bodyPr anchor="b">
            <a:normAutofit/>
          </a:bodyPr>
          <a:lstStyle/>
          <a:p>
            <a:r>
              <a:rPr lang="en-US" sz="2800">
                <a:solidFill>
                  <a:srgbClr val="FF0000"/>
                </a:solidFill>
              </a:rPr>
              <a:t>Push-Down Automata</a:t>
            </a:r>
          </a:p>
        </p:txBody>
      </p:sp>
      <p:pic>
        <p:nvPicPr>
          <p:cNvPr id="5" name="Resim 4"/>
          <p:cNvPicPr>
            <a:picLocks noChangeAspect="1"/>
          </p:cNvPicPr>
          <p:nvPr/>
        </p:nvPicPr>
        <p:blipFill>
          <a:blip r:embed="rId3"/>
          <a:stretch>
            <a:fillRect/>
          </a:stretch>
        </p:blipFill>
        <p:spPr>
          <a:xfrm>
            <a:off x="5508410" y="304800"/>
            <a:ext cx="3077004" cy="2600688"/>
          </a:xfrm>
          <a:prstGeom prst="rect">
            <a:avLst/>
          </a:prstGeom>
        </p:spPr>
      </p:pic>
    </p:spTree>
    <p:extLst>
      <p:ext uri="{BB962C8B-B14F-4D97-AF65-F5344CB8AC3E}">
        <p14:creationId xmlns:p14="http://schemas.microsoft.com/office/powerpoint/2010/main" val="385031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Push Down Automata</a:t>
            </a:r>
          </a:p>
        </p:txBody>
      </p:sp>
      <p:pic>
        <p:nvPicPr>
          <p:cNvPr id="3" name="Resim 2"/>
          <p:cNvPicPr>
            <a:picLocks noChangeAspect="1"/>
          </p:cNvPicPr>
          <p:nvPr/>
        </p:nvPicPr>
        <p:blipFill>
          <a:blip r:embed="rId3"/>
          <a:stretch>
            <a:fillRect/>
          </a:stretch>
        </p:blipFill>
        <p:spPr>
          <a:xfrm>
            <a:off x="1219199" y="1588260"/>
            <a:ext cx="5905501" cy="5021037"/>
          </a:xfrm>
          <a:prstGeom prst="rect">
            <a:avLst/>
          </a:prstGeom>
        </p:spPr>
      </p:pic>
    </p:spTree>
    <p:extLst>
      <p:ext uri="{BB962C8B-B14F-4D97-AF65-F5344CB8AC3E}">
        <p14:creationId xmlns:p14="http://schemas.microsoft.com/office/powerpoint/2010/main" val="2403853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Push Down Automata</a:t>
            </a:r>
          </a:p>
        </p:txBody>
      </p:sp>
      <p:pic>
        <p:nvPicPr>
          <p:cNvPr id="3" name="Resim 2"/>
          <p:cNvPicPr>
            <a:picLocks noChangeAspect="1"/>
          </p:cNvPicPr>
          <p:nvPr/>
        </p:nvPicPr>
        <p:blipFill>
          <a:blip r:embed="rId3"/>
          <a:stretch>
            <a:fillRect/>
          </a:stretch>
        </p:blipFill>
        <p:spPr>
          <a:xfrm>
            <a:off x="1219199" y="1588260"/>
            <a:ext cx="5905501" cy="5021037"/>
          </a:xfrm>
          <a:prstGeom prst="rect">
            <a:avLst/>
          </a:prstGeom>
        </p:spPr>
      </p:pic>
      <p:sp>
        <p:nvSpPr>
          <p:cNvPr id="4" name="Dikdörtgen 3"/>
          <p:cNvSpPr/>
          <p:nvPr/>
        </p:nvSpPr>
        <p:spPr>
          <a:xfrm>
            <a:off x="7324199" y="1443115"/>
            <a:ext cx="4867801" cy="4832092"/>
          </a:xfrm>
          <a:prstGeom prst="rect">
            <a:avLst/>
          </a:prstGeom>
        </p:spPr>
        <p:txBody>
          <a:bodyPr wrap="square">
            <a:spAutoFit/>
          </a:bodyPr>
          <a:lstStyle/>
          <a:p>
            <a:r>
              <a:rPr lang="en-US" sz="2800" b="1" dirty="0"/>
              <a:t>1.</a:t>
            </a:r>
            <a:r>
              <a:rPr lang="en-US" sz="2800" dirty="0"/>
              <a:t> There is a tape which is divided into cells. Each cell stores a symbol belonging to a finite set Σ, called the tape alphabet. There is a special symbol </a:t>
            </a:r>
            <a:r>
              <a:rPr lang="tr-TR" sz="2800" dirty="0"/>
              <a:t>#</a:t>
            </a:r>
            <a:r>
              <a:rPr lang="en-US" sz="2800" dirty="0"/>
              <a:t> that is not contained in Σ; this symbol is called the blank symbol. If a cell contains </a:t>
            </a:r>
            <a:r>
              <a:rPr lang="tr-TR" sz="2800" dirty="0"/>
              <a:t>#</a:t>
            </a:r>
            <a:r>
              <a:rPr lang="en-US" sz="2800" dirty="0"/>
              <a:t>, then this means that the cell is actually empty. </a:t>
            </a:r>
          </a:p>
        </p:txBody>
      </p:sp>
      <p:sp>
        <p:nvSpPr>
          <p:cNvPr id="8" name="Oval 7"/>
          <p:cNvSpPr/>
          <p:nvPr/>
        </p:nvSpPr>
        <p:spPr>
          <a:xfrm>
            <a:off x="1038750" y="1428750"/>
            <a:ext cx="4219050" cy="83820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96617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Push Down Automata</a:t>
            </a:r>
          </a:p>
        </p:txBody>
      </p:sp>
      <p:pic>
        <p:nvPicPr>
          <p:cNvPr id="3" name="Resim 2"/>
          <p:cNvPicPr>
            <a:picLocks noChangeAspect="1"/>
          </p:cNvPicPr>
          <p:nvPr/>
        </p:nvPicPr>
        <p:blipFill>
          <a:blip r:embed="rId3"/>
          <a:stretch>
            <a:fillRect/>
          </a:stretch>
        </p:blipFill>
        <p:spPr>
          <a:xfrm>
            <a:off x="1219199" y="1588260"/>
            <a:ext cx="5905501" cy="5021037"/>
          </a:xfrm>
          <a:prstGeom prst="rect">
            <a:avLst/>
          </a:prstGeom>
        </p:spPr>
      </p:pic>
      <p:sp>
        <p:nvSpPr>
          <p:cNvPr id="4" name="Dikdörtgen 3"/>
          <p:cNvSpPr/>
          <p:nvPr/>
        </p:nvSpPr>
        <p:spPr>
          <a:xfrm>
            <a:off x="7324199" y="1443115"/>
            <a:ext cx="4867801" cy="3108543"/>
          </a:xfrm>
          <a:prstGeom prst="rect">
            <a:avLst/>
          </a:prstGeom>
        </p:spPr>
        <p:txBody>
          <a:bodyPr wrap="square">
            <a:spAutoFit/>
          </a:bodyPr>
          <a:lstStyle/>
          <a:p>
            <a:r>
              <a:rPr lang="en-US" sz="2800" b="1" dirty="0"/>
              <a:t>2. </a:t>
            </a:r>
            <a:r>
              <a:rPr lang="en-US" sz="2800" dirty="0"/>
              <a:t>There is a tape head which can move along the tape, one cell to the right per move. </a:t>
            </a:r>
            <a:endParaRPr lang="tr-TR" sz="2800" dirty="0"/>
          </a:p>
          <a:p>
            <a:endParaRPr lang="tr-TR" sz="2800" dirty="0"/>
          </a:p>
          <a:p>
            <a:r>
              <a:rPr lang="en-US" sz="2800" dirty="0"/>
              <a:t>This tape head also read the cell it currently scans.</a:t>
            </a:r>
          </a:p>
        </p:txBody>
      </p:sp>
      <p:sp>
        <p:nvSpPr>
          <p:cNvPr id="8" name="Oval 7"/>
          <p:cNvSpPr/>
          <p:nvPr/>
        </p:nvSpPr>
        <p:spPr>
          <a:xfrm>
            <a:off x="1238248" y="2058370"/>
            <a:ext cx="2762251" cy="110393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952961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Push Down Automata</a:t>
            </a:r>
          </a:p>
        </p:txBody>
      </p:sp>
      <p:pic>
        <p:nvPicPr>
          <p:cNvPr id="3" name="Resim 2"/>
          <p:cNvPicPr>
            <a:picLocks noChangeAspect="1"/>
          </p:cNvPicPr>
          <p:nvPr/>
        </p:nvPicPr>
        <p:blipFill>
          <a:blip r:embed="rId3"/>
          <a:stretch>
            <a:fillRect/>
          </a:stretch>
        </p:blipFill>
        <p:spPr>
          <a:xfrm>
            <a:off x="1219199" y="1588260"/>
            <a:ext cx="5905501" cy="5021037"/>
          </a:xfrm>
          <a:prstGeom prst="rect">
            <a:avLst/>
          </a:prstGeom>
        </p:spPr>
      </p:pic>
      <p:sp>
        <p:nvSpPr>
          <p:cNvPr id="4" name="Dikdörtgen 3"/>
          <p:cNvSpPr/>
          <p:nvPr/>
        </p:nvSpPr>
        <p:spPr>
          <a:xfrm>
            <a:off x="7324199" y="1443115"/>
            <a:ext cx="4867801" cy="3970318"/>
          </a:xfrm>
          <a:prstGeom prst="rect">
            <a:avLst/>
          </a:prstGeom>
        </p:spPr>
        <p:txBody>
          <a:bodyPr wrap="square">
            <a:spAutoFit/>
          </a:bodyPr>
          <a:lstStyle/>
          <a:p>
            <a:r>
              <a:rPr lang="tr-TR" sz="2800" b="1" dirty="0"/>
              <a:t>3</a:t>
            </a:r>
            <a:r>
              <a:rPr lang="en-US" sz="2800" b="1" dirty="0"/>
              <a:t>. </a:t>
            </a:r>
            <a:r>
              <a:rPr lang="en-US" sz="2800" dirty="0"/>
              <a:t>There is a stack. So we can store something now. </a:t>
            </a:r>
            <a:endParaRPr lang="tr-TR" sz="2800" dirty="0"/>
          </a:p>
          <a:p>
            <a:endParaRPr lang="tr-TR" sz="2800" dirty="0"/>
          </a:p>
          <a:p>
            <a:r>
              <a:rPr lang="en-US" sz="2800" dirty="0"/>
              <a:t>But we can use only symbols defined in Γ, called the stack alphabet. </a:t>
            </a:r>
            <a:endParaRPr lang="tr-TR" sz="2800" dirty="0"/>
          </a:p>
          <a:p>
            <a:endParaRPr lang="tr-TR" sz="2800" dirty="0"/>
          </a:p>
          <a:p>
            <a:r>
              <a:rPr lang="en-US" sz="2800" dirty="0"/>
              <a:t>This set contains a special symbol $.</a:t>
            </a:r>
          </a:p>
        </p:txBody>
      </p:sp>
      <p:sp>
        <p:nvSpPr>
          <p:cNvPr id="9" name="Oval 8"/>
          <p:cNvSpPr/>
          <p:nvPr/>
        </p:nvSpPr>
        <p:spPr>
          <a:xfrm>
            <a:off x="5581649" y="4592020"/>
            <a:ext cx="742951" cy="2112527"/>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43615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Push Down Automata</a:t>
            </a:r>
          </a:p>
        </p:txBody>
      </p:sp>
      <p:pic>
        <p:nvPicPr>
          <p:cNvPr id="3" name="Resim 2"/>
          <p:cNvPicPr>
            <a:picLocks noChangeAspect="1"/>
          </p:cNvPicPr>
          <p:nvPr/>
        </p:nvPicPr>
        <p:blipFill>
          <a:blip r:embed="rId3"/>
          <a:stretch>
            <a:fillRect/>
          </a:stretch>
        </p:blipFill>
        <p:spPr>
          <a:xfrm>
            <a:off x="1219199" y="1588260"/>
            <a:ext cx="5905501" cy="5021037"/>
          </a:xfrm>
          <a:prstGeom prst="rect">
            <a:avLst/>
          </a:prstGeom>
        </p:spPr>
      </p:pic>
      <p:sp>
        <p:nvSpPr>
          <p:cNvPr id="4" name="Dikdörtgen 3"/>
          <p:cNvSpPr/>
          <p:nvPr/>
        </p:nvSpPr>
        <p:spPr>
          <a:xfrm>
            <a:off x="7324199" y="1443115"/>
            <a:ext cx="4867801" cy="3539430"/>
          </a:xfrm>
          <a:prstGeom prst="rect">
            <a:avLst/>
          </a:prstGeom>
        </p:spPr>
        <p:txBody>
          <a:bodyPr wrap="square">
            <a:spAutoFit/>
          </a:bodyPr>
          <a:lstStyle/>
          <a:p>
            <a:r>
              <a:rPr lang="tr-TR" sz="2800" b="1" dirty="0"/>
              <a:t>4</a:t>
            </a:r>
            <a:r>
              <a:rPr lang="en-US" sz="2800" b="1" dirty="0"/>
              <a:t>. </a:t>
            </a:r>
            <a:r>
              <a:rPr lang="en-US" sz="2800" dirty="0"/>
              <a:t>There is a stack head which can read the top symbol of the stack. </a:t>
            </a:r>
            <a:endParaRPr lang="tr-TR" sz="2800" dirty="0"/>
          </a:p>
          <a:p>
            <a:endParaRPr lang="tr-TR" sz="2800" dirty="0"/>
          </a:p>
          <a:p>
            <a:r>
              <a:rPr lang="en-US" sz="2800" dirty="0"/>
              <a:t>This head can also pop the top symbol, and it can push symbols of Γ onto the stack.</a:t>
            </a:r>
          </a:p>
        </p:txBody>
      </p:sp>
      <p:sp>
        <p:nvSpPr>
          <p:cNvPr id="6" name="Oval 5"/>
          <p:cNvSpPr/>
          <p:nvPr/>
        </p:nvSpPr>
        <p:spPr>
          <a:xfrm>
            <a:off x="3181350" y="4668220"/>
            <a:ext cx="2571750" cy="628650"/>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394935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en-US" dirty="0"/>
              <a:t>Push Down Automata</a:t>
            </a:r>
          </a:p>
        </p:txBody>
      </p:sp>
      <p:pic>
        <p:nvPicPr>
          <p:cNvPr id="3" name="Resim 2"/>
          <p:cNvPicPr>
            <a:picLocks noChangeAspect="1"/>
          </p:cNvPicPr>
          <p:nvPr/>
        </p:nvPicPr>
        <p:blipFill>
          <a:blip r:embed="rId3"/>
          <a:stretch>
            <a:fillRect/>
          </a:stretch>
        </p:blipFill>
        <p:spPr>
          <a:xfrm>
            <a:off x="1219199" y="1588260"/>
            <a:ext cx="5905501" cy="5021037"/>
          </a:xfrm>
          <a:prstGeom prst="rect">
            <a:avLst/>
          </a:prstGeom>
        </p:spPr>
      </p:pic>
      <p:sp>
        <p:nvSpPr>
          <p:cNvPr id="4" name="Dikdörtgen 3"/>
          <p:cNvSpPr/>
          <p:nvPr/>
        </p:nvSpPr>
        <p:spPr>
          <a:xfrm>
            <a:off x="7324199" y="1443115"/>
            <a:ext cx="4867801" cy="3970318"/>
          </a:xfrm>
          <a:prstGeom prst="rect">
            <a:avLst/>
          </a:prstGeom>
        </p:spPr>
        <p:txBody>
          <a:bodyPr wrap="square">
            <a:spAutoFit/>
          </a:bodyPr>
          <a:lstStyle/>
          <a:p>
            <a:r>
              <a:rPr lang="tr-TR" sz="2800" b="1" dirty="0"/>
              <a:t>5</a:t>
            </a:r>
            <a:r>
              <a:rPr lang="en-US" sz="2800" b="1" dirty="0"/>
              <a:t>. </a:t>
            </a:r>
            <a:r>
              <a:rPr lang="en-US" sz="2800" dirty="0"/>
              <a:t>There is a state control, which can be in any one of a finite number of states. </a:t>
            </a:r>
          </a:p>
          <a:p>
            <a:endParaRPr lang="en-US" sz="2800" dirty="0"/>
          </a:p>
          <a:p>
            <a:r>
              <a:rPr lang="en-US" sz="2800" dirty="0"/>
              <a:t>The set of states is denoted by Q. The set Q contains one special state q, called the start state.</a:t>
            </a:r>
          </a:p>
        </p:txBody>
      </p:sp>
      <p:sp>
        <p:nvSpPr>
          <p:cNvPr id="6" name="Oval 5"/>
          <p:cNvSpPr/>
          <p:nvPr/>
        </p:nvSpPr>
        <p:spPr>
          <a:xfrm>
            <a:off x="1307050" y="3113948"/>
            <a:ext cx="3931700" cy="1534251"/>
          </a:xfrm>
          <a:prstGeom prst="ellipse">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791106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a:xfrm>
            <a:off x="2054083" y="624110"/>
            <a:ext cx="8911687" cy="1280890"/>
          </a:xfrm>
        </p:spPr>
        <p:txBody>
          <a:bodyPr/>
          <a:lstStyle/>
          <a:p>
            <a:r>
              <a:rPr lang="en-US" b="1" dirty="0"/>
              <a:t>Formal Definition</a:t>
            </a:r>
          </a:p>
        </p:txBody>
      </p:sp>
      <p:sp>
        <p:nvSpPr>
          <p:cNvPr id="6" name="İçerik Yer Tutucusu 2"/>
          <p:cNvSpPr txBox="1">
            <a:spLocks/>
          </p:cNvSpPr>
          <p:nvPr/>
        </p:nvSpPr>
        <p:spPr>
          <a:xfrm>
            <a:off x="2002971" y="164011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dirty="0"/>
              <a:t>A deterministic </a:t>
            </a:r>
            <a:r>
              <a:rPr lang="tr-TR" sz="2800" dirty="0"/>
              <a:t>PDA </a:t>
            </a:r>
            <a:r>
              <a:rPr lang="en-US" sz="2800" dirty="0"/>
              <a:t>is a 5-tuple M = (Σ, Γ, Q, δ, q), where</a:t>
            </a:r>
            <a:endParaRPr lang="en-US" sz="2800" dirty="0">
              <a:solidFill>
                <a:schemeClr val="tx1"/>
              </a:solidFill>
            </a:endParaRPr>
          </a:p>
          <a:p>
            <a:r>
              <a:rPr lang="en-US" sz="2800" dirty="0"/>
              <a:t>Σ</a:t>
            </a:r>
            <a:r>
              <a:rPr lang="en-US" sz="2800" dirty="0">
                <a:solidFill>
                  <a:schemeClr val="tx1"/>
                </a:solidFill>
              </a:rPr>
              <a:t> </a:t>
            </a:r>
            <a:r>
              <a:rPr lang="en-US" sz="2800" dirty="0"/>
              <a:t>is a finite set, called the tape alphabet; the blank symbol </a:t>
            </a:r>
            <a:r>
              <a:rPr lang="tr-TR" sz="2800" dirty="0"/>
              <a:t>#</a:t>
            </a:r>
            <a:r>
              <a:rPr lang="en-US" sz="2800" dirty="0"/>
              <a:t> is not contained in Σ</a:t>
            </a:r>
            <a:r>
              <a:rPr lang="en-US" sz="2800" dirty="0">
                <a:solidFill>
                  <a:schemeClr val="tx1"/>
                </a:solidFill>
              </a:rPr>
              <a:t>,</a:t>
            </a:r>
          </a:p>
          <a:p>
            <a:r>
              <a:rPr lang="en-US" sz="2800" dirty="0"/>
              <a:t>Γ is a finite set, called the stack alphabet; this alphabet contains the special symbol $</a:t>
            </a:r>
            <a:r>
              <a:rPr lang="en-US" sz="2800" dirty="0">
                <a:solidFill>
                  <a:schemeClr val="tx1"/>
                </a:solidFill>
              </a:rPr>
              <a:t>,</a:t>
            </a:r>
          </a:p>
          <a:p>
            <a:r>
              <a:rPr lang="en-US" sz="2800" dirty="0"/>
              <a:t>Q is a finite set, whose elements are called states</a:t>
            </a:r>
            <a:r>
              <a:rPr lang="tr-TR" sz="2800" dirty="0"/>
              <a:t>,</a:t>
            </a:r>
            <a:endParaRPr lang="tr-TR" sz="2800" dirty="0">
              <a:solidFill>
                <a:schemeClr val="tx1"/>
              </a:solidFill>
            </a:endParaRPr>
          </a:p>
          <a:p>
            <a:r>
              <a:rPr lang="en-US" sz="2800" dirty="0"/>
              <a:t>q is an element of Q; it is called the start state</a:t>
            </a:r>
            <a:r>
              <a:rPr lang="en-US" sz="2800" dirty="0">
                <a:solidFill>
                  <a:schemeClr val="tx1"/>
                </a:solidFill>
              </a:rPr>
              <a:t>,</a:t>
            </a:r>
          </a:p>
          <a:p>
            <a:r>
              <a:rPr lang="en-US" sz="2800" dirty="0"/>
              <a:t>δ is called the transition function, which is a function</a:t>
            </a:r>
            <a:endParaRPr lang="tr-TR" sz="2800" dirty="0"/>
          </a:p>
          <a:p>
            <a:pPr marL="0" indent="0">
              <a:buNone/>
            </a:pPr>
            <a:r>
              <a:rPr lang="tr-TR" sz="2800" dirty="0">
                <a:solidFill>
                  <a:schemeClr val="tx1"/>
                </a:solidFill>
              </a:rPr>
              <a:t>		</a:t>
            </a:r>
            <a:r>
              <a:rPr lang="el-GR" sz="2800" dirty="0"/>
              <a:t> </a:t>
            </a:r>
            <a:r>
              <a:rPr lang="tr-TR" sz="2800" dirty="0"/>
              <a:t>Q × (</a:t>
            </a:r>
            <a:r>
              <a:rPr lang="el-GR" sz="2800" dirty="0"/>
              <a:t>Σ ∪ {</a:t>
            </a:r>
            <a:r>
              <a:rPr lang="tr-TR" sz="2800" dirty="0"/>
              <a:t>#</a:t>
            </a:r>
            <a:r>
              <a:rPr lang="el-GR" sz="2800" dirty="0"/>
              <a:t>}) × Γ → </a:t>
            </a:r>
            <a:r>
              <a:rPr lang="tr-TR" sz="2800" dirty="0"/>
              <a:t>Q × {N, R} × </a:t>
            </a:r>
            <a:r>
              <a:rPr lang="el-GR" sz="2800" dirty="0"/>
              <a:t>Γ</a:t>
            </a:r>
            <a:r>
              <a:rPr lang="tr-TR" sz="2800" dirty="0"/>
              <a:t>*</a:t>
            </a:r>
            <a:r>
              <a:rPr lang="el-GR" sz="2800" dirty="0"/>
              <a:t> </a:t>
            </a:r>
            <a:endParaRPr lang="en-US" sz="2800" dirty="0">
              <a:solidFill>
                <a:schemeClr val="tx1"/>
              </a:solidFill>
            </a:endParaRPr>
          </a:p>
          <a:p>
            <a:pPr marL="0" indent="0">
              <a:buFont typeface="Wingdings 3" charset="2"/>
              <a:buNone/>
            </a:pPr>
            <a:endParaRPr lang="en-US" sz="2800" dirty="0"/>
          </a:p>
        </p:txBody>
      </p:sp>
    </p:spTree>
    <p:extLst>
      <p:ext uri="{BB962C8B-B14F-4D97-AF65-F5344CB8AC3E}">
        <p14:creationId xmlns:p14="http://schemas.microsoft.com/office/powerpoint/2010/main" val="1143300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t>qa</a:t>
            </a:r>
            <a:r>
              <a:rPr lang="tr-TR" sz="3600" dirty="0"/>
              <a:t>$ → </a:t>
            </a:r>
            <a:r>
              <a:rPr lang="tr-TR" sz="3600" dirty="0" err="1"/>
              <a:t>qR$S</a:t>
            </a:r>
            <a:r>
              <a:rPr lang="tr-TR" sz="3600" dirty="0"/>
              <a:t>				</a:t>
            </a:r>
            <a:endParaRPr lang="tr-TR" sz="3600" b="1" dirty="0">
              <a:solidFill>
                <a:srgbClr val="FF0000"/>
              </a:solidFill>
            </a:endParaRPr>
          </a:p>
        </p:txBody>
      </p:sp>
      <p:cxnSp>
        <p:nvCxnSpPr>
          <p:cNvPr id="8" name="Düz Ok Bağlayıcısı 7"/>
          <p:cNvCxnSpPr/>
          <p:nvPr/>
        </p:nvCxnSpPr>
        <p:spPr>
          <a:xfrm flipH="1" flipV="1">
            <a:off x="2876550" y="2686050"/>
            <a:ext cx="190500" cy="2378515"/>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Düz Ok Bağlayıcısı 10"/>
          <p:cNvCxnSpPr/>
          <p:nvPr/>
        </p:nvCxnSpPr>
        <p:spPr>
          <a:xfrm flipV="1">
            <a:off x="3290981" y="2656108"/>
            <a:ext cx="1128619" cy="2378514"/>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Dikdörtgen 11"/>
          <p:cNvSpPr/>
          <p:nvPr/>
        </p:nvSpPr>
        <p:spPr>
          <a:xfrm>
            <a:off x="2652513" y="5069031"/>
            <a:ext cx="1043876" cy="461665"/>
          </a:xfrm>
          <a:prstGeom prst="rect">
            <a:avLst/>
          </a:prstGeom>
        </p:spPr>
        <p:txBody>
          <a:bodyPr wrap="none">
            <a:spAutoFit/>
          </a:bodyPr>
          <a:lstStyle/>
          <a:p>
            <a:r>
              <a:rPr lang="en-US" sz="2400"/>
              <a:t>states</a:t>
            </a:r>
            <a:endParaRPr lang="en-US" sz="2400" dirty="0"/>
          </a:p>
        </p:txBody>
      </p:sp>
      <p:sp>
        <p:nvSpPr>
          <p:cNvPr id="13" name="Dikdörtgen 12"/>
          <p:cNvSpPr/>
          <p:nvPr/>
        </p:nvSpPr>
        <p:spPr>
          <a:xfrm>
            <a:off x="6539087" y="1943100"/>
            <a:ext cx="5619750" cy="4042582"/>
          </a:xfrm>
          <a:prstGeom prst="rect">
            <a:avLst/>
          </a:prstGeom>
        </p:spPr>
        <p:txBody>
          <a:bodyPr wrap="square">
            <a:spAutoFit/>
          </a:bodyPr>
          <a:lstStyle/>
          <a:p>
            <a:pPr>
              <a:lnSpc>
                <a:spcPct val="165000"/>
              </a:lnSpc>
            </a:pPr>
            <a:r>
              <a:rPr lang="en-US" sz="3200" dirty="0"/>
              <a:t>When we focus on the states here, we will see that the state has not changed. Thus, we can read it as 'stay in the same state'.</a:t>
            </a:r>
            <a:endParaRPr lang="tr-TR" sz="3200" b="1" dirty="0"/>
          </a:p>
        </p:txBody>
      </p:sp>
    </p:spTree>
    <p:extLst>
      <p:ext uri="{BB962C8B-B14F-4D97-AF65-F5344CB8AC3E}">
        <p14:creationId xmlns:p14="http://schemas.microsoft.com/office/powerpoint/2010/main" val="8896138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t>qa</a:t>
            </a:r>
            <a:r>
              <a:rPr lang="tr-TR" sz="3600" dirty="0"/>
              <a:t>$ → </a:t>
            </a:r>
            <a:r>
              <a:rPr lang="tr-TR" sz="3600" dirty="0" err="1"/>
              <a:t>qR$S</a:t>
            </a:r>
            <a:r>
              <a:rPr lang="tr-TR" sz="3600" dirty="0"/>
              <a:t>				</a:t>
            </a:r>
            <a:endParaRPr lang="tr-TR" sz="3600" b="1" dirty="0">
              <a:solidFill>
                <a:srgbClr val="FF0000"/>
              </a:solidFill>
            </a:endParaRPr>
          </a:p>
        </p:txBody>
      </p:sp>
      <p:cxnSp>
        <p:nvCxnSpPr>
          <p:cNvPr id="8" name="Düz Ok Bağlayıcısı 7"/>
          <p:cNvCxnSpPr/>
          <p:nvPr/>
        </p:nvCxnSpPr>
        <p:spPr>
          <a:xfrm flipV="1">
            <a:off x="3067050" y="2656108"/>
            <a:ext cx="85725" cy="2408458"/>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Düz Ok Bağlayıcısı 10"/>
          <p:cNvCxnSpPr/>
          <p:nvPr/>
        </p:nvCxnSpPr>
        <p:spPr>
          <a:xfrm flipV="1">
            <a:off x="3290981" y="2656108"/>
            <a:ext cx="1442944" cy="2378514"/>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Dikdörtgen 11"/>
          <p:cNvSpPr/>
          <p:nvPr/>
        </p:nvSpPr>
        <p:spPr>
          <a:xfrm>
            <a:off x="2652513" y="5069031"/>
            <a:ext cx="909223" cy="461665"/>
          </a:xfrm>
          <a:prstGeom prst="rect">
            <a:avLst/>
          </a:prstGeom>
        </p:spPr>
        <p:txBody>
          <a:bodyPr wrap="none">
            <a:spAutoFit/>
          </a:bodyPr>
          <a:lstStyle/>
          <a:p>
            <a:r>
              <a:rPr lang="en-US" sz="2400"/>
              <a:t>tape</a:t>
            </a:r>
            <a:endParaRPr lang="en-US" sz="2400" dirty="0"/>
          </a:p>
        </p:txBody>
      </p:sp>
      <p:sp>
        <p:nvSpPr>
          <p:cNvPr id="13" name="Dikdörtgen 12"/>
          <p:cNvSpPr/>
          <p:nvPr/>
        </p:nvSpPr>
        <p:spPr>
          <a:xfrm>
            <a:off x="6539087" y="1943100"/>
            <a:ext cx="5619750" cy="3342453"/>
          </a:xfrm>
          <a:prstGeom prst="rect">
            <a:avLst/>
          </a:prstGeom>
        </p:spPr>
        <p:txBody>
          <a:bodyPr wrap="square">
            <a:spAutoFit/>
          </a:bodyPr>
          <a:lstStyle/>
          <a:p>
            <a:pPr>
              <a:lnSpc>
                <a:spcPct val="165000"/>
              </a:lnSpc>
            </a:pPr>
            <a:r>
              <a:rPr lang="en-US" sz="3200" dirty="0"/>
              <a:t>When the tape head reads an </a:t>
            </a:r>
            <a:r>
              <a:rPr lang="tr-TR" sz="3200" dirty="0"/>
              <a:t>‘</a:t>
            </a:r>
            <a:r>
              <a:rPr lang="en-US" sz="3200" dirty="0"/>
              <a:t>a</a:t>
            </a:r>
            <a:r>
              <a:rPr lang="tr-TR" sz="3200" dirty="0"/>
              <a:t>’ </a:t>
            </a:r>
            <a:r>
              <a:rPr lang="en-US" sz="3200" dirty="0"/>
              <a:t>symbol from the tape, the tape head must go one cell to the right.</a:t>
            </a:r>
          </a:p>
        </p:txBody>
      </p:sp>
    </p:spTree>
    <p:extLst>
      <p:ext uri="{BB962C8B-B14F-4D97-AF65-F5344CB8AC3E}">
        <p14:creationId xmlns:p14="http://schemas.microsoft.com/office/powerpoint/2010/main" val="373470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t>qa</a:t>
            </a:r>
            <a:r>
              <a:rPr lang="tr-TR" sz="3600" dirty="0"/>
              <a:t>$ → </a:t>
            </a:r>
            <a:r>
              <a:rPr lang="tr-TR" sz="3600" dirty="0" err="1"/>
              <a:t>qR$S</a:t>
            </a:r>
            <a:r>
              <a:rPr lang="tr-TR" sz="3600" dirty="0"/>
              <a:t>				</a:t>
            </a:r>
            <a:endParaRPr lang="tr-TR" sz="3600" b="1" dirty="0">
              <a:solidFill>
                <a:srgbClr val="FF0000"/>
              </a:solidFill>
            </a:endParaRPr>
          </a:p>
        </p:txBody>
      </p:sp>
      <p:cxnSp>
        <p:nvCxnSpPr>
          <p:cNvPr id="8" name="Düz Ok Bağlayıcısı 7"/>
          <p:cNvCxnSpPr/>
          <p:nvPr/>
        </p:nvCxnSpPr>
        <p:spPr>
          <a:xfrm flipV="1">
            <a:off x="3067050" y="2725958"/>
            <a:ext cx="399978" cy="2338608"/>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1" name="Düz Ok Bağlayıcısı 10"/>
          <p:cNvCxnSpPr/>
          <p:nvPr/>
        </p:nvCxnSpPr>
        <p:spPr>
          <a:xfrm flipV="1">
            <a:off x="3290981" y="2846952"/>
            <a:ext cx="1753343" cy="2187670"/>
          </a:xfrm>
          <a:prstGeom prst="straightConnector1">
            <a:avLst/>
          </a:prstGeom>
          <a:ln>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Dikdörtgen 11"/>
          <p:cNvSpPr/>
          <p:nvPr/>
        </p:nvSpPr>
        <p:spPr>
          <a:xfrm>
            <a:off x="2652513" y="5069031"/>
            <a:ext cx="971741" cy="461665"/>
          </a:xfrm>
          <a:prstGeom prst="rect">
            <a:avLst/>
          </a:prstGeom>
        </p:spPr>
        <p:txBody>
          <a:bodyPr wrap="none">
            <a:spAutoFit/>
          </a:bodyPr>
          <a:lstStyle/>
          <a:p>
            <a:r>
              <a:rPr lang="en-US" sz="2400" dirty="0"/>
              <a:t>stack</a:t>
            </a:r>
          </a:p>
        </p:txBody>
      </p:sp>
      <p:sp>
        <p:nvSpPr>
          <p:cNvPr id="13" name="Dikdörtgen 12"/>
          <p:cNvSpPr/>
          <p:nvPr/>
        </p:nvSpPr>
        <p:spPr>
          <a:xfrm>
            <a:off x="6539087" y="1943100"/>
            <a:ext cx="5619750" cy="4042838"/>
          </a:xfrm>
          <a:prstGeom prst="rect">
            <a:avLst/>
          </a:prstGeom>
        </p:spPr>
        <p:txBody>
          <a:bodyPr wrap="square">
            <a:spAutoFit/>
          </a:bodyPr>
          <a:lstStyle/>
          <a:p>
            <a:pPr>
              <a:lnSpc>
                <a:spcPct val="165000"/>
              </a:lnSpc>
            </a:pPr>
            <a:r>
              <a:rPr lang="en-US" sz="3200" dirty="0"/>
              <a:t>When stack head pop the dollar symbol from the stack, the stack head must push $S symbols into the stack in order.</a:t>
            </a:r>
          </a:p>
        </p:txBody>
      </p:sp>
      <p:sp>
        <p:nvSpPr>
          <p:cNvPr id="6" name="Dikdörtgen 5"/>
          <p:cNvSpPr/>
          <p:nvPr/>
        </p:nvSpPr>
        <p:spPr>
          <a:xfrm rot="16200000">
            <a:off x="4862223" y="2372015"/>
            <a:ext cx="364202" cy="707886"/>
          </a:xfrm>
          <a:prstGeom prst="rect">
            <a:avLst/>
          </a:prstGeom>
        </p:spPr>
        <p:txBody>
          <a:bodyPr wrap="none">
            <a:spAutoFit/>
          </a:bodyPr>
          <a:lstStyle/>
          <a:p>
            <a:r>
              <a:rPr lang="tr-TR" sz="4000" dirty="0">
                <a:solidFill>
                  <a:srgbClr val="FF0000"/>
                </a:solidFill>
              </a:rPr>
              <a:t>{</a:t>
            </a:r>
            <a:endParaRPr lang="en-US" sz="4000" dirty="0">
              <a:solidFill>
                <a:srgbClr val="FF0000"/>
              </a:solidFill>
            </a:endParaRPr>
          </a:p>
        </p:txBody>
      </p:sp>
    </p:spTree>
    <p:extLst>
      <p:ext uri="{BB962C8B-B14F-4D97-AF65-F5344CB8AC3E}">
        <p14:creationId xmlns:p14="http://schemas.microsoft.com/office/powerpoint/2010/main" val="394131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solidFill>
                  <a:srgbClr val="FF0000"/>
                </a:solidFill>
              </a:rPr>
              <a:t>qa</a:t>
            </a:r>
            <a:r>
              <a:rPr lang="tr-TR" sz="3600" dirty="0">
                <a:solidFill>
                  <a:srgbClr val="FF0000"/>
                </a:solidFill>
              </a:rPr>
              <a:t>$</a:t>
            </a:r>
            <a:r>
              <a:rPr lang="tr-TR" sz="3600" dirty="0"/>
              <a:t> → </a:t>
            </a:r>
            <a:r>
              <a:rPr lang="tr-TR" sz="3600" dirty="0" err="1"/>
              <a:t>qR$S</a:t>
            </a:r>
            <a:r>
              <a:rPr lang="tr-TR" sz="3600" dirty="0"/>
              <a:t>				</a:t>
            </a:r>
            <a:endParaRPr lang="tr-TR" sz="3600" b="1" dirty="0">
              <a:solidFill>
                <a:srgbClr val="FF0000"/>
              </a:solidFill>
            </a:endParaRPr>
          </a:p>
        </p:txBody>
      </p:sp>
      <p:pic>
        <p:nvPicPr>
          <p:cNvPr id="10" name="Resim 9"/>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6413500" y="2032000"/>
            <a:ext cx="4165600" cy="3073400"/>
          </a:xfrm>
          <a:prstGeom prst="rect">
            <a:avLst/>
          </a:prstGeom>
        </p:spPr>
      </p:pic>
      <p:sp>
        <p:nvSpPr>
          <p:cNvPr id="12" name="Dikdörtgen 11"/>
          <p:cNvSpPr/>
          <p:nvPr/>
        </p:nvSpPr>
        <p:spPr>
          <a:xfrm>
            <a:off x="7132670" y="1659234"/>
            <a:ext cx="394660" cy="461665"/>
          </a:xfrm>
          <a:prstGeom prst="rect">
            <a:avLst/>
          </a:prstGeom>
        </p:spPr>
        <p:txBody>
          <a:bodyPr wrap="none">
            <a:spAutoFit/>
          </a:bodyPr>
          <a:lstStyle/>
          <a:p>
            <a:r>
              <a:rPr lang="tr-TR" sz="2400" dirty="0">
                <a:solidFill>
                  <a:srgbClr val="FF0000"/>
                </a:solidFill>
              </a:rPr>
              <a:t>a</a:t>
            </a:r>
            <a:endParaRPr lang="en-US" sz="2400" dirty="0">
              <a:solidFill>
                <a:srgbClr val="FF0000"/>
              </a:solidFill>
            </a:endParaRPr>
          </a:p>
        </p:txBody>
      </p:sp>
      <p:sp>
        <p:nvSpPr>
          <p:cNvPr id="17" name="Dikdörtgen 16"/>
          <p:cNvSpPr/>
          <p:nvPr/>
        </p:nvSpPr>
        <p:spPr>
          <a:xfrm>
            <a:off x="10512645" y="4679100"/>
            <a:ext cx="354584" cy="461665"/>
          </a:xfrm>
          <a:prstGeom prst="rect">
            <a:avLst/>
          </a:prstGeom>
        </p:spPr>
        <p:txBody>
          <a:bodyPr wrap="none">
            <a:spAutoFit/>
          </a:bodyPr>
          <a:lstStyle/>
          <a:p>
            <a:r>
              <a:rPr lang="tr-TR" sz="2400" dirty="0">
                <a:solidFill>
                  <a:srgbClr val="FF0000"/>
                </a:solidFill>
              </a:rPr>
              <a:t>$</a:t>
            </a:r>
            <a:endParaRPr lang="en-US" sz="2400" dirty="0">
              <a:solidFill>
                <a:srgbClr val="FF0000"/>
              </a:solidFill>
            </a:endParaRPr>
          </a:p>
        </p:txBody>
      </p:sp>
      <p:sp>
        <p:nvSpPr>
          <p:cNvPr id="18" name="Dikdörtgen 17"/>
          <p:cNvSpPr/>
          <p:nvPr/>
        </p:nvSpPr>
        <p:spPr>
          <a:xfrm>
            <a:off x="6532257" y="3337867"/>
            <a:ext cx="394660" cy="461665"/>
          </a:xfrm>
          <a:prstGeom prst="rect">
            <a:avLst/>
          </a:prstGeom>
        </p:spPr>
        <p:txBody>
          <a:bodyPr wrap="none">
            <a:spAutoFit/>
          </a:bodyPr>
          <a:lstStyle/>
          <a:p>
            <a:r>
              <a:rPr lang="tr-TR" sz="2400" dirty="0">
                <a:solidFill>
                  <a:srgbClr val="FF0000"/>
                </a:solidFill>
              </a:rPr>
              <a:t>q</a:t>
            </a:r>
            <a:endParaRPr lang="en-US" sz="2400" dirty="0">
              <a:solidFill>
                <a:srgbClr val="FF0000"/>
              </a:solidFill>
            </a:endParaRPr>
          </a:p>
        </p:txBody>
      </p:sp>
    </p:spTree>
    <p:extLst>
      <p:ext uri="{BB962C8B-B14F-4D97-AF65-F5344CB8AC3E}">
        <p14:creationId xmlns:p14="http://schemas.microsoft.com/office/powerpoint/2010/main" val="293773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A Sample Delta Rule</a:t>
            </a:r>
          </a:p>
        </p:txBody>
      </p:sp>
      <p:sp>
        <p:nvSpPr>
          <p:cNvPr id="7" name="İçerik Yer Tutucusu 4"/>
          <p:cNvSpPr>
            <a:spLocks noGrp="1"/>
          </p:cNvSpPr>
          <p:nvPr>
            <p:ph idx="1"/>
          </p:nvPr>
        </p:nvSpPr>
        <p:spPr>
          <a:xfrm>
            <a:off x="2592925" y="1885950"/>
            <a:ext cx="8273324" cy="3178615"/>
          </a:xfrm>
        </p:spPr>
        <p:txBody>
          <a:bodyPr>
            <a:normAutofit/>
          </a:bodyPr>
          <a:lstStyle/>
          <a:p>
            <a:pPr marL="0" indent="0">
              <a:lnSpc>
                <a:spcPct val="165000"/>
              </a:lnSpc>
              <a:buNone/>
            </a:pPr>
            <a:r>
              <a:rPr lang="tr-TR" sz="3600" dirty="0" err="1">
                <a:solidFill>
                  <a:schemeClr val="tx1"/>
                </a:solidFill>
              </a:rPr>
              <a:t>qa</a:t>
            </a:r>
            <a:r>
              <a:rPr lang="tr-TR" sz="3600" dirty="0">
                <a:solidFill>
                  <a:schemeClr val="tx1"/>
                </a:solidFill>
              </a:rPr>
              <a:t>$</a:t>
            </a:r>
            <a:r>
              <a:rPr lang="tr-TR" sz="3600" dirty="0"/>
              <a:t> → </a:t>
            </a:r>
            <a:r>
              <a:rPr lang="tr-TR" sz="3600" dirty="0" err="1">
                <a:solidFill>
                  <a:srgbClr val="FF0000"/>
                </a:solidFill>
              </a:rPr>
              <a:t>qR$S</a:t>
            </a:r>
            <a:r>
              <a:rPr lang="tr-TR" sz="3600" dirty="0"/>
              <a:t>				</a:t>
            </a:r>
            <a:endParaRPr lang="tr-TR" sz="3600" b="1" dirty="0">
              <a:solidFill>
                <a:srgbClr val="FF0000"/>
              </a:solidFill>
            </a:endParaRPr>
          </a:p>
        </p:txBody>
      </p:sp>
      <p:pic>
        <p:nvPicPr>
          <p:cNvPr id="10" name="Resim 9"/>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6413500" y="2032000"/>
            <a:ext cx="4165600" cy="3073400"/>
          </a:xfrm>
          <a:prstGeom prst="rect">
            <a:avLst/>
          </a:prstGeom>
        </p:spPr>
      </p:pic>
      <p:sp>
        <p:nvSpPr>
          <p:cNvPr id="12" name="Dikdörtgen 11"/>
          <p:cNvSpPr/>
          <p:nvPr/>
        </p:nvSpPr>
        <p:spPr>
          <a:xfrm>
            <a:off x="6972650" y="1659234"/>
            <a:ext cx="708310" cy="461665"/>
          </a:xfrm>
          <a:prstGeom prst="rect">
            <a:avLst/>
          </a:prstGeom>
        </p:spPr>
        <p:txBody>
          <a:bodyPr wrap="square">
            <a:spAutoFit/>
          </a:bodyPr>
          <a:lstStyle/>
          <a:p>
            <a:r>
              <a:rPr lang="tr-TR" sz="2400" dirty="0">
                <a:solidFill>
                  <a:srgbClr val="FF0000"/>
                </a:solidFill>
              </a:rPr>
              <a:t>a</a:t>
            </a:r>
            <a:endParaRPr lang="en-US" sz="2400" dirty="0">
              <a:solidFill>
                <a:srgbClr val="FF0000"/>
              </a:solidFill>
            </a:endParaRPr>
          </a:p>
        </p:txBody>
      </p:sp>
      <p:sp>
        <p:nvSpPr>
          <p:cNvPr id="17" name="Dikdörtgen 16"/>
          <p:cNvSpPr/>
          <p:nvPr/>
        </p:nvSpPr>
        <p:spPr>
          <a:xfrm>
            <a:off x="10512645" y="4679100"/>
            <a:ext cx="354584" cy="830997"/>
          </a:xfrm>
          <a:prstGeom prst="rect">
            <a:avLst/>
          </a:prstGeom>
        </p:spPr>
        <p:txBody>
          <a:bodyPr wrap="none">
            <a:spAutoFit/>
          </a:bodyPr>
          <a:lstStyle/>
          <a:p>
            <a:r>
              <a:rPr lang="tr-TR" sz="2400" dirty="0">
                <a:solidFill>
                  <a:srgbClr val="FF0000"/>
                </a:solidFill>
              </a:rPr>
              <a:t>S</a:t>
            </a:r>
          </a:p>
          <a:p>
            <a:r>
              <a:rPr lang="tr-TR" sz="2400" dirty="0">
                <a:solidFill>
                  <a:srgbClr val="FF0000"/>
                </a:solidFill>
              </a:rPr>
              <a:t>$</a:t>
            </a:r>
            <a:endParaRPr lang="en-US" sz="2400" dirty="0">
              <a:solidFill>
                <a:srgbClr val="FF0000"/>
              </a:solidFill>
            </a:endParaRPr>
          </a:p>
        </p:txBody>
      </p:sp>
      <p:sp>
        <p:nvSpPr>
          <p:cNvPr id="18" name="Dikdörtgen 17"/>
          <p:cNvSpPr/>
          <p:nvPr/>
        </p:nvSpPr>
        <p:spPr>
          <a:xfrm>
            <a:off x="6532257" y="3337867"/>
            <a:ext cx="394660" cy="461665"/>
          </a:xfrm>
          <a:prstGeom prst="rect">
            <a:avLst/>
          </a:prstGeom>
        </p:spPr>
        <p:txBody>
          <a:bodyPr wrap="none">
            <a:spAutoFit/>
          </a:bodyPr>
          <a:lstStyle/>
          <a:p>
            <a:r>
              <a:rPr lang="tr-TR" sz="2400" dirty="0">
                <a:solidFill>
                  <a:srgbClr val="FF0000"/>
                </a:solidFill>
              </a:rPr>
              <a:t>q</a:t>
            </a:r>
            <a:endParaRPr lang="en-US" sz="2400" dirty="0">
              <a:solidFill>
                <a:srgbClr val="FF0000"/>
              </a:solidFill>
            </a:endParaRPr>
          </a:p>
        </p:txBody>
      </p:sp>
      <p:sp>
        <p:nvSpPr>
          <p:cNvPr id="11" name="Dikdörtgen 10"/>
          <p:cNvSpPr/>
          <p:nvPr/>
        </p:nvSpPr>
        <p:spPr>
          <a:xfrm>
            <a:off x="7269830" y="2131716"/>
            <a:ext cx="1538890" cy="276999"/>
          </a:xfrm>
          <a:prstGeom prst="rect">
            <a:avLst/>
          </a:prstGeom>
        </p:spPr>
        <p:txBody>
          <a:bodyPr wrap="square">
            <a:spAutoFit/>
          </a:bodyPr>
          <a:lstStyle/>
          <a:p>
            <a:r>
              <a:rPr lang="en-US" sz="1200" dirty="0">
                <a:solidFill>
                  <a:srgbClr val="FF0000"/>
                </a:solidFill>
              </a:rPr>
              <a:t>move to the Right</a:t>
            </a:r>
          </a:p>
        </p:txBody>
      </p:sp>
      <p:sp>
        <p:nvSpPr>
          <p:cNvPr id="15" name="Dikdörtgen 14"/>
          <p:cNvSpPr/>
          <p:nvPr/>
        </p:nvSpPr>
        <p:spPr>
          <a:xfrm>
            <a:off x="8815657" y="4667600"/>
            <a:ext cx="1538890" cy="276999"/>
          </a:xfrm>
          <a:prstGeom prst="rect">
            <a:avLst/>
          </a:prstGeom>
        </p:spPr>
        <p:txBody>
          <a:bodyPr wrap="square">
            <a:spAutoFit/>
          </a:bodyPr>
          <a:lstStyle/>
          <a:p>
            <a:r>
              <a:rPr lang="en-US" sz="1200" dirty="0">
                <a:solidFill>
                  <a:srgbClr val="FF0000"/>
                </a:solidFill>
              </a:rPr>
              <a:t>push $S</a:t>
            </a:r>
          </a:p>
        </p:txBody>
      </p:sp>
      <p:sp>
        <p:nvSpPr>
          <p:cNvPr id="16" name="Dikdörtgen 15"/>
          <p:cNvSpPr/>
          <p:nvPr/>
        </p:nvSpPr>
        <p:spPr>
          <a:xfrm>
            <a:off x="6911515" y="3475257"/>
            <a:ext cx="1538890" cy="276999"/>
          </a:xfrm>
          <a:prstGeom prst="rect">
            <a:avLst/>
          </a:prstGeom>
        </p:spPr>
        <p:txBody>
          <a:bodyPr wrap="square">
            <a:spAutoFit/>
          </a:bodyPr>
          <a:lstStyle/>
          <a:p>
            <a:r>
              <a:rPr lang="en-US" sz="1200" dirty="0">
                <a:solidFill>
                  <a:srgbClr val="FF0000"/>
                </a:solidFill>
              </a:rPr>
              <a:t>stay the q state</a:t>
            </a:r>
          </a:p>
        </p:txBody>
      </p:sp>
    </p:spTree>
    <p:extLst>
      <p:ext uri="{BB962C8B-B14F-4D97-AF65-F5344CB8AC3E}">
        <p14:creationId xmlns:p14="http://schemas.microsoft.com/office/powerpoint/2010/main" val="3139762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Execution of PDA</a:t>
            </a:r>
          </a:p>
        </p:txBody>
      </p:sp>
      <p:sp>
        <p:nvSpPr>
          <p:cNvPr id="13" name="Dikdörtgen 12"/>
          <p:cNvSpPr/>
          <p:nvPr/>
        </p:nvSpPr>
        <p:spPr>
          <a:xfrm>
            <a:off x="7324199" y="1443115"/>
            <a:ext cx="4867801" cy="4832092"/>
          </a:xfrm>
          <a:prstGeom prst="rect">
            <a:avLst/>
          </a:prstGeom>
        </p:spPr>
        <p:txBody>
          <a:bodyPr wrap="square">
            <a:spAutoFit/>
          </a:bodyPr>
          <a:lstStyle/>
          <a:p>
            <a:r>
              <a:rPr lang="en-US" sz="2800" dirty="0"/>
              <a:t>User can enter a string into the tape, but cannot see the stack. Only state controller can use the stack.</a:t>
            </a:r>
          </a:p>
          <a:p>
            <a:endParaRPr lang="tr-TR" sz="2800" dirty="0"/>
          </a:p>
          <a:p>
            <a:r>
              <a:rPr lang="en-US" sz="2800" dirty="0"/>
              <a:t>When the program is started, we will assume that the tape head is on the first letter of the string written by the user.</a:t>
            </a:r>
          </a:p>
        </p:txBody>
      </p:sp>
      <p:grpSp>
        <p:nvGrpSpPr>
          <p:cNvPr id="14" name="Grup 13"/>
          <p:cNvGrpSpPr/>
          <p:nvPr/>
        </p:nvGrpSpPr>
        <p:grpSpPr>
          <a:xfrm>
            <a:off x="1562100" y="1638300"/>
            <a:ext cx="5486400" cy="3499312"/>
            <a:chOff x="1562100" y="1638300"/>
            <a:chExt cx="5486400" cy="3499312"/>
          </a:xfrm>
        </p:grpSpPr>
        <p:pic>
          <p:nvPicPr>
            <p:cNvPr id="12" name="Resim 11"/>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562100" y="2057400"/>
              <a:ext cx="5486400" cy="3067050"/>
            </a:xfrm>
            <a:prstGeom prst="rect">
              <a:avLst/>
            </a:prstGeom>
          </p:spPr>
        </p:pic>
        <p:pic>
          <p:nvPicPr>
            <p:cNvPr id="16" name="Resim 15"/>
            <p:cNvPicPr>
              <a:picLocks noChangeAspect="1"/>
            </p:cNvPicPr>
            <p:nvPr/>
          </p:nvPicPr>
          <p:blipFill rotWithShape="1">
            <a:blip r:embed="rId4">
              <a:extLst>
                <a:ext uri="{28A0092B-C50C-407E-A947-70E740481C1C}">
                  <a14:useLocalDpi xmlns:a14="http://schemas.microsoft.com/office/drawing/2010/main" val="0"/>
                </a:ext>
              </a:extLst>
            </a:blip>
            <a:srcRect l="2650" r="1"/>
            <a:stretch/>
          </p:blipFill>
          <p:spPr>
            <a:xfrm>
              <a:off x="5757862" y="4768518"/>
              <a:ext cx="384811" cy="369094"/>
            </a:xfrm>
            <a:prstGeom prst="rect">
              <a:avLst/>
            </a:prstGeom>
          </p:spPr>
        </p:pic>
        <p:pic>
          <p:nvPicPr>
            <p:cNvPr id="18" name="Resim 17"/>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291556" y="1638300"/>
              <a:ext cx="3875087" cy="419100"/>
            </a:xfrm>
            <a:prstGeom prst="rect">
              <a:avLst/>
            </a:prstGeom>
          </p:spPr>
        </p:pic>
      </p:grpSp>
    </p:spTree>
    <p:extLst>
      <p:ext uri="{BB962C8B-B14F-4D97-AF65-F5344CB8AC3E}">
        <p14:creationId xmlns:p14="http://schemas.microsoft.com/office/powerpoint/2010/main" val="171903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en-US" dirty="0"/>
              <a:t>Execution of PDA</a:t>
            </a:r>
          </a:p>
        </p:txBody>
      </p:sp>
      <p:sp>
        <p:nvSpPr>
          <p:cNvPr id="13" name="Dikdörtgen 12"/>
          <p:cNvSpPr/>
          <p:nvPr/>
        </p:nvSpPr>
        <p:spPr>
          <a:xfrm>
            <a:off x="7324199" y="1443115"/>
            <a:ext cx="4867801" cy="4832092"/>
          </a:xfrm>
          <a:prstGeom prst="rect">
            <a:avLst/>
          </a:prstGeom>
        </p:spPr>
        <p:txBody>
          <a:bodyPr wrap="square">
            <a:spAutoFit/>
          </a:bodyPr>
          <a:lstStyle/>
          <a:p>
            <a:r>
              <a:rPr lang="en-US" sz="2800" dirty="0"/>
              <a:t>State controller starts on the start state q and the stack has only one dollar symbol. </a:t>
            </a:r>
            <a:endParaRPr lang="tr-TR" sz="2800" dirty="0"/>
          </a:p>
          <a:p>
            <a:endParaRPr lang="tr-TR" sz="2800" dirty="0"/>
          </a:p>
          <a:p>
            <a:r>
              <a:rPr lang="en-US" sz="2800" dirty="0"/>
              <a:t>A command is selected according to the symbol to be read from the tape, and the operation on the right hand side is performed.</a:t>
            </a:r>
          </a:p>
        </p:txBody>
      </p:sp>
      <p:grpSp>
        <p:nvGrpSpPr>
          <p:cNvPr id="14" name="Grup 13"/>
          <p:cNvGrpSpPr/>
          <p:nvPr/>
        </p:nvGrpSpPr>
        <p:grpSpPr>
          <a:xfrm>
            <a:off x="1562100" y="1638300"/>
            <a:ext cx="5486400" cy="3499312"/>
            <a:chOff x="1562100" y="1638300"/>
            <a:chExt cx="5486400" cy="3499312"/>
          </a:xfrm>
        </p:grpSpPr>
        <p:pic>
          <p:nvPicPr>
            <p:cNvPr id="12" name="Resim 11"/>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562100" y="2057400"/>
              <a:ext cx="5486400" cy="3067050"/>
            </a:xfrm>
            <a:prstGeom prst="rect">
              <a:avLst/>
            </a:prstGeom>
          </p:spPr>
        </p:pic>
        <p:pic>
          <p:nvPicPr>
            <p:cNvPr id="16" name="Resim 15"/>
            <p:cNvPicPr>
              <a:picLocks noChangeAspect="1"/>
            </p:cNvPicPr>
            <p:nvPr/>
          </p:nvPicPr>
          <p:blipFill rotWithShape="1">
            <a:blip r:embed="rId4">
              <a:extLst>
                <a:ext uri="{28A0092B-C50C-407E-A947-70E740481C1C}">
                  <a14:useLocalDpi xmlns:a14="http://schemas.microsoft.com/office/drawing/2010/main" val="0"/>
                </a:ext>
              </a:extLst>
            </a:blip>
            <a:srcRect l="2650" r="1"/>
            <a:stretch/>
          </p:blipFill>
          <p:spPr>
            <a:xfrm>
              <a:off x="5757862" y="4768518"/>
              <a:ext cx="384811" cy="369094"/>
            </a:xfrm>
            <a:prstGeom prst="rect">
              <a:avLst/>
            </a:prstGeom>
          </p:spPr>
        </p:pic>
        <p:pic>
          <p:nvPicPr>
            <p:cNvPr id="18" name="Resim 17"/>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291556" y="1638300"/>
              <a:ext cx="3875087" cy="419100"/>
            </a:xfrm>
            <a:prstGeom prst="rect">
              <a:avLst/>
            </a:prstGeom>
          </p:spPr>
        </p:pic>
      </p:grpSp>
    </p:spTree>
    <p:extLst>
      <p:ext uri="{BB962C8B-B14F-4D97-AF65-F5344CB8AC3E}">
        <p14:creationId xmlns:p14="http://schemas.microsoft.com/office/powerpoint/2010/main" val="35626147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 6"/>
          <p:cNvGrpSpPr/>
          <p:nvPr/>
        </p:nvGrpSpPr>
        <p:grpSpPr>
          <a:xfrm>
            <a:off x="922020" y="1637261"/>
            <a:ext cx="6126480" cy="3500351"/>
            <a:chOff x="922020" y="1637261"/>
            <a:chExt cx="6126480" cy="3500351"/>
          </a:xfrm>
        </p:grpSpPr>
        <p:pic>
          <p:nvPicPr>
            <p:cNvPr id="12" name="Resim 11"/>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562100" y="2057400"/>
              <a:ext cx="5486400" cy="3067050"/>
            </a:xfrm>
            <a:prstGeom prst="rect">
              <a:avLst/>
            </a:prstGeom>
          </p:spPr>
        </p:pic>
        <p:pic>
          <p:nvPicPr>
            <p:cNvPr id="16" name="Resim 15"/>
            <p:cNvPicPr>
              <a:picLocks noChangeAspect="1"/>
            </p:cNvPicPr>
            <p:nvPr/>
          </p:nvPicPr>
          <p:blipFill rotWithShape="1">
            <a:blip r:embed="rId4">
              <a:extLst>
                <a:ext uri="{28A0092B-C50C-407E-A947-70E740481C1C}">
                  <a14:useLocalDpi xmlns:a14="http://schemas.microsoft.com/office/drawing/2010/main" val="0"/>
                </a:ext>
              </a:extLst>
            </a:blip>
            <a:srcRect l="2650" r="1"/>
            <a:stretch/>
          </p:blipFill>
          <p:spPr>
            <a:xfrm>
              <a:off x="5757862" y="4768518"/>
              <a:ext cx="384811" cy="369094"/>
            </a:xfrm>
            <a:prstGeom prst="rect">
              <a:avLst/>
            </a:prstGeom>
          </p:spPr>
        </p:pic>
        <p:pic>
          <p:nvPicPr>
            <p:cNvPr id="11" name="Resim 10"/>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922020" y="1637261"/>
              <a:ext cx="1772761" cy="419100"/>
            </a:xfrm>
            <a:prstGeom prst="rect">
              <a:avLst/>
            </a:prstGeom>
          </p:spPr>
        </p:pic>
      </p:grpSp>
      <p:sp>
        <p:nvSpPr>
          <p:cNvPr id="4" name="Unvan 3"/>
          <p:cNvSpPr>
            <a:spLocks noGrp="1"/>
          </p:cNvSpPr>
          <p:nvPr>
            <p:ph type="title"/>
          </p:nvPr>
        </p:nvSpPr>
        <p:spPr/>
        <p:txBody>
          <a:bodyPr/>
          <a:lstStyle/>
          <a:p>
            <a:r>
              <a:rPr lang="en-US" dirty="0"/>
              <a:t>Execution of PDA</a:t>
            </a:r>
          </a:p>
        </p:txBody>
      </p:sp>
      <p:sp>
        <p:nvSpPr>
          <p:cNvPr id="13" name="Dikdörtgen 12"/>
          <p:cNvSpPr/>
          <p:nvPr/>
        </p:nvSpPr>
        <p:spPr>
          <a:xfrm>
            <a:off x="7324199" y="1062115"/>
            <a:ext cx="4867801" cy="5262979"/>
          </a:xfrm>
          <a:prstGeom prst="rect">
            <a:avLst/>
          </a:prstGeom>
        </p:spPr>
        <p:txBody>
          <a:bodyPr wrap="square">
            <a:spAutoFit/>
          </a:bodyPr>
          <a:lstStyle/>
          <a:p>
            <a:r>
              <a:rPr lang="en-US" sz="2800" dirty="0"/>
              <a:t>When the stack gets empty, PDA terminates.</a:t>
            </a:r>
          </a:p>
          <a:p>
            <a:endParaRPr lang="tr-TR" sz="2800" dirty="0"/>
          </a:p>
          <a:p>
            <a:r>
              <a:rPr lang="en-US" sz="2800" dirty="0"/>
              <a:t>When PDA terminates, if the tape head is on the cell immediately to the right cell of the last symbol of the string, this is good news.</a:t>
            </a:r>
          </a:p>
          <a:p>
            <a:endParaRPr lang="tr-TR" sz="2800" dirty="0"/>
          </a:p>
          <a:p>
            <a:r>
              <a:rPr lang="en-US" sz="2800" dirty="0"/>
              <a:t>Because the string on the tape is accepted.</a:t>
            </a:r>
          </a:p>
        </p:txBody>
      </p:sp>
      <p:sp>
        <p:nvSpPr>
          <p:cNvPr id="10" name="İçerik Yer Tutucusu 4"/>
          <p:cNvSpPr>
            <a:spLocks noGrp="1"/>
          </p:cNvSpPr>
          <p:nvPr>
            <p:ph idx="1"/>
          </p:nvPr>
        </p:nvSpPr>
        <p:spPr>
          <a:xfrm>
            <a:off x="2026987" y="3422650"/>
            <a:ext cx="2931575" cy="982440"/>
          </a:xfrm>
          <a:solidFill>
            <a:schemeClr val="bg1"/>
          </a:solidFill>
        </p:spPr>
        <p:txBody>
          <a:bodyPr>
            <a:noAutofit/>
          </a:bodyPr>
          <a:lstStyle/>
          <a:p>
            <a:pPr marL="0" indent="0">
              <a:lnSpc>
                <a:spcPct val="165000"/>
              </a:lnSpc>
              <a:buNone/>
            </a:pPr>
            <a:r>
              <a:rPr lang="tr-TR" sz="3200" dirty="0">
                <a:solidFill>
                  <a:srgbClr val="FF0000"/>
                </a:solidFill>
              </a:rPr>
              <a:t>q#$ → </a:t>
            </a:r>
            <a:r>
              <a:rPr lang="tr-TR" sz="3200" dirty="0" err="1">
                <a:solidFill>
                  <a:srgbClr val="FF0000"/>
                </a:solidFill>
              </a:rPr>
              <a:t>qN</a:t>
            </a:r>
            <a:r>
              <a:rPr lang="el-GR" sz="3200" dirty="0">
                <a:solidFill>
                  <a:srgbClr val="FF0000"/>
                </a:solidFill>
              </a:rPr>
              <a:t>ε</a:t>
            </a:r>
            <a:r>
              <a:rPr lang="tr-TR" sz="3200" dirty="0">
                <a:solidFill>
                  <a:srgbClr val="FF0000"/>
                </a:solidFill>
              </a:rPr>
              <a:t>	</a:t>
            </a:r>
            <a:r>
              <a:rPr lang="tr-TR" sz="3200" dirty="0">
                <a:solidFill>
                  <a:schemeClr val="tx1"/>
                </a:solidFill>
              </a:rPr>
              <a:t>			</a:t>
            </a:r>
            <a:endParaRPr lang="tr-TR" sz="3200" b="1" dirty="0">
              <a:solidFill>
                <a:schemeClr val="tx1"/>
              </a:solidFill>
            </a:endParaRPr>
          </a:p>
        </p:txBody>
      </p:sp>
    </p:spTree>
    <p:extLst>
      <p:ext uri="{BB962C8B-B14F-4D97-AF65-F5344CB8AC3E}">
        <p14:creationId xmlns:p14="http://schemas.microsoft.com/office/powerpoint/2010/main" val="7378414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İçerik Yer Tutucusu 4"/>
          <p:cNvSpPr txBox="1">
            <a:spLocks/>
          </p:cNvSpPr>
          <p:nvPr/>
        </p:nvSpPr>
        <p:spPr>
          <a:xfrm>
            <a:off x="1593458" y="1493156"/>
            <a:ext cx="6568739" cy="458680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b="1" dirty="0"/>
              <a:t>Algorithm: remember the number of </a:t>
            </a:r>
            <a:r>
              <a:rPr lang="tr-TR" sz="2800" b="1" dirty="0"/>
              <a:t>‘</a:t>
            </a:r>
            <a:r>
              <a:rPr lang="en-US" sz="2800" b="1" dirty="0"/>
              <a:t>a</a:t>
            </a:r>
            <a:r>
              <a:rPr lang="tr-TR" sz="2800" b="1" dirty="0"/>
              <a:t>’</a:t>
            </a:r>
            <a:r>
              <a:rPr lang="en-US" sz="2800" b="1" dirty="0"/>
              <a:t>s, then match them with </a:t>
            </a:r>
            <a:r>
              <a:rPr lang="tr-TR" sz="2800" b="1" dirty="0"/>
              <a:t>‘</a:t>
            </a:r>
            <a:r>
              <a:rPr lang="en-US" sz="2800" b="1" dirty="0"/>
              <a:t>b</a:t>
            </a:r>
            <a:r>
              <a:rPr lang="tr-TR" sz="2800" b="1" dirty="0"/>
              <a:t>’</a:t>
            </a:r>
            <a:r>
              <a:rPr lang="en-US" sz="2800" b="1" dirty="0"/>
              <a:t>s.</a:t>
            </a:r>
          </a:p>
          <a:p>
            <a:pPr marL="0" indent="0">
              <a:lnSpc>
                <a:spcPct val="150000"/>
              </a:lnSpc>
              <a:buNone/>
            </a:pPr>
            <a:r>
              <a:rPr lang="en-US" sz="2800" dirty="0"/>
              <a:t>Use the stack to remember the a's. For each </a:t>
            </a:r>
            <a:r>
              <a:rPr lang="tr-TR" sz="2800" dirty="0"/>
              <a:t>‘</a:t>
            </a:r>
            <a:r>
              <a:rPr lang="en-US" sz="2800" dirty="0"/>
              <a:t>a</a:t>
            </a:r>
            <a:r>
              <a:rPr lang="tr-TR" sz="2800" dirty="0"/>
              <a:t>’</a:t>
            </a:r>
            <a:r>
              <a:rPr lang="en-US" sz="2800" dirty="0"/>
              <a:t> reading, push a symbol (let's say S) into the stack. Delete one from the stack each time </a:t>
            </a:r>
            <a:r>
              <a:rPr lang="tr-TR" sz="2800" dirty="0"/>
              <a:t>‘</a:t>
            </a:r>
            <a:r>
              <a:rPr lang="en-US" sz="2800" dirty="0"/>
              <a:t>b</a:t>
            </a:r>
            <a:r>
              <a:rPr lang="tr-TR" sz="2800" dirty="0"/>
              <a:t>’</a:t>
            </a:r>
            <a:r>
              <a:rPr lang="en-US" sz="2800" dirty="0"/>
              <a:t> is read.</a:t>
            </a:r>
          </a:p>
        </p:txBody>
      </p:sp>
      <p:sp>
        <p:nvSpPr>
          <p:cNvPr id="6" name="İçerik Yer Tutucusu 4"/>
          <p:cNvSpPr txBox="1">
            <a:spLocks/>
          </p:cNvSpPr>
          <p:nvPr/>
        </p:nvSpPr>
        <p:spPr>
          <a:xfrm>
            <a:off x="8544134" y="2420255"/>
            <a:ext cx="3038262" cy="18469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tr-TR" sz="2800" dirty="0">
                <a:solidFill>
                  <a:schemeClr val="tx1">
                    <a:lumMod val="50000"/>
                    <a:lumOff val="50000"/>
                  </a:schemeClr>
                </a:solidFill>
              </a:rPr>
              <a:t>( ( (   ) ) )  (  ) (  )</a:t>
            </a:r>
          </a:p>
          <a:p>
            <a:pPr marL="0" indent="0">
              <a:lnSpc>
                <a:spcPct val="150000"/>
              </a:lnSpc>
              <a:buNone/>
            </a:pPr>
            <a:r>
              <a:rPr lang="tr-TR" sz="2800" dirty="0" err="1">
                <a:solidFill>
                  <a:schemeClr val="tx1">
                    <a:lumMod val="50000"/>
                    <a:lumOff val="50000"/>
                  </a:schemeClr>
                </a:solidFill>
              </a:rPr>
              <a:t>aaabbb</a:t>
            </a:r>
            <a:r>
              <a:rPr lang="tr-TR" sz="2800" dirty="0">
                <a:solidFill>
                  <a:schemeClr val="tx1">
                    <a:lumMod val="50000"/>
                    <a:lumOff val="50000"/>
                  </a:schemeClr>
                </a:solidFill>
              </a:rPr>
              <a:t> ab</a:t>
            </a:r>
            <a:r>
              <a:rPr lang="tr-TR" dirty="0">
                <a:solidFill>
                  <a:schemeClr val="tx1">
                    <a:lumMod val="50000"/>
                    <a:lumOff val="50000"/>
                  </a:schemeClr>
                </a:solidFill>
              </a:rPr>
              <a:t> </a:t>
            </a:r>
            <a:r>
              <a:rPr lang="tr-TR" sz="2800" dirty="0" err="1">
                <a:solidFill>
                  <a:schemeClr val="tx1">
                    <a:lumMod val="50000"/>
                    <a:lumOff val="50000"/>
                  </a:schemeClr>
                </a:solidFill>
              </a:rPr>
              <a:t>ab</a:t>
            </a:r>
            <a:endParaRPr lang="tr-TR" sz="2800" dirty="0">
              <a:solidFill>
                <a:schemeClr val="tx1">
                  <a:lumMod val="50000"/>
                  <a:lumOff val="50000"/>
                </a:schemeClr>
              </a:solidFill>
            </a:endParaRPr>
          </a:p>
          <a:p>
            <a:pPr marL="0" indent="0">
              <a:lnSpc>
                <a:spcPct val="150000"/>
              </a:lnSpc>
              <a:buNone/>
            </a:pPr>
            <a:endParaRPr lang="tr-TR" sz="2800" dirty="0">
              <a:solidFill>
                <a:schemeClr val="tx1">
                  <a:lumMod val="50000"/>
                  <a:lumOff val="50000"/>
                </a:schemeClr>
              </a:solidFill>
            </a:endParaRPr>
          </a:p>
        </p:txBody>
      </p:sp>
      <p:sp>
        <p:nvSpPr>
          <p:cNvPr id="2" name="Dikdörtgen 1"/>
          <p:cNvSpPr/>
          <p:nvPr/>
        </p:nvSpPr>
        <p:spPr>
          <a:xfrm>
            <a:off x="8255377" y="1493157"/>
            <a:ext cx="3589444" cy="576120"/>
          </a:xfrm>
          <a:prstGeom prst="rect">
            <a:avLst/>
          </a:prstGeom>
        </p:spPr>
        <p:txBody>
          <a:bodyPr wrap="none">
            <a:spAutoFit/>
          </a:bodyPr>
          <a:lstStyle/>
          <a:p>
            <a:pPr>
              <a:lnSpc>
                <a:spcPct val="150000"/>
              </a:lnSpc>
            </a:pPr>
            <a:r>
              <a:rPr lang="tr-TR" sz="2400" dirty="0">
                <a:solidFill>
                  <a:srgbClr val="FF0000"/>
                </a:solidFill>
              </a:rPr>
              <a:t>(3*(x</a:t>
            </a:r>
            <a:r>
              <a:rPr lang="tr-TR" sz="2400" baseline="40000" dirty="0">
                <a:solidFill>
                  <a:srgbClr val="FF0000"/>
                </a:solidFill>
              </a:rPr>
              <a:t>(x-2)</a:t>
            </a:r>
            <a:r>
              <a:rPr lang="tr-TR" sz="2400" dirty="0">
                <a:solidFill>
                  <a:srgbClr val="FF0000"/>
                </a:solidFill>
              </a:rPr>
              <a:t>+1))-(y+1)*(x+5)</a:t>
            </a:r>
          </a:p>
        </p:txBody>
      </p:sp>
    </p:spTree>
    <p:extLst>
      <p:ext uri="{BB962C8B-B14F-4D97-AF65-F5344CB8AC3E}">
        <p14:creationId xmlns:p14="http://schemas.microsoft.com/office/powerpoint/2010/main" val="7224929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çerik Yer Tutucusu 2"/>
          <p:cNvSpPr>
            <a:spLocks noGrp="1"/>
          </p:cNvSpPr>
          <p:nvPr>
            <p:ph idx="1"/>
          </p:nvPr>
        </p:nvSpPr>
        <p:spPr>
          <a:xfrm>
            <a:off x="1979612" y="2133600"/>
            <a:ext cx="8915400" cy="3777622"/>
          </a:xfrm>
        </p:spPr>
        <p:txBody>
          <a:bodyPr>
            <a:normAutofit lnSpcReduction="10000"/>
          </a:bodyPr>
          <a:lstStyle/>
          <a:p>
            <a:pPr marL="0" lvl="0" indent="0">
              <a:buClr>
                <a:srgbClr val="D34817"/>
              </a:buClr>
              <a:buNone/>
              <a:tabLst>
                <a:tab pos="2514600" algn="l"/>
              </a:tabLst>
            </a:pPr>
            <a:r>
              <a:rPr lang="en-US" altLang="tr-TR" sz="3000" dirty="0" err="1">
                <a:solidFill>
                  <a:prstClr val="black">
                    <a:lumMod val="75000"/>
                    <a:lumOff val="25000"/>
                  </a:prstClr>
                </a:solidFill>
              </a:rPr>
              <a:t>qa</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a:t>
            </a:r>
            <a:r>
              <a:rPr lang="en-US" altLang="tr-TR" sz="3000" dirty="0">
                <a:solidFill>
                  <a:prstClr val="black">
                    <a:lumMod val="75000"/>
                    <a:lumOff val="25000"/>
                  </a:prstClr>
                </a:solidFill>
              </a:rPr>
              <a:t>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a:t>
            </a:r>
            <a:r>
              <a:rPr lang="en-US" sz="3000" dirty="0" err="1">
                <a:solidFill>
                  <a:prstClr val="black"/>
                </a:solidFill>
              </a:rPr>
              <a:t>ε</a:t>
            </a:r>
            <a:r>
              <a:rPr lang="en-US" sz="3000" dirty="0">
                <a:solidFill>
                  <a:prstClr val="black"/>
                </a:solidFill>
              </a:rPr>
              <a:t> 	</a:t>
            </a:r>
            <a:r>
              <a:rPr lang="en-US" sz="1900" dirty="0">
                <a:solidFill>
                  <a:srgbClr val="FF0000"/>
                </a:solidFill>
              </a:rPr>
              <a:t>reject</a:t>
            </a:r>
            <a:endParaRPr lang="en-US" altLang="tr-TR" sz="3000" dirty="0">
              <a:solidFill>
                <a:srgbClr val="FF0000"/>
              </a:solidFill>
            </a:endParaRPr>
          </a:p>
          <a:p>
            <a:pPr marL="0" lvl="0" indent="0">
              <a:buClr>
                <a:srgbClr val="D34817"/>
              </a:buClr>
              <a:buNone/>
              <a:tabLst>
                <a:tab pos="2514600" algn="l"/>
              </a:tabLst>
            </a:pPr>
            <a:r>
              <a:rPr lang="en-US" altLang="tr-TR" sz="3000" dirty="0">
                <a:solidFill>
                  <a:prstClr val="black">
                    <a:lumMod val="75000"/>
                    <a:lumOff val="25000"/>
                  </a:prstClr>
                </a:solidFill>
              </a:rPr>
              <a:t>q#$ → </a:t>
            </a:r>
            <a:r>
              <a:rPr lang="en-US" altLang="tr-TR" sz="3000" dirty="0" err="1">
                <a:solidFill>
                  <a:prstClr val="black">
                    <a:lumMod val="75000"/>
                    <a:lumOff val="25000"/>
                  </a:prstClr>
                </a:solidFill>
              </a:rPr>
              <a:t>qN</a:t>
            </a:r>
            <a:r>
              <a:rPr lang="en-US" sz="3000" dirty="0" err="1">
                <a:solidFill>
                  <a:prstClr val="black"/>
                </a:solidFill>
              </a:rPr>
              <a:t>ε</a:t>
            </a:r>
            <a:r>
              <a:rPr lang="en-US" sz="3000" dirty="0">
                <a:solidFill>
                  <a:prstClr val="black"/>
                </a:solidFill>
              </a:rPr>
              <a:t> 	</a:t>
            </a:r>
            <a:r>
              <a:rPr lang="en-US" sz="1900" dirty="0">
                <a:solidFill>
                  <a:srgbClr val="00B050"/>
                </a:solidFill>
              </a:rPr>
              <a:t>accept</a:t>
            </a:r>
            <a:endParaRPr lang="en-US" altLang="tr-TR" sz="3000" dirty="0">
              <a:solidFill>
                <a:srgbClr val="00B050"/>
              </a:solidFill>
            </a:endParaRPr>
          </a:p>
          <a:p>
            <a:pPr marL="0" lvl="0" indent="0">
              <a:buClr>
                <a:srgbClr val="D34817"/>
              </a:buClr>
              <a:buNone/>
              <a:tabLst>
                <a:tab pos="2514600" algn="l"/>
              </a:tabLst>
            </a:pPr>
            <a:endParaRPr lang="tr-TR"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qaS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qRSS</a:t>
            </a:r>
            <a:r>
              <a:rPr lang="en-US" altLang="tr-TR" sz="3000" dirty="0">
                <a:solidFill>
                  <a:prstClr val="black">
                    <a:lumMod val="75000"/>
                    <a:lumOff val="25000"/>
                  </a:prstClr>
                </a:solidFill>
              </a:rPr>
              <a:t>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a:t>
            </a:r>
            <a:r>
              <a:rPr lang="en-US" sz="3000" dirty="0" err="1">
                <a:solidFill>
                  <a:prstClr val="black"/>
                </a:solidFill>
              </a:rPr>
              <a:t>ε</a:t>
            </a:r>
            <a:r>
              <a:rPr lang="en-US" sz="3000" dirty="0">
                <a:solidFill>
                  <a:prstClr val="black"/>
                </a:solidFill>
              </a:rPr>
              <a:t> 	</a:t>
            </a:r>
            <a:r>
              <a:rPr lang="en-US" sz="1900" dirty="0">
                <a:solidFill>
                  <a:prstClr val="black"/>
                </a:solidFill>
              </a:rPr>
              <a:t>forget</a:t>
            </a:r>
            <a:endParaRPr lang="en-US" altLang="tr-TR" sz="3000" dirty="0">
              <a:solidFill>
                <a:prstClr val="black"/>
              </a:solidFill>
            </a:endParaRPr>
          </a:p>
          <a:p>
            <a:pPr marL="0" lvl="0" indent="0">
              <a:buClr>
                <a:srgbClr val="D34817"/>
              </a:buClr>
              <a:buNone/>
              <a:tabLst>
                <a:tab pos="2514600" algn="l"/>
              </a:tabLst>
            </a:pPr>
            <a:r>
              <a:rPr lang="en-US" altLang="tr-TR" sz="3000" dirty="0" err="1">
                <a:solidFill>
                  <a:prstClr val="black">
                    <a:lumMod val="75000"/>
                    <a:lumOff val="25000"/>
                  </a:prstClr>
                </a:solidFill>
              </a:rPr>
              <a:t>q#S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qNS</a:t>
            </a:r>
            <a:r>
              <a:rPr lang="en-US" sz="3000" dirty="0">
                <a:solidFill>
                  <a:prstClr val="black"/>
                </a:solidFill>
              </a:rPr>
              <a:t>	</a:t>
            </a:r>
            <a:r>
              <a:rPr lang="en-US" sz="1900" dirty="0">
                <a:solidFill>
                  <a:srgbClr val="FF0000"/>
                </a:solidFill>
              </a:rPr>
              <a:t>reject with</a:t>
            </a:r>
            <a:r>
              <a:rPr lang="tr-TR" sz="1900" dirty="0">
                <a:solidFill>
                  <a:srgbClr val="FF0000"/>
                </a:solidFill>
              </a:rPr>
              <a:t> loop-forever</a:t>
            </a:r>
            <a:endParaRPr lang="en-US" altLang="tr-TR" sz="3000" dirty="0">
              <a:solidFill>
                <a:srgbClr val="FF0000"/>
              </a:solidFill>
            </a:endParaRPr>
          </a:p>
        </p:txBody>
      </p:sp>
      <p:grpSp>
        <p:nvGrpSpPr>
          <p:cNvPr id="9" name="Grup 8"/>
          <p:cNvGrpSpPr>
            <a:grpSpLocks noChangeAspect="1"/>
          </p:cNvGrpSpPr>
          <p:nvPr/>
        </p:nvGrpSpPr>
        <p:grpSpPr>
          <a:xfrm>
            <a:off x="6274410" y="1658385"/>
            <a:ext cx="3233830" cy="2063200"/>
            <a:chOff x="1562100" y="1637261"/>
            <a:chExt cx="5486400" cy="3500351"/>
          </a:xfrm>
        </p:grpSpPr>
        <p:pic>
          <p:nvPicPr>
            <p:cNvPr id="10" name="Resim 9"/>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562100" y="2057400"/>
              <a:ext cx="5486400" cy="3067050"/>
            </a:xfrm>
            <a:prstGeom prst="rect">
              <a:avLst/>
            </a:prstGeom>
          </p:spPr>
        </p:pic>
        <p:pic>
          <p:nvPicPr>
            <p:cNvPr id="11" name="Resim 10"/>
            <p:cNvPicPr>
              <a:picLocks noChangeAspect="1"/>
            </p:cNvPicPr>
            <p:nvPr/>
          </p:nvPicPr>
          <p:blipFill rotWithShape="1">
            <a:blip r:embed="rId4">
              <a:extLst>
                <a:ext uri="{28A0092B-C50C-407E-A947-70E740481C1C}">
                  <a14:useLocalDpi xmlns:a14="http://schemas.microsoft.com/office/drawing/2010/main" val="0"/>
                </a:ext>
              </a:extLst>
            </a:blip>
            <a:srcRect l="2650" r="1"/>
            <a:stretch/>
          </p:blipFill>
          <p:spPr>
            <a:xfrm>
              <a:off x="5757862" y="4768518"/>
              <a:ext cx="384811" cy="369094"/>
            </a:xfrm>
            <a:prstGeom prst="rect">
              <a:avLst/>
            </a:prstGeom>
          </p:spPr>
        </p:pic>
        <p:pic>
          <p:nvPicPr>
            <p:cNvPr id="12" name="Resim 11"/>
            <p:cNvPicPr>
              <a:picLocks noChangeAspect="1"/>
            </p:cNvPicPr>
            <p:nvPr/>
          </p:nvPicPr>
          <p:blipFill rotWithShape="1">
            <a:blip r:embed="rId5">
              <a:extLst>
                <a:ext uri="{28A0092B-C50C-407E-A947-70E740481C1C}">
                  <a14:useLocalDpi xmlns:a14="http://schemas.microsoft.com/office/drawing/2010/main" val="0"/>
                </a:ext>
              </a:extLst>
            </a:blip>
            <a:srcRect/>
            <a:stretch/>
          </p:blipFill>
          <p:spPr>
            <a:xfrm>
              <a:off x="2331720" y="1637261"/>
              <a:ext cx="1772761" cy="419100"/>
            </a:xfrm>
            <a:prstGeom prst="rect">
              <a:avLst/>
            </a:prstGeom>
          </p:spPr>
        </p:pic>
      </p:grpSp>
      <p:sp>
        <p:nvSpPr>
          <p:cNvPr id="14"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pic>
        <p:nvPicPr>
          <p:cNvPr id="2" name="Resim 1"/>
          <p:cNvPicPr>
            <a:picLocks noChangeAspect="1"/>
          </p:cNvPicPr>
          <p:nvPr/>
        </p:nvPicPr>
        <p:blipFill rotWithShape="1">
          <a:blip r:embed="rId6" cstate="email">
            <a:extLst>
              <a:ext uri="{28A0092B-C50C-407E-A947-70E740481C1C}">
                <a14:useLocalDpi xmlns:a14="http://schemas.microsoft.com/office/drawing/2010/main"/>
              </a:ext>
            </a:extLst>
          </a:blip>
          <a:srcRect/>
          <a:stretch/>
        </p:blipFill>
        <p:spPr>
          <a:xfrm>
            <a:off x="9809110" y="1320887"/>
            <a:ext cx="2116183" cy="3043646"/>
          </a:xfrm>
          <a:prstGeom prst="rect">
            <a:avLst/>
          </a:prstGeom>
        </p:spPr>
      </p:pic>
    </p:spTree>
    <p:extLst>
      <p:ext uri="{BB962C8B-B14F-4D97-AF65-F5344CB8AC3E}">
        <p14:creationId xmlns:p14="http://schemas.microsoft.com/office/powerpoint/2010/main" val="4282579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çerik Yer Tutucusu 2"/>
          <p:cNvSpPr>
            <a:spLocks noGrp="1"/>
          </p:cNvSpPr>
          <p:nvPr>
            <p:ph idx="1"/>
          </p:nvPr>
        </p:nvSpPr>
        <p:spPr>
          <a:xfrm>
            <a:off x="1979612" y="2133600"/>
            <a:ext cx="8915400" cy="3777622"/>
          </a:xfrm>
        </p:spPr>
        <p:txBody>
          <a:bodyPr>
            <a:normAutofit lnSpcReduction="10000"/>
          </a:bodyPr>
          <a:lstStyle/>
          <a:p>
            <a:pPr marL="0" lvl="0" indent="0">
              <a:buClr>
                <a:srgbClr val="D34817"/>
              </a:buClr>
              <a:buNone/>
              <a:tabLst>
                <a:tab pos="2514600" algn="l"/>
              </a:tabLst>
            </a:pPr>
            <a:r>
              <a:rPr lang="en-US" altLang="tr-TR" sz="3000" dirty="0" err="1">
                <a:solidFill>
                  <a:prstClr val="black">
                    <a:lumMod val="75000"/>
                    <a:lumOff val="25000"/>
                  </a:prstClr>
                </a:solidFill>
              </a:rPr>
              <a:t>qa</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a:t>
            </a:r>
            <a:r>
              <a:rPr lang="en-US" altLang="tr-TR" sz="3000" dirty="0">
                <a:solidFill>
                  <a:prstClr val="black">
                    <a:lumMod val="75000"/>
                    <a:lumOff val="25000"/>
                  </a:prstClr>
                </a:solidFill>
              </a:rPr>
              <a:t>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a:t>
            </a:r>
            <a:r>
              <a:rPr lang="en-US" sz="3000" dirty="0" err="1">
                <a:solidFill>
                  <a:prstClr val="black"/>
                </a:solidFill>
              </a:rPr>
              <a:t>ε</a:t>
            </a:r>
            <a:r>
              <a:rPr lang="en-US" sz="3000" dirty="0">
                <a:solidFill>
                  <a:prstClr val="black"/>
                </a:solidFill>
              </a:rPr>
              <a:t> 	</a:t>
            </a:r>
            <a:r>
              <a:rPr lang="en-US" sz="1900" dirty="0">
                <a:solidFill>
                  <a:srgbClr val="FF0000"/>
                </a:solidFill>
              </a:rPr>
              <a:t>reject</a:t>
            </a:r>
            <a:endParaRPr lang="en-US" altLang="tr-TR" sz="3000" dirty="0">
              <a:solidFill>
                <a:srgbClr val="FF0000"/>
              </a:solidFill>
            </a:endParaRPr>
          </a:p>
          <a:p>
            <a:pPr marL="0" lvl="0" indent="0">
              <a:buClr>
                <a:srgbClr val="D34817"/>
              </a:buClr>
              <a:buNone/>
              <a:tabLst>
                <a:tab pos="2514600" algn="l"/>
              </a:tabLst>
            </a:pPr>
            <a:r>
              <a:rPr lang="en-US" altLang="tr-TR" sz="3000" dirty="0">
                <a:solidFill>
                  <a:prstClr val="black">
                    <a:lumMod val="75000"/>
                    <a:lumOff val="25000"/>
                  </a:prstClr>
                </a:solidFill>
              </a:rPr>
              <a:t>q#$ → </a:t>
            </a:r>
            <a:r>
              <a:rPr lang="en-US" altLang="tr-TR" sz="3000" dirty="0" err="1">
                <a:solidFill>
                  <a:prstClr val="black">
                    <a:lumMod val="75000"/>
                    <a:lumOff val="25000"/>
                  </a:prstClr>
                </a:solidFill>
              </a:rPr>
              <a:t>qN</a:t>
            </a:r>
            <a:r>
              <a:rPr lang="en-US" sz="3000" dirty="0" err="1">
                <a:solidFill>
                  <a:prstClr val="black"/>
                </a:solidFill>
              </a:rPr>
              <a:t>ε</a:t>
            </a:r>
            <a:r>
              <a:rPr lang="en-US" sz="3000" dirty="0">
                <a:solidFill>
                  <a:prstClr val="black"/>
                </a:solidFill>
              </a:rPr>
              <a:t> 	</a:t>
            </a:r>
            <a:r>
              <a:rPr lang="en-US" sz="1900" dirty="0">
                <a:solidFill>
                  <a:srgbClr val="00B050"/>
                </a:solidFill>
              </a:rPr>
              <a:t>accept</a:t>
            </a:r>
            <a:endParaRPr lang="en-US" altLang="tr-TR" sz="3000" dirty="0">
              <a:solidFill>
                <a:srgbClr val="00B050"/>
              </a:solidFill>
            </a:endParaRPr>
          </a:p>
          <a:p>
            <a:pPr marL="0" lvl="0" indent="0">
              <a:buClr>
                <a:srgbClr val="D34817"/>
              </a:buClr>
              <a:buNone/>
              <a:tabLst>
                <a:tab pos="2514600" algn="l"/>
              </a:tabLst>
            </a:pP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schemeClr val="bg1">
                    <a:lumMod val="65000"/>
                  </a:schemeClr>
                </a:solidFill>
              </a:rPr>
              <a:t>qaS</a:t>
            </a:r>
            <a:r>
              <a:rPr lang="en-US" altLang="tr-TR" sz="3000" dirty="0">
                <a:solidFill>
                  <a:schemeClr val="bg1">
                    <a:lumMod val="65000"/>
                  </a:schemeClr>
                </a:solidFill>
              </a:rPr>
              <a:t> → </a:t>
            </a:r>
            <a:r>
              <a:rPr lang="en-US" altLang="tr-TR" sz="3000" dirty="0" err="1">
                <a:solidFill>
                  <a:schemeClr val="bg1">
                    <a:lumMod val="65000"/>
                  </a:schemeClr>
                </a:solidFill>
              </a:rPr>
              <a:t>qRSS</a:t>
            </a:r>
            <a:r>
              <a:rPr lang="en-US" altLang="tr-TR" sz="3000" dirty="0">
                <a:solidFill>
                  <a:schemeClr val="bg1">
                    <a:lumMod val="65000"/>
                  </a:schemeClr>
                </a:solidFill>
              </a:rPr>
              <a:t>	</a:t>
            </a:r>
            <a:r>
              <a:rPr lang="en-US" altLang="tr-TR" sz="1900" dirty="0">
                <a:solidFill>
                  <a:schemeClr val="bg1">
                    <a:lumMod val="65000"/>
                  </a:schemeClr>
                </a:solidFill>
              </a:rPr>
              <a:t>remember</a:t>
            </a:r>
            <a:endParaRPr lang="en-US" altLang="tr-TR" sz="3000" dirty="0">
              <a:solidFill>
                <a:schemeClr val="bg1">
                  <a:lumMod val="65000"/>
                </a:schemeClr>
              </a:solidFill>
            </a:endParaRPr>
          </a:p>
          <a:p>
            <a:pPr marL="0" lvl="0" indent="0">
              <a:buClr>
                <a:srgbClr val="D34817"/>
              </a:buClr>
              <a:buNone/>
              <a:tabLst>
                <a:tab pos="2514600" algn="l"/>
              </a:tabLst>
            </a:pPr>
            <a:r>
              <a:rPr lang="en-US" altLang="tr-TR" sz="3000" dirty="0" err="1">
                <a:solidFill>
                  <a:schemeClr val="bg1">
                    <a:lumMod val="65000"/>
                  </a:schemeClr>
                </a:solidFill>
              </a:rPr>
              <a:t>qbS</a:t>
            </a:r>
            <a:r>
              <a:rPr lang="en-US" altLang="tr-TR" sz="3000" dirty="0">
                <a:solidFill>
                  <a:schemeClr val="bg1">
                    <a:lumMod val="65000"/>
                  </a:schemeClr>
                </a:solidFill>
              </a:rPr>
              <a:t> → </a:t>
            </a:r>
            <a:r>
              <a:rPr lang="en-US" altLang="tr-TR" sz="3000" dirty="0" err="1">
                <a:solidFill>
                  <a:schemeClr val="bg1">
                    <a:lumMod val="65000"/>
                  </a:schemeClr>
                </a:solidFill>
              </a:rPr>
              <a:t>qR</a:t>
            </a:r>
            <a:r>
              <a:rPr lang="en-US" sz="3000" dirty="0" err="1">
                <a:solidFill>
                  <a:schemeClr val="bg1">
                    <a:lumMod val="65000"/>
                  </a:schemeClr>
                </a:solidFill>
              </a:rPr>
              <a:t>ε</a:t>
            </a:r>
            <a:r>
              <a:rPr lang="en-US" sz="3000" dirty="0">
                <a:solidFill>
                  <a:schemeClr val="bg1">
                    <a:lumMod val="65000"/>
                  </a:schemeClr>
                </a:solidFill>
              </a:rPr>
              <a:t> 	</a:t>
            </a:r>
            <a:r>
              <a:rPr lang="en-US" sz="1900" dirty="0">
                <a:solidFill>
                  <a:schemeClr val="bg1">
                    <a:lumMod val="65000"/>
                  </a:schemeClr>
                </a:solidFill>
              </a:rPr>
              <a:t>forget</a:t>
            </a:r>
            <a:endParaRPr lang="en-US" altLang="tr-TR" sz="3000" dirty="0">
              <a:solidFill>
                <a:schemeClr val="bg1">
                  <a:lumMod val="65000"/>
                </a:schemeClr>
              </a:solidFill>
            </a:endParaRPr>
          </a:p>
          <a:p>
            <a:pPr marL="0" lvl="0" indent="0">
              <a:buClr>
                <a:srgbClr val="D34817"/>
              </a:buClr>
              <a:buNone/>
              <a:tabLst>
                <a:tab pos="2514600" algn="l"/>
              </a:tabLst>
            </a:pPr>
            <a:r>
              <a:rPr lang="en-US" altLang="tr-TR" sz="3000" dirty="0" err="1">
                <a:solidFill>
                  <a:schemeClr val="bg1">
                    <a:lumMod val="65000"/>
                  </a:schemeClr>
                </a:solidFill>
              </a:rPr>
              <a:t>q#S</a:t>
            </a:r>
            <a:r>
              <a:rPr lang="en-US" altLang="tr-TR" sz="3000" dirty="0">
                <a:solidFill>
                  <a:schemeClr val="bg1">
                    <a:lumMod val="65000"/>
                  </a:schemeClr>
                </a:solidFill>
              </a:rPr>
              <a:t> → </a:t>
            </a:r>
            <a:r>
              <a:rPr lang="en-US" altLang="tr-TR" sz="3000" dirty="0" err="1">
                <a:solidFill>
                  <a:schemeClr val="bg1">
                    <a:lumMod val="65000"/>
                  </a:schemeClr>
                </a:solidFill>
              </a:rPr>
              <a:t>qNS</a:t>
            </a:r>
            <a:r>
              <a:rPr lang="en-US" sz="3000" dirty="0">
                <a:solidFill>
                  <a:schemeClr val="bg1">
                    <a:lumMod val="65000"/>
                  </a:schemeClr>
                </a:solidFill>
              </a:rPr>
              <a:t>	</a:t>
            </a:r>
            <a:r>
              <a:rPr lang="en-US" sz="1900" dirty="0">
                <a:solidFill>
                  <a:schemeClr val="bg1">
                    <a:lumMod val="65000"/>
                  </a:schemeClr>
                </a:solidFill>
              </a:rPr>
              <a:t>reject with</a:t>
            </a:r>
            <a:r>
              <a:rPr lang="tr-TR" sz="1900" dirty="0">
                <a:solidFill>
                  <a:schemeClr val="bg1">
                    <a:lumMod val="65000"/>
                  </a:schemeClr>
                </a:solidFill>
              </a:rPr>
              <a:t> loop-forever</a:t>
            </a:r>
            <a:endParaRPr lang="en-US" altLang="tr-TR" sz="3000" dirty="0">
              <a:solidFill>
                <a:schemeClr val="bg1">
                  <a:lumMod val="65000"/>
                </a:schemeClr>
              </a:solidFill>
            </a:endParaRPr>
          </a:p>
        </p:txBody>
      </p:sp>
      <p:sp>
        <p:nvSpPr>
          <p:cNvPr id="14"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İçerik Yer Tutucusu 4"/>
          <p:cNvSpPr txBox="1">
            <a:spLocks/>
          </p:cNvSpPr>
          <p:nvPr/>
        </p:nvSpPr>
        <p:spPr>
          <a:xfrm>
            <a:off x="6765729" y="2133600"/>
            <a:ext cx="4912924" cy="252004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When do you think the top </a:t>
            </a:r>
            <a:r>
              <a:rPr lang="en-US" sz="2800" dirty="0">
                <a:solidFill>
                  <a:schemeClr val="tx1"/>
                </a:solidFill>
              </a:rPr>
              <a:t>part</a:t>
            </a:r>
            <a:r>
              <a:rPr lang="en-US" sz="2800" dirty="0"/>
              <a:t> will work?</a:t>
            </a:r>
            <a:endParaRPr lang="tr-TR" sz="2800" dirty="0">
              <a:solidFill>
                <a:schemeClr val="tx1"/>
              </a:solidFill>
            </a:endParaRPr>
          </a:p>
        </p:txBody>
      </p:sp>
      <p:sp>
        <p:nvSpPr>
          <p:cNvPr id="2" name="Yuvarlatılmış Dikdörtgen 1"/>
          <p:cNvSpPr/>
          <p:nvPr/>
        </p:nvSpPr>
        <p:spPr>
          <a:xfrm>
            <a:off x="1812758" y="2133600"/>
            <a:ext cx="2662989" cy="1620253"/>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5" name="Resim 14"/>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293744" y="1802693"/>
            <a:ext cx="1772761" cy="419100"/>
          </a:xfrm>
          <a:prstGeom prst="rect">
            <a:avLst/>
          </a:prstGeom>
        </p:spPr>
      </p:pic>
    </p:spTree>
    <p:extLst>
      <p:ext uri="{BB962C8B-B14F-4D97-AF65-F5344CB8AC3E}">
        <p14:creationId xmlns:p14="http://schemas.microsoft.com/office/powerpoint/2010/main" val="2979451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çerik Yer Tutucusu 2"/>
          <p:cNvSpPr>
            <a:spLocks noGrp="1"/>
          </p:cNvSpPr>
          <p:nvPr>
            <p:ph idx="1"/>
          </p:nvPr>
        </p:nvSpPr>
        <p:spPr>
          <a:xfrm>
            <a:off x="1979612" y="2133600"/>
            <a:ext cx="8915400" cy="3777622"/>
          </a:xfrm>
        </p:spPr>
        <p:txBody>
          <a:bodyPr>
            <a:normAutofit lnSpcReduction="10000"/>
          </a:bodyPr>
          <a:lstStyle/>
          <a:p>
            <a:pPr marL="0" lvl="0" indent="0">
              <a:buClr>
                <a:srgbClr val="D34817"/>
              </a:buClr>
              <a:buNone/>
              <a:tabLst>
                <a:tab pos="2514600" algn="l"/>
              </a:tabLst>
            </a:pPr>
            <a:r>
              <a:rPr lang="en-US" altLang="tr-TR" sz="3000" dirty="0" err="1">
                <a:solidFill>
                  <a:prstClr val="black">
                    <a:lumMod val="75000"/>
                    <a:lumOff val="25000"/>
                  </a:prstClr>
                </a:solidFill>
              </a:rPr>
              <a:t>qa</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a:t>
            </a:r>
            <a:r>
              <a:rPr lang="en-US" altLang="tr-TR" sz="3000" dirty="0">
                <a:solidFill>
                  <a:prstClr val="black">
                    <a:lumMod val="75000"/>
                    <a:lumOff val="25000"/>
                  </a:prstClr>
                </a:solidFill>
              </a:rPr>
              <a:t>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a:t>
            </a:r>
            <a:r>
              <a:rPr lang="en-US" sz="3000" dirty="0" err="1">
                <a:solidFill>
                  <a:prstClr val="black"/>
                </a:solidFill>
              </a:rPr>
              <a:t>ε</a:t>
            </a:r>
            <a:r>
              <a:rPr lang="en-US" sz="3000" dirty="0">
                <a:solidFill>
                  <a:prstClr val="black"/>
                </a:solidFill>
              </a:rPr>
              <a:t> 	</a:t>
            </a:r>
            <a:r>
              <a:rPr lang="en-US" sz="1900" dirty="0">
                <a:solidFill>
                  <a:srgbClr val="FF0000"/>
                </a:solidFill>
              </a:rPr>
              <a:t>reject</a:t>
            </a:r>
            <a:endParaRPr lang="en-US" altLang="tr-TR" sz="3000" dirty="0">
              <a:solidFill>
                <a:srgbClr val="FF0000"/>
              </a:solidFill>
            </a:endParaRPr>
          </a:p>
          <a:p>
            <a:pPr marL="0" lvl="0" indent="0">
              <a:buClr>
                <a:srgbClr val="D34817"/>
              </a:buClr>
              <a:buNone/>
              <a:tabLst>
                <a:tab pos="2514600" algn="l"/>
              </a:tabLst>
            </a:pPr>
            <a:r>
              <a:rPr lang="en-US" altLang="tr-TR" sz="3000" dirty="0">
                <a:solidFill>
                  <a:prstClr val="black">
                    <a:lumMod val="75000"/>
                    <a:lumOff val="25000"/>
                  </a:prstClr>
                </a:solidFill>
              </a:rPr>
              <a:t>q#$ → </a:t>
            </a:r>
            <a:r>
              <a:rPr lang="en-US" altLang="tr-TR" sz="3000" dirty="0" err="1">
                <a:solidFill>
                  <a:prstClr val="black">
                    <a:lumMod val="75000"/>
                    <a:lumOff val="25000"/>
                  </a:prstClr>
                </a:solidFill>
              </a:rPr>
              <a:t>qN</a:t>
            </a:r>
            <a:r>
              <a:rPr lang="en-US" sz="3000" dirty="0" err="1">
                <a:solidFill>
                  <a:prstClr val="black"/>
                </a:solidFill>
              </a:rPr>
              <a:t>ε</a:t>
            </a:r>
            <a:r>
              <a:rPr lang="en-US" sz="3000" dirty="0">
                <a:solidFill>
                  <a:prstClr val="black"/>
                </a:solidFill>
              </a:rPr>
              <a:t> 	</a:t>
            </a:r>
            <a:r>
              <a:rPr lang="en-US" sz="1900" dirty="0">
                <a:solidFill>
                  <a:srgbClr val="00B050"/>
                </a:solidFill>
              </a:rPr>
              <a:t>accept</a:t>
            </a:r>
            <a:endParaRPr lang="en-US" altLang="tr-TR" sz="3000" dirty="0">
              <a:solidFill>
                <a:srgbClr val="00B050"/>
              </a:solidFill>
            </a:endParaRPr>
          </a:p>
          <a:p>
            <a:pPr marL="0" lvl="0" indent="0">
              <a:buClr>
                <a:srgbClr val="D34817"/>
              </a:buClr>
              <a:buNone/>
              <a:tabLst>
                <a:tab pos="2514600" algn="l"/>
              </a:tabLst>
            </a:pP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schemeClr val="bg1">
                    <a:lumMod val="65000"/>
                  </a:schemeClr>
                </a:solidFill>
              </a:rPr>
              <a:t>qaS</a:t>
            </a:r>
            <a:r>
              <a:rPr lang="en-US" altLang="tr-TR" sz="3000" dirty="0">
                <a:solidFill>
                  <a:schemeClr val="bg1">
                    <a:lumMod val="65000"/>
                  </a:schemeClr>
                </a:solidFill>
              </a:rPr>
              <a:t> → </a:t>
            </a:r>
            <a:r>
              <a:rPr lang="en-US" altLang="tr-TR" sz="3000" dirty="0" err="1">
                <a:solidFill>
                  <a:schemeClr val="bg1">
                    <a:lumMod val="65000"/>
                  </a:schemeClr>
                </a:solidFill>
              </a:rPr>
              <a:t>qRSS</a:t>
            </a:r>
            <a:r>
              <a:rPr lang="en-US" altLang="tr-TR" sz="3000" dirty="0">
                <a:solidFill>
                  <a:schemeClr val="bg1">
                    <a:lumMod val="65000"/>
                  </a:schemeClr>
                </a:solidFill>
              </a:rPr>
              <a:t>	</a:t>
            </a:r>
            <a:r>
              <a:rPr lang="en-US" altLang="tr-TR" sz="1900" dirty="0">
                <a:solidFill>
                  <a:schemeClr val="bg1">
                    <a:lumMod val="65000"/>
                  </a:schemeClr>
                </a:solidFill>
              </a:rPr>
              <a:t>remember</a:t>
            </a:r>
            <a:endParaRPr lang="en-US" altLang="tr-TR" sz="3000" dirty="0">
              <a:solidFill>
                <a:schemeClr val="bg1">
                  <a:lumMod val="65000"/>
                </a:schemeClr>
              </a:solidFill>
            </a:endParaRPr>
          </a:p>
          <a:p>
            <a:pPr marL="0" lvl="0" indent="0">
              <a:buClr>
                <a:srgbClr val="D34817"/>
              </a:buClr>
              <a:buNone/>
              <a:tabLst>
                <a:tab pos="2514600" algn="l"/>
              </a:tabLst>
            </a:pPr>
            <a:r>
              <a:rPr lang="en-US" altLang="tr-TR" sz="3000" dirty="0" err="1">
                <a:solidFill>
                  <a:schemeClr val="bg1">
                    <a:lumMod val="65000"/>
                  </a:schemeClr>
                </a:solidFill>
              </a:rPr>
              <a:t>qbS</a:t>
            </a:r>
            <a:r>
              <a:rPr lang="en-US" altLang="tr-TR" sz="3000" dirty="0">
                <a:solidFill>
                  <a:schemeClr val="bg1">
                    <a:lumMod val="65000"/>
                  </a:schemeClr>
                </a:solidFill>
              </a:rPr>
              <a:t> → </a:t>
            </a:r>
            <a:r>
              <a:rPr lang="en-US" altLang="tr-TR" sz="3000" dirty="0" err="1">
                <a:solidFill>
                  <a:schemeClr val="bg1">
                    <a:lumMod val="65000"/>
                  </a:schemeClr>
                </a:solidFill>
              </a:rPr>
              <a:t>qR</a:t>
            </a:r>
            <a:r>
              <a:rPr lang="en-US" sz="3000" dirty="0" err="1">
                <a:solidFill>
                  <a:schemeClr val="bg1">
                    <a:lumMod val="65000"/>
                  </a:schemeClr>
                </a:solidFill>
              </a:rPr>
              <a:t>ε</a:t>
            </a:r>
            <a:r>
              <a:rPr lang="en-US" sz="3000" dirty="0">
                <a:solidFill>
                  <a:schemeClr val="bg1">
                    <a:lumMod val="65000"/>
                  </a:schemeClr>
                </a:solidFill>
              </a:rPr>
              <a:t> 	</a:t>
            </a:r>
            <a:r>
              <a:rPr lang="en-US" sz="1900" dirty="0">
                <a:solidFill>
                  <a:schemeClr val="bg1">
                    <a:lumMod val="65000"/>
                  </a:schemeClr>
                </a:solidFill>
              </a:rPr>
              <a:t>forget</a:t>
            </a:r>
            <a:endParaRPr lang="en-US" altLang="tr-TR" sz="3000" dirty="0">
              <a:solidFill>
                <a:schemeClr val="bg1">
                  <a:lumMod val="65000"/>
                </a:schemeClr>
              </a:solidFill>
            </a:endParaRPr>
          </a:p>
          <a:p>
            <a:pPr marL="0" lvl="0" indent="0">
              <a:buClr>
                <a:srgbClr val="D34817"/>
              </a:buClr>
              <a:buNone/>
              <a:tabLst>
                <a:tab pos="2514600" algn="l"/>
              </a:tabLst>
            </a:pPr>
            <a:r>
              <a:rPr lang="en-US" altLang="tr-TR" sz="3000" dirty="0" err="1">
                <a:solidFill>
                  <a:schemeClr val="bg1">
                    <a:lumMod val="65000"/>
                  </a:schemeClr>
                </a:solidFill>
              </a:rPr>
              <a:t>q#S</a:t>
            </a:r>
            <a:r>
              <a:rPr lang="en-US" altLang="tr-TR" sz="3000" dirty="0">
                <a:solidFill>
                  <a:schemeClr val="bg1">
                    <a:lumMod val="65000"/>
                  </a:schemeClr>
                </a:solidFill>
              </a:rPr>
              <a:t> → </a:t>
            </a:r>
            <a:r>
              <a:rPr lang="en-US" altLang="tr-TR" sz="3000" dirty="0" err="1">
                <a:solidFill>
                  <a:schemeClr val="bg1">
                    <a:lumMod val="65000"/>
                  </a:schemeClr>
                </a:solidFill>
              </a:rPr>
              <a:t>qNS</a:t>
            </a:r>
            <a:r>
              <a:rPr lang="en-US" sz="3000" dirty="0">
                <a:solidFill>
                  <a:schemeClr val="bg1">
                    <a:lumMod val="65000"/>
                  </a:schemeClr>
                </a:solidFill>
              </a:rPr>
              <a:t>	</a:t>
            </a:r>
            <a:r>
              <a:rPr lang="en-US" sz="1900" dirty="0">
                <a:solidFill>
                  <a:schemeClr val="bg1">
                    <a:lumMod val="65000"/>
                  </a:schemeClr>
                </a:solidFill>
              </a:rPr>
              <a:t>reject without termination</a:t>
            </a:r>
            <a:endParaRPr lang="en-US" altLang="tr-TR" sz="3000" dirty="0">
              <a:solidFill>
                <a:schemeClr val="bg1">
                  <a:lumMod val="65000"/>
                </a:schemeClr>
              </a:solidFill>
            </a:endParaRPr>
          </a:p>
        </p:txBody>
      </p:sp>
      <p:sp>
        <p:nvSpPr>
          <p:cNvPr id="14"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İçerik Yer Tutucusu 4"/>
          <p:cNvSpPr txBox="1">
            <a:spLocks/>
          </p:cNvSpPr>
          <p:nvPr/>
        </p:nvSpPr>
        <p:spPr>
          <a:xfrm>
            <a:off x="6765729" y="2133600"/>
            <a:ext cx="4912924" cy="252004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514350" indent="-514350">
              <a:lnSpc>
                <a:spcPct val="150000"/>
              </a:lnSpc>
              <a:buAutoNum type="arabicPeriod"/>
            </a:pPr>
            <a:r>
              <a:rPr lang="en-US" sz="2800" dirty="0">
                <a:solidFill>
                  <a:schemeClr val="tx1"/>
                </a:solidFill>
              </a:rPr>
              <a:t>At the start of PDA</a:t>
            </a:r>
          </a:p>
          <a:p>
            <a:pPr marL="514350" indent="-514350">
              <a:lnSpc>
                <a:spcPct val="150000"/>
              </a:lnSpc>
              <a:buAutoNum type="arabicPeriod"/>
            </a:pPr>
            <a:r>
              <a:rPr lang="en-US" sz="2800" dirty="0">
                <a:solidFill>
                  <a:schemeClr val="tx1"/>
                </a:solidFill>
              </a:rPr>
              <a:t>When |a|=|b|</a:t>
            </a:r>
          </a:p>
        </p:txBody>
      </p:sp>
      <p:sp>
        <p:nvSpPr>
          <p:cNvPr id="2" name="Yuvarlatılmış Dikdörtgen 1"/>
          <p:cNvSpPr/>
          <p:nvPr/>
        </p:nvSpPr>
        <p:spPr>
          <a:xfrm>
            <a:off x="1812758" y="2133600"/>
            <a:ext cx="2662989" cy="1620253"/>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9" name="Resim 8"/>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293744" y="1802693"/>
            <a:ext cx="1772761" cy="419100"/>
          </a:xfrm>
          <a:prstGeom prst="rect">
            <a:avLst/>
          </a:prstGeom>
        </p:spPr>
      </p:pic>
      <p:cxnSp>
        <p:nvCxnSpPr>
          <p:cNvPr id="10" name="Düz Ok Bağlayıcısı 9"/>
          <p:cNvCxnSpPr/>
          <p:nvPr/>
        </p:nvCxnSpPr>
        <p:spPr>
          <a:xfrm>
            <a:off x="8836025" y="1511300"/>
            <a:ext cx="794" cy="2841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Düz Ok Bağlayıcısı 11"/>
          <p:cNvCxnSpPr/>
          <p:nvPr/>
        </p:nvCxnSpPr>
        <p:spPr>
          <a:xfrm>
            <a:off x="7480300" y="1511300"/>
            <a:ext cx="794" cy="2841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Düz Ok Bağlayıcısı 14"/>
          <p:cNvCxnSpPr/>
          <p:nvPr/>
        </p:nvCxnSpPr>
        <p:spPr>
          <a:xfrm>
            <a:off x="8156575" y="1511300"/>
            <a:ext cx="794" cy="28413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3777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çerik Yer Tutucusu 2"/>
          <p:cNvSpPr>
            <a:spLocks noGrp="1"/>
          </p:cNvSpPr>
          <p:nvPr>
            <p:ph idx="1"/>
          </p:nvPr>
        </p:nvSpPr>
        <p:spPr>
          <a:xfrm>
            <a:off x="1979612" y="2133600"/>
            <a:ext cx="8915400" cy="3777622"/>
          </a:xfrm>
        </p:spPr>
        <p:txBody>
          <a:bodyPr>
            <a:normAutofit lnSpcReduction="10000"/>
          </a:bodyPr>
          <a:lstStyle/>
          <a:p>
            <a:pPr marL="0" lvl="0" indent="0">
              <a:buClr>
                <a:srgbClr val="D34817"/>
              </a:buClr>
              <a:buNone/>
              <a:tabLst>
                <a:tab pos="2514600" algn="l"/>
              </a:tabLst>
            </a:pPr>
            <a:r>
              <a:rPr lang="en-US" altLang="tr-TR" sz="3000" dirty="0" err="1">
                <a:solidFill>
                  <a:schemeClr val="bg1">
                    <a:lumMod val="65000"/>
                  </a:schemeClr>
                </a:solidFill>
              </a:rPr>
              <a:t>qa</a:t>
            </a:r>
            <a:r>
              <a:rPr lang="en-US" altLang="tr-TR" sz="3000" dirty="0">
                <a:solidFill>
                  <a:schemeClr val="bg1">
                    <a:lumMod val="65000"/>
                  </a:schemeClr>
                </a:solidFill>
              </a:rPr>
              <a:t>$ → </a:t>
            </a:r>
            <a:r>
              <a:rPr lang="en-US" altLang="tr-TR" sz="3000" dirty="0" err="1">
                <a:solidFill>
                  <a:schemeClr val="bg1">
                    <a:lumMod val="65000"/>
                  </a:schemeClr>
                </a:solidFill>
              </a:rPr>
              <a:t>qR$S</a:t>
            </a:r>
            <a:r>
              <a:rPr lang="en-US" altLang="tr-TR" sz="3000" dirty="0">
                <a:solidFill>
                  <a:schemeClr val="bg1">
                    <a:lumMod val="65000"/>
                  </a:schemeClr>
                </a:solidFill>
              </a:rPr>
              <a:t>	</a:t>
            </a:r>
            <a:r>
              <a:rPr lang="en-US" altLang="tr-TR" sz="1900" dirty="0">
                <a:solidFill>
                  <a:schemeClr val="bg1">
                    <a:lumMod val="65000"/>
                  </a:schemeClr>
                </a:solidFill>
              </a:rPr>
              <a:t>remember</a:t>
            </a:r>
            <a:endParaRPr lang="en-US" altLang="tr-TR" sz="3000" dirty="0">
              <a:solidFill>
                <a:schemeClr val="bg1">
                  <a:lumMod val="65000"/>
                </a:schemeClr>
              </a:solidFill>
            </a:endParaRPr>
          </a:p>
          <a:p>
            <a:pPr marL="0" lvl="0" indent="0">
              <a:buClr>
                <a:srgbClr val="D34817"/>
              </a:buClr>
              <a:buNone/>
              <a:tabLst>
                <a:tab pos="2514600" algn="l"/>
              </a:tabLst>
            </a:pPr>
            <a:r>
              <a:rPr lang="en-US" altLang="tr-TR" sz="3000" dirty="0" err="1">
                <a:solidFill>
                  <a:schemeClr val="bg1">
                    <a:lumMod val="65000"/>
                  </a:schemeClr>
                </a:solidFill>
              </a:rPr>
              <a:t>qb</a:t>
            </a:r>
            <a:r>
              <a:rPr lang="en-US" altLang="tr-TR" sz="3000" dirty="0">
                <a:solidFill>
                  <a:schemeClr val="bg1">
                    <a:lumMod val="65000"/>
                  </a:schemeClr>
                </a:solidFill>
              </a:rPr>
              <a:t>$ → </a:t>
            </a:r>
            <a:r>
              <a:rPr lang="en-US" altLang="tr-TR" sz="3000" dirty="0" err="1">
                <a:solidFill>
                  <a:schemeClr val="bg1">
                    <a:lumMod val="65000"/>
                  </a:schemeClr>
                </a:solidFill>
              </a:rPr>
              <a:t>qN</a:t>
            </a:r>
            <a:r>
              <a:rPr lang="en-US" sz="3000" dirty="0" err="1">
                <a:solidFill>
                  <a:schemeClr val="bg1">
                    <a:lumMod val="65000"/>
                  </a:schemeClr>
                </a:solidFill>
              </a:rPr>
              <a:t>ε</a:t>
            </a:r>
            <a:r>
              <a:rPr lang="en-US" sz="3000" dirty="0">
                <a:solidFill>
                  <a:schemeClr val="bg1">
                    <a:lumMod val="65000"/>
                  </a:schemeClr>
                </a:solidFill>
              </a:rPr>
              <a:t> 	</a:t>
            </a:r>
            <a:r>
              <a:rPr lang="en-US" sz="1900" dirty="0">
                <a:solidFill>
                  <a:schemeClr val="bg1">
                    <a:lumMod val="65000"/>
                  </a:schemeClr>
                </a:solidFill>
              </a:rPr>
              <a:t>reject</a:t>
            </a:r>
            <a:endParaRPr lang="en-US" altLang="tr-TR" sz="3000" dirty="0">
              <a:solidFill>
                <a:schemeClr val="bg1">
                  <a:lumMod val="65000"/>
                </a:schemeClr>
              </a:solidFill>
            </a:endParaRPr>
          </a:p>
          <a:p>
            <a:pPr marL="0" lvl="0" indent="0">
              <a:buClr>
                <a:srgbClr val="D34817"/>
              </a:buClr>
              <a:buNone/>
              <a:tabLst>
                <a:tab pos="2514600" algn="l"/>
              </a:tabLst>
            </a:pPr>
            <a:r>
              <a:rPr lang="en-US" altLang="tr-TR" sz="3000" dirty="0">
                <a:solidFill>
                  <a:schemeClr val="bg1">
                    <a:lumMod val="65000"/>
                  </a:schemeClr>
                </a:solidFill>
              </a:rPr>
              <a:t>q#$ → </a:t>
            </a:r>
            <a:r>
              <a:rPr lang="en-US" altLang="tr-TR" sz="3000" dirty="0" err="1">
                <a:solidFill>
                  <a:schemeClr val="bg1">
                    <a:lumMod val="65000"/>
                  </a:schemeClr>
                </a:solidFill>
              </a:rPr>
              <a:t>qN</a:t>
            </a:r>
            <a:r>
              <a:rPr lang="en-US" sz="3000" dirty="0" err="1">
                <a:solidFill>
                  <a:schemeClr val="bg1">
                    <a:lumMod val="65000"/>
                  </a:schemeClr>
                </a:solidFill>
              </a:rPr>
              <a:t>ε</a:t>
            </a:r>
            <a:r>
              <a:rPr lang="en-US" sz="3000" dirty="0">
                <a:solidFill>
                  <a:schemeClr val="bg1">
                    <a:lumMod val="65000"/>
                  </a:schemeClr>
                </a:solidFill>
              </a:rPr>
              <a:t> 	</a:t>
            </a:r>
            <a:r>
              <a:rPr lang="en-US" sz="1900" dirty="0">
                <a:solidFill>
                  <a:schemeClr val="bg1">
                    <a:lumMod val="65000"/>
                  </a:schemeClr>
                </a:solidFill>
              </a:rPr>
              <a:t>accept</a:t>
            </a:r>
            <a:endParaRPr lang="en-US" altLang="tr-TR" sz="3000" dirty="0">
              <a:solidFill>
                <a:schemeClr val="bg1">
                  <a:lumMod val="65000"/>
                </a:schemeClr>
              </a:solidFill>
            </a:endParaRPr>
          </a:p>
          <a:p>
            <a:pPr marL="0" lvl="0" indent="0">
              <a:buClr>
                <a:srgbClr val="D34817"/>
              </a:buClr>
              <a:buNone/>
              <a:tabLst>
                <a:tab pos="2514600" algn="l"/>
              </a:tabLst>
            </a:pP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qaS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qRSS</a:t>
            </a:r>
            <a:r>
              <a:rPr lang="en-US" altLang="tr-TR" sz="3000" dirty="0">
                <a:solidFill>
                  <a:prstClr val="black">
                    <a:lumMod val="75000"/>
                    <a:lumOff val="25000"/>
                  </a:prstClr>
                </a:solidFill>
              </a:rPr>
              <a:t>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a:t>
            </a:r>
            <a:r>
              <a:rPr lang="en-US" sz="3000" dirty="0" err="1">
                <a:solidFill>
                  <a:prstClr val="black"/>
                </a:solidFill>
              </a:rPr>
              <a:t>ε</a:t>
            </a:r>
            <a:r>
              <a:rPr lang="en-US" sz="3000" dirty="0">
                <a:solidFill>
                  <a:prstClr val="black"/>
                </a:solidFill>
              </a:rPr>
              <a:t> 	</a:t>
            </a:r>
            <a:r>
              <a:rPr lang="en-US" sz="1900" dirty="0">
                <a:solidFill>
                  <a:prstClr val="black"/>
                </a:solidFill>
              </a:rPr>
              <a:t>forget</a:t>
            </a:r>
            <a:endParaRPr lang="en-US" altLang="tr-TR" sz="3000" dirty="0">
              <a:solidFill>
                <a:prstClr val="black"/>
              </a:solidFill>
            </a:endParaRPr>
          </a:p>
          <a:p>
            <a:pPr marL="0" lvl="0" indent="0">
              <a:buClr>
                <a:srgbClr val="D34817"/>
              </a:buClr>
              <a:buNone/>
              <a:tabLst>
                <a:tab pos="2514600" algn="l"/>
              </a:tabLst>
            </a:pPr>
            <a:r>
              <a:rPr lang="en-US" altLang="tr-TR" sz="3000" dirty="0" err="1">
                <a:solidFill>
                  <a:prstClr val="black">
                    <a:lumMod val="75000"/>
                    <a:lumOff val="25000"/>
                  </a:prstClr>
                </a:solidFill>
              </a:rPr>
              <a:t>q#S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qNS</a:t>
            </a:r>
            <a:r>
              <a:rPr lang="en-US" sz="3000" dirty="0">
                <a:solidFill>
                  <a:prstClr val="black"/>
                </a:solidFill>
              </a:rPr>
              <a:t>	</a:t>
            </a:r>
            <a:r>
              <a:rPr lang="en-US" sz="1900" dirty="0">
                <a:solidFill>
                  <a:srgbClr val="FF0000"/>
                </a:solidFill>
              </a:rPr>
              <a:t>reject without termination</a:t>
            </a:r>
            <a:endParaRPr lang="en-US" altLang="tr-TR" sz="3000" dirty="0">
              <a:solidFill>
                <a:srgbClr val="FF0000"/>
              </a:solidFill>
            </a:endParaRPr>
          </a:p>
        </p:txBody>
      </p:sp>
      <p:sp>
        <p:nvSpPr>
          <p:cNvPr id="14"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Yuvarlatılmış Dikdörtgen 12"/>
          <p:cNvSpPr/>
          <p:nvPr/>
        </p:nvSpPr>
        <p:spPr>
          <a:xfrm>
            <a:off x="1812758" y="4299284"/>
            <a:ext cx="2662989" cy="1620253"/>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İçerik Yer Tutucusu 4"/>
          <p:cNvSpPr txBox="1">
            <a:spLocks/>
          </p:cNvSpPr>
          <p:nvPr/>
        </p:nvSpPr>
        <p:spPr>
          <a:xfrm>
            <a:off x="6765729" y="4299284"/>
            <a:ext cx="5426271" cy="206943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t>So when does this part work? </a:t>
            </a:r>
            <a:endParaRPr lang="tr-TR" sz="2800" dirty="0">
              <a:solidFill>
                <a:schemeClr val="tx1"/>
              </a:solidFill>
            </a:endParaRPr>
          </a:p>
        </p:txBody>
      </p:sp>
      <p:pic>
        <p:nvPicPr>
          <p:cNvPr id="16" name="Resim 15"/>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293744" y="1802693"/>
            <a:ext cx="1772761" cy="419100"/>
          </a:xfrm>
          <a:prstGeom prst="rect">
            <a:avLst/>
          </a:prstGeom>
        </p:spPr>
      </p:pic>
    </p:spTree>
    <p:extLst>
      <p:ext uri="{BB962C8B-B14F-4D97-AF65-F5344CB8AC3E}">
        <p14:creationId xmlns:p14="http://schemas.microsoft.com/office/powerpoint/2010/main" val="382132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çerik Yer Tutucusu 2"/>
          <p:cNvSpPr>
            <a:spLocks noGrp="1"/>
          </p:cNvSpPr>
          <p:nvPr>
            <p:ph idx="1"/>
          </p:nvPr>
        </p:nvSpPr>
        <p:spPr>
          <a:xfrm>
            <a:off x="1979612" y="2133600"/>
            <a:ext cx="8915400" cy="3777622"/>
          </a:xfrm>
        </p:spPr>
        <p:txBody>
          <a:bodyPr>
            <a:normAutofit lnSpcReduction="10000"/>
          </a:bodyPr>
          <a:lstStyle/>
          <a:p>
            <a:pPr marL="0" lvl="0" indent="0">
              <a:buClr>
                <a:srgbClr val="D34817"/>
              </a:buClr>
              <a:buNone/>
              <a:tabLst>
                <a:tab pos="2514600" algn="l"/>
              </a:tabLst>
            </a:pPr>
            <a:r>
              <a:rPr lang="en-US" altLang="tr-TR" sz="3000" dirty="0" err="1">
                <a:solidFill>
                  <a:schemeClr val="bg1">
                    <a:lumMod val="65000"/>
                  </a:schemeClr>
                </a:solidFill>
              </a:rPr>
              <a:t>qa</a:t>
            </a:r>
            <a:r>
              <a:rPr lang="en-US" altLang="tr-TR" sz="3000" dirty="0">
                <a:solidFill>
                  <a:schemeClr val="bg1">
                    <a:lumMod val="65000"/>
                  </a:schemeClr>
                </a:solidFill>
              </a:rPr>
              <a:t>$ → </a:t>
            </a:r>
            <a:r>
              <a:rPr lang="en-US" altLang="tr-TR" sz="3000" dirty="0" err="1">
                <a:solidFill>
                  <a:schemeClr val="bg1">
                    <a:lumMod val="65000"/>
                  </a:schemeClr>
                </a:solidFill>
              </a:rPr>
              <a:t>qR$S</a:t>
            </a:r>
            <a:r>
              <a:rPr lang="en-US" altLang="tr-TR" sz="3000" dirty="0">
                <a:solidFill>
                  <a:schemeClr val="bg1">
                    <a:lumMod val="65000"/>
                  </a:schemeClr>
                </a:solidFill>
              </a:rPr>
              <a:t>	</a:t>
            </a:r>
            <a:r>
              <a:rPr lang="en-US" altLang="tr-TR" sz="1900" dirty="0">
                <a:solidFill>
                  <a:schemeClr val="bg1">
                    <a:lumMod val="65000"/>
                  </a:schemeClr>
                </a:solidFill>
              </a:rPr>
              <a:t>remember</a:t>
            </a:r>
            <a:endParaRPr lang="en-US" altLang="tr-TR" sz="3000" dirty="0">
              <a:solidFill>
                <a:schemeClr val="bg1">
                  <a:lumMod val="65000"/>
                </a:schemeClr>
              </a:solidFill>
            </a:endParaRPr>
          </a:p>
          <a:p>
            <a:pPr marL="0" lvl="0" indent="0">
              <a:buClr>
                <a:srgbClr val="D34817"/>
              </a:buClr>
              <a:buNone/>
              <a:tabLst>
                <a:tab pos="2514600" algn="l"/>
              </a:tabLst>
            </a:pPr>
            <a:r>
              <a:rPr lang="en-US" altLang="tr-TR" sz="3000" dirty="0" err="1">
                <a:solidFill>
                  <a:schemeClr val="bg1">
                    <a:lumMod val="65000"/>
                  </a:schemeClr>
                </a:solidFill>
              </a:rPr>
              <a:t>qb</a:t>
            </a:r>
            <a:r>
              <a:rPr lang="en-US" altLang="tr-TR" sz="3000" dirty="0">
                <a:solidFill>
                  <a:schemeClr val="bg1">
                    <a:lumMod val="65000"/>
                  </a:schemeClr>
                </a:solidFill>
              </a:rPr>
              <a:t>$ → </a:t>
            </a:r>
            <a:r>
              <a:rPr lang="en-US" altLang="tr-TR" sz="3000" dirty="0" err="1">
                <a:solidFill>
                  <a:schemeClr val="bg1">
                    <a:lumMod val="65000"/>
                  </a:schemeClr>
                </a:solidFill>
              </a:rPr>
              <a:t>qN</a:t>
            </a:r>
            <a:r>
              <a:rPr lang="en-US" sz="3000" dirty="0" err="1">
                <a:solidFill>
                  <a:schemeClr val="bg1">
                    <a:lumMod val="65000"/>
                  </a:schemeClr>
                </a:solidFill>
              </a:rPr>
              <a:t>ε</a:t>
            </a:r>
            <a:r>
              <a:rPr lang="en-US" sz="3000" dirty="0">
                <a:solidFill>
                  <a:schemeClr val="bg1">
                    <a:lumMod val="65000"/>
                  </a:schemeClr>
                </a:solidFill>
              </a:rPr>
              <a:t> 	</a:t>
            </a:r>
            <a:r>
              <a:rPr lang="en-US" sz="1900" dirty="0">
                <a:solidFill>
                  <a:schemeClr val="bg1">
                    <a:lumMod val="65000"/>
                  </a:schemeClr>
                </a:solidFill>
              </a:rPr>
              <a:t>reject</a:t>
            </a:r>
            <a:endParaRPr lang="en-US" altLang="tr-TR" sz="3000" dirty="0">
              <a:solidFill>
                <a:schemeClr val="bg1">
                  <a:lumMod val="65000"/>
                </a:schemeClr>
              </a:solidFill>
            </a:endParaRPr>
          </a:p>
          <a:p>
            <a:pPr marL="0" lvl="0" indent="0">
              <a:buClr>
                <a:srgbClr val="D34817"/>
              </a:buClr>
              <a:buNone/>
              <a:tabLst>
                <a:tab pos="2514600" algn="l"/>
              </a:tabLst>
            </a:pPr>
            <a:r>
              <a:rPr lang="en-US" altLang="tr-TR" sz="3000" dirty="0">
                <a:solidFill>
                  <a:schemeClr val="bg1">
                    <a:lumMod val="65000"/>
                  </a:schemeClr>
                </a:solidFill>
              </a:rPr>
              <a:t>q#$ → </a:t>
            </a:r>
            <a:r>
              <a:rPr lang="en-US" altLang="tr-TR" sz="3000" dirty="0" err="1">
                <a:solidFill>
                  <a:schemeClr val="bg1">
                    <a:lumMod val="65000"/>
                  </a:schemeClr>
                </a:solidFill>
              </a:rPr>
              <a:t>qN</a:t>
            </a:r>
            <a:r>
              <a:rPr lang="en-US" sz="3000" dirty="0" err="1">
                <a:solidFill>
                  <a:schemeClr val="bg1">
                    <a:lumMod val="65000"/>
                  </a:schemeClr>
                </a:solidFill>
              </a:rPr>
              <a:t>ε</a:t>
            </a:r>
            <a:r>
              <a:rPr lang="en-US" sz="3000" dirty="0">
                <a:solidFill>
                  <a:schemeClr val="bg1">
                    <a:lumMod val="65000"/>
                  </a:schemeClr>
                </a:solidFill>
              </a:rPr>
              <a:t> 	</a:t>
            </a:r>
            <a:r>
              <a:rPr lang="en-US" sz="1900" dirty="0">
                <a:solidFill>
                  <a:schemeClr val="bg1">
                    <a:lumMod val="65000"/>
                  </a:schemeClr>
                </a:solidFill>
              </a:rPr>
              <a:t>accept</a:t>
            </a:r>
            <a:endParaRPr lang="en-US" altLang="tr-TR" sz="3000" dirty="0">
              <a:solidFill>
                <a:schemeClr val="bg1">
                  <a:lumMod val="65000"/>
                </a:schemeClr>
              </a:solidFill>
            </a:endParaRPr>
          </a:p>
          <a:p>
            <a:pPr marL="0" lvl="0" indent="0">
              <a:buClr>
                <a:srgbClr val="D34817"/>
              </a:buClr>
              <a:buNone/>
              <a:tabLst>
                <a:tab pos="2514600" algn="l"/>
              </a:tabLst>
            </a:pP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qaS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qRSS</a:t>
            </a:r>
            <a:r>
              <a:rPr lang="en-US" altLang="tr-TR" sz="3000" dirty="0">
                <a:solidFill>
                  <a:prstClr val="black">
                    <a:lumMod val="75000"/>
                    <a:lumOff val="25000"/>
                  </a:prstClr>
                </a:solidFill>
              </a:rPr>
              <a:t>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a:t>
            </a:r>
            <a:r>
              <a:rPr lang="en-US" sz="3000" dirty="0" err="1">
                <a:solidFill>
                  <a:prstClr val="black"/>
                </a:solidFill>
              </a:rPr>
              <a:t>ε</a:t>
            </a:r>
            <a:r>
              <a:rPr lang="en-US" sz="3000" dirty="0">
                <a:solidFill>
                  <a:prstClr val="black"/>
                </a:solidFill>
              </a:rPr>
              <a:t> 	</a:t>
            </a:r>
            <a:r>
              <a:rPr lang="en-US" sz="1900" dirty="0">
                <a:solidFill>
                  <a:prstClr val="black"/>
                </a:solidFill>
              </a:rPr>
              <a:t>forget</a:t>
            </a:r>
            <a:endParaRPr lang="en-US" altLang="tr-TR" sz="3000" dirty="0">
              <a:solidFill>
                <a:prstClr val="black"/>
              </a:solidFill>
            </a:endParaRPr>
          </a:p>
          <a:p>
            <a:pPr marL="0" lvl="0" indent="0">
              <a:buClr>
                <a:srgbClr val="D34817"/>
              </a:buClr>
              <a:buNone/>
              <a:tabLst>
                <a:tab pos="2514600" algn="l"/>
              </a:tabLst>
            </a:pPr>
            <a:r>
              <a:rPr lang="en-US" altLang="tr-TR" sz="3000" dirty="0" err="1">
                <a:solidFill>
                  <a:prstClr val="black">
                    <a:lumMod val="75000"/>
                    <a:lumOff val="25000"/>
                  </a:prstClr>
                </a:solidFill>
              </a:rPr>
              <a:t>q#S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qNS</a:t>
            </a:r>
            <a:r>
              <a:rPr lang="en-US" sz="3000" dirty="0">
                <a:solidFill>
                  <a:prstClr val="black"/>
                </a:solidFill>
              </a:rPr>
              <a:t>	</a:t>
            </a:r>
            <a:r>
              <a:rPr lang="en-US" sz="1900" dirty="0">
                <a:solidFill>
                  <a:srgbClr val="FF0000"/>
                </a:solidFill>
              </a:rPr>
              <a:t>reject without termination</a:t>
            </a:r>
            <a:endParaRPr lang="en-US" altLang="tr-TR" sz="3000" dirty="0">
              <a:solidFill>
                <a:srgbClr val="FF0000"/>
              </a:solidFill>
            </a:endParaRPr>
          </a:p>
        </p:txBody>
      </p:sp>
      <p:sp>
        <p:nvSpPr>
          <p:cNvPr id="14"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first example</a:t>
            </a:r>
            <a:r>
              <a:rPr lang="tr-TR" dirty="0"/>
              <a:t>: </a:t>
            </a:r>
            <a:r>
              <a:rPr lang="en-US" dirty="0"/>
              <a:t>Properly nested parentheses</a:t>
            </a:r>
          </a:p>
        </p:txBody>
      </p:sp>
      <p:sp>
        <p:nvSpPr>
          <p:cNvPr id="13" name="Yuvarlatılmış Dikdörtgen 12"/>
          <p:cNvSpPr/>
          <p:nvPr/>
        </p:nvSpPr>
        <p:spPr>
          <a:xfrm>
            <a:off x="1812758" y="4299284"/>
            <a:ext cx="2662989" cy="1620253"/>
          </a:xfrm>
          <a:prstGeom prst="roundRect">
            <a:avLst/>
          </a:prstGeom>
          <a:noFill/>
          <a:ln w="190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İçerik Yer Tutucusu 4"/>
          <p:cNvSpPr txBox="1">
            <a:spLocks/>
          </p:cNvSpPr>
          <p:nvPr/>
        </p:nvSpPr>
        <p:spPr>
          <a:xfrm>
            <a:off x="6765729" y="4299284"/>
            <a:ext cx="5426271" cy="206943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150000"/>
              </a:lnSpc>
              <a:buNone/>
            </a:pPr>
            <a:r>
              <a:rPr lang="en-US" sz="2800" dirty="0">
                <a:solidFill>
                  <a:schemeClr val="tx1"/>
                </a:solidFill>
              </a:rPr>
              <a:t>If |a|&gt;|b|</a:t>
            </a:r>
          </a:p>
        </p:txBody>
      </p:sp>
      <p:pic>
        <p:nvPicPr>
          <p:cNvPr id="7" name="Resim 6"/>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293744" y="1802693"/>
            <a:ext cx="1772761" cy="419100"/>
          </a:xfrm>
          <a:prstGeom prst="rect">
            <a:avLst/>
          </a:prstGeom>
        </p:spPr>
      </p:pic>
      <p:cxnSp>
        <p:nvCxnSpPr>
          <p:cNvPr id="9" name="Düz Ok Bağlayıcısı 8"/>
          <p:cNvCxnSpPr/>
          <p:nvPr/>
        </p:nvCxnSpPr>
        <p:spPr>
          <a:xfrm flipV="1">
            <a:off x="7830172" y="2221793"/>
            <a:ext cx="0" cy="474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Düz Ok Bağlayıcısı 10"/>
          <p:cNvCxnSpPr/>
          <p:nvPr/>
        </p:nvCxnSpPr>
        <p:spPr>
          <a:xfrm flipV="1">
            <a:off x="8503943" y="2221793"/>
            <a:ext cx="0" cy="4742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8089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second</a:t>
            </a:r>
            <a:r>
              <a:rPr lang="tr-TR" dirty="0"/>
              <a:t> </a:t>
            </a:r>
            <a:r>
              <a:rPr lang="en-US" dirty="0"/>
              <a:t>example</a:t>
            </a:r>
            <a:r>
              <a:rPr lang="tr-TR" dirty="0"/>
              <a:t>: 0</a:t>
            </a:r>
            <a:r>
              <a:rPr lang="tr-TR" baseline="40000" dirty="0"/>
              <a:t>n</a:t>
            </a:r>
            <a:r>
              <a:rPr lang="tr-TR" dirty="0"/>
              <a:t>1</a:t>
            </a:r>
            <a:r>
              <a:rPr lang="tr-TR" baseline="40000" dirty="0"/>
              <a:t>n</a:t>
            </a:r>
            <a:endParaRPr lang="en-US" dirty="0"/>
          </a:p>
        </p:txBody>
      </p:sp>
      <p:sp>
        <p:nvSpPr>
          <p:cNvPr id="6" name="İçerik Yer Tutucusu 2"/>
          <p:cNvSpPr>
            <a:spLocks noGrp="1"/>
          </p:cNvSpPr>
          <p:nvPr>
            <p:ph idx="1"/>
          </p:nvPr>
        </p:nvSpPr>
        <p:spPr>
          <a:xfrm>
            <a:off x="1914299" y="1352748"/>
            <a:ext cx="6267174" cy="5304726"/>
          </a:xfrm>
        </p:spPr>
        <p:txBody>
          <a:bodyPr>
            <a:normAutofit fontScale="85000" lnSpcReduction="20000"/>
          </a:bodyPr>
          <a:lstStyle/>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0$ → 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R$S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1$ → 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N$</a:t>
            </a:r>
            <a:r>
              <a:rPr lang="en-US" sz="3000" dirty="0">
                <a:solidFill>
                  <a:prstClr val="black"/>
                </a:solidFill>
              </a:rPr>
              <a:t> 	</a:t>
            </a:r>
            <a:r>
              <a:rPr lang="en-US" sz="1900" dirty="0">
                <a:solidFill>
                  <a:srgbClr val="FF0000"/>
                </a:solidFill>
              </a:rPr>
              <a:t>reject without termination</a:t>
            </a:r>
            <a:endParaRPr lang="en-US" altLang="tr-TR" sz="3000" dirty="0">
              <a:solidFill>
                <a:srgbClr val="FF0000"/>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 → 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N</a:t>
            </a:r>
            <a:r>
              <a:rPr lang="en-US" sz="3000" dirty="0">
                <a:solidFill>
                  <a:prstClr val="black"/>
                </a:solidFill>
              </a:rPr>
              <a:t>ε 	</a:t>
            </a:r>
            <a:r>
              <a:rPr lang="en-US" sz="1900" dirty="0">
                <a:solidFill>
                  <a:srgbClr val="00B050"/>
                </a:solidFill>
              </a:rPr>
              <a:t>accept</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0S → 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RSS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1S → 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R</a:t>
            </a:r>
            <a:r>
              <a:rPr lang="en-US" sz="3000" dirty="0">
                <a:solidFill>
                  <a:prstClr val="black"/>
                </a:solidFill>
              </a:rPr>
              <a:t>ε 	</a:t>
            </a:r>
            <a:r>
              <a:rPr lang="en-US" sz="1900" dirty="0">
                <a:solidFill>
                  <a:prstClr val="black"/>
                </a:solidFill>
              </a:rPr>
              <a:t>forget</a:t>
            </a:r>
            <a:endParaRPr lang="en-US" altLang="tr-TR" sz="3000" dirty="0">
              <a:solidFill>
                <a:prstClr val="black"/>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#S → q</a:t>
            </a:r>
            <a:r>
              <a:rPr lang="en-US" altLang="tr-TR" sz="3000" baseline="-25000" dirty="0">
                <a:solidFill>
                  <a:prstClr val="black">
                    <a:lumMod val="75000"/>
                    <a:lumOff val="25000"/>
                  </a:prstClr>
                </a:solidFill>
              </a:rPr>
              <a:t>0</a:t>
            </a:r>
            <a:r>
              <a:rPr lang="en-US" altLang="tr-TR" sz="3000" dirty="0">
                <a:solidFill>
                  <a:prstClr val="black">
                    <a:lumMod val="75000"/>
                    <a:lumOff val="25000"/>
                  </a:prstClr>
                </a:solidFill>
              </a:rPr>
              <a:t>NS</a:t>
            </a:r>
            <a:r>
              <a:rPr lang="en-US" sz="3000" dirty="0">
                <a:solidFill>
                  <a:prstClr val="black"/>
                </a:solidFill>
              </a:rPr>
              <a:t>	</a:t>
            </a:r>
            <a:r>
              <a:rPr lang="en-US" sz="1900" dirty="0">
                <a:solidFill>
                  <a:srgbClr val="FF0000"/>
                </a:solidFill>
              </a:rPr>
              <a:t>reject without termination</a:t>
            </a: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0$ → 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N$	</a:t>
            </a:r>
            <a:r>
              <a:rPr lang="en-US" sz="1900" dirty="0">
                <a:solidFill>
                  <a:srgbClr val="FF0000"/>
                </a:solidFill>
              </a:rPr>
              <a:t>reject without termination</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1$ → 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N$</a:t>
            </a:r>
            <a:r>
              <a:rPr lang="en-US" sz="3000" dirty="0">
                <a:solidFill>
                  <a:prstClr val="black"/>
                </a:solidFill>
              </a:rPr>
              <a:t> 	</a:t>
            </a:r>
            <a:r>
              <a:rPr lang="en-US" sz="1900" dirty="0">
                <a:solidFill>
                  <a:srgbClr val="FF0000"/>
                </a:solidFill>
              </a:rPr>
              <a:t>reject without termination</a:t>
            </a:r>
            <a:endParaRPr lang="en-US" altLang="tr-TR" sz="3000" dirty="0">
              <a:solidFill>
                <a:srgbClr val="FF0000"/>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 → 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N</a:t>
            </a:r>
            <a:r>
              <a:rPr lang="en-US" sz="3000" dirty="0">
                <a:solidFill>
                  <a:prstClr val="black"/>
                </a:solidFill>
              </a:rPr>
              <a:t>ε 	</a:t>
            </a:r>
            <a:r>
              <a:rPr lang="en-US" sz="1900" dirty="0">
                <a:solidFill>
                  <a:srgbClr val="00B050"/>
                </a:solidFill>
              </a:rPr>
              <a:t>accept</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0S → 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NS	</a:t>
            </a:r>
            <a:r>
              <a:rPr lang="en-US" sz="1900" dirty="0">
                <a:solidFill>
                  <a:srgbClr val="FF0000"/>
                </a:solidFill>
              </a:rPr>
              <a:t>reject without termination</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1S → 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R</a:t>
            </a:r>
            <a:r>
              <a:rPr lang="en-US" sz="3000" dirty="0">
                <a:solidFill>
                  <a:prstClr val="black"/>
                </a:solidFill>
              </a:rPr>
              <a:t>ε 	</a:t>
            </a:r>
            <a:r>
              <a:rPr lang="en-US" sz="1900" dirty="0">
                <a:solidFill>
                  <a:prstClr val="black"/>
                </a:solidFill>
              </a:rPr>
              <a:t>forget</a:t>
            </a:r>
            <a:endParaRPr lang="en-US" altLang="tr-TR" sz="3000" dirty="0">
              <a:solidFill>
                <a:prstClr val="black"/>
              </a:solidFill>
            </a:endParaRPr>
          </a:p>
          <a:p>
            <a:pPr marL="0" lvl="0" indent="0">
              <a:buClr>
                <a:srgbClr val="D34817"/>
              </a:buClr>
              <a:buNone/>
              <a:tabLst>
                <a:tab pos="2514600" algn="l"/>
              </a:tabLst>
            </a:pPr>
            <a:r>
              <a:rPr lang="en-US" altLang="tr-TR" sz="3000" dirty="0">
                <a:solidFill>
                  <a:prstClr val="black">
                    <a:lumMod val="75000"/>
                    <a:lumOff val="25000"/>
                  </a:prstClr>
                </a:solidFill>
              </a:rPr>
              <a:t>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#S → q</a:t>
            </a:r>
            <a:r>
              <a:rPr lang="en-US" altLang="tr-TR" sz="3000" baseline="-25000" dirty="0">
                <a:solidFill>
                  <a:prstClr val="black">
                    <a:lumMod val="75000"/>
                    <a:lumOff val="25000"/>
                  </a:prstClr>
                </a:solidFill>
              </a:rPr>
              <a:t>1</a:t>
            </a:r>
            <a:r>
              <a:rPr lang="en-US" altLang="tr-TR" sz="3000" dirty="0">
                <a:solidFill>
                  <a:prstClr val="black">
                    <a:lumMod val="75000"/>
                    <a:lumOff val="25000"/>
                  </a:prstClr>
                </a:solidFill>
              </a:rPr>
              <a:t>NS</a:t>
            </a:r>
            <a:r>
              <a:rPr lang="en-US" sz="3000" dirty="0">
                <a:solidFill>
                  <a:prstClr val="black"/>
                </a:solidFill>
              </a:rPr>
              <a:t>	</a:t>
            </a:r>
            <a:r>
              <a:rPr lang="en-US" sz="1900" dirty="0">
                <a:solidFill>
                  <a:srgbClr val="FF0000"/>
                </a:solidFill>
              </a:rPr>
              <a:t>reject without termination</a:t>
            </a:r>
            <a:endParaRPr lang="en-US" altLang="tr-TR" sz="3000" dirty="0">
              <a:solidFill>
                <a:srgbClr val="FF0000"/>
              </a:solidFill>
            </a:endParaRPr>
          </a:p>
        </p:txBody>
      </p:sp>
      <p:pic>
        <p:nvPicPr>
          <p:cNvPr id="13" name="Resim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04692" y="2190750"/>
            <a:ext cx="2857500" cy="2857500"/>
          </a:xfrm>
          <a:prstGeom prst="rect">
            <a:avLst/>
          </a:prstGeom>
        </p:spPr>
      </p:pic>
      <p:sp>
        <p:nvSpPr>
          <p:cNvPr id="8" name="Dikdörtgen 7"/>
          <p:cNvSpPr/>
          <p:nvPr/>
        </p:nvSpPr>
        <p:spPr>
          <a:xfrm>
            <a:off x="8663891" y="1360003"/>
            <a:ext cx="2339102" cy="523220"/>
          </a:xfrm>
          <a:prstGeom prst="rect">
            <a:avLst/>
          </a:prstGeom>
        </p:spPr>
        <p:txBody>
          <a:bodyPr wrap="none">
            <a:spAutoFit/>
          </a:bodyPr>
          <a:lstStyle/>
          <a:p>
            <a:r>
              <a:rPr lang="tr-TR" sz="2800" dirty="0"/>
              <a:t>0</a:t>
            </a:r>
            <a:r>
              <a:rPr lang="tr-TR" sz="2800" baseline="40000" dirty="0"/>
              <a:t>3</a:t>
            </a:r>
            <a:r>
              <a:rPr lang="tr-TR" sz="2800" dirty="0"/>
              <a:t>1</a:t>
            </a:r>
            <a:r>
              <a:rPr lang="tr-TR" sz="2800" baseline="40000" dirty="0"/>
              <a:t>3</a:t>
            </a:r>
            <a:r>
              <a:rPr lang="tr-TR" sz="2800" dirty="0">
                <a:solidFill>
                  <a:prstClr val="black">
                    <a:lumMod val="75000"/>
                    <a:lumOff val="25000"/>
                  </a:prstClr>
                </a:solidFill>
              </a:rPr>
              <a:t> : 000111</a:t>
            </a:r>
            <a:endParaRPr lang="en-US" sz="2800" dirty="0"/>
          </a:p>
        </p:txBody>
      </p:sp>
    </p:spTree>
    <p:extLst>
      <p:ext uri="{BB962C8B-B14F-4D97-AF65-F5344CB8AC3E}">
        <p14:creationId xmlns:p14="http://schemas.microsoft.com/office/powerpoint/2010/main" val="2908895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A third</a:t>
            </a:r>
            <a:r>
              <a:rPr lang="tr-TR" dirty="0"/>
              <a:t> </a:t>
            </a:r>
            <a:r>
              <a:rPr lang="en-US" dirty="0"/>
              <a:t>example</a:t>
            </a:r>
            <a:r>
              <a:rPr lang="tr-TR" dirty="0"/>
              <a:t>:</a:t>
            </a:r>
            <a:r>
              <a:rPr lang="en-US" dirty="0"/>
              <a:t> Find b in the middle</a:t>
            </a:r>
          </a:p>
        </p:txBody>
      </p:sp>
      <p:grpSp>
        <p:nvGrpSpPr>
          <p:cNvPr id="8" name="Grup 7"/>
          <p:cNvGrpSpPr/>
          <p:nvPr/>
        </p:nvGrpSpPr>
        <p:grpSpPr>
          <a:xfrm>
            <a:off x="9976273" y="776711"/>
            <a:ext cx="2115660" cy="419100"/>
            <a:chOff x="7781074" y="1642272"/>
            <a:chExt cx="2115660" cy="419100"/>
          </a:xfrm>
        </p:grpSpPr>
        <p:pic>
          <p:nvPicPr>
            <p:cNvPr id="15" name="Resim 14"/>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8123973" y="1642272"/>
              <a:ext cx="1772761" cy="419100"/>
            </a:xfrm>
            <a:prstGeom prst="rect">
              <a:avLst/>
            </a:prstGeom>
          </p:spPr>
        </p:pic>
        <p:pic>
          <p:nvPicPr>
            <p:cNvPr id="12" name="Resim 11"/>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7781074" y="1642272"/>
              <a:ext cx="362802" cy="419100"/>
            </a:xfrm>
            <a:prstGeom prst="rect">
              <a:avLst/>
            </a:prstGeom>
          </p:spPr>
        </p:pic>
      </p:grpSp>
      <p:sp>
        <p:nvSpPr>
          <p:cNvPr id="13" name="İçerik Yer Tutucusu 2"/>
          <p:cNvSpPr>
            <a:spLocks noGrp="1"/>
          </p:cNvSpPr>
          <p:nvPr>
            <p:ph idx="1"/>
          </p:nvPr>
        </p:nvSpPr>
        <p:spPr>
          <a:xfrm>
            <a:off x="1914299" y="1352748"/>
            <a:ext cx="6267174" cy="5304726"/>
          </a:xfrm>
        </p:spPr>
        <p:txBody>
          <a:bodyPr>
            <a:normAutofit fontScale="62500" lnSpcReduction="20000"/>
          </a:bodyPr>
          <a:lstStyle/>
          <a:p>
            <a:pPr marL="0" lvl="0" indent="0">
              <a:buClr>
                <a:srgbClr val="D34817"/>
              </a:buClr>
              <a:buNone/>
              <a:tabLst>
                <a:tab pos="2514600" algn="l"/>
              </a:tabLst>
            </a:pPr>
            <a:r>
              <a:rPr lang="en-US" altLang="tr-TR" sz="3000" dirty="0" err="1">
                <a:solidFill>
                  <a:prstClr val="black">
                    <a:lumMod val="75000"/>
                    <a:lumOff val="25000"/>
                  </a:prstClr>
                </a:solidFill>
              </a:rPr>
              <a:t>qa</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a:t>
            </a:r>
            <a:r>
              <a:rPr lang="en-US" altLang="tr-TR" sz="3000" dirty="0">
                <a:solidFill>
                  <a:prstClr val="black">
                    <a:lumMod val="75000"/>
                    <a:lumOff val="25000"/>
                  </a:prstClr>
                </a:solidFill>
              </a:rPr>
              <a:t>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a:t>
            </a:r>
            <a:r>
              <a:rPr lang="en-US" altLang="tr-TR" sz="3000" dirty="0">
                <a:solidFill>
                  <a:prstClr val="black">
                    <a:lumMod val="75000"/>
                    <a:lumOff val="25000"/>
                  </a:prstClr>
                </a:solidFill>
              </a:rPr>
              <a:t>$</a:t>
            </a:r>
            <a:r>
              <a:rPr lang="en-US" sz="3000" dirty="0">
                <a:solidFill>
                  <a:prstClr val="black"/>
                </a:solidFill>
              </a:rPr>
              <a:t> 	</a:t>
            </a:r>
            <a:r>
              <a:rPr lang="en-US" altLang="tr-TR" sz="1900" dirty="0">
                <a:solidFill>
                  <a:prstClr val="black">
                    <a:lumMod val="75000"/>
                    <a:lumOff val="25000"/>
                  </a:prstClr>
                </a:solidFill>
              </a:rPr>
              <a:t>middle b</a:t>
            </a:r>
            <a:endParaRPr lang="en-US" sz="1900" dirty="0">
              <a:solidFill>
                <a:srgbClr val="FF0000"/>
              </a:solidFill>
            </a:endParaRPr>
          </a:p>
          <a:p>
            <a:pPr marL="0" lvl="0" indent="0">
              <a:buClr>
                <a:srgbClr val="D34817"/>
              </a:buClr>
              <a:buNone/>
              <a:tabLst>
                <a:tab pos="2514600" algn="l"/>
              </a:tabLst>
            </a:pPr>
            <a:r>
              <a:rPr lang="en-US" altLang="tr-TR" sz="3000" dirty="0" err="1">
                <a:solidFill>
                  <a:prstClr val="black">
                    <a:lumMod val="75000"/>
                    <a:lumOff val="25000"/>
                  </a:prstClr>
                </a:solidFill>
              </a:rPr>
              <a:t>qb</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a:t>
            </a:r>
            <a:r>
              <a:rPr lang="en-US" sz="3000" dirty="0">
                <a:solidFill>
                  <a:prstClr val="black"/>
                </a:solidFill>
              </a:rPr>
              <a:t> 	</a:t>
            </a:r>
            <a:r>
              <a:rPr lang="en-US" altLang="tr-TR" sz="1900" dirty="0">
                <a:solidFill>
                  <a:prstClr val="black">
                    <a:lumMod val="75000"/>
                    <a:lumOff val="25000"/>
                  </a:prstClr>
                </a:solidFill>
              </a:rPr>
              <a:t>remember</a:t>
            </a:r>
            <a:endParaRPr lang="en-US" sz="1900" dirty="0">
              <a:solidFill>
                <a:srgbClr val="FF0000"/>
              </a:solidFill>
            </a:endParaRPr>
          </a:p>
          <a:p>
            <a:pPr marL="0" lvl="0" indent="0">
              <a:buClr>
                <a:srgbClr val="D34817"/>
              </a:buClr>
              <a:buNone/>
              <a:tabLst>
                <a:tab pos="2514600" algn="l"/>
              </a:tabLst>
            </a:pPr>
            <a:r>
              <a:rPr lang="en-US" altLang="tr-TR" sz="3000" dirty="0">
                <a:solidFill>
                  <a:prstClr val="black">
                    <a:lumMod val="75000"/>
                    <a:lumOff val="25000"/>
                  </a:prstClr>
                </a:solidFill>
              </a:rPr>
              <a:t>q#$ → </a:t>
            </a:r>
            <a:r>
              <a:rPr lang="en-US" altLang="tr-TR" sz="3000" dirty="0" err="1">
                <a:solidFill>
                  <a:prstClr val="black">
                    <a:lumMod val="75000"/>
                    <a:lumOff val="25000"/>
                  </a:prstClr>
                </a:solidFill>
              </a:rPr>
              <a:t>qN</a:t>
            </a:r>
            <a:r>
              <a:rPr lang="en-US" altLang="tr-TR" sz="3000" dirty="0">
                <a:solidFill>
                  <a:prstClr val="black">
                    <a:lumMod val="75000"/>
                    <a:lumOff val="25000"/>
                  </a:prstClr>
                </a:solidFill>
              </a:rPr>
              <a:t>$</a:t>
            </a:r>
            <a:r>
              <a:rPr lang="en-US" sz="3000" dirty="0">
                <a:solidFill>
                  <a:prstClr val="black"/>
                </a:solidFill>
              </a:rPr>
              <a:t> 	</a:t>
            </a:r>
            <a:r>
              <a:rPr lang="en-US" sz="1900" dirty="0">
                <a:solidFill>
                  <a:srgbClr val="FF0000"/>
                </a:solidFill>
              </a:rPr>
              <a:t>reject without termination</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qaS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qRSS</a:t>
            </a:r>
            <a:r>
              <a:rPr lang="en-US" altLang="tr-TR" sz="3000" dirty="0">
                <a:solidFill>
                  <a:prstClr val="black">
                    <a:lumMod val="75000"/>
                    <a:lumOff val="25000"/>
                  </a:prstClr>
                </a:solidFill>
              </a:rPr>
              <a:t>	</a:t>
            </a:r>
            <a:r>
              <a:rPr lang="en-US" altLang="tr-TR" sz="1900" dirty="0">
                <a:solidFill>
                  <a:prstClr val="black">
                    <a:lumMod val="75000"/>
                    <a:lumOff val="25000"/>
                  </a:prstClr>
                </a:solidFill>
              </a:rPr>
              <a:t>remember</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a:t>
            </a:r>
            <a:r>
              <a:rPr lang="en-US" sz="3000" dirty="0">
                <a:solidFill>
                  <a:prstClr val="black"/>
                </a:solidFill>
              </a:rPr>
              <a:t> 	</a:t>
            </a:r>
            <a:r>
              <a:rPr lang="en-US" sz="1900" dirty="0">
                <a:solidFill>
                  <a:prstClr val="black"/>
                </a:solidFill>
              </a:rPr>
              <a:t>middle b</a:t>
            </a:r>
            <a:endParaRPr lang="en-US" altLang="tr-TR" sz="3000" dirty="0">
              <a:solidFill>
                <a:prstClr val="black"/>
              </a:solidFill>
            </a:endParaRPr>
          </a:p>
          <a:p>
            <a:pPr marL="0" indent="0">
              <a:buClr>
                <a:srgbClr val="D34817"/>
              </a:buClr>
              <a:buNone/>
              <a:tabLst>
                <a:tab pos="2514600" algn="l"/>
              </a:tabLst>
            </a:pPr>
            <a:r>
              <a:rPr lang="en-US" altLang="tr-TR" sz="3000" dirty="0" err="1">
                <a:solidFill>
                  <a:prstClr val="black">
                    <a:lumMod val="75000"/>
                    <a:lumOff val="25000"/>
                  </a:prstClr>
                </a:solidFill>
              </a:rPr>
              <a:t>qbS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qRSS</a:t>
            </a:r>
            <a:r>
              <a:rPr lang="en-US" sz="3000" dirty="0">
                <a:solidFill>
                  <a:prstClr val="black"/>
                </a:solidFill>
              </a:rPr>
              <a:t> 	</a:t>
            </a:r>
            <a:r>
              <a:rPr lang="en-US" altLang="tr-TR" sz="1900" dirty="0">
                <a:solidFill>
                  <a:prstClr val="black">
                    <a:lumMod val="75000"/>
                    <a:lumOff val="25000"/>
                  </a:prstClr>
                </a:solidFill>
              </a:rPr>
              <a:t>remember</a:t>
            </a:r>
            <a:endParaRPr lang="en-US" altLang="tr-TR" sz="3000" dirty="0">
              <a:solidFill>
                <a:prstClr val="black"/>
              </a:solidFill>
            </a:endParaRPr>
          </a:p>
          <a:p>
            <a:pPr marL="0" lvl="0" indent="0">
              <a:buClr>
                <a:srgbClr val="D34817"/>
              </a:buClr>
              <a:buNone/>
              <a:tabLst>
                <a:tab pos="2514600" algn="l"/>
              </a:tabLst>
            </a:pPr>
            <a:r>
              <a:rPr lang="en-US" altLang="tr-TR" sz="3000" dirty="0" err="1">
                <a:solidFill>
                  <a:prstClr val="black">
                    <a:lumMod val="75000"/>
                    <a:lumOff val="25000"/>
                  </a:prstClr>
                </a:solidFill>
              </a:rPr>
              <a:t>q#S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qNS</a:t>
            </a:r>
            <a:r>
              <a:rPr lang="en-US" sz="3000" dirty="0">
                <a:solidFill>
                  <a:prstClr val="black"/>
                </a:solidFill>
              </a:rPr>
              <a:t>	</a:t>
            </a:r>
            <a:r>
              <a:rPr lang="en-US" sz="1900" dirty="0">
                <a:solidFill>
                  <a:srgbClr val="FF0000"/>
                </a:solidFill>
              </a:rPr>
              <a:t>reject without termination</a:t>
            </a:r>
          </a:p>
          <a:p>
            <a:pPr marL="0" lvl="0" indent="0">
              <a:buClr>
                <a:srgbClr val="D34817"/>
              </a:buClr>
              <a:buNone/>
              <a:tabLst>
                <a:tab pos="2514600" algn="l"/>
              </a:tabLst>
            </a:pPr>
            <a:r>
              <a:rPr lang="en-US" altLang="tr-TR" sz="3000" dirty="0" err="1">
                <a:solidFill>
                  <a:prstClr val="black">
                    <a:lumMod val="75000"/>
                    <a:lumOff val="25000"/>
                  </a:prstClr>
                </a:solidFill>
              </a:rPr>
              <a:t>q'a</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a:t>
            </a:r>
            <a:r>
              <a:rPr lang="en-US" sz="3000" dirty="0" err="1">
                <a:solidFill>
                  <a:prstClr val="black"/>
                </a:solidFill>
              </a:rPr>
              <a:t>ε</a:t>
            </a:r>
            <a:r>
              <a:rPr lang="en-US" altLang="tr-TR" sz="3000" dirty="0">
                <a:solidFill>
                  <a:prstClr val="black">
                    <a:lumMod val="75000"/>
                    <a:lumOff val="25000"/>
                  </a:prstClr>
                </a:solidFill>
              </a:rPr>
              <a:t>	</a:t>
            </a:r>
            <a:r>
              <a:rPr lang="en-US" sz="1900" dirty="0">
                <a:solidFill>
                  <a:srgbClr val="FF0000"/>
                </a:solidFill>
              </a:rPr>
              <a:t>reject</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a:t>
            </a:r>
            <a:r>
              <a:rPr lang="en-US" sz="3000" dirty="0" err="1">
                <a:solidFill>
                  <a:prstClr val="black"/>
                </a:solidFill>
              </a:rPr>
              <a:t>ε</a:t>
            </a:r>
            <a:r>
              <a:rPr lang="en-US" sz="3000" dirty="0">
                <a:solidFill>
                  <a:prstClr val="black"/>
                </a:solidFill>
              </a:rPr>
              <a:t> 	</a:t>
            </a:r>
            <a:r>
              <a:rPr lang="en-US" sz="1900" dirty="0">
                <a:solidFill>
                  <a:srgbClr val="FF0000"/>
                </a:solidFill>
              </a:rPr>
              <a:t>reject</a:t>
            </a:r>
            <a:endParaRPr lang="en-US" altLang="tr-TR" sz="3000" dirty="0">
              <a:solidFill>
                <a:srgbClr val="FF0000"/>
              </a:solidFill>
            </a:endParaRPr>
          </a:p>
          <a:p>
            <a:pPr marL="0" lvl="0" indent="0">
              <a:buClr>
                <a:srgbClr val="D34817"/>
              </a:buClr>
              <a:buNone/>
              <a:tabLst>
                <a:tab pos="2514600" algn="l"/>
              </a:tabLst>
            </a:pPr>
            <a:r>
              <a:rPr lang="en-US" altLang="tr-TR" sz="3000" dirty="0">
                <a:solidFill>
                  <a:prstClr val="black">
                    <a:lumMod val="75000"/>
                    <a:lumOff val="25000"/>
                  </a:prstClr>
                </a:solidFill>
              </a:rPr>
              <a:t>q'#$ → </a:t>
            </a:r>
            <a:r>
              <a:rPr lang="en-US" altLang="tr-TR" sz="3000" dirty="0" err="1">
                <a:solidFill>
                  <a:prstClr val="black">
                    <a:lumMod val="75000"/>
                    <a:lumOff val="25000"/>
                  </a:prstClr>
                </a:solidFill>
              </a:rPr>
              <a:t>q'N</a:t>
            </a:r>
            <a:r>
              <a:rPr lang="en-US" sz="3000" dirty="0" err="1">
                <a:solidFill>
                  <a:prstClr val="black"/>
                </a:solidFill>
              </a:rPr>
              <a:t>ε</a:t>
            </a:r>
            <a:r>
              <a:rPr lang="en-US" sz="3000" dirty="0">
                <a:solidFill>
                  <a:prstClr val="black"/>
                </a:solidFill>
              </a:rPr>
              <a:t> 	</a:t>
            </a:r>
            <a:r>
              <a:rPr lang="en-US" sz="1900" dirty="0">
                <a:solidFill>
                  <a:srgbClr val="00B050"/>
                </a:solidFill>
              </a:rPr>
              <a:t>accept</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q'aS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a:t>
            </a:r>
            <a:r>
              <a:rPr lang="en-US" sz="3000" dirty="0" err="1">
                <a:solidFill>
                  <a:prstClr val="black"/>
                </a:solidFill>
              </a:rPr>
              <a:t>ε</a:t>
            </a:r>
            <a:r>
              <a:rPr lang="en-US" altLang="tr-TR" sz="3000" dirty="0">
                <a:solidFill>
                  <a:prstClr val="black">
                    <a:lumMod val="75000"/>
                    <a:lumOff val="25000"/>
                  </a:prstClr>
                </a:solidFill>
              </a:rPr>
              <a:t>	</a:t>
            </a:r>
            <a:r>
              <a:rPr lang="en-US" sz="1900" dirty="0">
                <a:solidFill>
                  <a:prstClr val="black"/>
                </a:solidFill>
              </a:rPr>
              <a:t>forget</a:t>
            </a:r>
            <a:endParaRPr lang="en-US" altLang="tr-TR" sz="3000" dirty="0">
              <a:solidFill>
                <a:prstClr val="black">
                  <a:lumMod val="75000"/>
                  <a:lumOff val="25000"/>
                </a:prstClr>
              </a:solidFill>
            </a:endParaRPr>
          </a:p>
          <a:p>
            <a:pPr marL="0" lvl="0" indent="0">
              <a:buClr>
                <a:srgbClr val="D34817"/>
              </a:buClr>
              <a:buNone/>
              <a:tabLst>
                <a:tab pos="2514600" algn="l"/>
              </a:tabLst>
            </a:pPr>
            <a:r>
              <a:rPr lang="en-US" altLang="tr-TR" sz="3000" dirty="0" err="1">
                <a:solidFill>
                  <a:prstClr val="black">
                    <a:lumMod val="75000"/>
                    <a:lumOff val="25000"/>
                  </a:prstClr>
                </a:solidFill>
              </a:rPr>
              <a:t>q'bS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q'R</a:t>
            </a:r>
            <a:r>
              <a:rPr lang="en-US" sz="3000" dirty="0" err="1">
                <a:solidFill>
                  <a:prstClr val="black"/>
                </a:solidFill>
              </a:rPr>
              <a:t>ε</a:t>
            </a:r>
            <a:r>
              <a:rPr lang="en-US" sz="3000" dirty="0">
                <a:solidFill>
                  <a:prstClr val="black"/>
                </a:solidFill>
              </a:rPr>
              <a:t> 	</a:t>
            </a:r>
            <a:r>
              <a:rPr lang="en-US" sz="1900" dirty="0">
                <a:solidFill>
                  <a:prstClr val="black"/>
                </a:solidFill>
              </a:rPr>
              <a:t>forget</a:t>
            </a:r>
            <a:endParaRPr lang="en-US" altLang="tr-TR" sz="3000" dirty="0">
              <a:solidFill>
                <a:prstClr val="black"/>
              </a:solidFill>
            </a:endParaRPr>
          </a:p>
          <a:p>
            <a:pPr marL="0" lvl="0" indent="0">
              <a:buClr>
                <a:srgbClr val="D34817"/>
              </a:buClr>
              <a:buNone/>
              <a:tabLst>
                <a:tab pos="2514600" algn="l"/>
              </a:tabLst>
            </a:pPr>
            <a:r>
              <a:rPr lang="en-US" altLang="tr-TR" sz="3000" dirty="0" err="1">
                <a:solidFill>
                  <a:prstClr val="black">
                    <a:lumMod val="75000"/>
                    <a:lumOff val="25000"/>
                  </a:prstClr>
                </a:solidFill>
              </a:rPr>
              <a:t>q'#S</a:t>
            </a:r>
            <a:r>
              <a:rPr lang="en-US" altLang="tr-TR" sz="3000" dirty="0">
                <a:solidFill>
                  <a:prstClr val="black">
                    <a:lumMod val="75000"/>
                    <a:lumOff val="25000"/>
                  </a:prstClr>
                </a:solidFill>
              </a:rPr>
              <a:t> → </a:t>
            </a:r>
            <a:r>
              <a:rPr lang="en-US" altLang="tr-TR" sz="3000" dirty="0" err="1">
                <a:solidFill>
                  <a:prstClr val="black">
                    <a:lumMod val="75000"/>
                    <a:lumOff val="25000"/>
                  </a:prstClr>
                </a:solidFill>
              </a:rPr>
              <a:t>q'NS</a:t>
            </a:r>
            <a:r>
              <a:rPr lang="en-US" sz="3000" dirty="0">
                <a:solidFill>
                  <a:prstClr val="black"/>
                </a:solidFill>
              </a:rPr>
              <a:t>	</a:t>
            </a:r>
            <a:r>
              <a:rPr lang="en-US" sz="1900" dirty="0">
                <a:solidFill>
                  <a:srgbClr val="FF0000"/>
                </a:solidFill>
              </a:rPr>
              <a:t>reject without termination</a:t>
            </a:r>
            <a:endParaRPr lang="en-US" altLang="tr-TR" sz="3000" dirty="0">
              <a:solidFill>
                <a:srgbClr val="FF0000"/>
              </a:solidFill>
            </a:endParaRPr>
          </a:p>
        </p:txBody>
      </p:sp>
      <p:sp>
        <p:nvSpPr>
          <p:cNvPr id="5" name="Dikdörtgen 4"/>
          <p:cNvSpPr/>
          <p:nvPr/>
        </p:nvSpPr>
        <p:spPr>
          <a:xfrm>
            <a:off x="1914299" y="3090920"/>
            <a:ext cx="4775259" cy="764044"/>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Dikdörtgen 13"/>
          <p:cNvSpPr/>
          <p:nvPr/>
        </p:nvSpPr>
        <p:spPr>
          <a:xfrm>
            <a:off x="1914299" y="1652546"/>
            <a:ext cx="4775259" cy="764044"/>
          </a:xfrm>
          <a:prstGeom prst="rect">
            <a:avLst/>
          </a:prstGeom>
          <a:noFill/>
          <a:ln w="2857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Dikdörtgen 17"/>
          <p:cNvSpPr/>
          <p:nvPr/>
        </p:nvSpPr>
        <p:spPr>
          <a:xfrm>
            <a:off x="7717471" y="1560130"/>
            <a:ext cx="4022255" cy="646331"/>
          </a:xfrm>
          <a:prstGeom prst="rect">
            <a:avLst/>
          </a:prstGeom>
        </p:spPr>
        <p:txBody>
          <a:bodyPr wrap="none">
            <a:spAutoFit/>
          </a:bodyPr>
          <a:lstStyle/>
          <a:p>
            <a:r>
              <a:rPr lang="en-US" dirty="0"/>
              <a:t>q: the state before b in the middle</a:t>
            </a:r>
          </a:p>
          <a:p>
            <a:r>
              <a:rPr lang="en-US" dirty="0"/>
              <a:t>q': the state after b in the middle</a:t>
            </a:r>
          </a:p>
        </p:txBody>
      </p:sp>
      <p:pic>
        <p:nvPicPr>
          <p:cNvPr id="3" name="Picture 2">
            <a:extLst>
              <a:ext uri="{FF2B5EF4-FFF2-40B4-BE49-F238E27FC236}">
                <a16:creationId xmlns:a16="http://schemas.microsoft.com/office/drawing/2014/main" id="{2E55FF23-2D94-9938-7910-61987AB28441}"/>
              </a:ext>
            </a:extLst>
          </p:cNvPr>
          <p:cNvPicPr>
            <a:picLocks noChangeAspect="1"/>
          </p:cNvPicPr>
          <p:nvPr/>
        </p:nvPicPr>
        <p:blipFill>
          <a:blip r:embed="rId5"/>
          <a:srcRect l="7960" t="24096" r="60100" b="50000"/>
          <a:stretch/>
        </p:blipFill>
        <p:spPr>
          <a:xfrm>
            <a:off x="7717471" y="2607547"/>
            <a:ext cx="3803099" cy="2313217"/>
          </a:xfrm>
          <a:prstGeom prst="rect">
            <a:avLst/>
          </a:prstGeom>
        </p:spPr>
      </p:pic>
      <p:sp>
        <p:nvSpPr>
          <p:cNvPr id="2" name="Oval 1">
            <a:extLst>
              <a:ext uri="{FF2B5EF4-FFF2-40B4-BE49-F238E27FC236}">
                <a16:creationId xmlns:a16="http://schemas.microsoft.com/office/drawing/2014/main" id="{6DBE91FD-0AB0-783C-5DE6-5E14C6B78BF2}"/>
              </a:ext>
            </a:extLst>
          </p:cNvPr>
          <p:cNvSpPr/>
          <p:nvPr/>
        </p:nvSpPr>
        <p:spPr>
          <a:xfrm>
            <a:off x="10644668" y="660817"/>
            <a:ext cx="395785" cy="646331"/>
          </a:xfrm>
          <a:prstGeom prst="ellipse">
            <a:avLst/>
          </a:prstGeom>
          <a:noFill/>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Tree>
    <p:extLst>
      <p:ext uri="{BB962C8B-B14F-4D97-AF65-F5344CB8AC3E}">
        <p14:creationId xmlns:p14="http://schemas.microsoft.com/office/powerpoint/2010/main" val="564286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Unvan 5"/>
          <p:cNvSpPr txBox="1">
            <a:spLocks/>
          </p:cNvSpPr>
          <p:nvPr/>
        </p:nvSpPr>
        <p:spPr>
          <a:xfrm>
            <a:off x="1593459" y="624110"/>
            <a:ext cx="10344541"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Equivalence of PDA and CFG</a:t>
            </a:r>
          </a:p>
        </p:txBody>
      </p:sp>
      <p:sp>
        <p:nvSpPr>
          <p:cNvPr id="19" name="İçerik Yer Tutucusu 2"/>
          <p:cNvSpPr txBox="1">
            <a:spLocks/>
          </p:cNvSpPr>
          <p:nvPr/>
        </p:nvSpPr>
        <p:spPr>
          <a:xfrm>
            <a:off x="1717221" y="1354364"/>
            <a:ext cx="9884229" cy="485593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800" b="1" dirty="0"/>
              <a:t>Theorem:</a:t>
            </a:r>
            <a:r>
              <a:rPr lang="en-US" sz="2800" dirty="0"/>
              <a:t> Let Σ be an alphabet and A ⊆ Σ* be a language. Then A is CFG if and only if there exists a </a:t>
            </a:r>
            <a:r>
              <a:rPr lang="en-US" sz="2800" u="sng" dirty="0"/>
              <a:t>nondeterministic PDA </a:t>
            </a:r>
            <a:r>
              <a:rPr lang="en-US" sz="2800" dirty="0"/>
              <a:t>that accepts A. </a:t>
            </a:r>
            <a:endParaRPr lang="tr-TR" sz="2800" dirty="0"/>
          </a:p>
          <a:p>
            <a:pPr marL="0" indent="0">
              <a:buNone/>
            </a:pPr>
            <a:endParaRPr lang="en-US" sz="2800" dirty="0"/>
          </a:p>
          <a:p>
            <a:pPr marL="361950" indent="-361950">
              <a:lnSpc>
                <a:spcPct val="150000"/>
              </a:lnSpc>
              <a:buFont typeface="+mj-lt"/>
              <a:buAutoNum type="arabicPeriod"/>
            </a:pPr>
            <a:r>
              <a:rPr lang="en-US" sz="2800" dirty="0">
                <a:solidFill>
                  <a:schemeClr val="tx1"/>
                </a:solidFill>
              </a:rPr>
              <a:t>Each </a:t>
            </a:r>
            <a:r>
              <a:rPr lang="en-US" sz="2800" b="1" dirty="0">
                <a:solidFill>
                  <a:schemeClr val="tx1"/>
                </a:solidFill>
              </a:rPr>
              <a:t>A → </a:t>
            </a:r>
            <a:r>
              <a:rPr lang="en-US" sz="2800" b="1" dirty="0"/>
              <a:t>BC </a:t>
            </a:r>
            <a:r>
              <a:rPr lang="en-US" sz="2800" dirty="0"/>
              <a:t>rule transforms </a:t>
            </a:r>
            <a:r>
              <a:rPr lang="en-US" sz="2800" b="1" dirty="0" err="1"/>
              <a:t>qaA</a:t>
            </a:r>
            <a:r>
              <a:rPr lang="en-US" sz="2800" b="1" dirty="0"/>
              <a:t> → </a:t>
            </a:r>
            <a:r>
              <a:rPr lang="en-US" sz="2800" b="1" dirty="0" err="1"/>
              <a:t>qNCB</a:t>
            </a:r>
            <a:r>
              <a:rPr lang="en-US" sz="2800" dirty="0"/>
              <a:t>, for all a ∈ Σ</a:t>
            </a:r>
          </a:p>
          <a:p>
            <a:pPr marL="361950" indent="-361950">
              <a:lnSpc>
                <a:spcPct val="150000"/>
              </a:lnSpc>
              <a:buFont typeface="+mj-lt"/>
              <a:buAutoNum type="arabicPeriod"/>
            </a:pPr>
            <a:r>
              <a:rPr lang="en-US" sz="2800" dirty="0">
                <a:solidFill>
                  <a:schemeClr val="tx1"/>
                </a:solidFill>
              </a:rPr>
              <a:t>Each </a:t>
            </a:r>
            <a:r>
              <a:rPr lang="en-US" sz="2800" b="1" dirty="0">
                <a:solidFill>
                  <a:schemeClr val="tx1"/>
                </a:solidFill>
              </a:rPr>
              <a:t>A → a</a:t>
            </a:r>
            <a:r>
              <a:rPr lang="en-US" sz="2800" b="1" dirty="0"/>
              <a:t> </a:t>
            </a:r>
            <a:r>
              <a:rPr lang="en-US" sz="2800" dirty="0"/>
              <a:t>rule transforms </a:t>
            </a:r>
            <a:r>
              <a:rPr lang="en-US" sz="2800" b="1" dirty="0" err="1"/>
              <a:t>qaA</a:t>
            </a:r>
            <a:r>
              <a:rPr lang="en-US" sz="2800" b="1" dirty="0"/>
              <a:t> → </a:t>
            </a:r>
            <a:r>
              <a:rPr lang="en-US" sz="2800" b="1" dirty="0" err="1"/>
              <a:t>qR</a:t>
            </a:r>
            <a:r>
              <a:rPr lang="en-US" sz="2800" b="1" dirty="0" err="1">
                <a:solidFill>
                  <a:schemeClr val="tx1"/>
                </a:solidFill>
              </a:rPr>
              <a:t>ε</a:t>
            </a:r>
            <a:endParaRPr lang="en-US" sz="2800" b="1" dirty="0"/>
          </a:p>
          <a:p>
            <a:pPr marL="361950" indent="-361950">
              <a:lnSpc>
                <a:spcPct val="150000"/>
              </a:lnSpc>
              <a:buFont typeface="+mj-lt"/>
              <a:buAutoNum type="arabicPeriod"/>
            </a:pPr>
            <a:r>
              <a:rPr lang="en-US" sz="2800" dirty="0">
                <a:solidFill>
                  <a:schemeClr val="tx1"/>
                </a:solidFill>
              </a:rPr>
              <a:t>Each </a:t>
            </a:r>
            <a:r>
              <a:rPr lang="en-US" sz="2800" b="1" dirty="0">
                <a:solidFill>
                  <a:schemeClr val="tx1"/>
                </a:solidFill>
              </a:rPr>
              <a:t>$ → ε</a:t>
            </a:r>
            <a:r>
              <a:rPr lang="en-US" sz="2800" b="1" dirty="0"/>
              <a:t> </a:t>
            </a:r>
            <a:r>
              <a:rPr lang="en-US" sz="2800" dirty="0"/>
              <a:t>rule transforms </a:t>
            </a:r>
            <a:r>
              <a:rPr lang="en-US" sz="2800" b="1" dirty="0"/>
              <a:t>q#$ → </a:t>
            </a:r>
            <a:r>
              <a:rPr lang="en-US" sz="2800" b="1" dirty="0" err="1"/>
              <a:t>qN</a:t>
            </a:r>
            <a:r>
              <a:rPr lang="en-US" sz="2800" b="1" dirty="0" err="1">
                <a:solidFill>
                  <a:schemeClr val="tx1"/>
                </a:solidFill>
              </a:rPr>
              <a:t>ε</a:t>
            </a:r>
            <a:endParaRPr lang="en-US" sz="2800" b="1" dirty="0"/>
          </a:p>
        </p:txBody>
      </p:sp>
    </p:spTree>
    <p:extLst>
      <p:ext uri="{BB962C8B-B14F-4D97-AF65-F5344CB8AC3E}">
        <p14:creationId xmlns:p14="http://schemas.microsoft.com/office/powerpoint/2010/main" val="42607083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p:txBody>
          <a:bodyPr>
            <a:normAutofit/>
          </a:bodyPr>
          <a:lstStyle/>
          <a:p>
            <a:endParaRPr lang="en-US" sz="2800"/>
          </a:p>
          <a:p>
            <a:r>
              <a:rPr lang="en-US" sz="2800"/>
              <a:t>That’s all.</a:t>
            </a:r>
          </a:p>
          <a:p>
            <a:endParaRPr lang="en-US" sz="2800"/>
          </a:p>
          <a:p>
            <a:r>
              <a:rPr lang="en-US" altLang="tr-TR" sz="2800"/>
              <a:t>Thanks for listening.</a:t>
            </a:r>
          </a:p>
        </p:txBody>
      </p:sp>
    </p:spTree>
    <p:extLst>
      <p:ext uri="{BB962C8B-B14F-4D97-AF65-F5344CB8AC3E}">
        <p14:creationId xmlns:p14="http://schemas.microsoft.com/office/powerpoint/2010/main" val="999634771"/>
      </p:ext>
    </p:extLst>
  </p:cSld>
  <p:clrMapOvr>
    <a:masterClrMapping/>
  </p:clrMapOvr>
</p:sld>
</file>

<file path=ppt/theme/theme1.xml><?xml version="1.0" encoding="utf-8"?>
<a:theme xmlns:a="http://schemas.openxmlformats.org/drawingml/2006/main" name="Duman">
  <a:themeElements>
    <a:clrScheme name="Turuncu Kırmızı">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Duma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uma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3131</TotalTime>
  <Words>2950</Words>
  <Application>Microsoft Macintosh PowerPoint</Application>
  <PresentationFormat>Geniş ekran</PresentationFormat>
  <Paragraphs>256</Paragraphs>
  <Slides>26</Slides>
  <Notes>26</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26</vt:i4>
      </vt:variant>
    </vt:vector>
  </HeadingPairs>
  <TitlesOfParts>
    <vt:vector size="31" baseType="lpstr">
      <vt:lpstr>Arial</vt:lpstr>
      <vt:lpstr>Calibri</vt:lpstr>
      <vt:lpstr>Century Gothic</vt:lpstr>
      <vt:lpstr>Wingdings 3</vt:lpstr>
      <vt:lpstr>Duman</vt:lpstr>
      <vt:lpstr> Theory of Computation  Lesson 9</vt:lpstr>
      <vt:lpstr>Push Down Automata</vt:lpstr>
      <vt:lpstr>Push Down Automata</vt:lpstr>
      <vt:lpstr>Push Down Automata</vt:lpstr>
      <vt:lpstr>Push Down Automata</vt:lpstr>
      <vt:lpstr>Push Down Automata</vt:lpstr>
      <vt:lpstr>Push Down Automata</vt:lpstr>
      <vt:lpstr>Formal Definition</vt:lpstr>
      <vt:lpstr>A Sample Delta Rule</vt:lpstr>
      <vt:lpstr>A Sample Delta Rule</vt:lpstr>
      <vt:lpstr>A Sample Delta Rule</vt:lpstr>
      <vt:lpstr>A Sample Delta Rule</vt:lpstr>
      <vt:lpstr>A Sample Delta Rule</vt:lpstr>
      <vt:lpstr>Execution of PDA</vt:lpstr>
      <vt:lpstr>Execution of PDA</vt:lpstr>
      <vt:lpstr>Execution of PDA</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Theory of Computation</dc:title>
  <dc:creator>Prof.Dr. Umut ORHAN</dc:creator>
  <cp:lastModifiedBy>Prof.Dr. Umut ORHAN</cp:lastModifiedBy>
  <cp:revision>222</cp:revision>
  <dcterms:created xsi:type="dcterms:W3CDTF">2022-09-29T06:50:07Z</dcterms:created>
  <dcterms:modified xsi:type="dcterms:W3CDTF">2025-11-21T06:57:12Z</dcterms:modified>
</cp:coreProperties>
</file>