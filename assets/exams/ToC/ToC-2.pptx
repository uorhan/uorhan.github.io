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14"/>
  </p:notesMasterIdLst>
  <p:sldIdLst>
    <p:sldId id="288" r:id="rId2"/>
    <p:sldId id="289" r:id="rId3"/>
    <p:sldId id="290" r:id="rId4"/>
    <p:sldId id="291" r:id="rId5"/>
    <p:sldId id="294" r:id="rId6"/>
    <p:sldId id="295" r:id="rId7"/>
    <p:sldId id="296" r:id="rId8"/>
    <p:sldId id="297" r:id="rId9"/>
    <p:sldId id="298" r:id="rId10"/>
    <p:sldId id="299" r:id="rId11"/>
    <p:sldId id="300" r:id="rId12"/>
    <p:sldId id="30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85" autoAdjust="0"/>
    <p:restoredTop sz="95801" autoAdjust="0"/>
  </p:normalViewPr>
  <p:slideViewPr>
    <p:cSldViewPr snapToGrid="0">
      <p:cViewPr varScale="1">
        <p:scale>
          <a:sx n="102" d="100"/>
          <a:sy n="102" d="100"/>
        </p:scale>
        <p:origin x="1304" y="176"/>
      </p:cViewPr>
      <p:guideLst>
        <p:guide orient="horz" pos="2160"/>
        <p:guide pos="3840"/>
      </p:guideLst>
    </p:cSldViewPr>
  </p:slideViewPr>
  <p:outlineViewPr>
    <p:cViewPr>
      <p:scale>
        <a:sx n="33" d="100"/>
        <a:sy n="33" d="100"/>
      </p:scale>
      <p:origin x="0" y="-408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DDE67-59A0-3C4A-890A-468253F431D6}" type="datetimeFigureOut">
              <a:rPr lang="tr-TR" smtClean="0"/>
              <a:t>21.11.2025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49F921-94E2-2146-8BC6-089D7989E1CD}" type="slidenum">
              <a:rPr lang="tr-TR" smtClean="0"/>
              <a:t>‹#›</a:t>
            </a:fld>
            <a:endParaRPr lang="tr-TR"/>
          </a:p>
        </p:txBody>
      </p:sp>
    </p:spTree>
    <p:extLst>
      <p:ext uri="{BB962C8B-B14F-4D97-AF65-F5344CB8AC3E}">
        <p14:creationId xmlns:p14="http://schemas.microsoft.com/office/powerpoint/2010/main" val="403187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the second lesson of Theory of </a:t>
            </a:r>
            <a:r>
              <a:rPr lang="en-US" noProof="0" dirty="0"/>
              <a:t>Computation. We will go on with Non-Deterministic Finite State Automata. Let’s start </a:t>
            </a:r>
            <a:r>
              <a:rPr lang="en-US" dirty="0"/>
              <a:t>to lesson.</a:t>
            </a:r>
          </a:p>
          <a:p>
            <a:endParaRPr lang="tr-TR"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1</a:t>
            </a:fld>
            <a:endParaRPr lang="tr-TR"/>
          </a:p>
        </p:txBody>
      </p:sp>
    </p:spTree>
    <p:extLst>
      <p:ext uri="{BB962C8B-B14F-4D97-AF65-F5344CB8AC3E}">
        <p14:creationId xmlns:p14="http://schemas.microsoft.com/office/powerpoint/2010/main" val="2892103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Why we need Non-Deterministic Automata</a:t>
            </a:r>
            <a:r>
              <a:rPr lang="tr-TR" dirty="0"/>
              <a:t>?</a:t>
            </a:r>
            <a:endParaRPr lang="tr-TR" sz="1200" dirty="0"/>
          </a:p>
          <a:p>
            <a:r>
              <a:rPr lang="en-US" sz="1200" dirty="0"/>
              <a:t>Non-deterministic finite automata focus on how they accept the inputs. For this reason, Non-deterministic finite automata are smaller and easier to construct than deterministic finite automata.</a:t>
            </a:r>
          </a:p>
          <a:p>
            <a:r>
              <a:rPr lang="en-US" sz="1200" dirty="0"/>
              <a:t>Non-deterministic finite automata are used for humans, deterministic finite automata  are prepared for machines.</a:t>
            </a:r>
          </a:p>
          <a:p>
            <a:r>
              <a:rPr lang="en-US" sz="1200" dirty="0"/>
              <a:t>Besides, they are equivalent to each other. Thus, we can solve especially difficult problems in Non-deterministic finite automata, then convert into deterministic finite automata.</a:t>
            </a:r>
          </a:p>
        </p:txBody>
      </p:sp>
      <p:sp>
        <p:nvSpPr>
          <p:cNvPr id="4" name="Slayt Numarası Yer Tutucusu 3"/>
          <p:cNvSpPr>
            <a:spLocks noGrp="1"/>
          </p:cNvSpPr>
          <p:nvPr>
            <p:ph type="sldNum" sz="quarter" idx="5"/>
          </p:nvPr>
        </p:nvSpPr>
        <p:spPr/>
        <p:txBody>
          <a:bodyPr/>
          <a:lstStyle/>
          <a:p>
            <a:fld id="{6049F921-94E2-2146-8BC6-089D7989E1CD}" type="slidenum">
              <a:rPr lang="tr-TR" smtClean="0"/>
              <a:t>2</a:t>
            </a:fld>
            <a:endParaRPr lang="tr-TR"/>
          </a:p>
        </p:txBody>
      </p:sp>
    </p:spTree>
    <p:extLst>
      <p:ext uri="{BB962C8B-B14F-4D97-AF65-F5344CB8AC3E}">
        <p14:creationId xmlns:p14="http://schemas.microsoft.com/office/powerpoint/2010/main" val="3013543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There are 3 types of uncertainty to use in NFA:</a:t>
            </a:r>
          </a:p>
          <a:p>
            <a:r>
              <a:rPr lang="en-US" dirty="0"/>
              <a:t>The first one is Additional out-goings edges,</a:t>
            </a:r>
          </a:p>
          <a:p>
            <a:r>
              <a:rPr lang="en-US" dirty="0"/>
              <a:t>The second one is Undefined out-going edges,</a:t>
            </a:r>
          </a:p>
          <a:p>
            <a:r>
              <a:rPr lang="en-US" dirty="0"/>
              <a:t>And the last one is Arbitrarily out-going edges.</a:t>
            </a:r>
          </a:p>
          <a:p>
            <a:r>
              <a:rPr lang="en-US" dirty="0"/>
              <a:t>You can see all of these uncertainties at following transition diagram. For example, look at Q-one state. There are two different outgoing edges for input symbol 1. So, when the user enter a one symbol, the system can not find which one it must chose.</a:t>
            </a:r>
          </a:p>
          <a:p>
            <a:endParaRPr lang="en-US" dirty="0"/>
          </a:p>
          <a:p>
            <a:r>
              <a:rPr lang="en-US" dirty="0"/>
              <a:t>To see the second kind of uncertainty, look at q-two state. There is no definition for symbol 1. If the user enter a one at there, the system cannot find any choice.</a:t>
            </a:r>
          </a:p>
          <a:p>
            <a:endParaRPr lang="en-US" dirty="0"/>
          </a:p>
          <a:p>
            <a:r>
              <a:rPr lang="en-US" dirty="0"/>
              <a:t>And, when you look at the transition between q-two and q-three, you will see an arbitrary transition epsilon. Epsilon means that the system can pass to q-three any time from q-two.</a:t>
            </a:r>
            <a:endParaRPr lang="tr-TR"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3</a:t>
            </a:fld>
            <a:endParaRPr lang="tr-TR"/>
          </a:p>
        </p:txBody>
      </p:sp>
    </p:spTree>
    <p:extLst>
      <p:ext uri="{BB962C8B-B14F-4D97-AF65-F5344CB8AC3E}">
        <p14:creationId xmlns:p14="http://schemas.microsoft.com/office/powerpoint/2010/main" val="520687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800" dirty="0" err="1">
                <a:effectLst/>
                <a:latin typeface="CMR12"/>
              </a:rPr>
              <a:t>We</a:t>
            </a:r>
            <a:r>
              <a:rPr lang="tr-TR" sz="1800" dirty="0">
                <a:effectLst/>
                <a:latin typeface="CMR12"/>
              </a:rPr>
              <a:t> </a:t>
            </a:r>
            <a:r>
              <a:rPr lang="tr-TR" sz="1800" dirty="0" err="1">
                <a:effectLst/>
                <a:latin typeface="CMR12"/>
              </a:rPr>
              <a:t>now</a:t>
            </a:r>
            <a:r>
              <a:rPr lang="tr-TR" sz="1800" dirty="0">
                <a:effectLst/>
                <a:latin typeface="CMR12"/>
              </a:rPr>
              <a:t> </a:t>
            </a:r>
            <a:r>
              <a:rPr lang="tr-TR" sz="1800" dirty="0" err="1">
                <a:effectLst/>
                <a:latin typeface="CMR12"/>
              </a:rPr>
              <a:t>come</a:t>
            </a:r>
            <a:r>
              <a:rPr lang="tr-TR" sz="1800" dirty="0">
                <a:effectLst/>
                <a:latin typeface="CMR12"/>
              </a:rPr>
              <a:t> </a:t>
            </a:r>
            <a:r>
              <a:rPr lang="tr-TR" sz="1800" dirty="0" err="1">
                <a:effectLst/>
                <a:latin typeface="CMR12"/>
              </a:rPr>
              <a:t>to</a:t>
            </a:r>
            <a:r>
              <a:rPr lang="tr-TR" sz="1800" dirty="0">
                <a:effectLst/>
                <a:latin typeface="CMR12"/>
              </a:rPr>
              <a:t> </a:t>
            </a:r>
            <a:r>
              <a:rPr lang="tr-TR" sz="1800" dirty="0" err="1">
                <a:effectLst/>
                <a:latin typeface="CMR12"/>
              </a:rPr>
              <a:t>the</a:t>
            </a:r>
            <a:r>
              <a:rPr lang="tr-TR" sz="1800" dirty="0">
                <a:effectLst/>
                <a:latin typeface="CMR12"/>
              </a:rPr>
              <a:t> </a:t>
            </a:r>
            <a:r>
              <a:rPr lang="tr-TR" sz="1800" dirty="0" err="1">
                <a:effectLst/>
                <a:latin typeface="CMR12"/>
              </a:rPr>
              <a:t>formal</a:t>
            </a:r>
            <a:r>
              <a:rPr lang="tr-TR" sz="1800" dirty="0">
                <a:effectLst/>
                <a:latin typeface="CMR12"/>
              </a:rPr>
              <a:t> </a:t>
            </a:r>
            <a:r>
              <a:rPr lang="tr-TR" sz="1800" dirty="0" err="1">
                <a:effectLst/>
                <a:latin typeface="CMR12"/>
              </a:rPr>
              <a:t>definition</a:t>
            </a:r>
            <a:r>
              <a:rPr lang="tr-TR" sz="1800" dirty="0">
                <a:effectLst/>
                <a:latin typeface="CMR12"/>
              </a:rPr>
              <a:t> of a </a:t>
            </a:r>
            <a:r>
              <a:rPr lang="tr-TR" sz="1800" dirty="0" err="1">
                <a:effectLst/>
                <a:latin typeface="CMR12"/>
              </a:rPr>
              <a:t>non-deterministic</a:t>
            </a:r>
            <a:r>
              <a:rPr lang="tr-TR" sz="1800" dirty="0">
                <a:effectLst/>
                <a:latin typeface="CMR12"/>
              </a:rPr>
              <a:t> </a:t>
            </a:r>
            <a:r>
              <a:rPr lang="tr-TR" sz="1800" dirty="0" err="1">
                <a:effectLst/>
                <a:latin typeface="CMR12"/>
              </a:rPr>
              <a:t>finite</a:t>
            </a:r>
            <a:r>
              <a:rPr lang="tr-TR" sz="1800" dirty="0">
                <a:effectLst/>
                <a:latin typeface="CMR12"/>
              </a:rPr>
              <a:t> </a:t>
            </a:r>
            <a:r>
              <a:rPr lang="tr-TR" sz="1800" dirty="0" err="1">
                <a:effectLst/>
                <a:latin typeface="CMR12"/>
              </a:rPr>
              <a:t>automaton</a:t>
            </a:r>
            <a:r>
              <a:rPr lang="tr-TR" sz="1800" dirty="0">
                <a:effectLst/>
                <a:latin typeface="CMR12"/>
              </a:rPr>
              <a:t>: </a:t>
            </a:r>
          </a:p>
          <a:p>
            <a:endParaRPr lang="tr-TR" sz="1800" dirty="0">
              <a:effectLst/>
              <a:latin typeface="CMR12"/>
            </a:endParaRPr>
          </a:p>
          <a:p>
            <a:r>
              <a:rPr lang="en-US" sz="1200" b="0" i="0" u="none" strike="noStrike" kern="1200" baseline="0" dirty="0">
                <a:solidFill>
                  <a:schemeClr val="tx1"/>
                </a:solidFill>
                <a:latin typeface="+mn-lt"/>
                <a:ea typeface="+mn-ea"/>
                <a:cs typeface="+mn-cs"/>
              </a:rPr>
              <a:t>Definition 2.4.1 A nondeterministic finite automaton is a 5-tuple</a:t>
            </a:r>
          </a:p>
          <a:p>
            <a:r>
              <a:rPr lang="en-US" sz="1200" b="0" i="0" u="none" strike="noStrike" kern="1200" baseline="0" dirty="0">
                <a:solidFill>
                  <a:schemeClr val="tx1"/>
                </a:solidFill>
                <a:latin typeface="+mn-lt"/>
                <a:ea typeface="+mn-ea"/>
                <a:cs typeface="+mn-cs"/>
              </a:rPr>
              <a:t>M = (</a:t>
            </a:r>
            <a:r>
              <a:rPr lang="tr-TR" sz="1200" dirty="0" err="1">
                <a:effectLst/>
                <a:latin typeface="CMR12"/>
              </a:rPr>
              <a:t>Capital</a:t>
            </a:r>
            <a:r>
              <a:rPr lang="tr-TR" sz="1200" dirty="0">
                <a:effectLst/>
                <a:latin typeface="CMR12"/>
              </a:rPr>
              <a:t> </a:t>
            </a:r>
            <a:r>
              <a:rPr lang="en-US" sz="1200" b="0" i="0" u="none" strike="noStrike" kern="1200" baseline="0" dirty="0">
                <a:solidFill>
                  <a:schemeClr val="tx1"/>
                </a:solidFill>
                <a:latin typeface="+mn-lt"/>
                <a:ea typeface="+mn-ea"/>
                <a:cs typeface="+mn-cs"/>
              </a:rPr>
              <a:t>Q</a:t>
            </a:r>
            <a:r>
              <a:rPr lang="tr-TR" sz="1200" b="0" i="0" u="none" strike="noStrike" kern="1200" baseline="0" dirty="0">
                <a:solidFill>
                  <a:schemeClr val="tx1"/>
                </a:solidFill>
                <a:latin typeface="+mn-lt"/>
                <a:ea typeface="+mn-ea"/>
                <a:cs typeface="+mn-cs"/>
              </a:rPr>
              <a:t>, </a:t>
            </a:r>
            <a:r>
              <a:rPr lang="tr-TR" sz="1200" dirty="0" err="1">
                <a:effectLst/>
                <a:latin typeface="CMR12"/>
              </a:rPr>
              <a:t>Capital</a:t>
            </a:r>
            <a:r>
              <a:rPr lang="tr-TR" sz="1200" dirty="0">
                <a:effectLst/>
                <a:latin typeface="CMR12"/>
              </a:rPr>
              <a:t> </a:t>
            </a:r>
            <a:r>
              <a:rPr lang="tr-TR" sz="1200" dirty="0" err="1">
                <a:effectLst/>
                <a:latin typeface="CMR12"/>
              </a:rPr>
              <a:t>sigma</a:t>
            </a:r>
            <a:r>
              <a:rPr lang="el-GR" sz="1200" dirty="0">
                <a:effectLst/>
                <a:latin typeface="CMMI12"/>
              </a:rPr>
              <a:t>, </a:t>
            </a:r>
            <a:r>
              <a:rPr lang="tr-TR" sz="1200" dirty="0">
                <a:effectLst/>
                <a:latin typeface="CMMI12"/>
              </a:rPr>
              <a:t>delta</a:t>
            </a:r>
            <a:r>
              <a:rPr lang="el-GR" sz="1200" dirty="0">
                <a:effectLst/>
                <a:latin typeface="CMMI12"/>
              </a:rPr>
              <a:t>, </a:t>
            </a:r>
            <a:r>
              <a:rPr lang="tr-TR" sz="1200" dirty="0" err="1">
                <a:effectLst/>
                <a:latin typeface="CMMI12"/>
              </a:rPr>
              <a:t>lowercase</a:t>
            </a:r>
            <a:r>
              <a:rPr lang="tr-TR" sz="1200" dirty="0">
                <a:effectLst/>
                <a:latin typeface="CMMI12"/>
              </a:rPr>
              <a:t> q, </a:t>
            </a:r>
            <a:r>
              <a:rPr lang="tr-TR" sz="1200" dirty="0" err="1">
                <a:effectLst/>
                <a:latin typeface="CMMI12"/>
              </a:rPr>
              <a:t>capital</a:t>
            </a:r>
            <a:r>
              <a:rPr lang="tr-TR" sz="1200" dirty="0">
                <a:effectLst/>
                <a:latin typeface="CMMI12"/>
              </a:rPr>
              <a:t> F</a:t>
            </a:r>
            <a:r>
              <a:rPr lang="en-US" sz="1200" b="0" i="0" u="none" strike="noStrike" kern="1200" baseline="0" dirty="0">
                <a:solidFill>
                  <a:schemeClr val="tx1"/>
                </a:solidFill>
                <a:latin typeface="+mn-lt"/>
                <a:ea typeface="+mn-ea"/>
                <a:cs typeface="+mn-cs"/>
              </a:rPr>
              <a:t>), where</a:t>
            </a:r>
          </a:p>
          <a:p>
            <a:r>
              <a:rPr lang="tr-TR" sz="1200" dirty="0" err="1">
                <a:effectLst/>
                <a:latin typeface="CMR12"/>
              </a:rPr>
              <a:t>Capital</a:t>
            </a:r>
            <a:r>
              <a:rPr lang="tr-TR" sz="1200" dirty="0">
                <a:effectLst/>
                <a:latin typeface="CMR12"/>
              </a:rPr>
              <a:t> </a:t>
            </a:r>
            <a:r>
              <a:rPr lang="en-US" sz="1200" b="0" i="0" u="none" strike="noStrike" kern="1200" baseline="0" dirty="0">
                <a:solidFill>
                  <a:schemeClr val="tx1"/>
                </a:solidFill>
                <a:latin typeface="+mn-lt"/>
                <a:ea typeface="+mn-ea"/>
                <a:cs typeface="+mn-cs"/>
              </a:rPr>
              <a:t>Q is a finite set, whose elements are called states,</a:t>
            </a:r>
          </a:p>
          <a:p>
            <a:r>
              <a:rPr lang="tr-TR" sz="1200" dirty="0" err="1">
                <a:effectLst/>
                <a:latin typeface="CMR12"/>
              </a:rPr>
              <a:t>Capital</a:t>
            </a:r>
            <a:r>
              <a:rPr lang="tr-TR" sz="1200" dirty="0">
                <a:effectLst/>
                <a:latin typeface="CMR12"/>
              </a:rPr>
              <a:t> </a:t>
            </a:r>
            <a:r>
              <a:rPr lang="tr-TR" sz="1200" dirty="0" err="1">
                <a:effectLst/>
                <a:latin typeface="CMR12"/>
              </a:rPr>
              <a:t>sigma</a:t>
            </a:r>
            <a:r>
              <a:rPr lang="tr-TR" sz="1200" dirty="0">
                <a:effectLst/>
                <a:latin typeface="CMR12"/>
              </a:rPr>
              <a:t> </a:t>
            </a:r>
            <a:r>
              <a:rPr lang="en-US" sz="1200" b="0" i="0" u="none" strike="noStrike" kern="1200" baseline="0" dirty="0">
                <a:solidFill>
                  <a:schemeClr val="tx1"/>
                </a:solidFill>
                <a:latin typeface="+mn-lt"/>
                <a:ea typeface="+mn-ea"/>
                <a:cs typeface="+mn-cs"/>
              </a:rPr>
              <a:t>is a finite set, called the alphabet</a:t>
            </a:r>
            <a:r>
              <a:rPr lang="tr-TR" sz="1200" b="0" i="0"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 the elements of </a:t>
            </a:r>
            <a:r>
              <a:rPr lang="tr-TR" sz="1200" dirty="0" err="1">
                <a:effectLst/>
                <a:latin typeface="CMR12"/>
              </a:rPr>
              <a:t>Capital</a:t>
            </a:r>
            <a:r>
              <a:rPr lang="tr-TR" sz="1200" dirty="0">
                <a:effectLst/>
                <a:latin typeface="CMR12"/>
              </a:rPr>
              <a:t> </a:t>
            </a:r>
            <a:r>
              <a:rPr lang="tr-TR" sz="1200" dirty="0" err="1">
                <a:effectLst/>
                <a:latin typeface="CMR12"/>
              </a:rPr>
              <a:t>sigma</a:t>
            </a:r>
            <a:r>
              <a:rPr lang="en-US" sz="1200" b="0" i="0" u="none" strike="noStrike" kern="1200" baseline="0" dirty="0">
                <a:solidFill>
                  <a:schemeClr val="tx1"/>
                </a:solidFill>
                <a:latin typeface="+mn-lt"/>
                <a:ea typeface="+mn-ea"/>
                <a:cs typeface="+mn-cs"/>
              </a:rPr>
              <a:t> are called symbols,</a:t>
            </a:r>
          </a:p>
          <a:p>
            <a:r>
              <a:rPr lang="tr-TR" sz="1200" dirty="0">
                <a:effectLst/>
                <a:latin typeface="CMMI12"/>
              </a:rPr>
              <a:t>Delta </a:t>
            </a:r>
            <a:r>
              <a:rPr lang="tr-TR" sz="1200" dirty="0">
                <a:effectLst/>
                <a:latin typeface="CMR12"/>
              </a:rPr>
              <a:t>is a </a:t>
            </a:r>
            <a:r>
              <a:rPr lang="tr-TR" sz="1200" dirty="0" err="1">
                <a:effectLst/>
                <a:latin typeface="CMR12"/>
              </a:rPr>
              <a:t>function</a:t>
            </a:r>
            <a:r>
              <a:rPr lang="el-GR" sz="1200" dirty="0">
                <a:effectLst/>
                <a:latin typeface="CMR12"/>
              </a:rPr>
              <a:t> </a:t>
            </a:r>
            <a:r>
              <a:rPr lang="tr-TR" sz="1200" dirty="0" err="1">
                <a:effectLst/>
                <a:latin typeface="CMR12"/>
              </a:rPr>
              <a:t>defined</a:t>
            </a:r>
            <a:r>
              <a:rPr lang="tr-TR" sz="1200" dirty="0">
                <a:effectLst/>
                <a:latin typeface="CMR12"/>
              </a:rPr>
              <a:t> as </a:t>
            </a:r>
            <a:r>
              <a:rPr lang="tr-TR" sz="1200" dirty="0" err="1">
                <a:effectLst/>
                <a:latin typeface="CMR12"/>
              </a:rPr>
              <a:t>cartesian</a:t>
            </a:r>
            <a:r>
              <a:rPr lang="tr-TR" sz="1200" dirty="0">
                <a:effectLst/>
                <a:latin typeface="CMR12"/>
              </a:rPr>
              <a:t> </a:t>
            </a:r>
            <a:r>
              <a:rPr lang="tr-TR" sz="1200" dirty="0" err="1">
                <a:effectLst/>
                <a:latin typeface="CMR12"/>
              </a:rPr>
              <a:t>product</a:t>
            </a:r>
            <a:r>
              <a:rPr lang="tr-TR" sz="1200" dirty="0">
                <a:effectLst/>
                <a:latin typeface="CMR12"/>
              </a:rPr>
              <a:t> of </a:t>
            </a:r>
            <a:r>
              <a:rPr lang="tr-TR" sz="1200" dirty="0" err="1">
                <a:effectLst/>
                <a:latin typeface="CMR12"/>
              </a:rPr>
              <a:t>Capital</a:t>
            </a:r>
            <a:r>
              <a:rPr lang="tr-TR" sz="1200" dirty="0">
                <a:effectLst/>
                <a:latin typeface="CMR12"/>
              </a:rPr>
              <a:t> </a:t>
            </a:r>
            <a:r>
              <a:rPr lang="tr-TR" sz="1200" dirty="0">
                <a:effectLst/>
                <a:latin typeface="CMMI12"/>
              </a:rPr>
              <a:t>Q </a:t>
            </a:r>
            <a:r>
              <a:rPr lang="tr-TR" sz="1200" dirty="0" err="1">
                <a:effectLst/>
                <a:latin typeface="CMSY10"/>
              </a:rPr>
              <a:t>and</a:t>
            </a:r>
            <a:r>
              <a:rPr lang="tr-TR" sz="1200" dirty="0">
                <a:effectLst/>
                <a:latin typeface="CMSY10"/>
              </a:rPr>
              <a:t> </a:t>
            </a:r>
            <a:r>
              <a:rPr lang="tr-TR" sz="1200" dirty="0" err="1">
                <a:effectLst/>
                <a:latin typeface="CMSY10"/>
              </a:rPr>
              <a:t>Capital</a:t>
            </a:r>
            <a:r>
              <a:rPr lang="tr-TR" sz="1200" dirty="0">
                <a:effectLst/>
                <a:latin typeface="CMSY10"/>
              </a:rPr>
              <a:t> </a:t>
            </a:r>
            <a:r>
              <a:rPr lang="tr-TR" sz="1200" dirty="0" err="1">
                <a:effectLst/>
                <a:latin typeface="CMSY10"/>
              </a:rPr>
              <a:t>sigma</a:t>
            </a:r>
            <a:r>
              <a:rPr lang="tr-TR" sz="1200" dirty="0">
                <a:effectLst/>
                <a:latin typeface="CMSY10"/>
              </a:rPr>
              <a:t> epsilon</a:t>
            </a:r>
            <a:r>
              <a:rPr lang="el-GR" sz="1200" dirty="0">
                <a:effectLst/>
                <a:latin typeface="CMR12"/>
              </a:rPr>
              <a:t> </a:t>
            </a:r>
            <a:r>
              <a:rPr lang="tr-TR" sz="1200" dirty="0" err="1">
                <a:effectLst/>
                <a:latin typeface="CMR12"/>
              </a:rPr>
              <a:t>goes</a:t>
            </a:r>
            <a:r>
              <a:rPr lang="el-GR" sz="1200" dirty="0">
                <a:effectLst/>
                <a:latin typeface="CMSY10"/>
              </a:rPr>
              <a:t> </a:t>
            </a:r>
            <a:r>
              <a:rPr lang="tr-TR" sz="1200" dirty="0" err="1">
                <a:effectLst/>
                <a:latin typeface="CMSY10"/>
              </a:rPr>
              <a:t>Capital</a:t>
            </a:r>
            <a:r>
              <a:rPr lang="tr-TR" sz="1200" dirty="0">
                <a:effectLst/>
                <a:latin typeface="CMSY10"/>
              </a:rPr>
              <a:t> P </a:t>
            </a:r>
            <a:r>
              <a:rPr lang="tr-TR" sz="1200" dirty="0">
                <a:effectLst/>
                <a:latin typeface="CMMI12"/>
              </a:rPr>
              <a:t>Q</a:t>
            </a:r>
            <a:r>
              <a:rPr lang="tr-TR" sz="1200" dirty="0">
                <a:effectLst/>
                <a:latin typeface="CMR12"/>
              </a:rPr>
              <a:t>, </a:t>
            </a:r>
            <a:r>
              <a:rPr lang="tr-TR" sz="1200" dirty="0" err="1">
                <a:effectLst/>
                <a:latin typeface="CMR12"/>
              </a:rPr>
              <a:t>called</a:t>
            </a:r>
            <a:r>
              <a:rPr lang="tr-TR" sz="1200" dirty="0">
                <a:effectLst/>
                <a:latin typeface="CMR12"/>
              </a:rPr>
              <a:t> </a:t>
            </a:r>
            <a:r>
              <a:rPr lang="tr-TR" sz="1200" dirty="0" err="1">
                <a:effectLst/>
                <a:latin typeface="CMR12"/>
              </a:rPr>
              <a:t>the</a:t>
            </a:r>
            <a:r>
              <a:rPr lang="tr-TR" sz="1200" dirty="0">
                <a:effectLst/>
                <a:latin typeface="CMR12"/>
              </a:rPr>
              <a:t> </a:t>
            </a:r>
            <a:r>
              <a:rPr lang="tr-TR" sz="1200" dirty="0" err="1">
                <a:effectLst/>
                <a:latin typeface="CMTI12"/>
              </a:rPr>
              <a:t>transition</a:t>
            </a:r>
            <a:r>
              <a:rPr lang="tr-TR" sz="1200" dirty="0">
                <a:effectLst/>
                <a:latin typeface="CMTI12"/>
              </a:rPr>
              <a:t> </a:t>
            </a:r>
            <a:r>
              <a:rPr lang="tr-TR" sz="1200" dirty="0" err="1">
                <a:effectLst/>
                <a:latin typeface="CMTI12"/>
              </a:rPr>
              <a:t>function</a:t>
            </a:r>
            <a:r>
              <a:rPr lang="tr-TR" sz="1200" dirty="0">
                <a:effectLst/>
                <a:latin typeface="CMR12"/>
              </a:rPr>
              <a:t>, </a:t>
            </a:r>
            <a:endParaRPr lang="tr-TR" dirty="0"/>
          </a:p>
          <a:p>
            <a:r>
              <a:rPr lang="tr-TR" sz="1200" dirty="0" err="1">
                <a:effectLst/>
                <a:latin typeface="CMR12"/>
              </a:rPr>
              <a:t>Lowercase</a:t>
            </a:r>
            <a:r>
              <a:rPr lang="tr-TR" sz="1200" dirty="0">
                <a:effectLst/>
                <a:latin typeface="CMR12"/>
              </a:rPr>
              <a:t> </a:t>
            </a:r>
            <a:r>
              <a:rPr lang="en-US" sz="1200" b="0" i="0" u="none" strike="noStrike" kern="1200" baseline="0" dirty="0">
                <a:solidFill>
                  <a:schemeClr val="tx1"/>
                </a:solidFill>
                <a:latin typeface="+mn-lt"/>
                <a:ea typeface="+mn-ea"/>
                <a:cs typeface="+mn-cs"/>
              </a:rPr>
              <a:t>q is an element of Q; it is called the start state,</a:t>
            </a:r>
          </a:p>
          <a:p>
            <a:r>
              <a:rPr lang="tr-TR" sz="1200" dirty="0" err="1">
                <a:effectLst/>
                <a:latin typeface="CMR12"/>
              </a:rPr>
              <a:t>Capital</a:t>
            </a:r>
            <a:r>
              <a:rPr lang="en-US" sz="1200" b="0" i="0" u="none" strike="noStrike" kern="1200" baseline="0" dirty="0">
                <a:solidFill>
                  <a:schemeClr val="tx1"/>
                </a:solidFill>
                <a:latin typeface="+mn-lt"/>
                <a:ea typeface="+mn-ea"/>
                <a:cs typeface="+mn-cs"/>
              </a:rPr>
              <a:t> F is a subset of </a:t>
            </a:r>
            <a:r>
              <a:rPr lang="tr-TR" sz="1200" dirty="0" err="1">
                <a:effectLst/>
                <a:latin typeface="CMR12"/>
              </a:rPr>
              <a:t>Capital</a:t>
            </a:r>
            <a:r>
              <a:rPr lang="tr-TR" sz="1200" dirty="0">
                <a:effectLst/>
                <a:latin typeface="CMR12"/>
              </a:rPr>
              <a:t> </a:t>
            </a:r>
            <a:r>
              <a:rPr lang="en-US" sz="1200" b="0" i="0" u="none" strike="noStrike" kern="1200" baseline="0" dirty="0">
                <a:solidFill>
                  <a:schemeClr val="tx1"/>
                </a:solidFill>
                <a:latin typeface="+mn-lt"/>
                <a:ea typeface="+mn-ea"/>
                <a:cs typeface="+mn-cs"/>
              </a:rPr>
              <a:t>Q</a:t>
            </a:r>
            <a:r>
              <a:rPr lang="tr-TR" sz="1200" b="0" i="0" u="none" strike="noStrike" kern="1200" baseline="0" dirty="0">
                <a:solidFill>
                  <a:schemeClr val="tx1"/>
                </a:solidFill>
                <a:latin typeface="+mn-lt"/>
                <a:ea typeface="+mn-ea"/>
                <a:cs typeface="+mn-cs"/>
              </a:rPr>
              <a:t>,</a:t>
            </a:r>
            <a:r>
              <a:rPr lang="en-US" sz="1200" b="0" i="0" u="none" strike="noStrike" kern="1200" baseline="0" dirty="0">
                <a:solidFill>
                  <a:schemeClr val="tx1"/>
                </a:solidFill>
                <a:latin typeface="+mn-lt"/>
                <a:ea typeface="+mn-ea"/>
                <a:cs typeface="+mn-cs"/>
              </a:rPr>
              <a:t> the elements of </a:t>
            </a:r>
            <a:r>
              <a:rPr lang="tr-TR" sz="1200" dirty="0" err="1">
                <a:effectLst/>
                <a:latin typeface="CMR12"/>
              </a:rPr>
              <a:t>Capital</a:t>
            </a:r>
            <a:r>
              <a:rPr lang="tr-TR" sz="1200" dirty="0">
                <a:effectLst/>
                <a:latin typeface="CMR12"/>
              </a:rPr>
              <a:t> </a:t>
            </a:r>
            <a:r>
              <a:rPr lang="en-US" sz="1200" b="0" i="0" u="none" strike="noStrike" kern="1200" baseline="0" dirty="0">
                <a:solidFill>
                  <a:schemeClr val="tx1"/>
                </a:solidFill>
                <a:latin typeface="+mn-lt"/>
                <a:ea typeface="+mn-ea"/>
                <a:cs typeface="+mn-cs"/>
              </a:rPr>
              <a:t>F are called accept states.</a:t>
            </a:r>
            <a:endParaRPr lang="tr-TR" sz="1200" b="0" i="0" u="none" strike="noStrike" kern="1200" baseline="0" dirty="0">
              <a:solidFill>
                <a:schemeClr val="tx1"/>
              </a:solidFill>
              <a:latin typeface="+mn-lt"/>
              <a:ea typeface="+mn-ea"/>
              <a:cs typeface="+mn-cs"/>
            </a:endParaRPr>
          </a:p>
        </p:txBody>
      </p:sp>
      <p:sp>
        <p:nvSpPr>
          <p:cNvPr id="4" name="Slayt Numarası Yer Tutucusu 3"/>
          <p:cNvSpPr>
            <a:spLocks noGrp="1"/>
          </p:cNvSpPr>
          <p:nvPr>
            <p:ph type="sldNum" sz="quarter" idx="5"/>
          </p:nvPr>
        </p:nvSpPr>
        <p:spPr/>
        <p:txBody>
          <a:bodyPr/>
          <a:lstStyle/>
          <a:p>
            <a:fld id="{6049F921-94E2-2146-8BC6-089D7989E1CD}" type="slidenum">
              <a:rPr lang="tr-TR" smtClean="0"/>
              <a:t>4</a:t>
            </a:fld>
            <a:endParaRPr lang="tr-TR"/>
          </a:p>
        </p:txBody>
      </p:sp>
    </p:spTree>
    <p:extLst>
      <p:ext uri="{BB962C8B-B14F-4D97-AF65-F5344CB8AC3E}">
        <p14:creationId xmlns:p14="http://schemas.microsoft.com/office/powerpoint/2010/main" val="406785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dirty="0"/>
              <a:t>A = {w : w is a binary string containing an odd number of 1s}.</a:t>
            </a:r>
          </a:p>
          <a:p>
            <a:pPr marL="0" indent="0">
              <a:buNone/>
            </a:pPr>
            <a:endParaRPr lang="tr-TR" dirty="0"/>
          </a:p>
          <a:p>
            <a:pPr marL="0" indent="0">
              <a:buNone/>
            </a:pPr>
            <a:r>
              <a:rPr lang="en-US" sz="1200" dirty="0"/>
              <a:t>Here, our alphabet will be binary Σ = {0, 1}. Then we should find the states at first.</a:t>
            </a:r>
            <a:endParaRPr lang="tr-TR" sz="1200" dirty="0"/>
          </a:p>
          <a:p>
            <a:pPr marL="0" indent="0">
              <a:buNone/>
            </a:pPr>
            <a:r>
              <a:rPr lang="en-US" sz="1200" dirty="0"/>
              <a:t> </a:t>
            </a:r>
          </a:p>
          <a:p>
            <a:pPr marL="0" indent="0">
              <a:buNone/>
            </a:pPr>
            <a:r>
              <a:rPr lang="en-US" sz="1200" dirty="0"/>
              <a:t>We can directly focus on 101 and 11 strings. We can design them two different sub solution, but if you can see, they have a common solution.</a:t>
            </a:r>
            <a:endParaRPr lang="tr-TR" sz="1200" dirty="0"/>
          </a:p>
          <a:p>
            <a:pPr marL="0" indent="0">
              <a:buNone/>
            </a:pPr>
            <a:endParaRPr lang="en-US" dirty="0"/>
          </a:p>
        </p:txBody>
      </p:sp>
      <p:sp>
        <p:nvSpPr>
          <p:cNvPr id="4" name="Slayt Numarası Yer Tutucusu 3"/>
          <p:cNvSpPr>
            <a:spLocks noGrp="1"/>
          </p:cNvSpPr>
          <p:nvPr>
            <p:ph type="sldNum" sz="quarter" idx="5"/>
          </p:nvPr>
        </p:nvSpPr>
        <p:spPr/>
        <p:txBody>
          <a:bodyPr/>
          <a:lstStyle/>
          <a:p>
            <a:fld id="{6049F921-94E2-2146-8BC6-089D7989E1CD}" type="slidenum">
              <a:rPr lang="tr-TR" smtClean="0"/>
              <a:t>5</a:t>
            </a:fld>
            <a:endParaRPr lang="tr-TR"/>
          </a:p>
        </p:txBody>
      </p:sp>
    </p:spTree>
    <p:extLst>
      <p:ext uri="{BB962C8B-B14F-4D97-AF65-F5344CB8AC3E}">
        <p14:creationId xmlns:p14="http://schemas.microsoft.com/office/powerpoint/2010/main" val="2464690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When we design states, we can define their workings as follows:</a:t>
            </a:r>
            <a:endParaRPr lang="tr-TR" sz="1200" dirty="0"/>
          </a:p>
          <a:p>
            <a:r>
              <a:rPr lang="en-US" sz="1200" dirty="0"/>
              <a:t>q</a:t>
            </a:r>
            <a:r>
              <a:rPr lang="en-US" sz="1200" baseline="-25000" dirty="0"/>
              <a:t>1</a:t>
            </a:r>
            <a:r>
              <a:rPr lang="en-US" sz="1200" dirty="0"/>
              <a:t> : start state</a:t>
            </a:r>
          </a:p>
          <a:p>
            <a:r>
              <a:rPr lang="en-US" sz="1200" dirty="0"/>
              <a:t>q</a:t>
            </a:r>
            <a:r>
              <a:rPr lang="en-US" sz="1200" baseline="-25000" dirty="0"/>
              <a:t>2</a:t>
            </a:r>
            <a:r>
              <a:rPr lang="en-US" sz="1200" dirty="0"/>
              <a:t> : first symbol is OK, it doesn’t matter 101 or 11</a:t>
            </a:r>
            <a:endParaRPr lang="en-US" sz="1200" baseline="-25000" dirty="0"/>
          </a:p>
          <a:p>
            <a:r>
              <a:rPr lang="en-US" sz="1200" dirty="0"/>
              <a:t>q</a:t>
            </a:r>
            <a:r>
              <a:rPr lang="en-US" sz="1200" baseline="-25000" dirty="0"/>
              <a:t>3</a:t>
            </a:r>
            <a:r>
              <a:rPr lang="en-US" sz="1200" dirty="0"/>
              <a:t> : second symbol is OK for 101 or directly pass for 11</a:t>
            </a:r>
          </a:p>
          <a:p>
            <a:r>
              <a:rPr lang="en-US" sz="1200" dirty="0"/>
              <a:t>q</a:t>
            </a:r>
            <a:r>
              <a:rPr lang="en-US" sz="1200" baseline="-25000" dirty="0"/>
              <a:t>4</a:t>
            </a:r>
            <a:r>
              <a:rPr lang="en-US" sz="1200" dirty="0"/>
              <a:t> : last symbol is OK</a:t>
            </a:r>
            <a:endParaRPr lang="en-US" sz="1200" baseline="-25000" dirty="0"/>
          </a:p>
          <a:p>
            <a:endParaRPr lang="en-US"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6</a:t>
            </a:fld>
            <a:endParaRPr lang="tr-TR"/>
          </a:p>
        </p:txBody>
      </p:sp>
    </p:spTree>
    <p:extLst>
      <p:ext uri="{BB962C8B-B14F-4D97-AF65-F5344CB8AC3E}">
        <p14:creationId xmlns:p14="http://schemas.microsoft.com/office/powerpoint/2010/main" val="1626531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Now, we can run the NFA defined here for entry 010110.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For the first symbol 0, we must start and stay on the Q-one. But we have an option for the second symbol 1. We can stay on Q-one or move on to Q-2. In this way, you can also examine the tree of possible transitions.</a:t>
            </a:r>
          </a:p>
        </p:txBody>
      </p:sp>
      <p:sp>
        <p:nvSpPr>
          <p:cNvPr id="4" name="Slayt Numarası Yer Tutucusu 3"/>
          <p:cNvSpPr>
            <a:spLocks noGrp="1"/>
          </p:cNvSpPr>
          <p:nvPr>
            <p:ph type="sldNum" sz="quarter" idx="10"/>
          </p:nvPr>
        </p:nvSpPr>
        <p:spPr/>
        <p:txBody>
          <a:bodyPr/>
          <a:lstStyle/>
          <a:p>
            <a:fld id="{6049F921-94E2-2146-8BC6-089D7989E1CD}" type="slidenum">
              <a:rPr lang="tr-TR" smtClean="0"/>
              <a:t>7</a:t>
            </a:fld>
            <a:endParaRPr lang="tr-TR"/>
          </a:p>
        </p:txBody>
      </p:sp>
    </p:spTree>
    <p:extLst>
      <p:ext uri="{BB962C8B-B14F-4D97-AF65-F5344CB8AC3E}">
        <p14:creationId xmlns:p14="http://schemas.microsoft.com/office/powerpoint/2010/main" val="3934853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 second example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capital letter A contains the binary words w such that w has a 1 in the third position from the RIGHT.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We solved this problem while learning DFA.</a:t>
            </a:r>
            <a:r>
              <a:rPr lang="tr-TR" sz="1200" dirty="0"/>
              <a:t> </a:t>
            </a:r>
            <a:r>
              <a:rPr lang="en-US" sz="1200" dirty="0"/>
              <a:t>But this one will be easier than the one in DFA. Again, we can focus to design solution directly.</a:t>
            </a:r>
          </a:p>
          <a:p>
            <a:endParaRPr lang="tr-TR" dirty="0"/>
          </a:p>
          <a:p>
            <a:r>
              <a:rPr lang="en-US" dirty="0"/>
              <a:t>Remember! In the previous solution, there was a concept used to mean "whatever symbol comes" in start and end states. We will use this solution, shown on the right, in this question as well. But we will only use it at initial state. Because no matter what symbol comes first, we need the last three symbols.</a:t>
            </a:r>
            <a:endParaRPr lang="tr-TR"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8</a:t>
            </a:fld>
            <a:endParaRPr lang="tr-TR"/>
          </a:p>
        </p:txBody>
      </p:sp>
    </p:spTree>
    <p:extLst>
      <p:ext uri="{BB962C8B-B14F-4D97-AF65-F5344CB8AC3E}">
        <p14:creationId xmlns:p14="http://schemas.microsoft.com/office/powerpoint/2010/main" val="1716951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Here, the number of states is not important as much as at DFA.</a:t>
            </a:r>
          </a:p>
          <a:p>
            <a:r>
              <a:rPr lang="en-US" dirty="0"/>
              <a:t>q1: Both the initial state and the time elapsed state until the third letter from the right</a:t>
            </a:r>
          </a:p>
          <a:p>
            <a:r>
              <a:rPr lang="en-US" dirty="0"/>
              <a:t>q2: 3rd symbol from the right came</a:t>
            </a:r>
          </a:p>
          <a:p>
            <a:r>
              <a:rPr lang="en-US" dirty="0"/>
              <a:t>q3: 2nd symbol from the right came</a:t>
            </a:r>
          </a:p>
          <a:p>
            <a:r>
              <a:rPr lang="en-US" dirty="0"/>
              <a:t>q4: The last symbol from the right came</a:t>
            </a:r>
          </a:p>
          <a:p>
            <a:endParaRPr lang="en-US"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9</a:t>
            </a:fld>
            <a:endParaRPr lang="tr-TR"/>
          </a:p>
        </p:txBody>
      </p:sp>
    </p:spTree>
    <p:extLst>
      <p:ext uri="{BB962C8B-B14F-4D97-AF65-F5344CB8AC3E}">
        <p14:creationId xmlns:p14="http://schemas.microsoft.com/office/powerpoint/2010/main" val="2918985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A = {0 to the power of k such that k equivalent 0 mod 2 or k equivalent 0 mod 3}</a:t>
            </a:r>
          </a:p>
          <a:p>
            <a:r>
              <a:rPr lang="en-US" dirty="0"/>
              <a:t>The string can contain only 0 symbols. We can accept the string when its length is a multiple of two or three.</a:t>
            </a:r>
          </a:p>
          <a:p>
            <a:endParaRPr lang="en-US" dirty="0"/>
          </a:p>
          <a:p>
            <a:r>
              <a:rPr lang="en-US" dirty="0"/>
              <a:t>If we misunderstand the question here and create a common solution to the two problems, the following problem may arise: {(twice 0)or(three times 0)}star </a:t>
            </a:r>
          </a:p>
          <a:p>
            <a:endParaRPr lang="en-US" dirty="0"/>
          </a:p>
          <a:p>
            <a:r>
              <a:rPr lang="en-US" dirty="0"/>
              <a:t>Then this wrong solution may mistakenly accept the following string.</a:t>
            </a:r>
          </a:p>
        </p:txBody>
      </p:sp>
      <p:sp>
        <p:nvSpPr>
          <p:cNvPr id="4" name="Slayt Numarası Yer Tutucusu 3"/>
          <p:cNvSpPr>
            <a:spLocks noGrp="1"/>
          </p:cNvSpPr>
          <p:nvPr>
            <p:ph type="sldNum" sz="quarter" idx="10"/>
          </p:nvPr>
        </p:nvSpPr>
        <p:spPr/>
        <p:txBody>
          <a:bodyPr/>
          <a:lstStyle/>
          <a:p>
            <a:fld id="{6049F921-94E2-2146-8BC6-089D7989E1CD}" type="slidenum">
              <a:rPr lang="tr-TR" smtClean="0"/>
              <a:t>10</a:t>
            </a:fld>
            <a:endParaRPr lang="tr-TR"/>
          </a:p>
        </p:txBody>
      </p:sp>
    </p:spTree>
    <p:extLst>
      <p:ext uri="{BB962C8B-B14F-4D97-AF65-F5344CB8AC3E}">
        <p14:creationId xmlns:p14="http://schemas.microsoft.com/office/powerpoint/2010/main" val="565353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a:lnSpc>
                <a:spcPct val="90000"/>
              </a:lnSpc>
              <a:spcAft>
                <a:spcPts val="600"/>
              </a:spcAft>
            </a:pPr>
            <a:r>
              <a:rPr lang="en-US" sz="1200" dirty="0"/>
              <a:t>In fact, this solution is the union of the two languages.</a:t>
            </a:r>
            <a:endParaRPr lang="tr-TR" sz="1200" dirty="0"/>
          </a:p>
          <a:p>
            <a:pPr>
              <a:lnSpc>
                <a:spcPct val="90000"/>
              </a:lnSpc>
              <a:spcAft>
                <a:spcPts val="600"/>
              </a:spcAft>
            </a:pPr>
            <a:endParaRPr lang="en-US" sz="1200" dirty="0"/>
          </a:p>
          <a:p>
            <a:pPr>
              <a:lnSpc>
                <a:spcPct val="90000"/>
              </a:lnSpc>
              <a:spcAft>
                <a:spcPts val="600"/>
              </a:spcAft>
            </a:pPr>
            <a:r>
              <a:rPr lang="tr-TR" sz="1200" dirty="0"/>
              <a:t>A</a:t>
            </a:r>
            <a:r>
              <a:rPr lang="tr-TR" sz="1200" baseline="-25000" dirty="0"/>
              <a:t>1</a:t>
            </a:r>
            <a:r>
              <a:rPr lang="en-US" sz="1200" dirty="0"/>
              <a:t> accepts the strings when their lengths are multiple of two. </a:t>
            </a:r>
            <a:r>
              <a:rPr lang="tr-TR" sz="1200" dirty="0"/>
              <a:t>A</a:t>
            </a:r>
            <a:r>
              <a:rPr lang="tr-TR" sz="1200" baseline="-25000" dirty="0"/>
              <a:t>2 </a:t>
            </a:r>
            <a:r>
              <a:rPr lang="en-US" sz="1200" dirty="0"/>
              <a:t>accepts when the length is multiple of three.</a:t>
            </a:r>
            <a:endParaRPr lang="tr-TR" sz="1200" dirty="0"/>
          </a:p>
          <a:p>
            <a:pPr>
              <a:lnSpc>
                <a:spcPct val="90000"/>
              </a:lnSpc>
              <a:spcAft>
                <a:spcPts val="600"/>
              </a:spcAft>
            </a:pPr>
            <a:endParaRPr lang="en-US" sz="1200"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11</a:t>
            </a:fld>
            <a:endParaRPr lang="tr-TR"/>
          </a:p>
        </p:txBody>
      </p:sp>
    </p:spTree>
    <p:extLst>
      <p:ext uri="{BB962C8B-B14F-4D97-AF65-F5344CB8AC3E}">
        <p14:creationId xmlns:p14="http://schemas.microsoft.com/office/powerpoint/2010/main" val="668963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a:t>That’s all.</a:t>
            </a:r>
          </a:p>
          <a:p>
            <a:endParaRPr lang="en-US" sz="1200"/>
          </a:p>
          <a:p>
            <a:r>
              <a:rPr lang="en-US" altLang="tr-TR" sz="1200"/>
              <a:t>Thanks for listening.</a:t>
            </a:r>
          </a:p>
        </p:txBody>
      </p:sp>
      <p:sp>
        <p:nvSpPr>
          <p:cNvPr id="4" name="Slayt Numarası Yer Tutucusu 3"/>
          <p:cNvSpPr>
            <a:spLocks noGrp="1"/>
          </p:cNvSpPr>
          <p:nvPr>
            <p:ph type="sldNum" sz="quarter" idx="10"/>
          </p:nvPr>
        </p:nvSpPr>
        <p:spPr/>
        <p:txBody>
          <a:bodyPr/>
          <a:lstStyle/>
          <a:p>
            <a:fld id="{464F05E7-666C-4291-B07E-B8BAE79ECBCA}" type="slidenum">
              <a:rPr lang="tr-TR" smtClean="0"/>
              <a:t>12</a:t>
            </a:fld>
            <a:endParaRPr lang="tr-TR"/>
          </a:p>
        </p:txBody>
      </p:sp>
    </p:spTree>
    <p:extLst>
      <p:ext uri="{BB962C8B-B14F-4D97-AF65-F5344CB8AC3E}">
        <p14:creationId xmlns:p14="http://schemas.microsoft.com/office/powerpoint/2010/main" val="257865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 için tıklatın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062904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 için tıklatın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945659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45774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61418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 için tıklatın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AF36C430-287F-DD4C-AA12-0A938495B580}" type="datetimeFigureOut">
              <a:rPr lang="tr-TR" smtClean="0"/>
              <a:t>21.11.2025</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63016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AF36C430-287F-DD4C-AA12-0A938495B580}" type="datetimeFigureOut">
              <a:rPr lang="tr-TR" smtClean="0"/>
              <a:t>21.11.2025</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701496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36C430-287F-DD4C-AA12-0A938495B580}" type="datetimeFigureOut">
              <a:rPr lang="tr-TR" smtClean="0"/>
              <a:t>21.11.2025</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41263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 için tıklatın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7925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3239567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19571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37715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 için tıklatın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50182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5355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3614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646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 için tıklatın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5454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 için tıklatın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F36C430-287F-DD4C-AA12-0A938495B580}" type="datetimeFigureOut">
              <a:rPr lang="tr-TR" smtClean="0"/>
              <a:t>21.11.2025</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9DD1268-69E4-B14A-81C8-E49092695496}" type="slidenum">
              <a:rPr lang="tr-TR" smtClean="0"/>
              <a:t>‹#›</a:t>
            </a:fld>
            <a:endParaRPr lang="tr-TR"/>
          </a:p>
        </p:txBody>
      </p:sp>
    </p:spTree>
    <p:extLst>
      <p:ext uri="{BB962C8B-B14F-4D97-AF65-F5344CB8AC3E}">
        <p14:creationId xmlns:p14="http://schemas.microsoft.com/office/powerpoint/2010/main" val="101904302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Resim 5"/>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31481" y="304800"/>
            <a:ext cx="10934700" cy="2705100"/>
          </a:xfrm>
          <a:prstGeom prst="rect">
            <a:avLst/>
          </a:prstGeom>
        </p:spPr>
      </p:pic>
      <p:sp>
        <p:nvSpPr>
          <p:cNvPr id="2" name="Unvan 1"/>
          <p:cNvSpPr>
            <a:spLocks noGrp="1"/>
          </p:cNvSpPr>
          <p:nvPr>
            <p:ph type="ctrTitle"/>
          </p:nvPr>
        </p:nvSpPr>
        <p:spPr/>
        <p:txBody>
          <a:bodyPr>
            <a:normAutofit fontScale="90000"/>
          </a:bodyPr>
          <a:lstStyle/>
          <a:p>
            <a:br>
              <a:rPr lang="en-US" dirty="0"/>
            </a:br>
            <a:r>
              <a:rPr lang="en-US" dirty="0"/>
              <a:t>Theory of Computation </a:t>
            </a:r>
            <a:br>
              <a:rPr lang="en-US" dirty="0"/>
            </a:br>
            <a:r>
              <a:rPr lang="en-US" sz="3600" dirty="0"/>
              <a:t>Lesson </a:t>
            </a:r>
            <a:r>
              <a:rPr lang="tr-TR" sz="3600"/>
              <a:t>2</a:t>
            </a:r>
            <a:endParaRPr lang="en-US" dirty="0"/>
          </a:p>
        </p:txBody>
      </p:sp>
      <p:sp>
        <p:nvSpPr>
          <p:cNvPr id="3" name="Alt Başlık 2"/>
          <p:cNvSpPr>
            <a:spLocks noGrp="1"/>
          </p:cNvSpPr>
          <p:nvPr>
            <p:ph type="subTitle" idx="1"/>
          </p:nvPr>
        </p:nvSpPr>
        <p:spPr/>
        <p:txBody>
          <a:bodyPr>
            <a:normAutofit/>
          </a:bodyPr>
          <a:lstStyle/>
          <a:p>
            <a:endParaRPr lang="tr-TR" sz="2800">
              <a:solidFill>
                <a:srgbClr val="FF0000"/>
              </a:solidFill>
            </a:endParaRPr>
          </a:p>
          <a:p>
            <a:r>
              <a:rPr lang="en-US" sz="2800">
                <a:solidFill>
                  <a:srgbClr val="FF0000"/>
                </a:solidFill>
              </a:rPr>
              <a:t>Non-Deterministic </a:t>
            </a:r>
            <a:r>
              <a:rPr lang="en-US" sz="2800" dirty="0">
                <a:solidFill>
                  <a:srgbClr val="FF0000"/>
                </a:solidFill>
              </a:rPr>
              <a:t>Finite State Automata</a:t>
            </a:r>
          </a:p>
        </p:txBody>
      </p:sp>
    </p:spTree>
    <p:extLst>
      <p:ext uri="{BB962C8B-B14F-4D97-AF65-F5344CB8AC3E}">
        <p14:creationId xmlns:p14="http://schemas.microsoft.com/office/powerpoint/2010/main" val="1279238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688DE54-AC7F-ADCB-5473-D9FDA4977FFD}"/>
              </a:ext>
            </a:extLst>
          </p:cNvPr>
          <p:cNvSpPr>
            <a:spLocks noGrp="1"/>
          </p:cNvSpPr>
          <p:nvPr>
            <p:ph type="title"/>
          </p:nvPr>
        </p:nvSpPr>
        <p:spPr/>
        <p:txBody>
          <a:bodyPr/>
          <a:lstStyle/>
          <a:p>
            <a:r>
              <a:rPr lang="en-US" dirty="0"/>
              <a:t>Why we need Non-Deterministic Automata </a:t>
            </a:r>
            <a:r>
              <a:rPr lang="tr-TR" dirty="0"/>
              <a:t>?</a:t>
            </a:r>
            <a:endParaRPr lang="en-US" dirty="0"/>
          </a:p>
        </p:txBody>
      </p:sp>
      <p:sp>
        <p:nvSpPr>
          <p:cNvPr id="5" name="İçerik Yer Tutucusu 4"/>
          <p:cNvSpPr>
            <a:spLocks noGrp="1"/>
          </p:cNvSpPr>
          <p:nvPr>
            <p:ph idx="1"/>
          </p:nvPr>
        </p:nvSpPr>
        <p:spPr/>
        <p:txBody>
          <a:bodyPr>
            <a:normAutofit/>
          </a:bodyPr>
          <a:lstStyle/>
          <a:p>
            <a:r>
              <a:rPr lang="en-US" sz="2400" dirty="0"/>
              <a:t>Non-deterministic finite automata (NFA) focus on how they accept the inputs. For this reason, NFA are smaller and easier to construct than deterministic finite automata (DFA).</a:t>
            </a:r>
          </a:p>
          <a:p>
            <a:r>
              <a:rPr lang="en-US" sz="2400" dirty="0"/>
              <a:t>NFA are used for humans, DFA are prepared for machines.</a:t>
            </a:r>
          </a:p>
          <a:p>
            <a:r>
              <a:rPr lang="en-US" sz="2400" dirty="0"/>
              <a:t>Besides, they are equivalent to each other. Thus, we can solve especially difficult problems in NFA, then convert into DFA.</a:t>
            </a:r>
          </a:p>
        </p:txBody>
      </p:sp>
    </p:spTree>
    <p:extLst>
      <p:ext uri="{BB962C8B-B14F-4D97-AF65-F5344CB8AC3E}">
        <p14:creationId xmlns:p14="http://schemas.microsoft.com/office/powerpoint/2010/main" val="1976928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3244A32-BAC0-49A0-27E8-3221D82A3CA6}"/>
              </a:ext>
            </a:extLst>
          </p:cNvPr>
          <p:cNvSpPr>
            <a:spLocks noGrp="1"/>
          </p:cNvSpPr>
          <p:nvPr>
            <p:ph idx="1"/>
          </p:nvPr>
        </p:nvSpPr>
        <p:spPr>
          <a:xfrm>
            <a:off x="1795097" y="1511317"/>
            <a:ext cx="9464782" cy="2068746"/>
          </a:xfrm>
        </p:spPr>
        <p:txBody>
          <a:bodyPr anchor="ctr">
            <a:noAutofit/>
          </a:bodyPr>
          <a:lstStyle/>
          <a:p>
            <a:pPr marL="0" indent="0">
              <a:buNone/>
            </a:pPr>
            <a:r>
              <a:rPr lang="en-US" sz="2400" dirty="0"/>
              <a:t>There are 3 types of uncertainty to use in NFA:</a:t>
            </a:r>
          </a:p>
          <a:p>
            <a:r>
              <a:rPr lang="en-US" sz="2400" dirty="0"/>
              <a:t>1. Additional out-goings edges,</a:t>
            </a:r>
          </a:p>
          <a:p>
            <a:r>
              <a:rPr lang="en-US" sz="2400" dirty="0"/>
              <a:t>2. Undefined out-going edges,</a:t>
            </a:r>
          </a:p>
          <a:p>
            <a:r>
              <a:rPr lang="en-US" sz="2400" dirty="0"/>
              <a:t>3. Arbitrarily out-going edges.</a:t>
            </a:r>
          </a:p>
        </p:txBody>
      </p:sp>
      <p:sp>
        <p:nvSpPr>
          <p:cNvPr id="4" name="Unvan 3"/>
          <p:cNvSpPr>
            <a:spLocks noGrp="1"/>
          </p:cNvSpPr>
          <p:nvPr>
            <p:ph type="title"/>
          </p:nvPr>
        </p:nvSpPr>
        <p:spPr>
          <a:xfrm>
            <a:off x="1582834" y="624110"/>
            <a:ext cx="8911687" cy="1280890"/>
          </a:xfrm>
        </p:spPr>
        <p:txBody>
          <a:bodyPr/>
          <a:lstStyle/>
          <a:p>
            <a:r>
              <a:rPr lang="en-US" dirty="0"/>
              <a:t>Uncertainties in NFA</a:t>
            </a:r>
          </a:p>
        </p:txBody>
      </p:sp>
      <p:pic>
        <p:nvPicPr>
          <p:cNvPr id="2" name="Resim 1"/>
          <p:cNvPicPr>
            <a:picLocks noChangeAspect="1"/>
          </p:cNvPicPr>
          <p:nvPr/>
        </p:nvPicPr>
        <p:blipFill rotWithShape="1">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582834" y="3869953"/>
            <a:ext cx="10609166" cy="2656510"/>
          </a:xfrm>
          <a:prstGeom prst="rect">
            <a:avLst/>
          </a:prstGeom>
        </p:spPr>
      </p:pic>
    </p:spTree>
    <p:extLst>
      <p:ext uri="{BB962C8B-B14F-4D97-AF65-F5344CB8AC3E}">
        <p14:creationId xmlns:p14="http://schemas.microsoft.com/office/powerpoint/2010/main" val="3629257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484EFD7-5C4E-E3CF-4352-902D8D86A9C6}"/>
              </a:ext>
            </a:extLst>
          </p:cNvPr>
          <p:cNvSpPr>
            <a:spLocks noGrp="1"/>
          </p:cNvSpPr>
          <p:nvPr>
            <p:ph idx="1"/>
          </p:nvPr>
        </p:nvSpPr>
        <p:spPr>
          <a:xfrm>
            <a:off x="1699976" y="1173480"/>
            <a:ext cx="8794545" cy="1227436"/>
          </a:xfrm>
        </p:spPr>
        <p:txBody>
          <a:bodyPr anchor="ctr">
            <a:normAutofit/>
          </a:bodyPr>
          <a:lstStyle/>
          <a:p>
            <a:pPr marL="0" indent="0">
              <a:buNone/>
            </a:pPr>
            <a:r>
              <a:rPr lang="en-US" sz="2200" dirty="0"/>
              <a:t>We now come to the formal definition of a </a:t>
            </a:r>
            <a:r>
              <a:rPr lang="tr-TR" sz="2200" dirty="0"/>
              <a:t>NFA</a:t>
            </a:r>
            <a:r>
              <a:rPr lang="en-US" sz="2200" dirty="0"/>
              <a:t>.</a:t>
            </a:r>
          </a:p>
        </p:txBody>
      </p:sp>
      <p:sp>
        <p:nvSpPr>
          <p:cNvPr id="7" name="Unvan 6"/>
          <p:cNvSpPr>
            <a:spLocks noGrp="1"/>
          </p:cNvSpPr>
          <p:nvPr>
            <p:ph type="title"/>
          </p:nvPr>
        </p:nvSpPr>
        <p:spPr>
          <a:xfrm>
            <a:off x="1582834" y="624110"/>
            <a:ext cx="8911687" cy="1280890"/>
          </a:xfrm>
        </p:spPr>
        <p:txBody>
          <a:bodyPr/>
          <a:lstStyle/>
          <a:p>
            <a:r>
              <a:rPr lang="en-US" dirty="0"/>
              <a:t>Formal Definition</a:t>
            </a:r>
            <a:endParaRPr lang="tr-TR" dirty="0"/>
          </a:p>
        </p:txBody>
      </p:sp>
      <p:pic>
        <p:nvPicPr>
          <p:cNvPr id="2" name="Resim 1"/>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699976" y="2400916"/>
            <a:ext cx="8936182" cy="3616038"/>
          </a:xfrm>
          <a:prstGeom prst="rect">
            <a:avLst/>
          </a:prstGeom>
        </p:spPr>
      </p:pic>
    </p:spTree>
    <p:extLst>
      <p:ext uri="{BB962C8B-B14F-4D97-AF65-F5344CB8AC3E}">
        <p14:creationId xmlns:p14="http://schemas.microsoft.com/office/powerpoint/2010/main" val="3033511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935B869-3BF0-D57B-7AFC-29128A972AF1}"/>
              </a:ext>
            </a:extLst>
          </p:cNvPr>
          <p:cNvSpPr>
            <a:spLocks noGrp="1"/>
          </p:cNvSpPr>
          <p:nvPr>
            <p:ph idx="1"/>
          </p:nvPr>
        </p:nvSpPr>
        <p:spPr>
          <a:xfrm>
            <a:off x="1593459" y="1457469"/>
            <a:ext cx="9696405" cy="4241582"/>
          </a:xfrm>
        </p:spPr>
        <p:txBody>
          <a:bodyPr anchor="t">
            <a:normAutofit/>
          </a:bodyPr>
          <a:lstStyle/>
          <a:p>
            <a:pPr marL="0" indent="0">
              <a:buNone/>
            </a:pPr>
            <a:r>
              <a:rPr lang="en-US" sz="2400" dirty="0"/>
              <a:t>A = {w : w is a binary string containing 101 or 11 as a substring}.</a:t>
            </a:r>
          </a:p>
          <a:p>
            <a:pPr marL="0" indent="0">
              <a:buNone/>
            </a:pPr>
            <a:endParaRPr lang="en-US" sz="2400" dirty="0"/>
          </a:p>
          <a:p>
            <a:pPr marL="0" indent="0">
              <a:buNone/>
            </a:pPr>
            <a:r>
              <a:rPr lang="en-US" sz="2400" dirty="0"/>
              <a:t>Here, our alphabet will be binary Σ = {0, 1}. Then we should find the states at first.</a:t>
            </a:r>
            <a:endParaRPr lang="tr-TR" sz="2400" dirty="0"/>
          </a:p>
          <a:p>
            <a:pPr marL="0" indent="0">
              <a:buNone/>
            </a:pPr>
            <a:r>
              <a:rPr lang="en-US" sz="2400" dirty="0"/>
              <a:t> </a:t>
            </a:r>
          </a:p>
          <a:p>
            <a:pPr marL="0" indent="0">
              <a:buNone/>
            </a:pPr>
            <a:r>
              <a:rPr lang="en-US" sz="2400" dirty="0"/>
              <a:t>We can directly focus on 101 and 11 strings. We can design them two different sub solution, but if you can see, they have a common solution.</a:t>
            </a:r>
            <a:endParaRPr lang="tr-TR" sz="2400" dirty="0"/>
          </a:p>
        </p:txBody>
      </p:sp>
      <p:sp>
        <p:nvSpPr>
          <p:cNvPr id="7"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p>
        </p:txBody>
      </p:sp>
    </p:spTree>
    <p:extLst>
      <p:ext uri="{BB962C8B-B14F-4D97-AF65-F5344CB8AC3E}">
        <p14:creationId xmlns:p14="http://schemas.microsoft.com/office/powerpoint/2010/main" val="455201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7EF9DA7-94C2-20B4-778F-CAB8DD21F247}"/>
              </a:ext>
            </a:extLst>
          </p:cNvPr>
          <p:cNvSpPr>
            <a:spLocks noGrp="1"/>
          </p:cNvSpPr>
          <p:nvPr>
            <p:ph idx="1"/>
          </p:nvPr>
        </p:nvSpPr>
        <p:spPr>
          <a:xfrm>
            <a:off x="1593459" y="1364343"/>
            <a:ext cx="9858312" cy="2771722"/>
          </a:xfrm>
        </p:spPr>
        <p:txBody>
          <a:bodyPr anchor="t">
            <a:noAutofit/>
          </a:bodyPr>
          <a:lstStyle/>
          <a:p>
            <a:pPr marL="0" indent="0">
              <a:buNone/>
            </a:pPr>
            <a:r>
              <a:rPr lang="en-US" sz="2400" dirty="0"/>
              <a:t>When we design states, we can define their workings as follows:</a:t>
            </a:r>
            <a:endParaRPr lang="tr-TR" sz="2400" dirty="0"/>
          </a:p>
          <a:p>
            <a:r>
              <a:rPr lang="en-US" sz="2400" dirty="0"/>
              <a:t>q</a:t>
            </a:r>
            <a:r>
              <a:rPr lang="en-US" sz="2400" baseline="-25000" dirty="0"/>
              <a:t>1</a:t>
            </a:r>
            <a:r>
              <a:rPr lang="en-US" sz="2400" dirty="0"/>
              <a:t> : start state</a:t>
            </a:r>
          </a:p>
          <a:p>
            <a:r>
              <a:rPr lang="en-US" sz="2400" dirty="0"/>
              <a:t>q</a:t>
            </a:r>
            <a:r>
              <a:rPr lang="en-US" sz="2400" baseline="-25000" dirty="0"/>
              <a:t>2</a:t>
            </a:r>
            <a:r>
              <a:rPr lang="en-US" sz="2400" dirty="0"/>
              <a:t> : first symbol is OK, it doesn’t matter 101 or 11</a:t>
            </a:r>
            <a:endParaRPr lang="en-US" sz="2400" baseline="-25000" dirty="0"/>
          </a:p>
          <a:p>
            <a:r>
              <a:rPr lang="en-US" sz="2400" dirty="0"/>
              <a:t>q</a:t>
            </a:r>
            <a:r>
              <a:rPr lang="en-US" sz="2400" baseline="-25000" dirty="0"/>
              <a:t>3</a:t>
            </a:r>
            <a:r>
              <a:rPr lang="en-US" sz="2400" dirty="0"/>
              <a:t> : second symbol is OK for 101 or directly pass for 11</a:t>
            </a:r>
          </a:p>
          <a:p>
            <a:r>
              <a:rPr lang="en-US" sz="2400" dirty="0"/>
              <a:t>q</a:t>
            </a:r>
            <a:r>
              <a:rPr lang="en-US" sz="2400" baseline="-25000" dirty="0"/>
              <a:t>4</a:t>
            </a:r>
            <a:r>
              <a:rPr lang="en-US" sz="2400" dirty="0"/>
              <a:t> : last symbol is OK</a:t>
            </a:r>
            <a:endParaRPr lang="en-US" sz="2400" baseline="-25000" dirty="0"/>
          </a:p>
          <a:p>
            <a:pPr marL="0" indent="0">
              <a:buNone/>
            </a:pPr>
            <a:endParaRPr lang="en-US" sz="2400" baseline="-25000" dirty="0"/>
          </a:p>
        </p:txBody>
      </p:sp>
      <p:sp>
        <p:nvSpPr>
          <p:cNvPr id="10"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p>
        </p:txBody>
      </p:sp>
      <p:pic>
        <p:nvPicPr>
          <p:cNvPr id="5" name="Resim 4"/>
          <p:cNvPicPr>
            <a:picLocks noChangeAspect="1"/>
          </p:cNvPicPr>
          <p:nvPr/>
        </p:nvPicPr>
        <p:blipFill rotWithShape="1">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582834" y="3869953"/>
            <a:ext cx="10609166" cy="2656510"/>
          </a:xfrm>
          <a:prstGeom prst="rect">
            <a:avLst/>
          </a:prstGeom>
        </p:spPr>
      </p:pic>
    </p:spTree>
    <p:extLst>
      <p:ext uri="{BB962C8B-B14F-4D97-AF65-F5344CB8AC3E}">
        <p14:creationId xmlns:p14="http://schemas.microsoft.com/office/powerpoint/2010/main" val="3106524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7EF9DA7-94C2-20B4-778F-CAB8DD21F247}"/>
              </a:ext>
            </a:extLst>
          </p:cNvPr>
          <p:cNvSpPr>
            <a:spLocks noGrp="1"/>
          </p:cNvSpPr>
          <p:nvPr>
            <p:ph idx="1"/>
          </p:nvPr>
        </p:nvSpPr>
        <p:spPr>
          <a:xfrm>
            <a:off x="1593459" y="1364343"/>
            <a:ext cx="9858312" cy="2771722"/>
          </a:xfrm>
        </p:spPr>
        <p:txBody>
          <a:bodyPr anchor="t">
            <a:noAutofit/>
          </a:bodyPr>
          <a:lstStyle/>
          <a:p>
            <a:pPr marL="0" indent="0">
              <a:buNone/>
            </a:pPr>
            <a:r>
              <a:rPr lang="en-US" sz="2400" dirty="0"/>
              <a:t>Now, we can </a:t>
            </a:r>
            <a:r>
              <a:rPr lang="tr-TR" sz="2400" dirty="0" err="1"/>
              <a:t>run</a:t>
            </a:r>
            <a:r>
              <a:rPr lang="en-US" sz="2400" dirty="0"/>
              <a:t> the NFA defined for input 010110</a:t>
            </a:r>
            <a:endParaRPr lang="en-US" sz="2400" baseline="-25000" dirty="0"/>
          </a:p>
          <a:p>
            <a:pPr marL="0" indent="0">
              <a:buNone/>
            </a:pPr>
            <a:endParaRPr lang="en-US" sz="2400" baseline="-25000" dirty="0"/>
          </a:p>
        </p:txBody>
      </p:sp>
      <p:sp>
        <p:nvSpPr>
          <p:cNvPr id="10"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p>
        </p:txBody>
      </p:sp>
      <p:pic>
        <p:nvPicPr>
          <p:cNvPr id="5" name="Resim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705600" y="26712"/>
            <a:ext cx="4746171" cy="1188430"/>
          </a:xfrm>
          <a:prstGeom prst="rect">
            <a:avLst/>
          </a:prstGeom>
        </p:spPr>
      </p:pic>
      <p:pic>
        <p:nvPicPr>
          <p:cNvPr id="4" name="Resim 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850266" y="1834247"/>
            <a:ext cx="7252379" cy="4965242"/>
          </a:xfrm>
          <a:prstGeom prst="rect">
            <a:avLst/>
          </a:prstGeom>
        </p:spPr>
      </p:pic>
    </p:spTree>
    <p:extLst>
      <p:ext uri="{BB962C8B-B14F-4D97-AF65-F5344CB8AC3E}">
        <p14:creationId xmlns:p14="http://schemas.microsoft.com/office/powerpoint/2010/main" val="299411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EF5E5E3-7930-0576-4986-133CE2BD37B7}"/>
              </a:ext>
            </a:extLst>
          </p:cNvPr>
          <p:cNvSpPr>
            <a:spLocks noGrp="1"/>
          </p:cNvSpPr>
          <p:nvPr>
            <p:ph idx="1"/>
          </p:nvPr>
        </p:nvSpPr>
        <p:spPr>
          <a:xfrm>
            <a:off x="1593459" y="1733108"/>
            <a:ext cx="10024729" cy="4488078"/>
          </a:xfrm>
        </p:spPr>
        <p:txBody>
          <a:bodyPr anchor="ctr">
            <a:normAutofit lnSpcReduction="10000"/>
          </a:bodyPr>
          <a:lstStyle/>
          <a:p>
            <a:pPr marL="0" indent="0">
              <a:buNone/>
            </a:pPr>
            <a:r>
              <a:rPr lang="en-US" sz="2400" dirty="0"/>
              <a:t>A = {w ∈ {0,1}∗ : w has a 1 in the third position from the </a:t>
            </a:r>
            <a:r>
              <a:rPr lang="en-US" sz="2400" b="1" u="sng" dirty="0"/>
              <a:t>RIGHT</a:t>
            </a:r>
            <a:r>
              <a:rPr lang="en-US" sz="2400" dirty="0"/>
              <a:t>}</a:t>
            </a:r>
          </a:p>
          <a:p>
            <a:endParaRPr lang="en-US" sz="2400" dirty="0"/>
          </a:p>
          <a:p>
            <a:r>
              <a:rPr lang="en-US" sz="2400" dirty="0"/>
              <a:t>This problem is easier than the one in DFA. Again, we can focus to design solution directly.</a:t>
            </a:r>
          </a:p>
          <a:p>
            <a:endParaRPr lang="en-US" sz="2400" dirty="0"/>
          </a:p>
          <a:p>
            <a:pPr marL="0" indent="0">
              <a:buNone/>
            </a:pPr>
            <a:r>
              <a:rPr lang="en-US" sz="2400" dirty="0"/>
              <a:t>	 {0,1}* 1 {0,1}  {0,1}</a:t>
            </a:r>
            <a:endParaRPr lang="tr-TR" sz="2400" dirty="0"/>
          </a:p>
          <a:p>
            <a:pPr marL="0" indent="0">
              <a:buNone/>
            </a:pPr>
            <a:endParaRPr lang="tr-TR" sz="2400" dirty="0"/>
          </a:p>
          <a:p>
            <a:r>
              <a:rPr lang="en-US" sz="2400" dirty="0"/>
              <a:t>In the previous solution, there was a concept used to mean "whatever symbol comes" in start and end states. We will </a:t>
            </a:r>
            <a:r>
              <a:rPr lang="tr-TR" sz="2400" dirty="0"/>
              <a:t>        </a:t>
            </a:r>
            <a:r>
              <a:rPr lang="en-US" sz="2400" dirty="0"/>
              <a:t>use this solution, shown on the right, in this question as well.</a:t>
            </a:r>
          </a:p>
        </p:txBody>
      </p:sp>
      <p:sp>
        <p:nvSpPr>
          <p:cNvPr id="7"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second example</a:t>
            </a:r>
          </a:p>
        </p:txBody>
      </p:sp>
      <p:pic>
        <p:nvPicPr>
          <p:cNvPr id="4" name="Resim 3"/>
          <p:cNvPicPr>
            <a:picLocks noChangeAspect="1"/>
          </p:cNvPicPr>
          <p:nvPr/>
        </p:nvPicPr>
        <p:blipFill rotWithShape="1">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0672405" y="4201490"/>
            <a:ext cx="1519595" cy="2656510"/>
          </a:xfrm>
          <a:prstGeom prst="rect">
            <a:avLst/>
          </a:prstGeom>
        </p:spPr>
      </p:pic>
    </p:spTree>
    <p:extLst>
      <p:ext uri="{BB962C8B-B14F-4D97-AF65-F5344CB8AC3E}">
        <p14:creationId xmlns:p14="http://schemas.microsoft.com/office/powerpoint/2010/main" val="2181423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EF5E5E3-7930-0576-4986-133CE2BD37B7}"/>
              </a:ext>
            </a:extLst>
          </p:cNvPr>
          <p:cNvSpPr>
            <a:spLocks noGrp="1"/>
          </p:cNvSpPr>
          <p:nvPr>
            <p:ph idx="1"/>
          </p:nvPr>
        </p:nvSpPr>
        <p:spPr>
          <a:xfrm>
            <a:off x="1593458" y="1468265"/>
            <a:ext cx="9216055" cy="2711849"/>
          </a:xfrm>
        </p:spPr>
        <p:txBody>
          <a:bodyPr anchor="t">
            <a:normAutofit/>
          </a:bodyPr>
          <a:lstStyle/>
          <a:p>
            <a:r>
              <a:rPr lang="en-US" sz="2000" dirty="0"/>
              <a:t>q</a:t>
            </a:r>
            <a:r>
              <a:rPr lang="en-US" sz="2000" baseline="-25000" dirty="0"/>
              <a:t>1</a:t>
            </a:r>
            <a:r>
              <a:rPr lang="en-US" sz="2000" dirty="0"/>
              <a:t>: Both the initial state and the time elapsed state until the third letter from the right</a:t>
            </a:r>
          </a:p>
          <a:p>
            <a:r>
              <a:rPr lang="en-US" sz="2000" dirty="0"/>
              <a:t>q</a:t>
            </a:r>
            <a:r>
              <a:rPr lang="en-US" sz="2000" baseline="-25000" dirty="0"/>
              <a:t>2</a:t>
            </a:r>
            <a:r>
              <a:rPr lang="en-US" sz="2000" dirty="0"/>
              <a:t>: 3rd symbol from the right came</a:t>
            </a:r>
          </a:p>
          <a:p>
            <a:r>
              <a:rPr lang="en-US" sz="2000" dirty="0"/>
              <a:t>q</a:t>
            </a:r>
            <a:r>
              <a:rPr lang="en-US" sz="2000" baseline="-25000" dirty="0"/>
              <a:t>3</a:t>
            </a:r>
            <a:r>
              <a:rPr lang="en-US" sz="2000" dirty="0"/>
              <a:t>: 2nd symbol from the right came</a:t>
            </a:r>
          </a:p>
          <a:p>
            <a:r>
              <a:rPr lang="en-US" sz="2000" dirty="0"/>
              <a:t>q</a:t>
            </a:r>
            <a:r>
              <a:rPr lang="en-US" sz="2000" baseline="-25000" dirty="0"/>
              <a:t>4</a:t>
            </a:r>
            <a:r>
              <a:rPr lang="en-US" sz="2000" dirty="0"/>
              <a:t>: The last symbol from the right came</a:t>
            </a:r>
          </a:p>
          <a:p>
            <a:endParaRPr lang="en-US" sz="2200" dirty="0"/>
          </a:p>
        </p:txBody>
      </p:sp>
      <p:sp>
        <p:nvSpPr>
          <p:cNvPr id="10"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second example</a:t>
            </a:r>
          </a:p>
        </p:txBody>
      </p:sp>
      <p:pic>
        <p:nvPicPr>
          <p:cNvPr id="5" name="Resim 4"/>
          <p:cNvPicPr>
            <a:picLocks noChangeAspect="1"/>
          </p:cNvPicPr>
          <p:nvPr/>
        </p:nvPicPr>
        <p:blipFill rotWithShape="1">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257300" y="4027715"/>
            <a:ext cx="10934700" cy="2705100"/>
          </a:xfrm>
          <a:prstGeom prst="rect">
            <a:avLst/>
          </a:prstGeom>
        </p:spPr>
      </p:pic>
    </p:spTree>
    <p:extLst>
      <p:ext uri="{BB962C8B-B14F-4D97-AF65-F5344CB8AC3E}">
        <p14:creationId xmlns:p14="http://schemas.microsoft.com/office/powerpoint/2010/main" val="382249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517864A-F47D-2507-8442-849E1B143425}"/>
              </a:ext>
            </a:extLst>
          </p:cNvPr>
          <p:cNvSpPr>
            <a:spLocks noGrp="1"/>
          </p:cNvSpPr>
          <p:nvPr>
            <p:ph idx="1"/>
          </p:nvPr>
        </p:nvSpPr>
        <p:spPr>
          <a:xfrm>
            <a:off x="1593460" y="1637414"/>
            <a:ext cx="9760340" cy="4539549"/>
          </a:xfrm>
        </p:spPr>
        <p:txBody>
          <a:bodyPr anchor="ctr">
            <a:noAutofit/>
          </a:bodyPr>
          <a:lstStyle/>
          <a:p>
            <a:pPr marL="0" indent="0">
              <a:buNone/>
            </a:pPr>
            <a:r>
              <a:rPr lang="en-US" sz="2400" dirty="0"/>
              <a:t>A = {0</a:t>
            </a:r>
            <a:r>
              <a:rPr lang="en-US" sz="2400" baseline="30000" dirty="0"/>
              <a:t>k</a:t>
            </a:r>
            <a:r>
              <a:rPr lang="en-US" sz="2400" dirty="0"/>
              <a:t> : k ≡ 0 mod 2 or k ≡ 0 mod 3}</a:t>
            </a:r>
          </a:p>
          <a:p>
            <a:r>
              <a:rPr lang="en-US" sz="2400" dirty="0"/>
              <a:t>The string can contain only 0 symbols. We can accept the string when its length is a multiple of two or three.</a:t>
            </a:r>
            <a:endParaRPr lang="tr-TR" sz="2400" dirty="0"/>
          </a:p>
          <a:p>
            <a:pPr marL="0" indent="0">
              <a:buNone/>
            </a:pPr>
            <a:r>
              <a:rPr lang="en-US" sz="2400" dirty="0"/>
              <a:t>		00 00 00 00 00 …  	   or 		000 000 000 000 000 …</a:t>
            </a:r>
          </a:p>
          <a:p>
            <a:r>
              <a:rPr lang="en-US" sz="2400" dirty="0"/>
              <a:t>If we misunderstand the question here and create a common solution to the two problems, the following problem may arise: {(00)or(000)}*</a:t>
            </a:r>
            <a:r>
              <a:rPr lang="tr-TR" sz="2400" dirty="0"/>
              <a:t> </a:t>
            </a:r>
            <a:r>
              <a:rPr lang="en-US" sz="2400" dirty="0"/>
              <a:t>Then this wrong solution may mistakenly accept the following string.</a:t>
            </a:r>
            <a:endParaRPr lang="tr-TR" sz="2400" dirty="0"/>
          </a:p>
          <a:p>
            <a:pPr marL="0" indent="0">
              <a:buNone/>
            </a:pPr>
            <a:r>
              <a:rPr lang="en-US" sz="2400" dirty="0"/>
              <a:t>		00 0</a:t>
            </a:r>
            <a:r>
              <a:rPr lang="tr-TR" sz="2400" dirty="0"/>
              <a:t>0</a:t>
            </a:r>
            <a:r>
              <a:rPr lang="en-US" sz="2400" dirty="0"/>
              <a:t>0 00 00 0</a:t>
            </a:r>
            <a:r>
              <a:rPr lang="tr-TR" sz="2400" dirty="0"/>
              <a:t>0  </a:t>
            </a:r>
            <a:r>
              <a:rPr lang="tr-TR" sz="3200" dirty="0">
                <a:solidFill>
                  <a:srgbClr val="FF0000"/>
                </a:solidFill>
              </a:rPr>
              <a:t>X</a:t>
            </a:r>
            <a:endParaRPr lang="en-US" sz="2400" dirty="0">
              <a:solidFill>
                <a:srgbClr val="FF0000"/>
              </a:solidFill>
            </a:endParaRPr>
          </a:p>
        </p:txBody>
      </p:sp>
      <p:sp>
        <p:nvSpPr>
          <p:cNvPr id="9"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a:t>
            </a:r>
            <a:r>
              <a:rPr lang="en-US" dirty="0">
                <a:solidFill>
                  <a:schemeClr val="tx1"/>
                </a:solidFill>
              </a:rPr>
              <a:t>third</a:t>
            </a:r>
            <a:r>
              <a:rPr lang="en-US" dirty="0"/>
              <a:t> example</a:t>
            </a:r>
          </a:p>
        </p:txBody>
      </p:sp>
    </p:spTree>
    <p:extLst>
      <p:ext uri="{BB962C8B-B14F-4D97-AF65-F5344CB8AC3E}">
        <p14:creationId xmlns:p14="http://schemas.microsoft.com/office/powerpoint/2010/main" val="128980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Metin kutusu 32">
            <a:extLst>
              <a:ext uri="{FF2B5EF4-FFF2-40B4-BE49-F238E27FC236}">
                <a16:creationId xmlns:a16="http://schemas.microsoft.com/office/drawing/2014/main" id="{0A46E75F-496E-D99E-FD8A-EC64DF94EAF7}"/>
              </a:ext>
            </a:extLst>
          </p:cNvPr>
          <p:cNvSpPr txBox="1"/>
          <p:nvPr/>
        </p:nvSpPr>
        <p:spPr>
          <a:xfrm>
            <a:off x="5014451" y="1489587"/>
            <a:ext cx="6818684" cy="5029199"/>
          </a:xfrm>
          <a:prstGeom prst="rect">
            <a:avLst/>
          </a:prstGeom>
        </p:spPr>
        <p:txBody>
          <a:bodyPr vert="horz" lIns="91440" tIns="45720" rIns="91440" bIns="45720" rtlCol="0" anchor="ctr">
            <a:noAutofit/>
          </a:bodyPr>
          <a:lstStyle/>
          <a:p>
            <a:pPr>
              <a:lnSpc>
                <a:spcPct val="90000"/>
              </a:lnSpc>
              <a:spcAft>
                <a:spcPts val="600"/>
              </a:spcAft>
            </a:pPr>
            <a:r>
              <a:rPr lang="en-US" sz="2400" dirty="0"/>
              <a:t>In fact, this solution is the union of the two languages.</a:t>
            </a:r>
            <a:endParaRPr lang="tr-TR" sz="2400" dirty="0"/>
          </a:p>
          <a:p>
            <a:pPr>
              <a:lnSpc>
                <a:spcPct val="90000"/>
              </a:lnSpc>
              <a:spcAft>
                <a:spcPts val="600"/>
              </a:spcAft>
            </a:pPr>
            <a:endParaRPr lang="en-US" sz="2400" dirty="0"/>
          </a:p>
          <a:p>
            <a:pPr>
              <a:lnSpc>
                <a:spcPct val="90000"/>
              </a:lnSpc>
              <a:spcAft>
                <a:spcPts val="600"/>
              </a:spcAft>
            </a:pPr>
            <a:r>
              <a:rPr lang="tr-TR" sz="2400" dirty="0"/>
              <a:t>	</a:t>
            </a:r>
            <a:r>
              <a:rPr lang="en-US" sz="2400" dirty="0"/>
              <a:t>A = </a:t>
            </a:r>
            <a:r>
              <a:rPr lang="tr-TR" sz="2400" dirty="0"/>
              <a:t>A</a:t>
            </a:r>
            <a:r>
              <a:rPr lang="tr-TR" sz="2400" baseline="-25000" dirty="0"/>
              <a:t>1</a:t>
            </a:r>
            <a:r>
              <a:rPr lang="en-US" sz="2400" dirty="0"/>
              <a:t> U </a:t>
            </a:r>
            <a:r>
              <a:rPr lang="tr-TR" sz="2400" dirty="0"/>
              <a:t>A</a:t>
            </a:r>
            <a:r>
              <a:rPr lang="tr-TR" sz="2400" baseline="-25000" dirty="0"/>
              <a:t>2</a:t>
            </a:r>
          </a:p>
          <a:p>
            <a:pPr>
              <a:lnSpc>
                <a:spcPct val="90000"/>
              </a:lnSpc>
              <a:spcAft>
                <a:spcPts val="600"/>
              </a:spcAft>
            </a:pPr>
            <a:endParaRPr lang="tr-TR" sz="2400" dirty="0"/>
          </a:p>
          <a:p>
            <a:pPr>
              <a:lnSpc>
                <a:spcPct val="90000"/>
              </a:lnSpc>
              <a:spcAft>
                <a:spcPts val="600"/>
              </a:spcAft>
            </a:pPr>
            <a:r>
              <a:rPr lang="tr-TR" sz="2400" dirty="0"/>
              <a:t>A</a:t>
            </a:r>
            <a:r>
              <a:rPr lang="tr-TR" sz="2400" baseline="-25000" dirty="0"/>
              <a:t>1</a:t>
            </a:r>
            <a:r>
              <a:rPr lang="en-US" sz="2400" dirty="0"/>
              <a:t> accepts the strings when their lengths are multiple of two. </a:t>
            </a:r>
            <a:r>
              <a:rPr lang="tr-TR" sz="2400" dirty="0"/>
              <a:t>A</a:t>
            </a:r>
            <a:r>
              <a:rPr lang="tr-TR" sz="2400" baseline="-25000" dirty="0"/>
              <a:t>2 </a:t>
            </a:r>
            <a:r>
              <a:rPr lang="en-US" sz="2400" dirty="0"/>
              <a:t>accepts when the length is multiple of three.</a:t>
            </a:r>
            <a:endParaRPr lang="tr-TR" sz="2400" dirty="0"/>
          </a:p>
          <a:p>
            <a:pPr>
              <a:lnSpc>
                <a:spcPct val="90000"/>
              </a:lnSpc>
              <a:spcAft>
                <a:spcPts val="600"/>
              </a:spcAft>
            </a:pPr>
            <a:endParaRPr lang="en-US" sz="2400" dirty="0"/>
          </a:p>
        </p:txBody>
      </p:sp>
      <p:sp>
        <p:nvSpPr>
          <p:cNvPr id="27"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a:t>
            </a:r>
            <a:r>
              <a:rPr lang="en-US" dirty="0">
                <a:solidFill>
                  <a:schemeClr val="tx1"/>
                </a:solidFill>
              </a:rPr>
              <a:t>third</a:t>
            </a:r>
            <a:r>
              <a:rPr lang="en-US" dirty="0"/>
              <a:t> example</a:t>
            </a:r>
          </a:p>
        </p:txBody>
      </p:sp>
      <p:pic>
        <p:nvPicPr>
          <p:cNvPr id="2" name="Resim 1"/>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65470" y="1725560"/>
            <a:ext cx="4748981" cy="5132440"/>
          </a:xfrm>
          <a:prstGeom prst="rect">
            <a:avLst/>
          </a:prstGeom>
        </p:spPr>
      </p:pic>
    </p:spTree>
    <p:extLst>
      <p:ext uri="{BB962C8B-B14F-4D97-AF65-F5344CB8AC3E}">
        <p14:creationId xmlns:p14="http://schemas.microsoft.com/office/powerpoint/2010/main" val="3613577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endParaRPr lang="en-US" sz="2800"/>
          </a:p>
          <a:p>
            <a:r>
              <a:rPr lang="en-US" sz="2800"/>
              <a:t>That’s all.</a:t>
            </a:r>
          </a:p>
          <a:p>
            <a:endParaRPr lang="en-US" sz="2800"/>
          </a:p>
          <a:p>
            <a:r>
              <a:rPr lang="en-US" altLang="tr-TR" sz="2800"/>
              <a:t>Thanks for listening.</a:t>
            </a:r>
          </a:p>
        </p:txBody>
      </p:sp>
    </p:spTree>
    <p:extLst>
      <p:ext uri="{BB962C8B-B14F-4D97-AF65-F5344CB8AC3E}">
        <p14:creationId xmlns:p14="http://schemas.microsoft.com/office/powerpoint/2010/main" val="2692347392"/>
      </p:ext>
    </p:extLst>
  </p:cSld>
  <p:clrMapOvr>
    <a:masterClrMapping/>
  </p:clrMapOvr>
</p:sld>
</file>

<file path=ppt/theme/theme1.xml><?xml version="1.0" encoding="utf-8"?>
<a:theme xmlns:a="http://schemas.openxmlformats.org/drawingml/2006/main" name="Duman">
  <a:themeElements>
    <a:clrScheme name="Turuncu Kırmız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2089</TotalTime>
  <Words>1488</Words>
  <Application>Microsoft Macintosh PowerPoint</Application>
  <PresentationFormat>Geniş ekran</PresentationFormat>
  <Paragraphs>126</Paragraphs>
  <Slides>12</Slides>
  <Notes>12</Notes>
  <HiddenSlides>0</HiddenSlides>
  <MMClips>0</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12</vt:i4>
      </vt:variant>
    </vt:vector>
  </HeadingPairs>
  <TitlesOfParts>
    <vt:vector size="21" baseType="lpstr">
      <vt:lpstr>Arial</vt:lpstr>
      <vt:lpstr>Calibri</vt:lpstr>
      <vt:lpstr>Century Gothic</vt:lpstr>
      <vt:lpstr>CMMI12</vt:lpstr>
      <vt:lpstr>CMR12</vt:lpstr>
      <vt:lpstr>CMSY10</vt:lpstr>
      <vt:lpstr>CMTI12</vt:lpstr>
      <vt:lpstr>Wingdings 3</vt:lpstr>
      <vt:lpstr>Duman</vt:lpstr>
      <vt:lpstr> Theory of Computation  Lesson 2</vt:lpstr>
      <vt:lpstr>Why we need Non-Deterministic Automata ?</vt:lpstr>
      <vt:lpstr>Uncertainties in NFA</vt:lpstr>
      <vt:lpstr>Formal Definition</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Computation</dc:title>
  <dc:creator>Prof.Dr. Umut ORHAN</dc:creator>
  <cp:lastModifiedBy>Prof.Dr. Umut ORHAN</cp:lastModifiedBy>
  <cp:revision>36</cp:revision>
  <dcterms:created xsi:type="dcterms:W3CDTF">2022-09-29T06:50:07Z</dcterms:created>
  <dcterms:modified xsi:type="dcterms:W3CDTF">2025-11-21T06:53:37Z</dcterms:modified>
</cp:coreProperties>
</file>