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1"/>
  </p:sldMasterIdLst>
  <p:notesMasterIdLst>
    <p:notesMasterId r:id="rId29"/>
  </p:notesMasterIdLst>
  <p:sldIdLst>
    <p:sldId id="284" r:id="rId2"/>
    <p:sldId id="257" r:id="rId3"/>
    <p:sldId id="260" r:id="rId4"/>
    <p:sldId id="261" r:id="rId5"/>
    <p:sldId id="265" r:id="rId6"/>
    <p:sldId id="263" r:id="rId7"/>
    <p:sldId id="264" r:id="rId8"/>
    <p:sldId id="266" r:id="rId9"/>
    <p:sldId id="262" r:id="rId10"/>
    <p:sldId id="301" r:id="rId11"/>
    <p:sldId id="268" r:id="rId12"/>
    <p:sldId id="302" r:id="rId13"/>
    <p:sldId id="269" r:id="rId14"/>
    <p:sldId id="286" r:id="rId15"/>
    <p:sldId id="270" r:id="rId16"/>
    <p:sldId id="271" r:id="rId17"/>
    <p:sldId id="273" r:id="rId18"/>
    <p:sldId id="272" r:id="rId19"/>
    <p:sldId id="276" r:id="rId20"/>
    <p:sldId id="277" r:id="rId21"/>
    <p:sldId id="278" r:id="rId22"/>
    <p:sldId id="274" r:id="rId23"/>
    <p:sldId id="279" r:id="rId24"/>
    <p:sldId id="275" r:id="rId25"/>
    <p:sldId id="282" r:id="rId26"/>
    <p:sldId id="285" r:id="rId27"/>
    <p:sldId id="303" r:id="rId28"/>
  </p:sldIdLst>
  <p:sldSz cx="12192000" cy="6858000"/>
  <p:notesSz cx="6858000" cy="9144000"/>
  <p:custDataLst>
    <p:tags r:id="rId3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49"/>
    <p:restoredTop sz="81158"/>
  </p:normalViewPr>
  <p:slideViewPr>
    <p:cSldViewPr snapToGrid="0">
      <p:cViewPr varScale="1">
        <p:scale>
          <a:sx n="100" d="100"/>
          <a:sy n="100" d="100"/>
        </p:scale>
        <p:origin x="1816" y="176"/>
      </p:cViewPr>
      <p:guideLst/>
    </p:cSldViewPr>
  </p:slideViewPr>
  <p:outlineViewPr>
    <p:cViewPr>
      <p:scale>
        <a:sx n="33" d="100"/>
        <a:sy n="33" d="100"/>
      </p:scale>
      <p:origin x="0" y="-5464"/>
    </p:cViewPr>
  </p:outlin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0DDE67-59A0-3C4A-890A-468253F431D6}" type="datetimeFigureOut">
              <a:rPr lang="tr-TR" smtClean="0"/>
              <a:t>10.10.2023</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49F921-94E2-2146-8BC6-089D7989E1CD}" type="slidenum">
              <a:rPr lang="tr-TR" smtClean="0"/>
              <a:t>‹#›</a:t>
            </a:fld>
            <a:endParaRPr lang="tr-TR"/>
          </a:p>
        </p:txBody>
      </p:sp>
    </p:spTree>
    <p:extLst>
      <p:ext uri="{BB962C8B-B14F-4D97-AF65-F5344CB8AC3E}">
        <p14:creationId xmlns:p14="http://schemas.microsoft.com/office/powerpoint/2010/main" val="4031870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en-US"/>
              <a:t>It’s the first lesson of Theory of Computation. We’re gonna say hello with Deterministic Finite State Automata. Let’s start to lesson.</a:t>
            </a:r>
          </a:p>
          <a:p>
            <a:endParaRPr lang="tr-TR"/>
          </a:p>
        </p:txBody>
      </p:sp>
      <p:sp>
        <p:nvSpPr>
          <p:cNvPr id="4" name="Slayt Numarası Yer Tutucusu 3"/>
          <p:cNvSpPr>
            <a:spLocks noGrp="1"/>
          </p:cNvSpPr>
          <p:nvPr>
            <p:ph type="sldNum" sz="quarter" idx="10"/>
          </p:nvPr>
        </p:nvSpPr>
        <p:spPr/>
        <p:txBody>
          <a:bodyPr/>
          <a:lstStyle/>
          <a:p>
            <a:fld id="{6049F921-94E2-2146-8BC6-089D7989E1CD}" type="slidenum">
              <a:rPr lang="tr-TR" smtClean="0"/>
              <a:t>1</a:t>
            </a:fld>
            <a:endParaRPr lang="tr-TR"/>
          </a:p>
        </p:txBody>
      </p:sp>
    </p:spTree>
    <p:extLst>
      <p:ext uri="{BB962C8B-B14F-4D97-AF65-F5344CB8AC3E}">
        <p14:creationId xmlns:p14="http://schemas.microsoft.com/office/powerpoint/2010/main" val="2892103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en-US" noProof="0"/>
              <a:t>The transition system in this animation is called tollgate. Nowadays, instead of cash, we are opening this kind of gates with active or passive radio waves. But in our example, we're going to consider using cash. Thus, we'll learn how the cash-based tollgates worked.</a:t>
            </a:r>
          </a:p>
          <a:p>
            <a:endParaRPr lang="tr-TR"/>
          </a:p>
        </p:txBody>
      </p:sp>
      <p:sp>
        <p:nvSpPr>
          <p:cNvPr id="4" name="Slayt Numarası Yer Tutucusu 3"/>
          <p:cNvSpPr>
            <a:spLocks noGrp="1"/>
          </p:cNvSpPr>
          <p:nvPr>
            <p:ph type="sldNum" sz="quarter" idx="5"/>
          </p:nvPr>
        </p:nvSpPr>
        <p:spPr/>
        <p:txBody>
          <a:bodyPr/>
          <a:lstStyle/>
          <a:p>
            <a:fld id="{6049F921-94E2-2146-8BC6-089D7989E1CD}" type="slidenum">
              <a:rPr lang="tr-TR" smtClean="0"/>
              <a:t>2</a:t>
            </a:fld>
            <a:endParaRPr lang="tr-TR"/>
          </a:p>
        </p:txBody>
      </p:sp>
    </p:spTree>
    <p:extLst>
      <p:ext uri="{BB962C8B-B14F-4D97-AF65-F5344CB8AC3E}">
        <p14:creationId xmlns:p14="http://schemas.microsoft.com/office/powerpoint/2010/main" val="3013543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a:t>Let's imagine you opened your gate with 25 cents.</a:t>
            </a:r>
          </a:p>
          <a:p>
            <a:r>
              <a:rPr lang="en-US"/>
              <a:t>In this lesson, we will learn to turn every problem into a language problem.</a:t>
            </a:r>
          </a:p>
          <a:p>
            <a:r>
              <a:rPr lang="en-US"/>
              <a:t>So every coin will now represent the letters that make up a word for us.</a:t>
            </a:r>
          </a:p>
          <a:p>
            <a:r>
              <a:rPr lang="en-US"/>
              <a:t>For example, 5 10 and 25 cent coins will turn into letters A B and C. </a:t>
            </a:r>
          </a:p>
          <a:p>
            <a:r>
              <a:rPr lang="en-US"/>
              <a:t>Now let's think mathematically about how we can open the gate.</a:t>
            </a:r>
          </a:p>
          <a:p>
            <a:r>
              <a:rPr lang="en-US"/>
              <a:t>First you can throw five times 5 cents to open the gate.</a:t>
            </a:r>
          </a:p>
          <a:p>
            <a:r>
              <a:rPr lang="en-US"/>
              <a:t>This solution is perceived by the automaton as a string with five 'A’s.</a:t>
            </a:r>
          </a:p>
          <a:p>
            <a:r>
              <a:rPr lang="en-US"/>
              <a:t>Another solution is 5 + 10 + 10. It is perceived as A B B</a:t>
            </a:r>
          </a:p>
          <a:p>
            <a:pPr marL="0" marR="0" lvl="0" indent="0" algn="l" defTabSz="914400" rtl="0" eaLnBrk="1" fontAlgn="auto" latinLnBrk="0" hangingPunct="1">
              <a:lnSpc>
                <a:spcPct val="100000"/>
              </a:lnSpc>
              <a:spcBef>
                <a:spcPct val="0"/>
              </a:spcBef>
              <a:spcAft>
                <a:spcPct val="0"/>
              </a:spcAft>
              <a:buClrTx/>
              <a:buSzTx/>
              <a:buFontTx/>
              <a:buNone/>
              <a:defRPr/>
            </a:pPr>
            <a:r>
              <a:rPr lang="en-US"/>
              <a:t>And so on.</a:t>
            </a:r>
          </a:p>
          <a:p>
            <a:r>
              <a:rPr lang="en-US"/>
              <a:t>Thus our problem has been transformed into a language problem. Now we must figure out which words should be accepted.</a:t>
            </a:r>
          </a:p>
        </p:txBody>
      </p:sp>
      <p:sp>
        <p:nvSpPr>
          <p:cNvPr id="4" name="Slayt Numarası Yer Tutucusu 3"/>
          <p:cNvSpPr>
            <a:spLocks noGrp="1"/>
          </p:cNvSpPr>
          <p:nvPr>
            <p:ph type="sldNum" sz="quarter" idx="5"/>
          </p:nvPr>
        </p:nvSpPr>
        <p:spPr/>
        <p:txBody>
          <a:bodyPr/>
          <a:lstStyle/>
          <a:p>
            <a:fld id="{6049F921-94E2-2146-8BC6-089D7989E1CD}" type="slidenum">
              <a:rPr lang="tr-TR" smtClean="0"/>
              <a:t>3</a:t>
            </a:fld>
            <a:endParaRPr lang="tr-TR"/>
          </a:p>
        </p:txBody>
      </p:sp>
    </p:spTree>
    <p:extLst>
      <p:ext uri="{BB962C8B-B14F-4D97-AF65-F5344CB8AC3E}">
        <p14:creationId xmlns:p14="http://schemas.microsoft.com/office/powerpoint/2010/main" val="1615928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a:t>But... Wait! We have a problem. You cannot use traditional programming methods here. Because automaton systems have no memory! So you cannot use variables.</a:t>
            </a:r>
          </a:p>
          <a:p>
            <a:r>
              <a:rPr lang="en-US"/>
              <a:t>When the user puts to machine a new coin, the system cannot remember how much coin has been thrown in total until that moment. </a:t>
            </a:r>
          </a:p>
          <a:p>
            <a:r>
              <a:rPr lang="en-US"/>
              <a:t>Therefore the system cannot calculate how much more coins needs to be thrown to open the gate.</a:t>
            </a:r>
          </a:p>
        </p:txBody>
      </p:sp>
      <p:sp>
        <p:nvSpPr>
          <p:cNvPr id="4" name="Slayt Numarası Yer Tutucusu 3"/>
          <p:cNvSpPr>
            <a:spLocks noGrp="1"/>
          </p:cNvSpPr>
          <p:nvPr>
            <p:ph type="sldNum" sz="quarter" idx="5"/>
          </p:nvPr>
        </p:nvSpPr>
        <p:spPr/>
        <p:txBody>
          <a:bodyPr/>
          <a:lstStyle/>
          <a:p>
            <a:fld id="{6049F921-94E2-2146-8BC6-089D7989E1CD}" type="slidenum">
              <a:rPr lang="tr-TR" smtClean="0"/>
              <a:t>4</a:t>
            </a:fld>
            <a:endParaRPr lang="tr-TR"/>
          </a:p>
        </p:txBody>
      </p:sp>
    </p:spTree>
    <p:extLst>
      <p:ext uri="{BB962C8B-B14F-4D97-AF65-F5344CB8AC3E}">
        <p14:creationId xmlns:p14="http://schemas.microsoft.com/office/powerpoint/2010/main" val="9589626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en-US" sz="1200" kern="1200">
                <a:solidFill>
                  <a:schemeClr val="tx1"/>
                </a:solidFill>
                <a:latin typeface="+mj-lt"/>
                <a:ea typeface="+mj-ea"/>
                <a:cs typeface="+mj-cs"/>
              </a:rPr>
              <a:t>Finite State Automata use states to remember situations instead of variables.</a:t>
            </a:r>
          </a:p>
          <a:p>
            <a:pPr marL="0" marR="0" lvl="0" indent="0" algn="l" defTabSz="914400" rtl="0" eaLnBrk="1" fontAlgn="auto" latinLnBrk="0" hangingPunct="1">
              <a:lnSpc>
                <a:spcPct val="100000"/>
              </a:lnSpc>
              <a:spcBef>
                <a:spcPct val="0"/>
              </a:spcBef>
              <a:spcAft>
                <a:spcPct val="0"/>
              </a:spcAft>
              <a:buClrTx/>
              <a:buSzTx/>
              <a:buFontTx/>
              <a:buNone/>
              <a:defRPr/>
            </a:pPr>
            <a:r>
              <a:rPr lang="en-US" sz="1200" kern="1200">
                <a:solidFill>
                  <a:schemeClr val="tx1"/>
                </a:solidFill>
                <a:latin typeface="+mj-lt"/>
                <a:ea typeface="+mj-ea"/>
                <a:cs typeface="+mj-cs"/>
              </a:rPr>
              <a:t>Here we have six circles and each circle represents a state. </a:t>
            </a:r>
          </a:p>
          <a:p>
            <a:pPr marL="0" marR="0" lvl="0" indent="0" algn="l" defTabSz="914400" rtl="0" eaLnBrk="1" fontAlgn="auto" latinLnBrk="0" hangingPunct="1">
              <a:lnSpc>
                <a:spcPct val="100000"/>
              </a:lnSpc>
              <a:spcBef>
                <a:spcPct val="0"/>
              </a:spcBef>
              <a:spcAft>
                <a:spcPct val="0"/>
              </a:spcAft>
              <a:buClrTx/>
              <a:buSzTx/>
              <a:buFontTx/>
              <a:buNone/>
              <a:defRPr/>
            </a:pPr>
            <a:endParaRPr lang="en-US" sz="1200" kern="1200">
              <a:solidFill>
                <a:schemeClr val="tx1"/>
              </a:solidFill>
              <a:latin typeface="+mj-lt"/>
              <a:ea typeface="+mj-ea"/>
              <a:cs typeface="+mj-cs"/>
            </a:endParaRPr>
          </a:p>
        </p:txBody>
      </p:sp>
      <p:sp>
        <p:nvSpPr>
          <p:cNvPr id="4" name="Slayt Numarası Yer Tutucusu 3"/>
          <p:cNvSpPr>
            <a:spLocks noGrp="1"/>
          </p:cNvSpPr>
          <p:nvPr>
            <p:ph type="sldNum" sz="quarter" idx="5"/>
          </p:nvPr>
        </p:nvSpPr>
        <p:spPr/>
        <p:txBody>
          <a:bodyPr/>
          <a:lstStyle/>
          <a:p>
            <a:fld id="{6049F921-94E2-2146-8BC6-089D7989E1CD}" type="slidenum">
              <a:rPr lang="tr-TR" smtClean="0"/>
              <a:t>5</a:t>
            </a:fld>
            <a:endParaRPr lang="tr-TR"/>
          </a:p>
        </p:txBody>
      </p:sp>
    </p:spTree>
    <p:extLst>
      <p:ext uri="{BB962C8B-B14F-4D97-AF65-F5344CB8AC3E}">
        <p14:creationId xmlns:p14="http://schemas.microsoft.com/office/powerpoint/2010/main" val="39766367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a:t>If we want to solve the toll-gate problem with finite state automata, we should see the coins thrown to open the gate as letters on the keyboard.</a:t>
            </a:r>
          </a:p>
        </p:txBody>
      </p:sp>
      <p:sp>
        <p:nvSpPr>
          <p:cNvPr id="4" name="Slayt Numarası Yer Tutucusu 3"/>
          <p:cNvSpPr>
            <a:spLocks noGrp="1"/>
          </p:cNvSpPr>
          <p:nvPr>
            <p:ph type="sldNum" sz="quarter" idx="5"/>
          </p:nvPr>
        </p:nvSpPr>
        <p:spPr/>
        <p:txBody>
          <a:bodyPr/>
          <a:lstStyle/>
          <a:p>
            <a:fld id="{6049F921-94E2-2146-8BC6-089D7989E1CD}" type="slidenum">
              <a:rPr lang="tr-TR" smtClean="0"/>
              <a:t>6</a:t>
            </a:fld>
            <a:endParaRPr lang="tr-TR"/>
          </a:p>
        </p:txBody>
      </p:sp>
    </p:spTree>
    <p:extLst>
      <p:ext uri="{BB962C8B-B14F-4D97-AF65-F5344CB8AC3E}">
        <p14:creationId xmlns:p14="http://schemas.microsoft.com/office/powerpoint/2010/main" val="40350546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a:t>We will design a automaton to solve toll-gate problem by transforming coins to letters.</a:t>
            </a:r>
          </a:p>
        </p:txBody>
      </p:sp>
      <p:sp>
        <p:nvSpPr>
          <p:cNvPr id="4" name="Slayt Numarası Yer Tutucusu 3"/>
          <p:cNvSpPr>
            <a:spLocks noGrp="1"/>
          </p:cNvSpPr>
          <p:nvPr>
            <p:ph type="sldNum" sz="quarter" idx="5"/>
          </p:nvPr>
        </p:nvSpPr>
        <p:spPr/>
        <p:txBody>
          <a:bodyPr/>
          <a:lstStyle/>
          <a:p>
            <a:fld id="{6049F921-94E2-2146-8BC6-089D7989E1CD}" type="slidenum">
              <a:rPr lang="tr-TR" smtClean="0"/>
              <a:t>7</a:t>
            </a:fld>
            <a:endParaRPr lang="tr-TR"/>
          </a:p>
        </p:txBody>
      </p:sp>
    </p:spTree>
    <p:extLst>
      <p:ext uri="{BB962C8B-B14F-4D97-AF65-F5344CB8AC3E}">
        <p14:creationId xmlns:p14="http://schemas.microsoft.com/office/powerpoint/2010/main" val="3096905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en-US" sz="1200" kern="1200">
                <a:solidFill>
                  <a:schemeClr val="tx1"/>
                </a:solidFill>
                <a:latin typeface="+mj-lt"/>
                <a:ea typeface="+mj-ea"/>
                <a:cs typeface="+mj-cs"/>
              </a:rPr>
              <a:t>First, we need a set of states. Each state is used to remember something.</a:t>
            </a:r>
          </a:p>
          <a:p>
            <a:pPr marL="0" marR="0" lvl="0" indent="0" algn="l" defTabSz="914400" rtl="0" eaLnBrk="1" fontAlgn="auto" latinLnBrk="0" hangingPunct="1">
              <a:lnSpc>
                <a:spcPct val="100000"/>
              </a:lnSpc>
              <a:spcBef>
                <a:spcPct val="0"/>
              </a:spcBef>
              <a:spcAft>
                <a:spcPct val="0"/>
              </a:spcAft>
              <a:buClrTx/>
              <a:buSzTx/>
              <a:buFontTx/>
              <a:buNone/>
              <a:defRPr/>
            </a:pPr>
            <a:r>
              <a:rPr lang="en-US" sz="1200" kern="1200">
                <a:solidFill>
                  <a:schemeClr val="tx1"/>
                </a:solidFill>
                <a:latin typeface="+mj-lt"/>
                <a:ea typeface="+mj-ea"/>
                <a:cs typeface="+mj-cs"/>
              </a:rPr>
              <a:t>For example in the solution of toll-gate opening with 25 cents problem Q-zero is the initial state. So we use it to remember that there is no money at the automaton yet.</a:t>
            </a:r>
          </a:p>
          <a:p>
            <a:pPr marL="0" marR="0" lvl="0" indent="0" algn="l" defTabSz="914400" rtl="0" eaLnBrk="1" fontAlgn="auto" latinLnBrk="0" hangingPunct="1">
              <a:lnSpc>
                <a:spcPct val="100000"/>
              </a:lnSpc>
              <a:spcBef>
                <a:spcPct val="0"/>
              </a:spcBef>
              <a:spcAft>
                <a:spcPct val="0"/>
              </a:spcAft>
              <a:buClrTx/>
              <a:buSzTx/>
              <a:buFontTx/>
              <a:buNone/>
              <a:defRPr/>
            </a:pPr>
            <a:r>
              <a:rPr lang="en-US" sz="1200" kern="1200">
                <a:solidFill>
                  <a:schemeClr val="tx1"/>
                </a:solidFill>
                <a:latin typeface="+mj-lt"/>
                <a:ea typeface="+mj-ea"/>
                <a:cs typeface="+mj-cs"/>
              </a:rPr>
              <a:t>Q-one shows we have 5 cents only, likewise Q-two is 10 cents. Thus you can comment Q-three and Q-four. Finally the Q-five represents 25 cents which is our target. Now we have defined the tasks of the states to use in our solution.</a:t>
            </a:r>
          </a:p>
        </p:txBody>
      </p:sp>
      <p:sp>
        <p:nvSpPr>
          <p:cNvPr id="4" name="Slayt Numarası Yer Tutucusu 3"/>
          <p:cNvSpPr>
            <a:spLocks noGrp="1"/>
          </p:cNvSpPr>
          <p:nvPr>
            <p:ph type="sldNum" sz="quarter" idx="5"/>
          </p:nvPr>
        </p:nvSpPr>
        <p:spPr/>
        <p:txBody>
          <a:bodyPr/>
          <a:lstStyle/>
          <a:p>
            <a:fld id="{6049F921-94E2-2146-8BC6-089D7989E1CD}" type="slidenum">
              <a:rPr lang="tr-TR" smtClean="0"/>
              <a:t>8</a:t>
            </a:fld>
            <a:endParaRPr lang="tr-TR"/>
          </a:p>
        </p:txBody>
      </p:sp>
    </p:spTree>
    <p:extLst>
      <p:ext uri="{BB962C8B-B14F-4D97-AF65-F5344CB8AC3E}">
        <p14:creationId xmlns:p14="http://schemas.microsoft.com/office/powerpoint/2010/main" val="3320462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en-US" sz="1200" b="0"/>
              <a:t>Second, we need an Alphabet.</a:t>
            </a:r>
          </a:p>
          <a:p>
            <a:pPr marL="0" marR="0" lvl="0" indent="0" algn="l" defTabSz="914400" rtl="0" eaLnBrk="1" fontAlgn="auto" latinLnBrk="0" hangingPunct="1">
              <a:lnSpc>
                <a:spcPct val="100000"/>
              </a:lnSpc>
              <a:spcBef>
                <a:spcPct val="0"/>
              </a:spcBef>
              <a:spcAft>
                <a:spcPct val="0"/>
              </a:spcAft>
              <a:buClrTx/>
              <a:buSzTx/>
              <a:buFontTx/>
              <a:buNone/>
              <a:defRPr/>
            </a:pPr>
            <a:r>
              <a:rPr lang="en-US" sz="1200" b="0"/>
              <a:t>Since each coin the user throws will correspond to a letter we must first define an alphabet and map which symbol each coin corresponds to.</a:t>
            </a:r>
            <a:endParaRPr lang="tr-TR"/>
          </a:p>
        </p:txBody>
      </p:sp>
      <p:sp>
        <p:nvSpPr>
          <p:cNvPr id="4" name="Slayt Numarası Yer Tutucusu 3"/>
          <p:cNvSpPr>
            <a:spLocks noGrp="1"/>
          </p:cNvSpPr>
          <p:nvPr>
            <p:ph type="sldNum" sz="quarter" idx="10"/>
          </p:nvPr>
        </p:nvSpPr>
        <p:spPr/>
        <p:txBody>
          <a:bodyPr/>
          <a:lstStyle/>
          <a:p>
            <a:fld id="{6049F921-94E2-2146-8BC6-089D7989E1CD}" type="slidenum">
              <a:rPr lang="tr-TR" smtClean="0"/>
              <a:t>9</a:t>
            </a:fld>
            <a:endParaRPr lang="tr-TR"/>
          </a:p>
        </p:txBody>
      </p:sp>
    </p:spTree>
    <p:extLst>
      <p:ext uri="{BB962C8B-B14F-4D97-AF65-F5344CB8AC3E}">
        <p14:creationId xmlns:p14="http://schemas.microsoft.com/office/powerpoint/2010/main" val="2388422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a:t>Third, we need to describe transitions among the defined states.</a:t>
            </a:r>
          </a:p>
          <a:p>
            <a:r>
              <a:rPr lang="en-US"/>
              <a:t>In fact it's easier to plan transitions once you've identified the tasks of the states. Since we're gonna write a deterministic program anyway, we have to represent each symbol in our alphabet as an arrow going out of each state. Note that we call the arrows as edges in graph theory. Like the others there should be three edges that come out of Q-zero: 5 cents 10 cents and 25 cents. We said that in our problem there are three exiting edges from each state in accordance with the alphabet but it is up to the programmer to determine which states they will lead to.</a:t>
            </a:r>
          </a:p>
        </p:txBody>
      </p:sp>
      <p:sp>
        <p:nvSpPr>
          <p:cNvPr id="4" name="Slayt Numarası Yer Tutucusu 3"/>
          <p:cNvSpPr>
            <a:spLocks noGrp="1"/>
          </p:cNvSpPr>
          <p:nvPr>
            <p:ph type="sldNum" sz="quarter" idx="5"/>
          </p:nvPr>
        </p:nvSpPr>
        <p:spPr/>
        <p:txBody>
          <a:bodyPr/>
          <a:lstStyle/>
          <a:p>
            <a:fld id="{6049F921-94E2-2146-8BC6-089D7989E1CD}" type="slidenum">
              <a:rPr lang="tr-TR" smtClean="0"/>
              <a:t>10</a:t>
            </a:fld>
            <a:endParaRPr lang="tr-TR"/>
          </a:p>
        </p:txBody>
      </p:sp>
    </p:spTree>
    <p:extLst>
      <p:ext uri="{BB962C8B-B14F-4D97-AF65-F5344CB8AC3E}">
        <p14:creationId xmlns:p14="http://schemas.microsoft.com/office/powerpoint/2010/main" val="6980180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a:t>Fourth, we have to define where the system will start.</a:t>
            </a:r>
          </a:p>
          <a:p>
            <a:r>
              <a:rPr lang="en-US" sz="1200"/>
              <a:t>One of the states defined to solve the problem must be identified as </a:t>
            </a:r>
            <a:r>
              <a:rPr lang="en-US" sz="1200" b="1"/>
              <a:t>Start</a:t>
            </a:r>
            <a:r>
              <a:rPr lang="en-US" sz="1200"/>
              <a:t> state or in other words initial state.</a:t>
            </a:r>
            <a:endParaRPr lang="tr-TR"/>
          </a:p>
        </p:txBody>
      </p:sp>
      <p:sp>
        <p:nvSpPr>
          <p:cNvPr id="4" name="Slayt Numarası Yer Tutucusu 3"/>
          <p:cNvSpPr>
            <a:spLocks noGrp="1"/>
          </p:cNvSpPr>
          <p:nvPr>
            <p:ph type="sldNum" sz="quarter" idx="10"/>
          </p:nvPr>
        </p:nvSpPr>
        <p:spPr/>
        <p:txBody>
          <a:bodyPr/>
          <a:lstStyle/>
          <a:p>
            <a:fld id="{6049F921-94E2-2146-8BC6-089D7989E1CD}" type="slidenum">
              <a:rPr lang="tr-TR" smtClean="0"/>
              <a:t>11</a:t>
            </a:fld>
            <a:endParaRPr lang="tr-TR"/>
          </a:p>
        </p:txBody>
      </p:sp>
    </p:spTree>
    <p:extLst>
      <p:ext uri="{BB962C8B-B14F-4D97-AF65-F5344CB8AC3E}">
        <p14:creationId xmlns:p14="http://schemas.microsoft.com/office/powerpoint/2010/main" val="5206877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a:t>Fifth, we need to define where the system will stop.</a:t>
            </a:r>
          </a:p>
          <a:p>
            <a:r>
              <a:rPr lang="en-US" sz="1200"/>
              <a:t>The states which should open the gate must be described as </a:t>
            </a:r>
            <a:r>
              <a:rPr lang="en-US" sz="1200" b="1"/>
              <a:t>Accept</a:t>
            </a:r>
            <a:r>
              <a:rPr lang="en-US" sz="1200"/>
              <a:t> state or in other words final state.</a:t>
            </a:r>
          </a:p>
          <a:p>
            <a:endParaRPr lang="tr-TR"/>
          </a:p>
        </p:txBody>
      </p:sp>
      <p:sp>
        <p:nvSpPr>
          <p:cNvPr id="4" name="Slayt Numarası Yer Tutucusu 3"/>
          <p:cNvSpPr>
            <a:spLocks noGrp="1"/>
          </p:cNvSpPr>
          <p:nvPr>
            <p:ph type="sldNum" sz="quarter" idx="10"/>
          </p:nvPr>
        </p:nvSpPr>
        <p:spPr/>
        <p:txBody>
          <a:bodyPr/>
          <a:lstStyle/>
          <a:p>
            <a:fld id="{6049F921-94E2-2146-8BC6-089D7989E1CD}" type="slidenum">
              <a:rPr lang="tr-TR" smtClean="0"/>
              <a:t>12</a:t>
            </a:fld>
            <a:endParaRPr lang="tr-TR"/>
          </a:p>
        </p:txBody>
      </p:sp>
    </p:spTree>
    <p:extLst>
      <p:ext uri="{BB962C8B-B14F-4D97-AF65-F5344CB8AC3E}">
        <p14:creationId xmlns:p14="http://schemas.microsoft.com/office/powerpoint/2010/main" val="3029154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800" noProof="0">
                <a:effectLst/>
                <a:latin typeface="CMR12"/>
              </a:rPr>
              <a:t>We now come to the formal definition of a finite automaton: </a:t>
            </a:r>
            <a:endParaRPr lang="en-US" noProof="0"/>
          </a:p>
          <a:p>
            <a:r>
              <a:rPr lang="en-US" sz="1800" noProof="0">
                <a:effectLst/>
                <a:latin typeface="CMBX12"/>
              </a:rPr>
              <a:t>Definition. </a:t>
            </a:r>
            <a:r>
              <a:rPr lang="en-US" sz="1800" noProof="0">
                <a:effectLst/>
                <a:latin typeface="CMR12"/>
              </a:rPr>
              <a:t>A </a:t>
            </a:r>
            <a:r>
              <a:rPr lang="en-US" sz="1800" noProof="0">
                <a:effectLst/>
                <a:latin typeface="CMTI12"/>
              </a:rPr>
              <a:t>finite automaton </a:t>
            </a:r>
            <a:r>
              <a:rPr lang="en-US" sz="1800" noProof="0">
                <a:effectLst/>
                <a:latin typeface="CMR12"/>
              </a:rPr>
              <a:t>is a 5-tuple </a:t>
            </a:r>
            <a:r>
              <a:rPr lang="en-US" sz="1800" noProof="0">
                <a:effectLst/>
                <a:latin typeface="CMMI12"/>
              </a:rPr>
              <a:t>M </a:t>
            </a:r>
            <a:r>
              <a:rPr lang="en-US" sz="1800" noProof="0">
                <a:effectLst/>
                <a:latin typeface="CMR12"/>
              </a:rPr>
              <a:t>= Capital </a:t>
            </a:r>
            <a:r>
              <a:rPr lang="en-US" sz="1800" noProof="0">
                <a:effectLst/>
                <a:latin typeface="CMMI12"/>
              </a:rPr>
              <a:t>Q </a:t>
            </a:r>
            <a:r>
              <a:rPr lang="en-US" sz="1800" noProof="0">
                <a:effectLst/>
                <a:latin typeface="CMR12"/>
              </a:rPr>
              <a:t>Capital sigma</a:t>
            </a:r>
            <a:r>
              <a:rPr lang="en-US" sz="1800" noProof="0">
                <a:effectLst/>
                <a:latin typeface="CMMI12"/>
              </a:rPr>
              <a:t> delta lowercase q capital F</a:t>
            </a:r>
            <a:r>
              <a:rPr lang="en-US" sz="1800" noProof="0">
                <a:effectLst/>
                <a:latin typeface="CMR12"/>
              </a:rPr>
              <a:t> </a:t>
            </a:r>
          </a:p>
          <a:p>
            <a:r>
              <a:rPr lang="en-US" sz="1800" noProof="0">
                <a:effectLst/>
                <a:latin typeface="CMR12"/>
              </a:rPr>
              <a:t>where Capital </a:t>
            </a:r>
            <a:r>
              <a:rPr lang="en-US" sz="1800" noProof="0">
                <a:effectLst/>
                <a:latin typeface="CMMI12"/>
              </a:rPr>
              <a:t>Q </a:t>
            </a:r>
            <a:r>
              <a:rPr lang="en-US" sz="1800" noProof="0">
                <a:effectLst/>
                <a:latin typeface="CMR12"/>
              </a:rPr>
              <a:t>is a finite set, whose elements are called </a:t>
            </a:r>
            <a:r>
              <a:rPr lang="en-US" sz="1800" noProof="0">
                <a:effectLst/>
                <a:latin typeface="CMTI12"/>
              </a:rPr>
              <a:t>states</a:t>
            </a:r>
            <a:r>
              <a:rPr lang="en-US" sz="1800" noProof="0">
                <a:effectLst/>
                <a:latin typeface="CMR12"/>
              </a:rPr>
              <a:t>,</a:t>
            </a:r>
            <a:br>
              <a:rPr lang="en-US" sz="1800" noProof="0">
                <a:effectLst/>
                <a:latin typeface="CMR12"/>
              </a:rPr>
            </a:br>
            <a:r>
              <a:rPr lang="en-US" sz="1800" noProof="0">
                <a:effectLst/>
                <a:latin typeface="CMR12"/>
              </a:rPr>
              <a:t>Capital sigma is a finite set called the </a:t>
            </a:r>
            <a:r>
              <a:rPr lang="en-US" sz="1800" noProof="0">
                <a:effectLst/>
                <a:latin typeface="CMTI12"/>
              </a:rPr>
              <a:t>alphabet</a:t>
            </a:r>
            <a:r>
              <a:rPr lang="en-US" sz="1800" noProof="0">
                <a:effectLst/>
                <a:latin typeface="CMR12"/>
              </a:rPr>
              <a:t>; the elements of sigma are called </a:t>
            </a:r>
            <a:r>
              <a:rPr lang="en-US" sz="1800" noProof="0">
                <a:effectLst/>
                <a:latin typeface="CMTI12"/>
              </a:rPr>
              <a:t>symbols</a:t>
            </a:r>
            <a:r>
              <a:rPr lang="en-US" sz="1800" noProof="0">
                <a:effectLst/>
                <a:latin typeface="CMR12"/>
              </a:rPr>
              <a:t>, </a:t>
            </a:r>
          </a:p>
          <a:p>
            <a:r>
              <a:rPr lang="en-US" sz="1800" noProof="0">
                <a:effectLst/>
                <a:latin typeface="CMMI12"/>
              </a:rPr>
              <a:t>Delta </a:t>
            </a:r>
            <a:r>
              <a:rPr lang="en-US" sz="1800" noProof="0">
                <a:effectLst/>
                <a:latin typeface="CMR12"/>
              </a:rPr>
              <a:t>is a function defined as cartesian product of Capital </a:t>
            </a:r>
            <a:r>
              <a:rPr lang="en-US" sz="1800" noProof="0">
                <a:effectLst/>
                <a:latin typeface="CMMI12"/>
              </a:rPr>
              <a:t>Q </a:t>
            </a:r>
            <a:r>
              <a:rPr lang="en-US" sz="1800" noProof="0">
                <a:effectLst/>
                <a:latin typeface="CMSY10"/>
              </a:rPr>
              <a:t>and Capital sigma</a:t>
            </a:r>
            <a:r>
              <a:rPr lang="en-US" sz="1800" noProof="0">
                <a:effectLst/>
                <a:latin typeface="CMR12"/>
              </a:rPr>
              <a:t> goes</a:t>
            </a:r>
            <a:r>
              <a:rPr lang="en-US" sz="1800" noProof="0">
                <a:effectLst/>
                <a:latin typeface="CMSY10"/>
              </a:rPr>
              <a:t> Capital </a:t>
            </a:r>
            <a:r>
              <a:rPr lang="en-US" sz="1800" noProof="0">
                <a:effectLst/>
                <a:latin typeface="CMMI12"/>
              </a:rPr>
              <a:t>Q</a:t>
            </a:r>
            <a:r>
              <a:rPr lang="en-US" sz="1800" noProof="0">
                <a:effectLst/>
                <a:latin typeface="CMR12"/>
              </a:rPr>
              <a:t> called the </a:t>
            </a:r>
            <a:r>
              <a:rPr lang="en-US" sz="1800" noProof="0">
                <a:effectLst/>
                <a:latin typeface="CMTI12"/>
              </a:rPr>
              <a:t>transition function</a:t>
            </a:r>
            <a:r>
              <a:rPr lang="en-US" sz="1800" noProof="0">
                <a:effectLst/>
                <a:latin typeface="CMR12"/>
              </a:rPr>
              <a:t>, </a:t>
            </a:r>
            <a:endParaRPr lang="en-US" noProof="0"/>
          </a:p>
          <a:p>
            <a:r>
              <a:rPr lang="en-US" sz="1800" noProof="0">
                <a:effectLst/>
                <a:latin typeface="CMR12"/>
              </a:rPr>
              <a:t>Lowercase </a:t>
            </a:r>
            <a:r>
              <a:rPr lang="en-US" sz="1800" noProof="0">
                <a:effectLst/>
                <a:latin typeface="CMMI12"/>
              </a:rPr>
              <a:t>q </a:t>
            </a:r>
            <a:r>
              <a:rPr lang="en-US" sz="1800" noProof="0">
                <a:effectLst/>
                <a:latin typeface="CMR12"/>
              </a:rPr>
              <a:t>is an element of </a:t>
            </a:r>
            <a:r>
              <a:rPr lang="en-US" sz="1800" noProof="0">
                <a:effectLst/>
                <a:latin typeface="CMMI12"/>
              </a:rPr>
              <a:t>Q</a:t>
            </a:r>
            <a:r>
              <a:rPr lang="en-US" sz="1800" noProof="0">
                <a:effectLst/>
                <a:latin typeface="CMR12"/>
              </a:rPr>
              <a:t>; it is called the </a:t>
            </a:r>
            <a:r>
              <a:rPr lang="en-US" sz="1800" noProof="0">
                <a:effectLst/>
                <a:latin typeface="CMTI12"/>
              </a:rPr>
              <a:t>start state</a:t>
            </a:r>
            <a:r>
              <a:rPr lang="en-US" sz="1800" noProof="0">
                <a:effectLst/>
                <a:latin typeface="CMR12"/>
              </a:rPr>
              <a:t>,</a:t>
            </a:r>
            <a:br>
              <a:rPr lang="en-US" sz="1800" noProof="0">
                <a:effectLst/>
                <a:latin typeface="CMR12"/>
              </a:rPr>
            </a:br>
            <a:r>
              <a:rPr lang="en-US" sz="1800" noProof="0">
                <a:effectLst/>
                <a:latin typeface="CMR12"/>
              </a:rPr>
              <a:t>Capital </a:t>
            </a:r>
            <a:r>
              <a:rPr lang="en-US" sz="1800" noProof="0">
                <a:effectLst/>
                <a:latin typeface="CMMI12"/>
              </a:rPr>
              <a:t>F </a:t>
            </a:r>
            <a:r>
              <a:rPr lang="en-US" sz="1800" noProof="0">
                <a:effectLst/>
                <a:latin typeface="CMR12"/>
              </a:rPr>
              <a:t>is a subset of Capital </a:t>
            </a:r>
            <a:r>
              <a:rPr lang="en-US" sz="1800" noProof="0">
                <a:effectLst/>
                <a:latin typeface="CMMI12"/>
              </a:rPr>
              <a:t>Q</a:t>
            </a:r>
            <a:r>
              <a:rPr lang="en-US" sz="1800" noProof="0">
                <a:effectLst/>
                <a:latin typeface="CMR12"/>
              </a:rPr>
              <a:t>, the elements of Capital </a:t>
            </a:r>
            <a:r>
              <a:rPr lang="en-US" sz="1800" noProof="0">
                <a:effectLst/>
                <a:latin typeface="CMMI12"/>
              </a:rPr>
              <a:t>F </a:t>
            </a:r>
            <a:r>
              <a:rPr lang="en-US" sz="1800" noProof="0">
                <a:effectLst/>
                <a:latin typeface="CMR12"/>
              </a:rPr>
              <a:t>are called </a:t>
            </a:r>
            <a:r>
              <a:rPr lang="en-US" sz="1800" noProof="0">
                <a:effectLst/>
                <a:latin typeface="CMTI12"/>
              </a:rPr>
              <a:t>accept states</a:t>
            </a:r>
            <a:r>
              <a:rPr lang="en-US" sz="1800" noProof="0">
                <a:effectLst/>
                <a:latin typeface="CMR12"/>
              </a:rPr>
              <a:t>. </a:t>
            </a:r>
            <a:endParaRPr lang="en-US" noProof="0"/>
          </a:p>
          <a:p>
            <a:r>
              <a:rPr lang="en-US" sz="1800" noProof="0">
                <a:effectLst/>
                <a:latin typeface="CMR12"/>
              </a:rPr>
              <a:t>You can think of the transition function delta</a:t>
            </a:r>
            <a:r>
              <a:rPr lang="en-US" sz="1800" noProof="0">
                <a:effectLst/>
                <a:latin typeface="CMMI12"/>
              </a:rPr>
              <a:t> </a:t>
            </a:r>
            <a:r>
              <a:rPr lang="en-US" sz="1800" noProof="0">
                <a:effectLst/>
                <a:latin typeface="CMR12"/>
              </a:rPr>
              <a:t>as being the program of the finite automaton.</a:t>
            </a:r>
            <a:endParaRPr lang="en-US" noProof="0"/>
          </a:p>
          <a:p>
            <a:endParaRPr lang="en-US"/>
          </a:p>
        </p:txBody>
      </p:sp>
      <p:sp>
        <p:nvSpPr>
          <p:cNvPr id="4" name="Slayt Numarası Yer Tutucusu 3"/>
          <p:cNvSpPr>
            <a:spLocks noGrp="1"/>
          </p:cNvSpPr>
          <p:nvPr>
            <p:ph type="sldNum" sz="quarter" idx="5"/>
          </p:nvPr>
        </p:nvSpPr>
        <p:spPr/>
        <p:txBody>
          <a:bodyPr/>
          <a:lstStyle/>
          <a:p>
            <a:fld id="{6049F921-94E2-2146-8BC6-089D7989E1CD}" type="slidenum">
              <a:rPr lang="tr-TR" smtClean="0"/>
              <a:t>13</a:t>
            </a:fld>
            <a:endParaRPr lang="tr-TR"/>
          </a:p>
        </p:txBody>
      </p:sp>
    </p:spTree>
    <p:extLst>
      <p:ext uri="{BB962C8B-B14F-4D97-AF65-F5344CB8AC3E}">
        <p14:creationId xmlns:p14="http://schemas.microsoft.com/office/powerpoint/2010/main" val="4067854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It is your turn</a:t>
            </a:r>
            <a:endParaRPr lang="tr-TR" dirty="0"/>
          </a:p>
          <a:p>
            <a:r>
              <a:rPr lang="en-US"/>
              <a:t>Solve this if you can</a:t>
            </a:r>
            <a:endParaRPr lang="en-US" dirty="0"/>
          </a:p>
        </p:txBody>
      </p:sp>
      <p:sp>
        <p:nvSpPr>
          <p:cNvPr id="4" name="Slayt Numarası Yer Tutucusu 3"/>
          <p:cNvSpPr>
            <a:spLocks noGrp="1"/>
          </p:cNvSpPr>
          <p:nvPr>
            <p:ph type="sldNum" sz="quarter" idx="10"/>
          </p:nvPr>
        </p:nvSpPr>
        <p:spPr/>
        <p:txBody>
          <a:bodyPr/>
          <a:lstStyle/>
          <a:p>
            <a:fld id="{464F05E7-666C-4291-B07E-B8BAE79ECBCA}" type="slidenum">
              <a:rPr lang="tr-TR" smtClean="0"/>
              <a:t>14</a:t>
            </a:fld>
            <a:endParaRPr lang="tr-TR"/>
          </a:p>
        </p:txBody>
      </p:sp>
    </p:spTree>
    <p:extLst>
      <p:ext uri="{BB962C8B-B14F-4D97-AF65-F5344CB8AC3E}">
        <p14:creationId xmlns:p14="http://schemas.microsoft.com/office/powerpoint/2010/main" val="26116353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a:t>It’s our first example. Capital A is defined with w words so that w is a binary string containing an odd number of 1s.</a:t>
            </a:r>
          </a:p>
          <a:p>
            <a:pPr marL="0" indent="0">
              <a:buNone/>
            </a:pPr>
            <a:endParaRPr lang="en-US"/>
          </a:p>
          <a:p>
            <a:pPr marL="0" indent="0">
              <a:buNone/>
            </a:pPr>
            <a:r>
              <a:rPr lang="en-US"/>
              <a:t>Here because of the question, our alphabet will be binary. So Capital sigma includes 0 and 1 only. </a:t>
            </a:r>
          </a:p>
          <a:p>
            <a:pPr marL="0" indent="0">
              <a:buNone/>
            </a:pPr>
            <a:r>
              <a:rPr lang="en-US"/>
              <a:t>Then we should find the states. </a:t>
            </a:r>
          </a:p>
          <a:p>
            <a:pPr marL="0" indent="0">
              <a:buNone/>
            </a:pPr>
            <a:r>
              <a:rPr lang="en-US"/>
              <a:t>Since the question does not deal with the letter zero, we can focus on only letter one. </a:t>
            </a:r>
          </a:p>
          <a:p>
            <a:pPr marL="0" indent="0">
              <a:buNone/>
            </a:pPr>
            <a:r>
              <a:rPr lang="en-US"/>
              <a:t>Each letter 1 entered by the user will change the even-odd status of the number of 1's in the typed string.</a:t>
            </a:r>
          </a:p>
        </p:txBody>
      </p:sp>
      <p:sp>
        <p:nvSpPr>
          <p:cNvPr id="4" name="Slayt Numarası Yer Tutucusu 3"/>
          <p:cNvSpPr>
            <a:spLocks noGrp="1"/>
          </p:cNvSpPr>
          <p:nvPr>
            <p:ph type="sldNum" sz="quarter" idx="5"/>
          </p:nvPr>
        </p:nvSpPr>
        <p:spPr/>
        <p:txBody>
          <a:bodyPr/>
          <a:lstStyle/>
          <a:p>
            <a:fld id="{6049F921-94E2-2146-8BC6-089D7989E1CD}" type="slidenum">
              <a:rPr lang="tr-TR" smtClean="0"/>
              <a:t>15</a:t>
            </a:fld>
            <a:endParaRPr lang="tr-TR"/>
          </a:p>
        </p:txBody>
      </p:sp>
    </p:spTree>
    <p:extLst>
      <p:ext uri="{BB962C8B-B14F-4D97-AF65-F5344CB8AC3E}">
        <p14:creationId xmlns:p14="http://schemas.microsoft.com/office/powerpoint/2010/main" val="24646908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a:t>Because of the logic requested in the question, it is sufficient to define two states: q-odd and q-even. Due to the nature of the problem q-even should be defined as the initial state. As the user begins to enter symbols into the system from outside there may be a transition between states but this will depend on the problem. Here any 0 symbol entered by the user does not require any state change. But the symbol 1 causes the states to change every time. When we admit this solution to ourselves the transition diagram on the screen appears.</a:t>
            </a:r>
          </a:p>
        </p:txBody>
      </p:sp>
      <p:sp>
        <p:nvSpPr>
          <p:cNvPr id="4" name="Slayt Numarası Yer Tutucusu 3"/>
          <p:cNvSpPr>
            <a:spLocks noGrp="1"/>
          </p:cNvSpPr>
          <p:nvPr>
            <p:ph type="sldNum" sz="quarter" idx="5"/>
          </p:nvPr>
        </p:nvSpPr>
        <p:spPr/>
        <p:txBody>
          <a:bodyPr/>
          <a:lstStyle/>
          <a:p>
            <a:fld id="{6049F921-94E2-2146-8BC6-089D7989E1CD}" type="slidenum">
              <a:rPr lang="tr-TR" smtClean="0"/>
              <a:t>16</a:t>
            </a:fld>
            <a:endParaRPr lang="tr-TR"/>
          </a:p>
        </p:txBody>
      </p:sp>
    </p:spTree>
    <p:extLst>
      <p:ext uri="{BB962C8B-B14F-4D97-AF65-F5344CB8AC3E}">
        <p14:creationId xmlns:p14="http://schemas.microsoft.com/office/powerpoint/2010/main" val="37753683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a:t>Just as we can use tools such as chopsticks other than forks while eating we can also design finite state automata with different tools. For now we will proceed with two tools: transition diagram and table method. In simple terms, a transition diagram is a graphical representation of the table method. In this example when the system starts up, it boots up in the q-even state and for example if the user enters a 0 symbol at that time the system understands that it must remain in the q-even state.</a:t>
            </a:r>
          </a:p>
        </p:txBody>
      </p:sp>
      <p:sp>
        <p:nvSpPr>
          <p:cNvPr id="4" name="Slayt Numarası Yer Tutucusu 3"/>
          <p:cNvSpPr>
            <a:spLocks noGrp="1"/>
          </p:cNvSpPr>
          <p:nvPr>
            <p:ph type="sldNum" sz="quarter" idx="5"/>
          </p:nvPr>
        </p:nvSpPr>
        <p:spPr/>
        <p:txBody>
          <a:bodyPr/>
          <a:lstStyle/>
          <a:p>
            <a:fld id="{6049F921-94E2-2146-8BC6-089D7989E1CD}" type="slidenum">
              <a:rPr lang="tr-TR" smtClean="0"/>
              <a:t>17</a:t>
            </a:fld>
            <a:endParaRPr lang="tr-TR"/>
          </a:p>
        </p:txBody>
      </p:sp>
    </p:spTree>
    <p:extLst>
      <p:ext uri="{BB962C8B-B14F-4D97-AF65-F5344CB8AC3E}">
        <p14:creationId xmlns:p14="http://schemas.microsoft.com/office/powerpoint/2010/main" val="37489351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en-US"/>
              <a:t>A second example</a:t>
            </a:r>
          </a:p>
          <a:p>
            <a:pPr marL="0" indent="0">
              <a:buNone/>
            </a:pPr>
            <a:r>
              <a:rPr lang="en-US" sz="1200"/>
              <a:t>A = {w so that w is a binary string containing 1-0-1 as a substring}. </a:t>
            </a:r>
          </a:p>
          <a:p>
            <a:pPr marL="0" indent="0">
              <a:buNone/>
            </a:pPr>
            <a:endParaRPr lang="en-US" sz="1200"/>
          </a:p>
          <a:p>
            <a:pPr marL="0" indent="0">
              <a:buNone/>
            </a:pPr>
            <a:r>
              <a:rPr lang="en-US" sz="1200"/>
              <a:t>Here when we reach a 1-0-1 sequence we accept it. This substring can be at beginning end or middle of the string. We said that there is no memory in automata. Then we must design states that enable the system to remember these three consecutive symbols. Examine the situations below.</a:t>
            </a:r>
          </a:p>
          <a:p>
            <a:pPr marL="0" indent="0">
              <a:buNone/>
              <a:tabLst>
                <a:tab pos="446088" algn="l"/>
              </a:tabLst>
            </a:pPr>
            <a:r>
              <a:rPr lang="en-US" sz="1200"/>
              <a:t>q</a:t>
            </a:r>
            <a:r>
              <a:rPr lang="tr-TR" sz="1200"/>
              <a:t> </a:t>
            </a:r>
            <a:r>
              <a:rPr lang="en-US" sz="1200"/>
              <a:t>is the Start state. It means we have nothing</a:t>
            </a:r>
          </a:p>
          <a:p>
            <a:pPr marL="0" indent="0">
              <a:buNone/>
              <a:tabLst>
                <a:tab pos="446088" algn="l"/>
              </a:tabLst>
            </a:pPr>
            <a:r>
              <a:rPr lang="en-US" sz="1200"/>
              <a:t>q</a:t>
            </a:r>
            <a:r>
              <a:rPr lang="en-US" sz="1200" baseline="-25000"/>
              <a:t>1</a:t>
            </a:r>
            <a:r>
              <a:rPr lang="tr-TR" sz="1200" baseline="0"/>
              <a:t> </a:t>
            </a:r>
            <a:r>
              <a:rPr lang="en-US" sz="1200" baseline="0"/>
              <a:t>means</a:t>
            </a:r>
            <a:r>
              <a:rPr lang="en-US" sz="1200"/>
              <a:t> the first symbol letter 1 came, it made an alarm</a:t>
            </a:r>
          </a:p>
          <a:p>
            <a:pPr marL="0" indent="0">
              <a:buNone/>
              <a:tabLst>
                <a:tab pos="446088" algn="l"/>
              </a:tabLst>
            </a:pPr>
            <a:r>
              <a:rPr lang="en-US" sz="1200"/>
              <a:t>Q</a:t>
            </a:r>
            <a:r>
              <a:rPr lang="en-US" sz="1200" baseline="-25000"/>
              <a:t> 1-0</a:t>
            </a:r>
            <a:r>
              <a:rPr lang="tr-TR" sz="1200" baseline="0"/>
              <a:t> </a:t>
            </a:r>
            <a:r>
              <a:rPr lang="en-US" sz="1200"/>
              <a:t> means the second symbol letter 0 came. It increases the alarm level</a:t>
            </a:r>
          </a:p>
          <a:p>
            <a:pPr marL="0" indent="0">
              <a:buNone/>
              <a:tabLst>
                <a:tab pos="446088" algn="l"/>
              </a:tabLst>
            </a:pPr>
            <a:r>
              <a:rPr lang="en-US" sz="1200"/>
              <a:t>Q</a:t>
            </a:r>
            <a:r>
              <a:rPr lang="en-US" sz="1200" baseline="-25000"/>
              <a:t>1-0-1</a:t>
            </a:r>
            <a:r>
              <a:rPr lang="tr-TR" sz="1200" baseline="-25000"/>
              <a:t> </a:t>
            </a:r>
            <a:r>
              <a:rPr lang="en-US" sz="1200"/>
              <a:t> means the third symbol letter 1 came. The automaton must accept the string</a:t>
            </a:r>
          </a:p>
          <a:p>
            <a:endParaRPr lang="tr-TR"/>
          </a:p>
        </p:txBody>
      </p:sp>
      <p:sp>
        <p:nvSpPr>
          <p:cNvPr id="4" name="Slayt Numarası Yer Tutucusu 3"/>
          <p:cNvSpPr>
            <a:spLocks noGrp="1"/>
          </p:cNvSpPr>
          <p:nvPr>
            <p:ph type="sldNum" sz="quarter" idx="10"/>
          </p:nvPr>
        </p:nvSpPr>
        <p:spPr/>
        <p:txBody>
          <a:bodyPr/>
          <a:lstStyle/>
          <a:p>
            <a:fld id="{6049F921-94E2-2146-8BC6-089D7989E1CD}" type="slidenum">
              <a:rPr lang="tr-TR" smtClean="0"/>
              <a:t>18</a:t>
            </a:fld>
            <a:endParaRPr lang="tr-TR"/>
          </a:p>
        </p:txBody>
      </p:sp>
    </p:spTree>
    <p:extLst>
      <p:ext uri="{BB962C8B-B14F-4D97-AF65-F5344CB8AC3E}">
        <p14:creationId xmlns:p14="http://schemas.microsoft.com/office/powerpoint/2010/main" val="17169511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a:t>Now it's time to plan the initial state. The first question is, what state should the initial state be? Could it be one of the situations that belong to the solution we have in mind or should we add a new situation?</a:t>
            </a:r>
          </a:p>
          <a:p>
            <a:r>
              <a:rPr lang="en-US"/>
              <a:t>After finding the answer to this question we will ask the following question. Have we planned an out-going edge labeled with each letter in the alphabet for each states of the solution we have in mind?</a:t>
            </a:r>
          </a:p>
          <a:p>
            <a:r>
              <a:rPr lang="en-US"/>
              <a:t>Where should it go if the symbol 0 appears? If symbol 1 comes up where should it go?</a:t>
            </a:r>
          </a:p>
          <a:p>
            <a:r>
              <a:rPr lang="en-US"/>
              <a:t>And the last question: In what states do we meet the conditions required by the problem? We will make the states where all conditions are met the accept state and indicate this with a double-lined circle.</a:t>
            </a:r>
          </a:p>
        </p:txBody>
      </p:sp>
      <p:sp>
        <p:nvSpPr>
          <p:cNvPr id="4" name="Slayt Numarası Yer Tutucusu 3"/>
          <p:cNvSpPr>
            <a:spLocks noGrp="1"/>
          </p:cNvSpPr>
          <p:nvPr>
            <p:ph type="sldNum" sz="quarter" idx="5"/>
          </p:nvPr>
        </p:nvSpPr>
        <p:spPr/>
        <p:txBody>
          <a:bodyPr/>
          <a:lstStyle/>
          <a:p>
            <a:fld id="{6049F921-94E2-2146-8BC6-089D7989E1CD}" type="slidenum">
              <a:rPr lang="tr-TR" smtClean="0"/>
              <a:t>19</a:t>
            </a:fld>
            <a:endParaRPr lang="tr-TR"/>
          </a:p>
        </p:txBody>
      </p:sp>
    </p:spTree>
    <p:extLst>
      <p:ext uri="{BB962C8B-B14F-4D97-AF65-F5344CB8AC3E}">
        <p14:creationId xmlns:p14="http://schemas.microsoft.com/office/powerpoint/2010/main" val="32993292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en-US"/>
              <a:t>A </a:t>
            </a:r>
            <a:r>
              <a:rPr lang="en-US">
                <a:solidFill>
                  <a:schemeClr val="tx1"/>
                </a:solidFill>
              </a:rPr>
              <a:t>third</a:t>
            </a:r>
            <a:r>
              <a:rPr lang="en-US"/>
              <a:t> example</a:t>
            </a:r>
          </a:p>
          <a:p>
            <a:pPr marL="0" indent="0">
              <a:buNone/>
            </a:pPr>
            <a:r>
              <a:rPr lang="en-US" sz="1200"/>
              <a:t>A = {w is element of 0-1 star so that w has a 1 in the third position from the </a:t>
            </a:r>
            <a:r>
              <a:rPr lang="en-US" sz="1200" b="1" u="sng"/>
              <a:t>LEFT</a:t>
            </a:r>
            <a:r>
              <a:rPr lang="en-US" sz="1200"/>
              <a:t>}</a:t>
            </a:r>
          </a:p>
          <a:p>
            <a:endParaRPr lang="en-US" sz="1200"/>
          </a:p>
          <a:p>
            <a:r>
              <a:rPr lang="en-US" sz="1200"/>
              <a:t>This problem is easier than the previous one. Because the first and the second letters are not important, we can think at first the third letter from the start. </a:t>
            </a:r>
          </a:p>
          <a:p>
            <a:pPr marL="0" indent="0">
              <a:buNone/>
            </a:pPr>
            <a:endParaRPr lang="en-US" sz="1200"/>
          </a:p>
          <a:p>
            <a:pPr marL="0" indent="0">
              <a:buNone/>
            </a:pPr>
            <a:r>
              <a:rPr lang="en-US" sz="1200"/>
              <a:t>The first symbol can be 0 or 1. Also, the second symbol can be 0 or 1. But the the third one must be 1 only.</a:t>
            </a:r>
          </a:p>
          <a:p>
            <a:pPr marL="0" indent="0">
              <a:buNone/>
            </a:pPr>
            <a:endParaRPr lang="en-US" sz="1200"/>
          </a:p>
          <a:p>
            <a:r>
              <a:rPr lang="en-US" sz="1200"/>
              <a:t>Then we will say this to the automaton we will design: </a:t>
            </a:r>
          </a:p>
          <a:p>
            <a:r>
              <a:rPr lang="en-US" sz="1200"/>
              <a:t>If a symbol 1 comes as the third letter then go an accept stay and stay there, otherwise go a reject state and stay there.</a:t>
            </a:r>
          </a:p>
          <a:p>
            <a:endParaRPr lang="tr-TR"/>
          </a:p>
        </p:txBody>
      </p:sp>
      <p:sp>
        <p:nvSpPr>
          <p:cNvPr id="4" name="Slayt Numarası Yer Tutucusu 3"/>
          <p:cNvSpPr>
            <a:spLocks noGrp="1"/>
          </p:cNvSpPr>
          <p:nvPr>
            <p:ph type="sldNum" sz="quarter" idx="10"/>
          </p:nvPr>
        </p:nvSpPr>
        <p:spPr/>
        <p:txBody>
          <a:bodyPr/>
          <a:lstStyle/>
          <a:p>
            <a:fld id="{6049F921-94E2-2146-8BC6-089D7989E1CD}" type="slidenum">
              <a:rPr lang="tr-TR" smtClean="0"/>
              <a:t>20</a:t>
            </a:fld>
            <a:endParaRPr lang="tr-TR"/>
          </a:p>
        </p:txBody>
      </p:sp>
    </p:spTree>
    <p:extLst>
      <p:ext uri="{BB962C8B-B14F-4D97-AF65-F5344CB8AC3E}">
        <p14:creationId xmlns:p14="http://schemas.microsoft.com/office/powerpoint/2010/main" val="5653530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a:lnSpc>
                <a:spcPct val="90000"/>
              </a:lnSpc>
              <a:spcAft>
                <a:spcPts val="600"/>
              </a:spcAft>
            </a:pPr>
            <a:r>
              <a:rPr lang="en-US" sz="1200"/>
              <a:t>Here we need to remember the sequence number of the letters up to the third letter. Thus, we use at least four states to check the third symbol. Then we add a last state for rejecting. That’s all. We need five states.</a:t>
            </a:r>
          </a:p>
        </p:txBody>
      </p:sp>
      <p:sp>
        <p:nvSpPr>
          <p:cNvPr id="4" name="Slayt Numarası Yer Tutucusu 3"/>
          <p:cNvSpPr>
            <a:spLocks noGrp="1"/>
          </p:cNvSpPr>
          <p:nvPr>
            <p:ph type="sldNum" sz="quarter" idx="10"/>
          </p:nvPr>
        </p:nvSpPr>
        <p:spPr/>
        <p:txBody>
          <a:bodyPr/>
          <a:lstStyle/>
          <a:p>
            <a:fld id="{6049F921-94E2-2146-8BC6-089D7989E1CD}" type="slidenum">
              <a:rPr lang="tr-TR" smtClean="0"/>
              <a:t>21</a:t>
            </a:fld>
            <a:endParaRPr lang="tr-TR"/>
          </a:p>
        </p:txBody>
      </p:sp>
    </p:spTree>
    <p:extLst>
      <p:ext uri="{BB962C8B-B14F-4D97-AF65-F5344CB8AC3E}">
        <p14:creationId xmlns:p14="http://schemas.microsoft.com/office/powerpoint/2010/main" val="6689630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It is your turn</a:t>
            </a:r>
            <a:endParaRPr lang="tr-TR" dirty="0"/>
          </a:p>
          <a:p>
            <a:pPr marL="0" indent="0">
              <a:buNone/>
            </a:pPr>
            <a:r>
              <a:rPr lang="en-US" sz="1200" dirty="0"/>
              <a:t>A = {w is element of 0-1 star so that w contains an even number of 0s and 1s</a:t>
            </a:r>
          </a:p>
          <a:p>
            <a:pPr marL="0" indent="0">
              <a:buNone/>
            </a:pPr>
            <a:endParaRPr lang="en-US" sz="1200" dirty="0"/>
          </a:p>
          <a:p>
            <a:pPr marL="0" indent="0">
              <a:buNone/>
            </a:pPr>
            <a:r>
              <a:rPr lang="en-US" sz="1200" dirty="0"/>
              <a:t>Here we can assume that there are even numbers of 0s and 1s in the start state. Now we need four states as:</a:t>
            </a:r>
          </a:p>
          <a:p>
            <a:r>
              <a:rPr lang="en-US" sz="1200" dirty="0" err="1"/>
              <a:t>Q</a:t>
            </a:r>
            <a:r>
              <a:rPr lang="en-US" sz="1200" baseline="-25000" dirty="0" err="1"/>
              <a:t>e</a:t>
            </a:r>
            <a:r>
              <a:rPr lang="en-US" sz="1200" baseline="-25000" dirty="0"/>
              <a:t>-e</a:t>
            </a:r>
            <a:r>
              <a:rPr lang="en-US" sz="1200" dirty="0"/>
              <a:t>: means even number of 0s and even numbers of 1s</a:t>
            </a:r>
          </a:p>
          <a:p>
            <a:r>
              <a:rPr lang="en-US" sz="1200" dirty="0"/>
              <a:t>Q</a:t>
            </a:r>
            <a:r>
              <a:rPr lang="en-US" sz="1200" baseline="-25000" dirty="0"/>
              <a:t>o-e</a:t>
            </a:r>
            <a:r>
              <a:rPr lang="en-US" sz="1200" dirty="0"/>
              <a:t>: means odd number of 0s and even numbers of 1s</a:t>
            </a:r>
          </a:p>
          <a:p>
            <a:r>
              <a:rPr lang="en-US" sz="1200" dirty="0" err="1"/>
              <a:t>Q</a:t>
            </a:r>
            <a:r>
              <a:rPr lang="en-US" sz="1200" baseline="-25000" dirty="0" err="1"/>
              <a:t>e</a:t>
            </a:r>
            <a:r>
              <a:rPr lang="en-US" sz="1200" baseline="-25000" dirty="0"/>
              <a:t>-o</a:t>
            </a:r>
            <a:r>
              <a:rPr lang="en-US" sz="1200" dirty="0"/>
              <a:t>: means even number of 0s and odd numbers of 1s</a:t>
            </a:r>
          </a:p>
          <a:p>
            <a:r>
              <a:rPr lang="en-US" sz="1200" dirty="0"/>
              <a:t>Q</a:t>
            </a:r>
            <a:r>
              <a:rPr lang="en-US" sz="1200" baseline="-25000" dirty="0"/>
              <a:t>o-o</a:t>
            </a:r>
            <a:r>
              <a:rPr lang="en-US" sz="1200" dirty="0"/>
              <a:t>: means odd number of 0s and odd numbers of 1s</a:t>
            </a:r>
          </a:p>
          <a:p>
            <a:pPr marL="0" indent="0">
              <a:buNone/>
            </a:pPr>
            <a:r>
              <a:rPr lang="en-US" sz="1200" dirty="0"/>
              <a:t>Now you can go on this solution</a:t>
            </a:r>
          </a:p>
          <a:p>
            <a:endParaRPr lang="en-US" dirty="0"/>
          </a:p>
        </p:txBody>
      </p:sp>
      <p:sp>
        <p:nvSpPr>
          <p:cNvPr id="4" name="Slayt Numarası Yer Tutucusu 3"/>
          <p:cNvSpPr>
            <a:spLocks noGrp="1"/>
          </p:cNvSpPr>
          <p:nvPr>
            <p:ph type="sldNum" sz="quarter" idx="5"/>
          </p:nvPr>
        </p:nvSpPr>
        <p:spPr/>
        <p:txBody>
          <a:bodyPr/>
          <a:lstStyle/>
          <a:p>
            <a:fld id="{6049F921-94E2-2146-8BC6-089D7989E1CD}" type="slidenum">
              <a:rPr lang="tr-TR" smtClean="0"/>
              <a:t>22</a:t>
            </a:fld>
            <a:endParaRPr lang="tr-TR"/>
          </a:p>
        </p:txBody>
      </p:sp>
    </p:spTree>
    <p:extLst>
      <p:ext uri="{BB962C8B-B14F-4D97-AF65-F5344CB8AC3E}">
        <p14:creationId xmlns:p14="http://schemas.microsoft.com/office/powerpoint/2010/main" val="28565557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en-US" dirty="0"/>
              <a:t>A fourth example</a:t>
            </a:r>
          </a:p>
          <a:p>
            <a:pPr marL="0" indent="0">
              <a:buNone/>
            </a:pPr>
            <a:r>
              <a:rPr lang="en-US" sz="1200" dirty="0"/>
              <a:t>A = {w ∈ {0,1} star so that w has a 1 in the third position from the right}</a:t>
            </a:r>
          </a:p>
          <a:p>
            <a:pPr marL="0" indent="0">
              <a:buNone/>
            </a:pPr>
            <a:r>
              <a:rPr lang="en-US" sz="1200" dirty="0"/>
              <a:t>Here the last three letters are important, and we need remember them all. Therefore, we need 8 different states. 8 states starting with q zero zero zero and going up to q one one.</a:t>
            </a:r>
          </a:p>
          <a:p>
            <a:pPr marL="0" indent="0">
              <a:buNone/>
            </a:pPr>
            <a:endParaRPr lang="en-US" sz="1200" dirty="0"/>
          </a:p>
          <a:p>
            <a:r>
              <a:rPr lang="en-US" sz="1200" dirty="0"/>
              <a:t>Since each new symbol from the user is added to the right of the string, the last three letters of the string we have will change and therefore the state in the design may have to change to another state.</a:t>
            </a:r>
            <a:endParaRPr lang="tr-TR"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23</a:t>
            </a:fld>
            <a:endParaRPr lang="tr-TR"/>
          </a:p>
        </p:txBody>
      </p:sp>
    </p:spTree>
    <p:extLst>
      <p:ext uri="{BB962C8B-B14F-4D97-AF65-F5344CB8AC3E}">
        <p14:creationId xmlns:p14="http://schemas.microsoft.com/office/powerpoint/2010/main" val="41327885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en-US" sz="1200" dirty="0"/>
              <a:t>After determination of the states, designing the transitions will be easier.</a:t>
            </a:r>
          </a:p>
          <a:p>
            <a:pPr marL="0" marR="0" lvl="0" indent="0" algn="l" defTabSz="914400" rtl="0" eaLnBrk="1" fontAlgn="auto" latinLnBrk="0" hangingPunct="1">
              <a:lnSpc>
                <a:spcPct val="100000"/>
              </a:lnSpc>
              <a:spcBef>
                <a:spcPct val="0"/>
              </a:spcBef>
              <a:spcAft>
                <a:spcPct val="0"/>
              </a:spcAft>
              <a:buClrTx/>
              <a:buSzTx/>
              <a:buFontTx/>
              <a:buNone/>
              <a:defRPr/>
            </a:pPr>
            <a:endParaRPr lang="en-US" sz="1200" dirty="0"/>
          </a:p>
          <a:p>
            <a:pPr marL="0" marR="0" lvl="0" indent="0" algn="l" defTabSz="914400" rtl="0" eaLnBrk="1" fontAlgn="auto" latinLnBrk="0" hangingPunct="1">
              <a:lnSpc>
                <a:spcPct val="100000"/>
              </a:lnSpc>
              <a:spcBef>
                <a:spcPct val="0"/>
              </a:spcBef>
              <a:spcAft>
                <a:spcPct val="0"/>
              </a:spcAft>
              <a:buClrTx/>
              <a:buSzTx/>
              <a:buFontTx/>
              <a:buNone/>
              <a:defRPr/>
            </a:pPr>
            <a:r>
              <a:rPr lang="en-US" sz="1200" dirty="0"/>
              <a:t>Of course for someone new to the subject this question may seem difficult at first glance. Please try to understand the transitions by checking them one by one. If you do not understand why the transitions are defined this way or if the transition diagram still seems complicated to you go back to the previous step. You can review our solution on how we determine the total number of states.</a:t>
            </a:r>
          </a:p>
          <a:p>
            <a:endParaRPr lang="tr-TR"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24</a:t>
            </a:fld>
            <a:endParaRPr lang="tr-TR"/>
          </a:p>
        </p:txBody>
      </p:sp>
    </p:spTree>
    <p:extLst>
      <p:ext uri="{BB962C8B-B14F-4D97-AF65-F5344CB8AC3E}">
        <p14:creationId xmlns:p14="http://schemas.microsoft.com/office/powerpoint/2010/main" val="7117376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It is your turn</a:t>
            </a:r>
            <a:endParaRPr lang="tr-TR" dirty="0"/>
          </a:p>
          <a:p>
            <a:r>
              <a:rPr lang="en-US"/>
              <a:t>Solve this if you can</a:t>
            </a:r>
            <a:endParaRPr lang="en-US" dirty="0"/>
          </a:p>
        </p:txBody>
      </p:sp>
      <p:sp>
        <p:nvSpPr>
          <p:cNvPr id="4" name="Slayt Numarası Yer Tutucusu 3"/>
          <p:cNvSpPr>
            <a:spLocks noGrp="1"/>
          </p:cNvSpPr>
          <p:nvPr>
            <p:ph type="sldNum" sz="quarter" idx="10"/>
          </p:nvPr>
        </p:nvSpPr>
        <p:spPr/>
        <p:txBody>
          <a:bodyPr/>
          <a:lstStyle/>
          <a:p>
            <a:fld id="{464F05E7-666C-4291-B07E-B8BAE79ECBCA}" type="slidenum">
              <a:rPr lang="tr-TR" smtClean="0"/>
              <a:t>25</a:t>
            </a:fld>
            <a:endParaRPr lang="tr-TR"/>
          </a:p>
        </p:txBody>
      </p:sp>
    </p:spTree>
    <p:extLst>
      <p:ext uri="{BB962C8B-B14F-4D97-AF65-F5344CB8AC3E}">
        <p14:creationId xmlns:p14="http://schemas.microsoft.com/office/powerpoint/2010/main" val="20048492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a:t>That’s all.</a:t>
            </a:r>
          </a:p>
          <a:p>
            <a:endParaRPr lang="en-US" sz="1200"/>
          </a:p>
          <a:p>
            <a:r>
              <a:rPr lang="en-US" altLang="tr-TR" sz="1200"/>
              <a:t>Thanks for listening.</a:t>
            </a:r>
          </a:p>
        </p:txBody>
      </p:sp>
      <p:sp>
        <p:nvSpPr>
          <p:cNvPr id="4" name="Slayt Numarası Yer Tutucusu 3"/>
          <p:cNvSpPr>
            <a:spLocks noGrp="1"/>
          </p:cNvSpPr>
          <p:nvPr>
            <p:ph type="sldNum" sz="quarter" idx="10"/>
          </p:nvPr>
        </p:nvSpPr>
        <p:spPr/>
        <p:txBody>
          <a:bodyPr/>
          <a:lstStyle/>
          <a:p>
            <a:fld id="{464F05E7-666C-4291-B07E-B8BAE79ECBCA}" type="slidenum">
              <a:rPr lang="tr-TR" smtClean="0"/>
              <a:t>27</a:t>
            </a:fld>
            <a:endParaRPr lang="tr-TR"/>
          </a:p>
        </p:txBody>
      </p:sp>
    </p:spTree>
    <p:extLst>
      <p:ext uri="{BB962C8B-B14F-4D97-AF65-F5344CB8AC3E}">
        <p14:creationId xmlns:p14="http://schemas.microsoft.com/office/powerpoint/2010/main" val="2578651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tr-TR"/>
              <a:t>Asıl başlık stili için tıklatın</a:t>
            </a:r>
            <a:endParaRPr lang="en-US"/>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a:p>
        </p:txBody>
      </p:sp>
      <p:sp>
        <p:nvSpPr>
          <p:cNvPr id="4" name="Date Placeholder 3"/>
          <p:cNvSpPr>
            <a:spLocks noGrp="1"/>
          </p:cNvSpPr>
          <p:nvPr>
            <p:ph type="dt" sz="half" idx="10"/>
          </p:nvPr>
        </p:nvSpPr>
        <p:spPr/>
        <p:txBody>
          <a:bodyPr/>
          <a:lstStyle/>
          <a:p>
            <a:fld id="{AF36C430-287F-DD4C-AA12-0A938495B580}" type="datetimeFigureOut">
              <a:rPr lang="tr-TR" smtClean="0"/>
              <a:t>10.10.2023</a:t>
            </a:fld>
            <a:endParaRPr lang="tr-TR"/>
          </a:p>
        </p:txBody>
      </p:sp>
      <p:sp>
        <p:nvSpPr>
          <p:cNvPr id="5" name="Footer Placeholder 4"/>
          <p:cNvSpPr>
            <a:spLocks noGrp="1"/>
          </p:cNvSpPr>
          <p:nvPr>
            <p:ph type="ftr" sz="quarter" idx="11"/>
          </p:nvPr>
        </p:nvSpPr>
        <p:spPr/>
        <p:txBody>
          <a:bodyPr/>
          <a:lstStyle/>
          <a:p>
            <a:endParaRPr lang="tr-T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a:p>
        </p:txBody>
      </p:sp>
      <p:sp>
        <p:nvSpPr>
          <p:cNvPr id="6" name="Slide Number Placeholder 5"/>
          <p:cNvSpPr>
            <a:spLocks noGrp="1"/>
          </p:cNvSpPr>
          <p:nvPr>
            <p:ph type="sldNum" sz="quarter" idx="12"/>
          </p:nvPr>
        </p:nvSpPr>
        <p:spPr>
          <a:xfrm>
            <a:off x="531812" y="4529540"/>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406290487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tr-TR"/>
              <a:t>Asıl başlık stili için tıklatın</a:t>
            </a:r>
            <a:endParaRPr lang="en-US"/>
          </a:p>
        </p:txBody>
      </p:sp>
      <p:sp>
        <p:nvSpPr>
          <p:cNvPr id="3" name="Content Placeholder 2"/>
          <p:cNvSpPr>
            <a:spLocks noGrp="1"/>
          </p:cNvSpPr>
          <p:nvPr>
            <p:ph idx="1"/>
          </p:nvPr>
        </p:nvSpPr>
        <p:spPr>
          <a:xfrm>
            <a:off x="2589212" y="2133600"/>
            <a:ext cx="8915400" cy="3777622"/>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Date Placeholder 3"/>
          <p:cNvSpPr>
            <a:spLocks noGrp="1"/>
          </p:cNvSpPr>
          <p:nvPr>
            <p:ph type="dt" sz="half" idx="10"/>
          </p:nvPr>
        </p:nvSpPr>
        <p:spPr/>
        <p:txBody>
          <a:bodyPr/>
          <a:lstStyle/>
          <a:p>
            <a:fld id="{AF36C430-287F-DD4C-AA12-0A938495B580}" type="datetimeFigureOut">
              <a:rPr lang="tr-TR" smtClean="0"/>
              <a:t>10.10.2023</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94565994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tr-TR"/>
              <a:t>Asıl başlık stili için tıklatın</a:t>
            </a:r>
            <a:endParaRPr lang="en-US"/>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10.10.2023</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45774430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tr-TR"/>
              <a:t>Asıl başlık stili için tıklatın</a:t>
            </a:r>
            <a:endParaRPr lang="en-US"/>
          </a:p>
        </p:txBody>
      </p:sp>
      <p:sp>
        <p:nvSpPr>
          <p:cNvPr id="3" name="Content Placeholder 2"/>
          <p:cNvSpPr>
            <a:spLocks noGrp="1"/>
          </p:cNvSpPr>
          <p:nvPr>
            <p:ph sz="half" idx="1"/>
          </p:nvPr>
        </p:nvSpPr>
        <p:spPr>
          <a:xfrm>
            <a:off x="2589212" y="2133600"/>
            <a:ext cx="4313864" cy="3777622"/>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Content Placeholder 3"/>
          <p:cNvSpPr>
            <a:spLocks noGrp="1"/>
          </p:cNvSpPr>
          <p:nvPr>
            <p:ph sz="half" idx="2"/>
          </p:nvPr>
        </p:nvSpPr>
        <p:spPr>
          <a:xfrm>
            <a:off x="7190747" y="2126222"/>
            <a:ext cx="4313864" cy="3777622"/>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5" name="Date Placeholder 4"/>
          <p:cNvSpPr>
            <a:spLocks noGrp="1"/>
          </p:cNvSpPr>
          <p:nvPr>
            <p:ph type="dt" sz="half" idx="10"/>
          </p:nvPr>
        </p:nvSpPr>
        <p:spPr/>
        <p:txBody>
          <a:bodyPr/>
          <a:lstStyle/>
          <a:p>
            <a:fld id="{AF36C430-287F-DD4C-AA12-0A938495B580}" type="datetimeFigureOut">
              <a:rPr lang="tr-TR" smtClean="0"/>
              <a:t>10.10.2023</a:t>
            </a:fld>
            <a:endParaRPr lang="tr-TR"/>
          </a:p>
        </p:txBody>
      </p:sp>
      <p:sp>
        <p:nvSpPr>
          <p:cNvPr id="6" name="Footer Placeholder 5"/>
          <p:cNvSpPr>
            <a:spLocks noGrp="1"/>
          </p:cNvSpPr>
          <p:nvPr>
            <p:ph type="ftr" sz="quarter" idx="11"/>
          </p:nvPr>
        </p:nvSpPr>
        <p:spPr/>
        <p:txBody>
          <a:bodyPr/>
          <a:lstStyle/>
          <a:p>
            <a:endParaRPr lang="tr-T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11" name="Slide Number Placeholder 5"/>
          <p:cNvSpPr>
            <a:spLocks noGrp="1"/>
          </p:cNvSpPr>
          <p:nvPr>
            <p:ph type="sldNum" sz="quarter" idx="12"/>
          </p:nvPr>
        </p:nvSpPr>
        <p:spPr>
          <a:xfrm>
            <a:off x="531812" y="787782"/>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76141838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 için tıklatın</a:t>
            </a:r>
            <a:endParaRPr lang="en-US"/>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7" name="Date Placeholder 6"/>
          <p:cNvSpPr>
            <a:spLocks noGrp="1"/>
          </p:cNvSpPr>
          <p:nvPr>
            <p:ph type="dt" sz="half" idx="10"/>
          </p:nvPr>
        </p:nvSpPr>
        <p:spPr/>
        <p:txBody>
          <a:bodyPr/>
          <a:lstStyle/>
          <a:p>
            <a:fld id="{AF36C430-287F-DD4C-AA12-0A938495B580}" type="datetimeFigureOut">
              <a:rPr lang="tr-TR" smtClean="0"/>
              <a:t>10.10.2023</a:t>
            </a:fld>
            <a:endParaRPr lang="tr-TR"/>
          </a:p>
        </p:txBody>
      </p:sp>
      <p:sp>
        <p:nvSpPr>
          <p:cNvPr id="8" name="Footer Placeholder 7"/>
          <p:cNvSpPr>
            <a:spLocks noGrp="1"/>
          </p:cNvSpPr>
          <p:nvPr>
            <p:ph type="ftr" sz="quarter" idx="11"/>
          </p:nvPr>
        </p:nvSpPr>
        <p:spPr/>
        <p:txBody>
          <a:bodyPr/>
          <a:lstStyle/>
          <a:p>
            <a:endParaRPr lang="tr-T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13" name="Slide Number Placeholder 5"/>
          <p:cNvSpPr>
            <a:spLocks noGrp="1"/>
          </p:cNvSpPr>
          <p:nvPr>
            <p:ph type="sldNum" sz="quarter" idx="12"/>
          </p:nvPr>
        </p:nvSpPr>
        <p:spPr>
          <a:xfrm>
            <a:off x="531812" y="787782"/>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06301699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a:p>
        </p:txBody>
      </p:sp>
      <p:sp>
        <p:nvSpPr>
          <p:cNvPr id="3" name="Date Placeholder 2"/>
          <p:cNvSpPr>
            <a:spLocks noGrp="1"/>
          </p:cNvSpPr>
          <p:nvPr>
            <p:ph type="dt" sz="half" idx="10"/>
          </p:nvPr>
        </p:nvSpPr>
        <p:spPr/>
        <p:txBody>
          <a:bodyPr/>
          <a:lstStyle/>
          <a:p>
            <a:fld id="{AF36C430-287F-DD4C-AA12-0A938495B580}" type="datetimeFigureOut">
              <a:rPr lang="tr-TR" smtClean="0"/>
              <a:t>10.10.2023</a:t>
            </a:fld>
            <a:endParaRPr lang="tr-TR"/>
          </a:p>
        </p:txBody>
      </p:sp>
      <p:sp>
        <p:nvSpPr>
          <p:cNvPr id="4" name="Footer Placeholder 3"/>
          <p:cNvSpPr>
            <a:spLocks noGrp="1"/>
          </p:cNvSpPr>
          <p:nvPr>
            <p:ph type="ftr" sz="quarter" idx="11"/>
          </p:nvPr>
        </p:nvSpPr>
        <p:spPr/>
        <p:txBody>
          <a:bodyPr/>
          <a:lstStyle/>
          <a:p>
            <a:endParaRPr lang="tr-T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5" name="Slide Number Placeholder 4"/>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70149603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36C430-287F-DD4C-AA12-0A938495B580}" type="datetimeFigureOut">
              <a:rPr lang="tr-TR" smtClean="0"/>
              <a:t>10.10.2023</a:t>
            </a:fld>
            <a:endParaRPr lang="tr-TR"/>
          </a:p>
        </p:txBody>
      </p:sp>
      <p:sp>
        <p:nvSpPr>
          <p:cNvPr id="3" name="Footer Placeholder 2"/>
          <p:cNvSpPr>
            <a:spLocks noGrp="1"/>
          </p:cNvSpPr>
          <p:nvPr>
            <p:ph type="ftr" sz="quarter" idx="11"/>
          </p:nvPr>
        </p:nvSpPr>
        <p:spPr/>
        <p:txBody>
          <a:bodyPr/>
          <a:lstStyle/>
          <a:p>
            <a:endParaRPr lang="tr-T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4" name="Slide Number Placeholder 3"/>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41263151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tr-TR"/>
              <a:t>Asıl başlık stili için tıklatın</a:t>
            </a:r>
            <a:endParaRPr lang="en-US"/>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10.10.2023</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7" name="Slide Number Placeholder 6"/>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51792589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tr-TR"/>
              <a:t>Asıl başlık stili için tıklatın</a:t>
            </a:r>
            <a:endParaRPr lang="en-US"/>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simgeyi tıklatın</a:t>
            </a:r>
            <a:endParaRPr lang="en-US"/>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10.10.2023</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323956778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tr-TR"/>
              <a:t>Asıl başlık stili için tıklatın</a:t>
            </a:r>
            <a:endParaRPr lang="en-US"/>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10.10.2023</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419571972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 için tıklatın</a:t>
            </a:r>
            <a:endParaRPr lang="en-US"/>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10.10.2023</a:t>
            </a:fld>
            <a:endParaRPr lang="tr-TR"/>
          </a:p>
        </p:txBody>
      </p:sp>
      <p:sp>
        <p:nvSpPr>
          <p:cNvPr id="5" name="Footer Placeholder 4"/>
          <p:cNvSpPr>
            <a:spLocks noGrp="1"/>
          </p:cNvSpPr>
          <p:nvPr>
            <p:ph type="ftr" sz="quarter" idx="11"/>
          </p:nvPr>
        </p:nvSpPr>
        <p:spPr/>
        <p:txBody>
          <a:bodyPr/>
          <a:lstStyle/>
          <a:p>
            <a:endParaRPr lang="tr-T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263771592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tr-TR"/>
              <a:t>Asıl başlık stili için tıklatın</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10.10.2023</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750182254"/>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 için tıklatın</a:t>
            </a:r>
            <a:endParaRPr lang="en-US"/>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10.10.2023</a:t>
            </a:fld>
            <a:endParaRPr lang="tr-TR"/>
          </a:p>
        </p:txBody>
      </p:sp>
      <p:sp>
        <p:nvSpPr>
          <p:cNvPr id="6" name="Footer Placeholder 5"/>
          <p:cNvSpPr>
            <a:spLocks noGrp="1"/>
          </p:cNvSpPr>
          <p:nvPr>
            <p:ph type="ftr" sz="quarter" idx="11"/>
          </p:nvPr>
        </p:nvSpPr>
        <p:spPr/>
        <p:txBody>
          <a:bodyPr/>
          <a:lstStyle/>
          <a:p>
            <a:endParaRPr lang="tr-T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345535561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tr-TR"/>
              <a:t>Asıl başlık stili için tıklatın</a:t>
            </a:r>
            <a:endParaRPr lang="en-US"/>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10.10.2023</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51361480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a:p>
        </p:txBody>
      </p:sp>
      <p:sp>
        <p:nvSpPr>
          <p:cNvPr id="3" name="Vertical Text Placeholder 2"/>
          <p:cNvSpPr>
            <a:spLocks noGrp="1"/>
          </p:cNvSpPr>
          <p:nvPr>
            <p:ph type="body" orient="vert" idx="1"/>
          </p:nvPr>
        </p:nvSpPr>
        <p:spPr/>
        <p:txBody>
          <a:bodyPr vert="eaVert" ancho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Date Placeholder 3"/>
          <p:cNvSpPr>
            <a:spLocks noGrp="1"/>
          </p:cNvSpPr>
          <p:nvPr>
            <p:ph type="dt" sz="half" idx="10"/>
          </p:nvPr>
        </p:nvSpPr>
        <p:spPr/>
        <p:txBody>
          <a:bodyPr/>
          <a:lstStyle/>
          <a:p>
            <a:fld id="{AF36C430-287F-DD4C-AA12-0A938495B580}" type="datetimeFigureOut">
              <a:rPr lang="tr-TR" smtClean="0"/>
              <a:t>10.10.2023</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646244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tr-TR"/>
              <a:t>Asıl başlık stili için tıklatın</a:t>
            </a:r>
            <a:endParaRPr lang="en-US"/>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Date Placeholder 3"/>
          <p:cNvSpPr>
            <a:spLocks noGrp="1"/>
          </p:cNvSpPr>
          <p:nvPr>
            <p:ph type="dt" sz="half" idx="10"/>
          </p:nvPr>
        </p:nvSpPr>
        <p:spPr/>
        <p:txBody>
          <a:bodyPr/>
          <a:lstStyle/>
          <a:p>
            <a:fld id="{AF36C430-287F-DD4C-AA12-0A938495B580}" type="datetimeFigureOut">
              <a:rPr lang="tr-TR" smtClean="0"/>
              <a:t>10.10.2023</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0545454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a:p>
          </p:txBody>
        </p:sp>
        <p:sp>
          <p:nvSpPr>
            <p:cNvPr id="25" name="Freeform 12"/>
            <p:cNvSpPr/>
            <p:nvPr/>
          </p:nvSpPr>
          <p:spPr bwMode="auto">
            <a:xfrm>
              <a:off x="2597151" y="2779713"/>
              <a:ext cx="550863" cy="1978025"/>
            </a:xfrm>
            <a:custGeom>
              <a:avLst/>
              <a:gdLst/>
              <a:ahLst/>
              <a:cxnLst/>
              <a:rect l="0" t="0" r="r" b="b"/>
              <a:pathLst>
                <a:path w="140" h="502">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a:p>
          </p:txBody>
        </p:sp>
        <p:sp>
          <p:nvSpPr>
            <p:cNvPr id="31" name="Freeform 18"/>
            <p:cNvSpPr/>
            <p:nvPr/>
          </p:nvSpPr>
          <p:spPr bwMode="auto">
            <a:xfrm>
              <a:off x="3143251" y="4757738"/>
              <a:ext cx="161925" cy="873125"/>
            </a:xfrm>
            <a:custGeom>
              <a:avLst/>
              <a:gdLst/>
              <a:ahLst/>
              <a:cxnLst/>
              <a:rect l="0" t="0" r="r" b="b"/>
              <a:pathLst>
                <a:path w="41" h="22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a:p>
          </p:txBody>
        </p:sp>
        <p:sp>
          <p:nvSpPr>
            <p:cNvPr id="13" name="Freeform 29"/>
            <p:cNvSpPr/>
            <p:nvPr/>
          </p:nvSpPr>
          <p:spPr bwMode="auto">
            <a:xfrm>
              <a:off x="7439026" y="5053013"/>
              <a:ext cx="357188" cy="820738"/>
            </a:xfrm>
            <a:custGeom>
              <a:avLst/>
              <a:gdLst/>
              <a:ahLst/>
              <a:cxnLst/>
              <a:rect l="0" t="0" r="r" b="b"/>
              <a:pathLst>
                <a:path w="90" h="206">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a:p>
          </p:txBody>
        </p:sp>
        <p:sp>
          <p:nvSpPr>
            <p:cNvPr id="19" name="Freeform 35"/>
            <p:cNvSpPr/>
            <p:nvPr/>
          </p:nvSpPr>
          <p:spPr bwMode="auto">
            <a:xfrm>
              <a:off x="7494588" y="5664200"/>
              <a:ext cx="100013" cy="209550"/>
            </a:xfrm>
            <a:custGeom>
              <a:avLst/>
              <a:gdLst/>
              <a:ahLst/>
              <a:cxnLst/>
              <a:rect l="0" t="0" r="r" b="b"/>
              <a:pathLst>
                <a:path w="25" h="52">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a:p>
          </p:txBody>
        </p:sp>
        <p:sp>
          <p:nvSpPr>
            <p:cNvPr id="20" name="Freeform 36"/>
            <p:cNvSpPr/>
            <p:nvPr/>
          </p:nvSpPr>
          <p:spPr bwMode="auto">
            <a:xfrm>
              <a:off x="7412038" y="5081588"/>
              <a:ext cx="114300" cy="558800"/>
            </a:xfrm>
            <a:custGeom>
              <a:avLst/>
              <a:gdLst/>
              <a:ahLst/>
              <a:cxnLst/>
              <a:rect l="0" t="0" r="r" b="b"/>
              <a:pathLst>
                <a:path w="28"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a:p>
          </p:txBody>
        </p:sp>
        <p:sp>
          <p:nvSpPr>
            <p:cNvPr id="22" name="Freeform 38"/>
            <p:cNvSpPr/>
            <p:nvPr/>
          </p:nvSpPr>
          <p:spPr bwMode="auto">
            <a:xfrm>
              <a:off x="7439026" y="5434013"/>
              <a:ext cx="174625" cy="439738"/>
            </a:xfrm>
            <a:custGeom>
              <a:avLst/>
              <a:gdLst/>
              <a:ahLst/>
              <a:cxnLst/>
              <a:rect l="0" t="0" r="r" b="b"/>
              <a:pathLst>
                <a:path w="44" h="110">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tr-TR"/>
              <a:t>Asıl başlık stili için tıklatın</a:t>
            </a:r>
            <a:endParaRPr lang="en-US"/>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F36C430-287F-DD4C-AA12-0A938495B580}" type="datetimeFigureOut">
              <a:rPr lang="tr-TR" smtClean="0"/>
              <a:t>10.10.2023</a:t>
            </a:fld>
            <a:endParaRPr lang="tr-T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tr-T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9DD1268-69E4-B14A-81C8-E49092695496}" type="slidenum">
              <a:rPr lang="tr-TR" smtClean="0"/>
              <a:t>‹#›</a:t>
            </a:fld>
            <a:endParaRPr lang="tr-TR"/>
          </a:p>
        </p:txBody>
      </p:sp>
    </p:spTree>
    <p:extLst>
      <p:ext uri="{BB962C8B-B14F-4D97-AF65-F5344CB8AC3E}">
        <p14:creationId xmlns:p14="http://schemas.microsoft.com/office/powerpoint/2010/main" val="101904302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ransition/>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ct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ct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ct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p:txBody>
          <a:bodyPr>
            <a:normAutofit fontScale="90000"/>
          </a:bodyPr>
          <a:lstStyle/>
          <a:p>
            <a:br>
              <a:rPr lang="en-US"/>
            </a:br>
            <a:r>
              <a:rPr lang="en-US"/>
              <a:t>Theory of Computation </a:t>
            </a:r>
            <a:br>
              <a:rPr lang="en-US"/>
            </a:br>
            <a:r>
              <a:rPr lang="en-US" sz="3600"/>
              <a:t>Lesson 1</a:t>
            </a:r>
            <a:endParaRPr lang="en-US"/>
          </a:p>
        </p:txBody>
      </p:sp>
      <p:sp>
        <p:nvSpPr>
          <p:cNvPr id="3" name="Alt Başlık 2"/>
          <p:cNvSpPr>
            <a:spLocks noGrp="1"/>
          </p:cNvSpPr>
          <p:nvPr>
            <p:ph type="subTitle" idx="1"/>
          </p:nvPr>
        </p:nvSpPr>
        <p:spPr/>
        <p:txBody>
          <a:bodyPr>
            <a:normAutofit/>
          </a:bodyPr>
          <a:lstStyle/>
          <a:p>
            <a:endParaRPr lang="en-US" sz="2800">
              <a:solidFill>
                <a:srgbClr val="FF0000"/>
              </a:solidFill>
            </a:endParaRPr>
          </a:p>
          <a:p>
            <a:r>
              <a:rPr lang="en-US" sz="2800">
                <a:solidFill>
                  <a:srgbClr val="FF0000"/>
                </a:solidFill>
              </a:rPr>
              <a:t>Deterministic Finite State Automata</a:t>
            </a:r>
          </a:p>
        </p:txBody>
      </p:sp>
      <p:pic>
        <p:nvPicPr>
          <p:cNvPr id="4" name="Picture 2" descr="Deterministic Finite Automaton - Fabian Gröger's Notes - Obsidian Publish">
            <a:extLst>
              <a:ext uri="{FF2B5EF4-FFF2-40B4-BE49-F238E27FC236}">
                <a16:creationId xmlns:a16="http://schemas.microsoft.com/office/drawing/2014/main" id="{0078AC38-FEC0-38B2-BBE8-9A143840D746}"/>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1987613" y="329609"/>
            <a:ext cx="10118598" cy="2858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757369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688DE54-AC7F-ADCB-5473-D9FDA4977FFD}"/>
              </a:ext>
            </a:extLst>
          </p:cNvPr>
          <p:cNvSpPr>
            <a:spLocks noGrp="1"/>
          </p:cNvSpPr>
          <p:nvPr>
            <p:ph type="title"/>
          </p:nvPr>
        </p:nvSpPr>
        <p:spPr/>
        <p:txBody>
          <a:bodyPr/>
          <a:lstStyle/>
          <a:p>
            <a:endParaRPr lang="tr-TR"/>
          </a:p>
        </p:txBody>
      </p:sp>
      <p:pic>
        <p:nvPicPr>
          <p:cNvPr id="1026" name="Picture 2" descr="How to Get a FASTag for Your Vehicle: All You Need to Know">
            <a:extLst>
              <a:ext uri="{FF2B5EF4-FFF2-40B4-BE49-F238E27FC236}">
                <a16:creationId xmlns:a16="http://schemas.microsoft.com/office/drawing/2014/main" id="{03B747CF-816E-81B8-B5C8-4A89F688FF7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23749" y="182109"/>
            <a:ext cx="11544501" cy="6493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369223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23D2AE9-D3E3-B191-E766-4FF7B7E12418}"/>
              </a:ext>
            </a:extLst>
          </p:cNvPr>
          <p:cNvSpPr>
            <a:spLocks noGrp="1"/>
          </p:cNvSpPr>
          <p:nvPr>
            <p:ph idx="1"/>
          </p:nvPr>
        </p:nvSpPr>
        <p:spPr>
          <a:xfrm>
            <a:off x="4443254" y="1456267"/>
            <a:ext cx="7529006" cy="4569677"/>
          </a:xfrm>
        </p:spPr>
        <p:txBody>
          <a:bodyPr anchor="t">
            <a:noAutofit/>
          </a:bodyPr>
          <a:lstStyle/>
          <a:p>
            <a:pPr marL="0" indent="0">
              <a:buNone/>
            </a:pPr>
            <a:r>
              <a:rPr lang="en-US" sz="2400"/>
              <a:t>Each coin will now represent the letters that make up a word for us.</a:t>
            </a:r>
          </a:p>
          <a:p>
            <a:r>
              <a:rPr lang="en-US" sz="2400"/>
              <a:t>5 + 5 + 5 + 5 + 5	----&gt;		AAAAA</a:t>
            </a:r>
          </a:p>
          <a:p>
            <a:r>
              <a:rPr lang="en-US" sz="2400"/>
              <a:t>5 + 10 + 10		----&gt;		ABB</a:t>
            </a:r>
          </a:p>
          <a:p>
            <a:r>
              <a:rPr lang="en-US" sz="2400"/>
              <a:t>5 + 5 + 5 + 10		----&gt;		AAAB</a:t>
            </a:r>
          </a:p>
          <a:p>
            <a:r>
              <a:rPr lang="en-US" sz="2400"/>
              <a:t>… </a:t>
            </a:r>
          </a:p>
          <a:p>
            <a:r>
              <a:rPr lang="en-US" sz="2400"/>
              <a:t>10 + 10 + 5		----&gt;		BBA</a:t>
            </a:r>
          </a:p>
          <a:p>
            <a:r>
              <a:rPr lang="en-US" sz="2400"/>
              <a:t>25			</a:t>
            </a:r>
            <a:r>
              <a:rPr lang="tr-TR" sz="2400"/>
              <a:t>		</a:t>
            </a:r>
            <a:r>
              <a:rPr lang="en-US" sz="2400"/>
              <a:t>----&gt;		C</a:t>
            </a:r>
          </a:p>
          <a:p>
            <a:pPr marL="0" indent="0">
              <a:buNone/>
            </a:pPr>
            <a:r>
              <a:rPr lang="en-US" sz="2400"/>
              <a:t>Now we must figure out which words should be accepted.</a:t>
            </a:r>
          </a:p>
        </p:txBody>
      </p:sp>
      <p:pic>
        <p:nvPicPr>
          <p:cNvPr id="5122" name="Picture 2" descr="1 Cent Clipart - Only 25 Cents Sign, HD Png Download - kindpng">
            <a:extLst>
              <a:ext uri="{FF2B5EF4-FFF2-40B4-BE49-F238E27FC236}">
                <a16:creationId xmlns:a16="http://schemas.microsoft.com/office/drawing/2014/main" id="{752DA09F-D2CC-5A49-8BE4-19AD520B54C0}"/>
              </a:ext>
            </a:extLst>
          </p:cNvPr>
          <p:cNvPicPr>
            <a:picLocks noChangeAspect="1" noChangeArrowheads="1"/>
          </p:cNvPicPr>
          <p:nvPr/>
        </p:nvPicPr>
        <p:blipFill>
          <a:blip r:embed="rId3">
            <a:clrChange>
              <a:clrFrom>
                <a:srgbClr val="F7F7F7"/>
              </a:clrFrom>
              <a:clrTo>
                <a:srgbClr val="F7F7F7">
                  <a:alpha val="0"/>
                </a:srgbClr>
              </a:clrTo>
            </a:clrChange>
            <a:extLst>
              <a:ext uri="{28A0092B-C50C-407E-A947-70E740481C1C}">
                <a14:useLocalDpi xmlns:a14="http://schemas.microsoft.com/office/drawing/2010/main" val="0"/>
              </a:ext>
            </a:extLst>
          </a:blip>
          <a:srcRect r="3065" b="-3"/>
          <a:stretch>
            <a:fillRect/>
          </a:stretch>
        </p:blipFill>
        <p:spPr bwMode="auto">
          <a:xfrm>
            <a:off x="502190" y="1668672"/>
            <a:ext cx="3941064" cy="4096512"/>
          </a:xfrm>
          <a:prstGeom prst="rect">
            <a:avLst/>
          </a:prstGeom>
          <a:noFill/>
          <a:extLst>
            <a:ext uri="{909E8E84-426E-40DD-AFC4-6F175D3DCCD1}">
              <a14:hiddenFill xmlns:a14="http://schemas.microsoft.com/office/drawing/2010/main">
                <a:solidFill>
                  <a:srgbClr val="FFFFFF"/>
                </a:solidFill>
              </a14:hiddenFill>
            </a:ext>
          </a:extLst>
        </p:spPr>
      </p:pic>
      <p:sp>
        <p:nvSpPr>
          <p:cNvPr id="4" name="Unvan 3"/>
          <p:cNvSpPr>
            <a:spLocks noGrp="1"/>
          </p:cNvSpPr>
          <p:nvPr>
            <p:ph type="title"/>
          </p:nvPr>
        </p:nvSpPr>
        <p:spPr>
          <a:xfrm>
            <a:off x="2592925" y="624110"/>
            <a:ext cx="9379335" cy="1280890"/>
          </a:xfrm>
        </p:spPr>
        <p:txBody>
          <a:bodyPr/>
          <a:lstStyle/>
          <a:p>
            <a:r>
              <a:rPr lang="en-US"/>
              <a:t>Imagine opening the gate with 25 cents.</a:t>
            </a:r>
            <a:endParaRPr lang="tr-TR"/>
          </a:p>
        </p:txBody>
      </p:sp>
    </p:spTree>
    <p:extLst>
      <p:ext uri="{BB962C8B-B14F-4D97-AF65-F5344CB8AC3E}">
        <p14:creationId xmlns:p14="http://schemas.microsoft.com/office/powerpoint/2010/main" val="67616449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CD12C80-B3F3-5D77-E2E4-D4D34C3F1A5A}"/>
              </a:ext>
            </a:extLst>
          </p:cNvPr>
          <p:cNvSpPr>
            <a:spLocks noGrp="1"/>
          </p:cNvSpPr>
          <p:nvPr>
            <p:ph idx="1"/>
          </p:nvPr>
        </p:nvSpPr>
        <p:spPr>
          <a:xfrm>
            <a:off x="5699951" y="1440276"/>
            <a:ext cx="6357494" cy="3320668"/>
          </a:xfrm>
        </p:spPr>
        <p:txBody>
          <a:bodyPr>
            <a:noAutofit/>
          </a:bodyPr>
          <a:lstStyle/>
          <a:p>
            <a:r>
              <a:rPr lang="en-US" sz="2400"/>
              <a:t>Automaton systems have no memory!</a:t>
            </a:r>
          </a:p>
          <a:p>
            <a:r>
              <a:rPr lang="en-US" sz="2400"/>
              <a:t>When the user puts to machine a new coin, the system cannot remember how much coin has been thrown in total until</a:t>
            </a:r>
            <a:r>
              <a:rPr lang="tr-TR" sz="2400"/>
              <a:t> </a:t>
            </a:r>
            <a:r>
              <a:rPr lang="en-US" sz="2400"/>
              <a:t>that moment. </a:t>
            </a:r>
          </a:p>
          <a:p>
            <a:r>
              <a:rPr lang="en-US" sz="2400"/>
              <a:t>Therefore, the system cannot calculate how much more coins needs to be thrown to open the gate.</a:t>
            </a:r>
          </a:p>
        </p:txBody>
      </p:sp>
      <p:pic>
        <p:nvPicPr>
          <p:cNvPr id="4098" name="Picture 2" descr="Stupid Robot Stock Illustrations – 78 Stupid Robot Stock Illustrations,  Vectors &amp; Clipart - Dreamstime">
            <a:extLst>
              <a:ext uri="{FF2B5EF4-FFF2-40B4-BE49-F238E27FC236}">
                <a16:creationId xmlns:a16="http://schemas.microsoft.com/office/drawing/2014/main" id="{15551589-B918-26FE-E3C1-3E785B28D7DF}"/>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302"/>
          <a:stretch>
            <a:fillRect/>
          </a:stretch>
        </p:blipFill>
        <p:spPr bwMode="auto">
          <a:xfrm>
            <a:off x="0" y="624110"/>
            <a:ext cx="6252783" cy="62338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4" name="Unvan 3"/>
          <p:cNvSpPr>
            <a:spLocks noGrp="1"/>
          </p:cNvSpPr>
          <p:nvPr>
            <p:ph type="title"/>
          </p:nvPr>
        </p:nvSpPr>
        <p:spPr>
          <a:xfrm>
            <a:off x="4032257" y="624110"/>
            <a:ext cx="8081955" cy="1280890"/>
          </a:xfrm>
        </p:spPr>
        <p:txBody>
          <a:bodyPr/>
          <a:lstStyle/>
          <a:p>
            <a:r>
              <a:rPr lang="en-US"/>
              <a:t>But we have a problem</a:t>
            </a:r>
            <a:endParaRPr lang="tr-TR"/>
          </a:p>
        </p:txBody>
      </p:sp>
    </p:spTree>
    <p:extLst>
      <p:ext uri="{BB962C8B-B14F-4D97-AF65-F5344CB8AC3E}">
        <p14:creationId xmlns:p14="http://schemas.microsoft.com/office/powerpoint/2010/main" val="11014292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a:extLst>
              <a:ext uri="{FF2B5EF4-FFF2-40B4-BE49-F238E27FC236}">
                <a16:creationId xmlns:a16="http://schemas.microsoft.com/office/drawing/2014/main" id="{0E38295E-D9D5-3A68-657F-582A591A2BE1}"/>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640777" y="2014785"/>
            <a:ext cx="10228882" cy="4909863"/>
          </a:xfrm>
          <a:prstGeom prst="rect">
            <a:avLst/>
          </a:prstGeom>
        </p:spPr>
      </p:pic>
      <p:sp>
        <p:nvSpPr>
          <p:cNvPr id="3" name="İçerik Yer Tutucusu 2">
            <a:extLst>
              <a:ext uri="{FF2B5EF4-FFF2-40B4-BE49-F238E27FC236}">
                <a16:creationId xmlns:a16="http://schemas.microsoft.com/office/drawing/2014/main" id="{4BCAB145-E8DD-4F22-E6C3-9A3919EB61A0}"/>
              </a:ext>
            </a:extLst>
          </p:cNvPr>
          <p:cNvSpPr>
            <a:spLocks noGrp="1"/>
          </p:cNvSpPr>
          <p:nvPr>
            <p:ph idx="1"/>
          </p:nvPr>
        </p:nvSpPr>
        <p:spPr>
          <a:xfrm>
            <a:off x="2592926" y="1327379"/>
            <a:ext cx="8617516" cy="687406"/>
          </a:xfrm>
        </p:spPr>
        <p:txBody>
          <a:bodyPr vert="horz" lIns="91440" tIns="45720" rIns="91440" bIns="45720" rtlCol="0" anchor="ctr">
            <a:normAutofit/>
          </a:bodyPr>
          <a:lstStyle/>
          <a:p>
            <a:pPr marL="0" indent="0">
              <a:buNone/>
            </a:pPr>
            <a:r>
              <a:rPr lang="en-US" sz="2400" kern="1200">
                <a:solidFill>
                  <a:schemeClr val="tx1"/>
                </a:solidFill>
                <a:latin typeface="+mn-lt"/>
                <a:ea typeface="+mn-ea"/>
                <a:cs typeface="+mn-cs"/>
              </a:rPr>
              <a:t>Finite State Automata use </a:t>
            </a:r>
            <a:r>
              <a:rPr lang="en-US" sz="2400" b="1" kern="1200">
                <a:solidFill>
                  <a:schemeClr val="tx1"/>
                </a:solidFill>
                <a:latin typeface="+mn-lt"/>
                <a:ea typeface="+mn-ea"/>
                <a:cs typeface="+mn-cs"/>
              </a:rPr>
              <a:t>states</a:t>
            </a:r>
            <a:r>
              <a:rPr lang="en-US" sz="2400" kern="1200">
                <a:solidFill>
                  <a:schemeClr val="tx1"/>
                </a:solidFill>
                <a:latin typeface="+mn-lt"/>
                <a:ea typeface="+mn-ea"/>
                <a:cs typeface="+mn-cs"/>
              </a:rPr>
              <a:t> to remember situations.</a:t>
            </a:r>
          </a:p>
        </p:txBody>
      </p:sp>
      <p:sp>
        <p:nvSpPr>
          <p:cNvPr id="5" name="Unvan 4"/>
          <p:cNvSpPr>
            <a:spLocks noGrp="1"/>
          </p:cNvSpPr>
          <p:nvPr>
            <p:ph type="title"/>
          </p:nvPr>
        </p:nvSpPr>
        <p:spPr>
          <a:xfrm>
            <a:off x="2592925" y="624110"/>
            <a:ext cx="8911687" cy="703269"/>
          </a:xfrm>
        </p:spPr>
        <p:txBody>
          <a:bodyPr/>
          <a:lstStyle/>
          <a:p>
            <a:r>
              <a:rPr lang="en-US">
                <a:solidFill>
                  <a:schemeClr val="tx1"/>
                </a:solidFill>
              </a:rPr>
              <a:t>Instead of Variables</a:t>
            </a:r>
            <a:endParaRPr lang="tr-TR"/>
          </a:p>
        </p:txBody>
      </p:sp>
    </p:spTree>
    <p:extLst>
      <p:ext uri="{BB962C8B-B14F-4D97-AF65-F5344CB8AC3E}">
        <p14:creationId xmlns:p14="http://schemas.microsoft.com/office/powerpoint/2010/main" val="175706896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AEDBFF0-3C47-F8A7-0111-2952BFE6E578}"/>
              </a:ext>
            </a:extLst>
          </p:cNvPr>
          <p:cNvSpPr>
            <a:spLocks noGrp="1"/>
          </p:cNvSpPr>
          <p:nvPr>
            <p:ph idx="1"/>
          </p:nvPr>
        </p:nvSpPr>
        <p:spPr>
          <a:xfrm>
            <a:off x="2592925" y="2337725"/>
            <a:ext cx="4243589" cy="3320668"/>
          </a:xfrm>
        </p:spPr>
        <p:txBody>
          <a:bodyPr>
            <a:normAutofit/>
          </a:bodyPr>
          <a:lstStyle/>
          <a:p>
            <a:pPr marL="0" indent="0">
              <a:buNone/>
            </a:pPr>
            <a:r>
              <a:rPr lang="en-US" sz="2200"/>
              <a:t>If we want to solve the toll-gate problem with finite state automata, we should see the coins thrown to open the gate as letters on the keyboard.</a:t>
            </a:r>
          </a:p>
        </p:txBody>
      </p:sp>
      <p:pic>
        <p:nvPicPr>
          <p:cNvPr id="7170" name="Picture 2" descr="Hasbro Transformers Cyberverse Spark Armor Optimus Prime Dev Fiyatı">
            <a:extLst>
              <a:ext uri="{FF2B5EF4-FFF2-40B4-BE49-F238E27FC236}">
                <a16:creationId xmlns:a16="http://schemas.microsoft.com/office/drawing/2014/main" id="{6DCF6E7D-5E3F-275A-D552-A290608BD9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3360" t="1" r="14454" b="300"/>
          <a:stretch>
            <a:fillRect/>
          </a:stretch>
        </p:blipFill>
        <p:spPr bwMode="auto">
          <a:xfrm>
            <a:off x="7857459" y="395091"/>
            <a:ext cx="3845443" cy="5311149"/>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4" name="Unvan 3"/>
          <p:cNvSpPr>
            <a:spLocks noGrp="1"/>
          </p:cNvSpPr>
          <p:nvPr>
            <p:ph type="title"/>
          </p:nvPr>
        </p:nvSpPr>
        <p:spPr/>
        <p:txBody>
          <a:bodyPr/>
          <a:lstStyle/>
          <a:p>
            <a:r>
              <a:rPr lang="en-US"/>
              <a:t>To save the world</a:t>
            </a:r>
            <a:br>
              <a:rPr lang="en-US"/>
            </a:br>
            <a:r>
              <a:rPr lang="en-US"/>
              <a:t>We need Transformers</a:t>
            </a:r>
            <a:endParaRPr lang="tr-TR"/>
          </a:p>
        </p:txBody>
      </p:sp>
    </p:spTree>
    <p:extLst>
      <p:ext uri="{BB962C8B-B14F-4D97-AF65-F5344CB8AC3E}">
        <p14:creationId xmlns:p14="http://schemas.microsoft.com/office/powerpoint/2010/main" val="232728725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up 17">
            <a:extLst>
              <a:ext uri="{FF2B5EF4-FFF2-40B4-BE49-F238E27FC236}">
                <a16:creationId xmlns:a16="http://schemas.microsoft.com/office/drawing/2014/main" id="{34773B38-7F8A-955E-E925-18162E30B8ED}"/>
              </a:ext>
            </a:extLst>
          </p:cNvPr>
          <p:cNvGrpSpPr/>
          <p:nvPr/>
        </p:nvGrpSpPr>
        <p:grpSpPr>
          <a:xfrm>
            <a:off x="1488558" y="1587500"/>
            <a:ext cx="9649557" cy="5270500"/>
            <a:chOff x="0" y="-22349"/>
            <a:chExt cx="12192000" cy="6887055"/>
          </a:xfrm>
        </p:grpSpPr>
        <p:pic>
          <p:nvPicPr>
            <p:cNvPr id="19" name="Picture 2" descr="Tollgate Stock Illustrations – 52 Tollgate Stock Illustrations, Vectors &amp;  Clipart - Dreamstime">
              <a:extLst>
                <a:ext uri="{FF2B5EF4-FFF2-40B4-BE49-F238E27FC236}">
                  <a16:creationId xmlns:a16="http://schemas.microsoft.com/office/drawing/2014/main" id="{ADD9F628-36D7-4DC7-A790-99331A490E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3251"/>
            <a:stretch>
              <a:fillRect/>
            </a:stretch>
          </p:blipFill>
          <p:spPr bwMode="auto">
            <a:xfrm>
              <a:off x="3486214" y="-22349"/>
              <a:ext cx="3933372" cy="368300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 descr="Singapore gets first locally-designed coins – Justin Zhuang">
              <a:extLst>
                <a:ext uri="{FF2B5EF4-FFF2-40B4-BE49-F238E27FC236}">
                  <a16:creationId xmlns:a16="http://schemas.microsoft.com/office/drawing/2014/main" id="{B7FEA41A-A2EF-0D93-7696-53636C3613D5}"/>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0" y="3683000"/>
              <a:ext cx="3933371" cy="3181706"/>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8" descr="SAMSUNG N143 N145 N148 N150 NB20 NB30 Internal Laptop Keyboard - SAMSUNG :  Flipkart.com">
              <a:extLst>
                <a:ext uri="{FF2B5EF4-FFF2-40B4-BE49-F238E27FC236}">
                  <a16:creationId xmlns:a16="http://schemas.microsoft.com/office/drawing/2014/main" id="{20E07607-0F4E-E122-D237-F1BBDC2604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b="34095"/>
            <a:stretch>
              <a:fillRect/>
            </a:stretch>
          </p:blipFill>
          <p:spPr bwMode="auto">
            <a:xfrm>
              <a:off x="6908800" y="4062761"/>
              <a:ext cx="5283200" cy="2084100"/>
            </a:xfrm>
            <a:prstGeom prst="rect">
              <a:avLst/>
            </a:prstGeom>
            <a:noFill/>
            <a:extLst>
              <a:ext uri="{909E8E84-426E-40DD-AFC4-6F175D3DCCD1}">
                <a14:hiddenFill xmlns:a14="http://schemas.microsoft.com/office/drawing/2010/main">
                  <a:solidFill>
                    <a:srgbClr val="FFFFFF"/>
                  </a:solidFill>
                </a14:hiddenFill>
              </a:ext>
            </a:extLst>
          </p:spPr>
        </p:pic>
        <p:sp>
          <p:nvSpPr>
            <p:cNvPr id="23" name="Sağ Ok 22">
              <a:extLst>
                <a:ext uri="{FF2B5EF4-FFF2-40B4-BE49-F238E27FC236}">
                  <a16:creationId xmlns:a16="http://schemas.microsoft.com/office/drawing/2014/main" id="{C3303265-B62D-3CB2-C290-2F83C6870055}"/>
                </a:ext>
              </a:extLst>
            </p:cNvPr>
            <p:cNvSpPr/>
            <p:nvPr/>
          </p:nvSpPr>
          <p:spPr>
            <a:xfrm>
              <a:off x="4397829" y="4735399"/>
              <a:ext cx="1698171" cy="8638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Unvan 2"/>
          <p:cNvSpPr>
            <a:spLocks noGrp="1"/>
          </p:cNvSpPr>
          <p:nvPr>
            <p:ph type="title"/>
          </p:nvPr>
        </p:nvSpPr>
        <p:spPr/>
        <p:txBody>
          <a:bodyPr/>
          <a:lstStyle/>
          <a:p>
            <a:r>
              <a:rPr lang="en-US"/>
              <a:t>We need a Transformation</a:t>
            </a:r>
            <a:endParaRPr lang="tr-TR"/>
          </a:p>
        </p:txBody>
      </p:sp>
    </p:spTree>
    <p:extLst>
      <p:ext uri="{BB962C8B-B14F-4D97-AF65-F5344CB8AC3E}">
        <p14:creationId xmlns:p14="http://schemas.microsoft.com/office/powerpoint/2010/main" val="156527295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D1BF089-9C60-DB8B-F548-7C8069B657AE}"/>
              </a:ext>
            </a:extLst>
          </p:cNvPr>
          <p:cNvSpPr>
            <a:spLocks noGrp="1"/>
          </p:cNvSpPr>
          <p:nvPr>
            <p:ph idx="1"/>
          </p:nvPr>
        </p:nvSpPr>
        <p:spPr>
          <a:xfrm>
            <a:off x="1686850" y="1141085"/>
            <a:ext cx="6254627" cy="2612032"/>
          </a:xfrm>
        </p:spPr>
        <p:txBody>
          <a:bodyPr anchor="ctr">
            <a:noAutofit/>
          </a:bodyPr>
          <a:lstStyle/>
          <a:p>
            <a:pPr marL="0" marR="0" lvl="0" indent="0" algn="l" defTabSz="914400" rtl="0" eaLnBrk="1" fontAlgn="auto" latinLnBrk="0" hangingPunct="1">
              <a:lnSpc>
                <a:spcPct val="100000"/>
              </a:lnSpc>
              <a:spcBef>
                <a:spcPct val="0"/>
              </a:spcBef>
              <a:spcAft>
                <a:spcPct val="0"/>
              </a:spcAft>
              <a:buClrTx/>
              <a:buSzTx/>
              <a:buFontTx/>
              <a:buNone/>
              <a:defRPr/>
            </a:pPr>
            <a:r>
              <a:rPr lang="en-US" sz="2200" kern="1200">
                <a:solidFill>
                  <a:schemeClr val="tx1"/>
                </a:solidFill>
                <a:ea typeface="+mj-ea"/>
                <a:cs typeface="+mj-cs"/>
              </a:rPr>
              <a:t>q</a:t>
            </a:r>
            <a:r>
              <a:rPr lang="en-US" sz="2200" kern="1200" baseline="-25000">
                <a:solidFill>
                  <a:schemeClr val="tx1"/>
                </a:solidFill>
                <a:ea typeface="+mj-ea"/>
                <a:cs typeface="+mj-cs"/>
              </a:rPr>
              <a:t>0</a:t>
            </a:r>
            <a:r>
              <a:rPr lang="en-US" sz="2200" kern="1200">
                <a:solidFill>
                  <a:schemeClr val="tx1"/>
                </a:solidFill>
                <a:ea typeface="+mj-ea"/>
                <a:cs typeface="+mj-cs"/>
              </a:rPr>
              <a:t> : there is no money at the automaton yet</a:t>
            </a:r>
          </a:p>
          <a:p>
            <a:pPr marL="0" marR="0" lvl="0" indent="0" algn="l" defTabSz="914400" rtl="0" eaLnBrk="1" fontAlgn="auto" latinLnBrk="0" hangingPunct="1">
              <a:lnSpc>
                <a:spcPct val="100000"/>
              </a:lnSpc>
              <a:spcBef>
                <a:spcPct val="0"/>
              </a:spcBef>
              <a:spcAft>
                <a:spcPct val="0"/>
              </a:spcAft>
              <a:buClrTx/>
              <a:buSzTx/>
              <a:buFontTx/>
              <a:buNone/>
              <a:defRPr/>
            </a:pPr>
            <a:r>
              <a:rPr lang="en-US" sz="2200">
                <a:solidFill>
                  <a:schemeClr val="tx1"/>
                </a:solidFill>
                <a:ea typeface="+mj-ea"/>
                <a:cs typeface="+mj-cs"/>
              </a:rPr>
              <a:t>q</a:t>
            </a:r>
            <a:r>
              <a:rPr lang="en-US" sz="2200" baseline="-25000">
                <a:solidFill>
                  <a:schemeClr val="tx1"/>
                </a:solidFill>
                <a:ea typeface="+mj-ea"/>
                <a:cs typeface="+mj-cs"/>
              </a:rPr>
              <a:t>1</a:t>
            </a:r>
            <a:r>
              <a:rPr lang="en-US" sz="2200" kern="1200">
                <a:solidFill>
                  <a:schemeClr val="tx1"/>
                </a:solidFill>
                <a:ea typeface="+mj-ea"/>
                <a:cs typeface="+mj-cs"/>
              </a:rPr>
              <a:t> : we have 5 cents only </a:t>
            </a:r>
          </a:p>
          <a:p>
            <a:pPr marL="0" marR="0" lvl="0" indent="0" algn="l" defTabSz="914400" rtl="0" eaLnBrk="1" fontAlgn="auto" latinLnBrk="0" hangingPunct="1">
              <a:lnSpc>
                <a:spcPct val="100000"/>
              </a:lnSpc>
              <a:spcBef>
                <a:spcPct val="0"/>
              </a:spcBef>
              <a:spcAft>
                <a:spcPct val="0"/>
              </a:spcAft>
              <a:buClrTx/>
              <a:buSzTx/>
              <a:buFontTx/>
              <a:buNone/>
              <a:defRPr/>
            </a:pPr>
            <a:r>
              <a:rPr lang="en-US" sz="2200">
                <a:solidFill>
                  <a:schemeClr val="tx1"/>
                </a:solidFill>
                <a:ea typeface="+mj-ea"/>
                <a:cs typeface="+mj-cs"/>
              </a:rPr>
              <a:t>q</a:t>
            </a:r>
            <a:r>
              <a:rPr lang="en-US" sz="2200" baseline="-25000">
                <a:solidFill>
                  <a:schemeClr val="tx1"/>
                </a:solidFill>
                <a:ea typeface="+mj-ea"/>
                <a:cs typeface="+mj-cs"/>
              </a:rPr>
              <a:t>2</a:t>
            </a:r>
            <a:r>
              <a:rPr lang="en-US" sz="2200">
                <a:solidFill>
                  <a:schemeClr val="tx1"/>
                </a:solidFill>
                <a:ea typeface="+mj-ea"/>
                <a:cs typeface="+mj-cs"/>
              </a:rPr>
              <a:t> : </a:t>
            </a:r>
            <a:r>
              <a:rPr lang="en-US" sz="2200" kern="1200">
                <a:solidFill>
                  <a:schemeClr val="tx1"/>
                </a:solidFill>
                <a:ea typeface="+mj-ea"/>
                <a:cs typeface="+mj-cs"/>
              </a:rPr>
              <a:t>10 cents </a:t>
            </a:r>
          </a:p>
          <a:p>
            <a:pPr marL="0" marR="0" lvl="0" indent="0" algn="l" defTabSz="914400" rtl="0" eaLnBrk="1" fontAlgn="auto" latinLnBrk="0" hangingPunct="1">
              <a:lnSpc>
                <a:spcPct val="100000"/>
              </a:lnSpc>
              <a:spcBef>
                <a:spcPct val="0"/>
              </a:spcBef>
              <a:spcAft>
                <a:spcPct val="0"/>
              </a:spcAft>
              <a:buClrTx/>
              <a:buSzTx/>
              <a:buFontTx/>
              <a:buNone/>
              <a:defRPr/>
            </a:pPr>
            <a:r>
              <a:rPr lang="en-US" sz="2200">
                <a:solidFill>
                  <a:schemeClr val="tx1"/>
                </a:solidFill>
                <a:ea typeface="+mj-ea"/>
                <a:cs typeface="+mj-cs"/>
              </a:rPr>
              <a:t>q</a:t>
            </a:r>
            <a:r>
              <a:rPr lang="en-US" sz="2200" baseline="-25000">
                <a:solidFill>
                  <a:schemeClr val="tx1"/>
                </a:solidFill>
                <a:ea typeface="+mj-ea"/>
                <a:cs typeface="+mj-cs"/>
              </a:rPr>
              <a:t>3</a:t>
            </a:r>
            <a:r>
              <a:rPr lang="en-US" sz="2200" kern="1200">
                <a:solidFill>
                  <a:schemeClr val="tx1"/>
                </a:solidFill>
                <a:ea typeface="+mj-ea"/>
                <a:cs typeface="+mj-cs"/>
              </a:rPr>
              <a:t> : 15 cents</a:t>
            </a:r>
          </a:p>
          <a:p>
            <a:pPr marL="0" marR="0" lvl="0" indent="0" algn="l" defTabSz="914400" rtl="0" eaLnBrk="1" fontAlgn="auto" latinLnBrk="0" hangingPunct="1">
              <a:lnSpc>
                <a:spcPct val="100000"/>
              </a:lnSpc>
              <a:spcBef>
                <a:spcPct val="0"/>
              </a:spcBef>
              <a:spcAft>
                <a:spcPct val="0"/>
              </a:spcAft>
              <a:buClrTx/>
              <a:buSzTx/>
              <a:buFontTx/>
              <a:buNone/>
              <a:defRPr/>
            </a:pPr>
            <a:r>
              <a:rPr lang="en-US" sz="2200" kern="1200">
                <a:solidFill>
                  <a:schemeClr val="tx1"/>
                </a:solidFill>
                <a:ea typeface="+mj-ea"/>
                <a:cs typeface="+mj-cs"/>
              </a:rPr>
              <a:t>q</a:t>
            </a:r>
            <a:r>
              <a:rPr lang="en-US" sz="2200" kern="1200" baseline="-25000">
                <a:solidFill>
                  <a:schemeClr val="tx1"/>
                </a:solidFill>
                <a:ea typeface="+mj-ea"/>
                <a:cs typeface="+mj-cs"/>
              </a:rPr>
              <a:t>4</a:t>
            </a:r>
            <a:r>
              <a:rPr lang="en-US" sz="2200" kern="1200">
                <a:solidFill>
                  <a:schemeClr val="tx1"/>
                </a:solidFill>
                <a:ea typeface="+mj-ea"/>
                <a:cs typeface="+mj-cs"/>
              </a:rPr>
              <a:t> : 20 cents</a:t>
            </a:r>
          </a:p>
          <a:p>
            <a:pPr marL="0" marR="0" lvl="0" indent="0" algn="l" defTabSz="914400" rtl="0" eaLnBrk="1" fontAlgn="auto" latinLnBrk="0" hangingPunct="1">
              <a:lnSpc>
                <a:spcPct val="100000"/>
              </a:lnSpc>
              <a:spcBef>
                <a:spcPct val="0"/>
              </a:spcBef>
              <a:spcAft>
                <a:spcPct val="0"/>
              </a:spcAft>
              <a:buClrTx/>
              <a:buSzTx/>
              <a:buFontTx/>
              <a:buNone/>
              <a:defRPr/>
            </a:pPr>
            <a:r>
              <a:rPr lang="en-US" sz="2200">
                <a:solidFill>
                  <a:schemeClr val="tx1"/>
                </a:solidFill>
                <a:ea typeface="+mj-ea"/>
                <a:cs typeface="+mj-cs"/>
              </a:rPr>
              <a:t>q</a:t>
            </a:r>
            <a:r>
              <a:rPr lang="en-US" sz="2200" baseline="-25000">
                <a:solidFill>
                  <a:schemeClr val="tx1"/>
                </a:solidFill>
                <a:ea typeface="+mj-ea"/>
                <a:cs typeface="+mj-cs"/>
              </a:rPr>
              <a:t>5</a:t>
            </a:r>
            <a:r>
              <a:rPr lang="en-US" sz="2200" kern="1200">
                <a:solidFill>
                  <a:schemeClr val="tx1"/>
                </a:solidFill>
                <a:ea typeface="+mj-ea"/>
                <a:cs typeface="+mj-cs"/>
              </a:rPr>
              <a:t> : 25 cents</a:t>
            </a:r>
          </a:p>
        </p:txBody>
      </p:sp>
      <p:pic>
        <p:nvPicPr>
          <p:cNvPr id="5" name="Resim 4">
            <a:extLst>
              <a:ext uri="{FF2B5EF4-FFF2-40B4-BE49-F238E27FC236}">
                <a16:creationId xmlns:a16="http://schemas.microsoft.com/office/drawing/2014/main" id="{5D63B273-482F-8C23-F998-6806863AE7EB}"/>
              </a:ext>
            </a:extLst>
          </p:cNvPr>
          <p:cNvPicPr>
            <a:picLocks noChangeAspect="1"/>
          </p:cNvPicPr>
          <p:nvPr/>
        </p:nvPicPr>
        <p:blipFill>
          <a:blip r:embed="rId3">
            <a:clrChange>
              <a:clrFrom>
                <a:srgbClr val="FFFFFF"/>
              </a:clrFrom>
              <a:clrTo>
                <a:srgbClr val="FFFFFF">
                  <a:alpha val="0"/>
                </a:srgbClr>
              </a:clrTo>
            </a:clrChange>
          </a:blip>
          <a:srcRect t="-1" b="1912"/>
          <a:stretch>
            <a:fillRect/>
          </a:stretch>
        </p:blipFill>
        <p:spPr>
          <a:xfrm>
            <a:off x="3574909" y="2726265"/>
            <a:ext cx="8248650" cy="3883642"/>
          </a:xfrm>
          <a:prstGeom prst="rect">
            <a:avLst/>
          </a:prstGeom>
        </p:spPr>
      </p:pic>
      <p:sp>
        <p:nvSpPr>
          <p:cNvPr id="4" name="Unvan 3"/>
          <p:cNvSpPr>
            <a:spLocks noGrp="1"/>
          </p:cNvSpPr>
          <p:nvPr>
            <p:ph type="title"/>
          </p:nvPr>
        </p:nvSpPr>
        <p:spPr>
          <a:xfrm>
            <a:off x="1593463" y="624110"/>
            <a:ext cx="8911687" cy="1280890"/>
          </a:xfrm>
        </p:spPr>
        <p:txBody>
          <a:bodyPr/>
          <a:lstStyle/>
          <a:p>
            <a:r>
              <a:rPr lang="en-US"/>
              <a:t>States</a:t>
            </a:r>
            <a:endParaRPr lang="tr-TR"/>
          </a:p>
        </p:txBody>
      </p:sp>
    </p:spTree>
    <p:extLst>
      <p:ext uri="{BB962C8B-B14F-4D97-AF65-F5344CB8AC3E}">
        <p14:creationId xmlns:p14="http://schemas.microsoft.com/office/powerpoint/2010/main" val="383702379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2D9E591-8137-61B4-05F4-43CB85B8FEDD}"/>
              </a:ext>
            </a:extLst>
          </p:cNvPr>
          <p:cNvSpPr>
            <a:spLocks noGrp="1"/>
          </p:cNvSpPr>
          <p:nvPr>
            <p:ph idx="1"/>
          </p:nvPr>
        </p:nvSpPr>
        <p:spPr>
          <a:xfrm>
            <a:off x="7592811" y="2182522"/>
            <a:ext cx="4243589" cy="3320668"/>
          </a:xfrm>
        </p:spPr>
        <p:txBody>
          <a:bodyPr>
            <a:normAutofit/>
          </a:bodyPr>
          <a:lstStyle/>
          <a:p>
            <a:pPr marL="0" indent="0">
              <a:buNone/>
            </a:pPr>
            <a:r>
              <a:rPr lang="en-US" sz="2400"/>
              <a:t>Since each coin the user throws will correspond to a letter, we must first define an alphabet and map which symbol each coin corresponds to.</a:t>
            </a:r>
            <a:endParaRPr lang="en-US" sz="2400" b="1"/>
          </a:p>
        </p:txBody>
      </p:sp>
      <p:grpSp>
        <p:nvGrpSpPr>
          <p:cNvPr id="26" name="Grup 25">
            <a:extLst>
              <a:ext uri="{FF2B5EF4-FFF2-40B4-BE49-F238E27FC236}">
                <a16:creationId xmlns:a16="http://schemas.microsoft.com/office/drawing/2014/main" id="{D7EBF7F8-5D68-2DA0-371B-B1DAB7C16265}"/>
              </a:ext>
            </a:extLst>
          </p:cNvPr>
          <p:cNvGrpSpPr/>
          <p:nvPr/>
        </p:nvGrpSpPr>
        <p:grpSpPr>
          <a:xfrm>
            <a:off x="247326" y="1587102"/>
            <a:ext cx="6924614" cy="4850350"/>
            <a:chOff x="557379" y="142065"/>
            <a:chExt cx="9681436" cy="6591057"/>
          </a:xfrm>
        </p:grpSpPr>
        <p:sp>
          <p:nvSpPr>
            <p:cNvPr id="27" name="Sağ Ok 26">
              <a:extLst>
                <a:ext uri="{FF2B5EF4-FFF2-40B4-BE49-F238E27FC236}">
                  <a16:creationId xmlns:a16="http://schemas.microsoft.com/office/drawing/2014/main" id="{ECA1DD39-AB12-DDE4-55BB-A38D548884B1}"/>
                </a:ext>
              </a:extLst>
            </p:cNvPr>
            <p:cNvSpPr/>
            <p:nvPr/>
          </p:nvSpPr>
          <p:spPr>
            <a:xfrm>
              <a:off x="4521815" y="2997086"/>
              <a:ext cx="1698171" cy="8638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 descr="Coin 25 cents | Free SVG">
              <a:extLst>
                <a:ext uri="{FF2B5EF4-FFF2-40B4-BE49-F238E27FC236}">
                  <a16:creationId xmlns:a16="http://schemas.microsoft.com/office/drawing/2014/main" id="{E4C46399-6116-5270-13D7-48873BD048F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60518" y="4887345"/>
              <a:ext cx="1845777" cy="1845777"/>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4" descr="Coin 5 cents | Free SVG">
              <a:extLst>
                <a:ext uri="{FF2B5EF4-FFF2-40B4-BE49-F238E27FC236}">
                  <a16:creationId xmlns:a16="http://schemas.microsoft.com/office/drawing/2014/main" id="{F1D520C8-3215-2BF4-899D-AA67A3B0C73F}"/>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557380" y="142065"/>
              <a:ext cx="1845777" cy="1845777"/>
            </a:xfrm>
            <a:prstGeom prst="rect">
              <a:avLst/>
            </a:prstGeom>
            <a:noFill/>
            <a:extLst>
              <a:ext uri="{909E8E84-426E-40DD-AFC4-6F175D3DCCD1}">
                <a14:hiddenFill xmlns:a14="http://schemas.microsoft.com/office/drawing/2010/main">
                  <a:solidFill>
                    <a:srgbClr val="FFFFFF"/>
                  </a:solidFill>
                </a14:hiddenFill>
              </a:ext>
            </a:extLst>
          </p:spPr>
        </p:pic>
        <p:sp>
          <p:nvSpPr>
            <p:cNvPr id="30" name="Sağ Ok 29">
              <a:extLst>
                <a:ext uri="{FF2B5EF4-FFF2-40B4-BE49-F238E27FC236}">
                  <a16:creationId xmlns:a16="http://schemas.microsoft.com/office/drawing/2014/main" id="{02F03E52-DA43-1CC6-ABBF-CAB687E4CF96}"/>
                </a:ext>
              </a:extLst>
            </p:cNvPr>
            <p:cNvSpPr/>
            <p:nvPr/>
          </p:nvSpPr>
          <p:spPr>
            <a:xfrm>
              <a:off x="4521816" y="633041"/>
              <a:ext cx="1698171" cy="8638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Sağ Ok 30">
              <a:extLst>
                <a:ext uri="{FF2B5EF4-FFF2-40B4-BE49-F238E27FC236}">
                  <a16:creationId xmlns:a16="http://schemas.microsoft.com/office/drawing/2014/main" id="{CDF5FA50-23D3-83D5-BD9E-D8DE9D74E473}"/>
                </a:ext>
              </a:extLst>
            </p:cNvPr>
            <p:cNvSpPr/>
            <p:nvPr/>
          </p:nvSpPr>
          <p:spPr>
            <a:xfrm>
              <a:off x="4521814" y="5361134"/>
              <a:ext cx="1698171" cy="8638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8" descr="Letter A on computer keyboard | Stock Photos ~ Creative Market">
              <a:extLst>
                <a:ext uri="{FF2B5EF4-FFF2-40B4-BE49-F238E27FC236}">
                  <a16:creationId xmlns:a16="http://schemas.microsoft.com/office/drawing/2014/main" id="{D7527B48-3893-FA5E-9059-7000C85297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23153" t="21826" r="20124" b="21826"/>
            <a:stretch>
              <a:fillRect/>
            </a:stretch>
          </p:blipFill>
          <p:spPr bwMode="auto">
            <a:xfrm>
              <a:off x="8380711" y="142065"/>
              <a:ext cx="1858104" cy="1845777"/>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10" descr="Letter B key on computer keyboard keypad Stock Photo - Alamy">
              <a:extLst>
                <a:ext uri="{FF2B5EF4-FFF2-40B4-BE49-F238E27FC236}">
                  <a16:creationId xmlns:a16="http://schemas.microsoft.com/office/drawing/2014/main" id="{A59C9842-BF19-F7B8-8A05-3C819207A5C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23872" t="19661" r="21447" b="26780"/>
            <a:stretch>
              <a:fillRect/>
            </a:stretch>
          </p:blipFill>
          <p:spPr bwMode="auto">
            <a:xfrm>
              <a:off x="8358972" y="2506111"/>
              <a:ext cx="1814625" cy="1845777"/>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12" descr="Letter C Key On Image &amp; Photo (Free Trial) | Bigstock">
              <a:extLst>
                <a:ext uri="{FF2B5EF4-FFF2-40B4-BE49-F238E27FC236}">
                  <a16:creationId xmlns:a16="http://schemas.microsoft.com/office/drawing/2014/main" id="{57AF0E85-91C5-8872-720F-998F63E9F29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r="2340" b="9348"/>
            <a:stretch>
              <a:fillRect/>
            </a:stretch>
          </p:blipFill>
          <p:spPr bwMode="auto">
            <a:xfrm>
              <a:off x="8402451" y="4883470"/>
              <a:ext cx="1814625" cy="1819153"/>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4" descr="Coin 25 cents | Public domain vectors">
              <a:extLst>
                <a:ext uri="{FF2B5EF4-FFF2-40B4-BE49-F238E27FC236}">
                  <a16:creationId xmlns:a16="http://schemas.microsoft.com/office/drawing/2014/main" id="{45F79C7C-CF75-9E24-197E-3F9366D303F9}"/>
                </a:ext>
              </a:extLst>
            </p:cNvPr>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557379" y="2506110"/>
              <a:ext cx="1845777" cy="1845777"/>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Unvan 3"/>
          <p:cNvSpPr>
            <a:spLocks noGrp="1"/>
          </p:cNvSpPr>
          <p:nvPr>
            <p:ph type="title"/>
          </p:nvPr>
        </p:nvSpPr>
        <p:spPr>
          <a:xfrm>
            <a:off x="1582830" y="624110"/>
            <a:ext cx="8911687" cy="1280890"/>
          </a:xfrm>
        </p:spPr>
        <p:txBody>
          <a:bodyPr/>
          <a:lstStyle/>
          <a:p>
            <a:r>
              <a:rPr lang="en-US"/>
              <a:t>Alphabet</a:t>
            </a:r>
            <a:endParaRPr lang="tr-TR"/>
          </a:p>
        </p:txBody>
      </p:sp>
    </p:spTree>
    <p:extLst>
      <p:ext uri="{BB962C8B-B14F-4D97-AF65-F5344CB8AC3E}">
        <p14:creationId xmlns:p14="http://schemas.microsoft.com/office/powerpoint/2010/main" val="270606750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D1BF089-9C60-DB8B-F548-7C8069B657AE}"/>
              </a:ext>
            </a:extLst>
          </p:cNvPr>
          <p:cNvSpPr>
            <a:spLocks noGrp="1"/>
          </p:cNvSpPr>
          <p:nvPr>
            <p:ph idx="1"/>
          </p:nvPr>
        </p:nvSpPr>
        <p:spPr>
          <a:xfrm>
            <a:off x="1686850" y="1474385"/>
            <a:ext cx="9732517" cy="1335982"/>
          </a:xfrm>
        </p:spPr>
        <p:txBody>
          <a:bodyPr anchor="ctr">
            <a:noAutofit/>
          </a:bodyPr>
          <a:lstStyle/>
          <a:p>
            <a:pPr marL="0" indent="0">
              <a:buNone/>
            </a:pPr>
            <a:r>
              <a:rPr lang="en-US" sz="2200"/>
              <a:t>We have to represent each symbol in our alphabet as an arrow going out of each state. Like the others, there should be three edges that come out of q</a:t>
            </a:r>
            <a:r>
              <a:rPr lang="en-US" sz="2200" baseline="-25000"/>
              <a:t>0</a:t>
            </a:r>
            <a:r>
              <a:rPr lang="en-US" sz="2200"/>
              <a:t>: 5, 10, and 25 cents (because of our alphabet)</a:t>
            </a:r>
          </a:p>
        </p:txBody>
      </p:sp>
      <p:pic>
        <p:nvPicPr>
          <p:cNvPr id="5" name="Resim 4">
            <a:extLst>
              <a:ext uri="{FF2B5EF4-FFF2-40B4-BE49-F238E27FC236}">
                <a16:creationId xmlns:a16="http://schemas.microsoft.com/office/drawing/2014/main" id="{5D63B273-482F-8C23-F998-6806863AE7EB}"/>
              </a:ext>
            </a:extLst>
          </p:cNvPr>
          <p:cNvPicPr>
            <a:picLocks noChangeAspect="1"/>
          </p:cNvPicPr>
          <p:nvPr/>
        </p:nvPicPr>
        <p:blipFill>
          <a:blip r:embed="rId3">
            <a:clrChange>
              <a:clrFrom>
                <a:srgbClr val="FFFFFF"/>
              </a:clrFrom>
              <a:clrTo>
                <a:srgbClr val="FFFFFF">
                  <a:alpha val="0"/>
                </a:srgbClr>
              </a:clrTo>
            </a:clrChange>
          </a:blip>
          <a:srcRect t="-1" b="1912"/>
          <a:stretch>
            <a:fillRect/>
          </a:stretch>
        </p:blipFill>
        <p:spPr>
          <a:xfrm>
            <a:off x="3574909" y="2726265"/>
            <a:ext cx="8248650" cy="3883642"/>
          </a:xfrm>
          <a:prstGeom prst="rect">
            <a:avLst/>
          </a:prstGeom>
        </p:spPr>
      </p:pic>
      <p:sp>
        <p:nvSpPr>
          <p:cNvPr id="4" name="Unvan 3"/>
          <p:cNvSpPr>
            <a:spLocks noGrp="1"/>
          </p:cNvSpPr>
          <p:nvPr>
            <p:ph type="title"/>
          </p:nvPr>
        </p:nvSpPr>
        <p:spPr>
          <a:xfrm>
            <a:off x="1593463" y="624110"/>
            <a:ext cx="8911687" cy="1280890"/>
          </a:xfrm>
        </p:spPr>
        <p:txBody>
          <a:bodyPr/>
          <a:lstStyle/>
          <a:p>
            <a:r>
              <a:rPr lang="en-US"/>
              <a:t>Transitions</a:t>
            </a:r>
            <a:endParaRPr lang="tr-TR"/>
          </a:p>
        </p:txBody>
      </p:sp>
    </p:spTree>
    <p:extLst>
      <p:ext uri="{BB962C8B-B14F-4D97-AF65-F5344CB8AC3E}">
        <p14:creationId xmlns:p14="http://schemas.microsoft.com/office/powerpoint/2010/main" val="249340731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3244A32-BAC0-49A0-27E8-3221D82A3CA6}"/>
              </a:ext>
            </a:extLst>
          </p:cNvPr>
          <p:cNvSpPr>
            <a:spLocks noGrp="1"/>
          </p:cNvSpPr>
          <p:nvPr>
            <p:ph idx="1"/>
          </p:nvPr>
        </p:nvSpPr>
        <p:spPr>
          <a:xfrm>
            <a:off x="1795097" y="1511317"/>
            <a:ext cx="9464782" cy="1463040"/>
          </a:xfrm>
        </p:spPr>
        <p:txBody>
          <a:bodyPr anchor="ctr">
            <a:normAutofit/>
          </a:bodyPr>
          <a:lstStyle/>
          <a:p>
            <a:r>
              <a:rPr lang="en-US" sz="2200"/>
              <a:t>One of the states defined to solve the problem must be identified as </a:t>
            </a:r>
            <a:r>
              <a:rPr lang="en-US" sz="2200" b="1"/>
              <a:t>Start</a:t>
            </a:r>
            <a:r>
              <a:rPr lang="en-US" sz="2200"/>
              <a:t> (or initial) state.</a:t>
            </a:r>
          </a:p>
        </p:txBody>
      </p:sp>
      <p:sp>
        <p:nvSpPr>
          <p:cNvPr id="4" name="Unvan 3"/>
          <p:cNvSpPr>
            <a:spLocks noGrp="1"/>
          </p:cNvSpPr>
          <p:nvPr>
            <p:ph type="title"/>
          </p:nvPr>
        </p:nvSpPr>
        <p:spPr>
          <a:xfrm>
            <a:off x="1582834" y="624110"/>
            <a:ext cx="8911687" cy="1280890"/>
          </a:xfrm>
        </p:spPr>
        <p:txBody>
          <a:bodyPr/>
          <a:lstStyle/>
          <a:p>
            <a:r>
              <a:rPr lang="en-US"/>
              <a:t>Start State</a:t>
            </a:r>
            <a:endParaRPr lang="tr-TR"/>
          </a:p>
        </p:txBody>
      </p:sp>
      <p:pic>
        <p:nvPicPr>
          <p:cNvPr id="2" name="Resim 1">
            <a:extLst>
              <a:ext uri="{FF2B5EF4-FFF2-40B4-BE49-F238E27FC236}">
                <a16:creationId xmlns:a16="http://schemas.microsoft.com/office/drawing/2014/main" id="{D2D6AB76-7F5A-A277-8FBA-FFCB64B49702}"/>
              </a:ext>
            </a:extLst>
          </p:cNvPr>
          <p:cNvPicPr>
            <a:picLocks noChangeAspect="1"/>
          </p:cNvPicPr>
          <p:nvPr/>
        </p:nvPicPr>
        <p:blipFill>
          <a:blip r:embed="rId3">
            <a:clrChange>
              <a:clrFrom>
                <a:srgbClr val="FFFFFF"/>
              </a:clrFrom>
              <a:clrTo>
                <a:srgbClr val="FFFFFF">
                  <a:alpha val="0"/>
                </a:srgbClr>
              </a:clrTo>
            </a:clrChange>
          </a:blip>
          <a:srcRect t="-1" b="1912"/>
          <a:stretch>
            <a:fillRect/>
          </a:stretch>
        </p:blipFill>
        <p:spPr>
          <a:xfrm>
            <a:off x="3574909" y="2726265"/>
            <a:ext cx="8248650" cy="3883642"/>
          </a:xfrm>
          <a:prstGeom prst="rect">
            <a:avLst/>
          </a:prstGeom>
        </p:spPr>
      </p:pic>
    </p:spTree>
    <p:extLst>
      <p:ext uri="{BB962C8B-B14F-4D97-AF65-F5344CB8AC3E}">
        <p14:creationId xmlns:p14="http://schemas.microsoft.com/office/powerpoint/2010/main" val="130063430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3244A32-BAC0-49A0-27E8-3221D82A3CA6}"/>
              </a:ext>
            </a:extLst>
          </p:cNvPr>
          <p:cNvSpPr>
            <a:spLocks noGrp="1"/>
          </p:cNvSpPr>
          <p:nvPr>
            <p:ph idx="1"/>
          </p:nvPr>
        </p:nvSpPr>
        <p:spPr>
          <a:xfrm>
            <a:off x="1795097" y="1511317"/>
            <a:ext cx="9464782" cy="1463040"/>
          </a:xfrm>
        </p:spPr>
        <p:txBody>
          <a:bodyPr anchor="ctr">
            <a:normAutofit/>
          </a:bodyPr>
          <a:lstStyle/>
          <a:p>
            <a:r>
              <a:rPr lang="en-US" sz="2200"/>
              <a:t>The states which should open the gate must be described as </a:t>
            </a:r>
            <a:r>
              <a:rPr lang="en-US" sz="2200" b="1"/>
              <a:t>Accept</a:t>
            </a:r>
            <a:r>
              <a:rPr lang="en-US" sz="2200"/>
              <a:t> (or final) states.</a:t>
            </a:r>
          </a:p>
        </p:txBody>
      </p:sp>
      <p:sp>
        <p:nvSpPr>
          <p:cNvPr id="4" name="Unvan 3"/>
          <p:cNvSpPr>
            <a:spLocks noGrp="1"/>
          </p:cNvSpPr>
          <p:nvPr>
            <p:ph type="title"/>
          </p:nvPr>
        </p:nvSpPr>
        <p:spPr>
          <a:xfrm>
            <a:off x="1582834" y="624110"/>
            <a:ext cx="8911687" cy="1280890"/>
          </a:xfrm>
        </p:spPr>
        <p:txBody>
          <a:bodyPr/>
          <a:lstStyle/>
          <a:p>
            <a:r>
              <a:rPr lang="en-US"/>
              <a:t>Accept State</a:t>
            </a:r>
            <a:endParaRPr lang="tr-TR"/>
          </a:p>
        </p:txBody>
      </p:sp>
      <p:pic>
        <p:nvPicPr>
          <p:cNvPr id="2" name="Resim 1">
            <a:extLst>
              <a:ext uri="{FF2B5EF4-FFF2-40B4-BE49-F238E27FC236}">
                <a16:creationId xmlns:a16="http://schemas.microsoft.com/office/drawing/2014/main" id="{D2D6AB76-7F5A-A277-8FBA-FFCB64B49702}"/>
              </a:ext>
            </a:extLst>
          </p:cNvPr>
          <p:cNvPicPr>
            <a:picLocks noChangeAspect="1"/>
          </p:cNvPicPr>
          <p:nvPr/>
        </p:nvPicPr>
        <p:blipFill>
          <a:blip r:embed="rId3">
            <a:clrChange>
              <a:clrFrom>
                <a:srgbClr val="FFFFFF"/>
              </a:clrFrom>
              <a:clrTo>
                <a:srgbClr val="FFFFFF">
                  <a:alpha val="0"/>
                </a:srgbClr>
              </a:clrTo>
            </a:clrChange>
          </a:blip>
          <a:srcRect t="-1" b="1912"/>
          <a:stretch>
            <a:fillRect/>
          </a:stretch>
        </p:blipFill>
        <p:spPr>
          <a:xfrm>
            <a:off x="3574909" y="2726265"/>
            <a:ext cx="8248650" cy="3883642"/>
          </a:xfrm>
          <a:prstGeom prst="rect">
            <a:avLst/>
          </a:prstGeom>
        </p:spPr>
      </p:pic>
    </p:spTree>
    <p:extLst>
      <p:ext uri="{BB962C8B-B14F-4D97-AF65-F5344CB8AC3E}">
        <p14:creationId xmlns:p14="http://schemas.microsoft.com/office/powerpoint/2010/main" val="192134077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484EFD7-5C4E-E3CF-4352-902D8D86A9C6}"/>
              </a:ext>
            </a:extLst>
          </p:cNvPr>
          <p:cNvSpPr>
            <a:spLocks noGrp="1"/>
          </p:cNvSpPr>
          <p:nvPr>
            <p:ph idx="1"/>
          </p:nvPr>
        </p:nvSpPr>
        <p:spPr>
          <a:xfrm>
            <a:off x="1485900" y="1409700"/>
            <a:ext cx="10426700" cy="4622800"/>
          </a:xfrm>
        </p:spPr>
        <p:txBody>
          <a:bodyPr anchor="ctr">
            <a:normAutofit/>
          </a:bodyPr>
          <a:lstStyle/>
          <a:p>
            <a:pPr marL="0" indent="0">
              <a:lnSpc>
                <a:spcPct val="150000"/>
              </a:lnSpc>
              <a:buNone/>
            </a:pPr>
            <a:r>
              <a:rPr lang="en-US" sz="2200"/>
              <a:t>We now come to the formal definition of a finite automaton.</a:t>
            </a:r>
          </a:p>
          <a:p>
            <a:pPr marL="0" indent="0">
              <a:lnSpc>
                <a:spcPct val="150000"/>
              </a:lnSpc>
              <a:buNone/>
            </a:pPr>
            <a:r>
              <a:rPr lang="en-US" sz="2200"/>
              <a:t>Definition: A finite automaton is a 5-tuple M = (Q, Σ, δ, q, F) where </a:t>
            </a:r>
          </a:p>
          <a:p>
            <a:pPr marL="0" indent="0">
              <a:lnSpc>
                <a:spcPct val="150000"/>
              </a:lnSpc>
              <a:buNone/>
            </a:pPr>
            <a:r>
              <a:rPr lang="en-US" sz="2200"/>
              <a:t>1. Q is a finite set, whose elements are called states,</a:t>
            </a:r>
            <a:br>
              <a:rPr lang="en-US" sz="2200"/>
            </a:br>
            <a:r>
              <a:rPr lang="en-US" sz="2200"/>
              <a:t>2. Σ is a finite set, called the alphabet; the elements of </a:t>
            </a:r>
            <a:r>
              <a:rPr lang="el-GR" sz="2200"/>
              <a:t>Σ </a:t>
            </a:r>
            <a:r>
              <a:rPr lang="en-US" sz="2200"/>
              <a:t>are called symbols, </a:t>
            </a:r>
          </a:p>
          <a:p>
            <a:pPr marL="0" indent="0">
              <a:lnSpc>
                <a:spcPct val="150000"/>
              </a:lnSpc>
              <a:buNone/>
            </a:pPr>
            <a:r>
              <a:rPr lang="en-US" sz="2200"/>
              <a:t>3. δ : Q x Σ → Q, called the transition function, </a:t>
            </a:r>
          </a:p>
          <a:p>
            <a:pPr marL="0" indent="0">
              <a:lnSpc>
                <a:spcPct val="150000"/>
              </a:lnSpc>
              <a:buNone/>
            </a:pPr>
            <a:r>
              <a:rPr lang="en-US" sz="2200"/>
              <a:t>4. q is an element of Q; it is called the start state,</a:t>
            </a:r>
            <a:br>
              <a:rPr lang="en-US" sz="2200"/>
            </a:br>
            <a:r>
              <a:rPr lang="en-US" sz="2200"/>
              <a:t>5. F is a subset of Q; the elements of F are called accept states.</a:t>
            </a:r>
          </a:p>
        </p:txBody>
      </p:sp>
      <p:sp>
        <p:nvSpPr>
          <p:cNvPr id="7" name="Unvan 6"/>
          <p:cNvSpPr>
            <a:spLocks noGrp="1"/>
          </p:cNvSpPr>
          <p:nvPr>
            <p:ph type="title"/>
          </p:nvPr>
        </p:nvSpPr>
        <p:spPr>
          <a:xfrm>
            <a:off x="1582834" y="624110"/>
            <a:ext cx="8911687" cy="645890"/>
          </a:xfrm>
        </p:spPr>
        <p:txBody>
          <a:bodyPr/>
          <a:lstStyle/>
          <a:p>
            <a:r>
              <a:rPr lang="en-US"/>
              <a:t>Formal Definition</a:t>
            </a:r>
            <a:endParaRPr lang="tr-TR"/>
          </a:p>
        </p:txBody>
      </p:sp>
    </p:spTree>
    <p:extLst>
      <p:ext uri="{BB962C8B-B14F-4D97-AF65-F5344CB8AC3E}">
        <p14:creationId xmlns:p14="http://schemas.microsoft.com/office/powerpoint/2010/main" val="123705528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normAutofit/>
          </a:bodyPr>
          <a:lstStyle/>
          <a:p>
            <a:endParaRPr lang="tr-TR" sz="3200" dirty="0"/>
          </a:p>
          <a:p>
            <a:r>
              <a:rPr lang="en-US" sz="3200" dirty="0"/>
              <a:t>Let there be a system that works with 1€ and 2€ coins. Let's represent these two coins with a (1€) and b (2€). Draw the transition diagram of the finite state automaton that does not open the door without giving at least two €2.</a:t>
            </a:r>
            <a:endParaRPr lang="en-US" altLang="tr-TR" sz="3200" dirty="0"/>
          </a:p>
        </p:txBody>
      </p:sp>
      <p:sp>
        <p:nvSpPr>
          <p:cNvPr id="6" name="Unvan 3"/>
          <p:cNvSpPr txBox="1">
            <a:spLocks/>
          </p:cNvSpPr>
          <p:nvPr/>
        </p:nvSpPr>
        <p:spPr>
          <a:xfrm>
            <a:off x="1593461"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It is your turn</a:t>
            </a:r>
            <a:endParaRPr lang="tr-TR" dirty="0"/>
          </a:p>
        </p:txBody>
      </p:sp>
    </p:spTree>
    <p:extLst>
      <p:ext uri="{BB962C8B-B14F-4D97-AF65-F5344CB8AC3E}">
        <p14:creationId xmlns:p14="http://schemas.microsoft.com/office/powerpoint/2010/main" val="365183242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D935B869-3BF0-D57B-7AFC-29128A972AF1}"/>
              </a:ext>
            </a:extLst>
          </p:cNvPr>
          <p:cNvSpPr>
            <a:spLocks noGrp="1"/>
          </p:cNvSpPr>
          <p:nvPr>
            <p:ph idx="1"/>
          </p:nvPr>
        </p:nvSpPr>
        <p:spPr>
          <a:xfrm>
            <a:off x="1593459" y="1457469"/>
            <a:ext cx="9696405" cy="4241582"/>
          </a:xfrm>
        </p:spPr>
        <p:txBody>
          <a:bodyPr anchor="t">
            <a:normAutofit/>
          </a:bodyPr>
          <a:lstStyle/>
          <a:p>
            <a:pPr marL="0" indent="0">
              <a:buNone/>
            </a:pPr>
            <a:r>
              <a:rPr lang="en-US" sz="2400"/>
              <a:t>A = {w : w is a </a:t>
            </a:r>
            <a:r>
              <a:rPr lang="en-US" sz="2400" u="sng"/>
              <a:t>binary string</a:t>
            </a:r>
            <a:r>
              <a:rPr lang="en-US" sz="2400"/>
              <a:t> containing an </a:t>
            </a:r>
            <a:r>
              <a:rPr lang="en-US" sz="2400" b="1"/>
              <a:t>odd</a:t>
            </a:r>
            <a:r>
              <a:rPr lang="en-US" sz="2400"/>
              <a:t> number of 1s}.</a:t>
            </a:r>
          </a:p>
          <a:p>
            <a:pPr marL="0" indent="0">
              <a:buNone/>
            </a:pPr>
            <a:endParaRPr lang="en-US" sz="2400"/>
          </a:p>
          <a:p>
            <a:pPr marL="0" indent="0">
              <a:buNone/>
            </a:pPr>
            <a:r>
              <a:rPr lang="en-US" sz="2400"/>
              <a:t>					Σ = {0, 1} </a:t>
            </a:r>
          </a:p>
          <a:p>
            <a:pPr marL="0" indent="0">
              <a:buNone/>
            </a:pPr>
            <a:endParaRPr lang="en-US" sz="2400"/>
          </a:p>
          <a:p>
            <a:pPr marL="0" indent="0">
              <a:buNone/>
            </a:pPr>
            <a:endParaRPr lang="en-US" sz="2400"/>
          </a:p>
          <a:p>
            <a:pPr marL="0" indent="0">
              <a:buNone/>
            </a:pPr>
            <a:r>
              <a:rPr lang="en-US" sz="2400"/>
              <a:t>	0000 </a:t>
            </a:r>
            <a:r>
              <a:rPr lang="en-US" sz="2400" b="1">
                <a:solidFill>
                  <a:srgbClr val="FF0000"/>
                </a:solidFill>
              </a:rPr>
              <a:t>1</a:t>
            </a:r>
            <a:r>
              <a:rPr lang="en-US" sz="2400"/>
              <a:t> 0000000 </a:t>
            </a:r>
            <a:r>
              <a:rPr lang="en-US" sz="2400">
                <a:solidFill>
                  <a:srgbClr val="FF0000"/>
                </a:solidFill>
              </a:rPr>
              <a:t>1</a:t>
            </a:r>
            <a:r>
              <a:rPr lang="en-US" sz="2400"/>
              <a:t> 000000 </a:t>
            </a:r>
            <a:r>
              <a:rPr lang="en-US" sz="2400" b="1">
                <a:solidFill>
                  <a:srgbClr val="FF0000"/>
                </a:solidFill>
              </a:rPr>
              <a:t>1</a:t>
            </a:r>
            <a:r>
              <a:rPr lang="en-US" sz="2400"/>
              <a:t> 0000000 </a:t>
            </a:r>
            <a:r>
              <a:rPr lang="en-US" sz="2400">
                <a:solidFill>
                  <a:srgbClr val="FF0000"/>
                </a:solidFill>
              </a:rPr>
              <a:t>1</a:t>
            </a:r>
            <a:r>
              <a:rPr lang="en-US" sz="2400"/>
              <a:t> 000000 </a:t>
            </a:r>
            <a:r>
              <a:rPr lang="en-US" sz="2400" b="1">
                <a:solidFill>
                  <a:srgbClr val="FF0000"/>
                </a:solidFill>
              </a:rPr>
              <a:t>1</a:t>
            </a:r>
            <a:r>
              <a:rPr lang="en-US" sz="2400"/>
              <a:t> 00000</a:t>
            </a:r>
          </a:p>
          <a:p>
            <a:pPr marL="0" indent="0">
              <a:buNone/>
            </a:pPr>
            <a:r>
              <a:rPr lang="en-US" sz="2400"/>
              <a:t>	      </a:t>
            </a:r>
            <a:r>
              <a:rPr lang="en-US" sz="2400" b="1"/>
              <a:t>odd           </a:t>
            </a:r>
            <a:r>
              <a:rPr lang="en-US" sz="2400"/>
              <a:t>even       </a:t>
            </a:r>
            <a:r>
              <a:rPr lang="en-US" sz="2400" b="1"/>
              <a:t>odd           </a:t>
            </a:r>
            <a:r>
              <a:rPr lang="en-US" sz="2400"/>
              <a:t>even       </a:t>
            </a:r>
            <a:r>
              <a:rPr lang="en-US" sz="2400" b="1"/>
              <a:t>odd</a:t>
            </a:r>
          </a:p>
        </p:txBody>
      </p:sp>
      <p:sp>
        <p:nvSpPr>
          <p:cNvPr id="7" name="Unvan 5"/>
          <p:cNvSpPr txBox="1"/>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A first example</a:t>
            </a:r>
          </a:p>
        </p:txBody>
      </p:sp>
      <p:sp>
        <p:nvSpPr>
          <p:cNvPr id="2" name="Aşağı Ok 1">
            <a:extLst>
              <a:ext uri="{FF2B5EF4-FFF2-40B4-BE49-F238E27FC236}">
                <a16:creationId xmlns:a16="http://schemas.microsoft.com/office/drawing/2014/main" id="{565B8274-03C2-745D-4E93-962597BBC56A}"/>
              </a:ext>
            </a:extLst>
          </p:cNvPr>
          <p:cNvSpPr/>
          <p:nvPr/>
        </p:nvSpPr>
        <p:spPr>
          <a:xfrm>
            <a:off x="4406900" y="1905000"/>
            <a:ext cx="355600" cy="495300"/>
          </a:xfrm>
          <a:prstGeom prst="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tr-TR"/>
          </a:p>
        </p:txBody>
      </p:sp>
    </p:spTree>
    <p:extLst>
      <p:ext uri="{BB962C8B-B14F-4D97-AF65-F5344CB8AC3E}">
        <p14:creationId xmlns:p14="http://schemas.microsoft.com/office/powerpoint/2010/main" val="243908318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7EF9DA7-94C2-20B4-778F-CAB8DD21F247}"/>
              </a:ext>
            </a:extLst>
          </p:cNvPr>
          <p:cNvSpPr>
            <a:spLocks noGrp="1"/>
          </p:cNvSpPr>
          <p:nvPr>
            <p:ph idx="1"/>
          </p:nvPr>
        </p:nvSpPr>
        <p:spPr>
          <a:xfrm>
            <a:off x="2592925" y="1680157"/>
            <a:ext cx="4100552" cy="2455908"/>
          </a:xfrm>
        </p:spPr>
        <p:txBody>
          <a:bodyPr anchor="t">
            <a:normAutofit/>
          </a:bodyPr>
          <a:lstStyle/>
          <a:p>
            <a:r>
              <a:rPr lang="en-US" sz="2200" err="1"/>
              <a:t>q</a:t>
            </a:r>
            <a:r>
              <a:rPr lang="en-US" sz="2200" baseline="-25000" err="1"/>
              <a:t>e</a:t>
            </a:r>
            <a:r>
              <a:rPr lang="en-US" sz="2200"/>
              <a:t> : even number of 1s</a:t>
            </a:r>
          </a:p>
          <a:p>
            <a:r>
              <a:rPr lang="en-US" sz="2200" err="1"/>
              <a:t>q</a:t>
            </a:r>
            <a:r>
              <a:rPr lang="en-US" sz="2200" baseline="-25000" err="1"/>
              <a:t>o</a:t>
            </a:r>
            <a:r>
              <a:rPr lang="en-US" sz="2200"/>
              <a:t> : odd number of 1s</a:t>
            </a:r>
            <a:endParaRPr lang="en-US" sz="2200" baseline="-25000"/>
          </a:p>
          <a:p>
            <a:pPr marL="0" indent="0">
              <a:buNone/>
            </a:pPr>
            <a:endParaRPr lang="en-US" sz="2200" baseline="-25000"/>
          </a:p>
        </p:txBody>
      </p:sp>
      <p:pic>
        <p:nvPicPr>
          <p:cNvPr id="4" name="Resim 3">
            <a:extLst>
              <a:ext uri="{FF2B5EF4-FFF2-40B4-BE49-F238E27FC236}">
                <a16:creationId xmlns:a16="http://schemas.microsoft.com/office/drawing/2014/main" id="{5FEC2C04-6DB7-3F80-2E5D-FEBE11BCC84A}"/>
              </a:ext>
            </a:extLst>
          </p:cNvPr>
          <p:cNvPicPr>
            <a:picLocks noChangeAspect="1"/>
          </p:cNvPicPr>
          <p:nvPr/>
        </p:nvPicPr>
        <p:blipFill>
          <a:blip r:embed="rId3"/>
          <a:stretch>
            <a:fillRect/>
          </a:stretch>
        </p:blipFill>
        <p:spPr>
          <a:xfrm>
            <a:off x="2592925" y="3219840"/>
            <a:ext cx="6903720" cy="2778746"/>
          </a:xfrm>
          <a:prstGeom prst="rect">
            <a:avLst/>
          </a:prstGeom>
        </p:spPr>
      </p:pic>
      <p:sp>
        <p:nvSpPr>
          <p:cNvPr id="10" name="Unvan 5"/>
          <p:cNvSpPr txBox="1"/>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A first example</a:t>
            </a:r>
          </a:p>
        </p:txBody>
      </p:sp>
    </p:spTree>
    <p:extLst>
      <p:ext uri="{BB962C8B-B14F-4D97-AF65-F5344CB8AC3E}">
        <p14:creationId xmlns:p14="http://schemas.microsoft.com/office/powerpoint/2010/main" val="281047515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A77FA8A7-2DBC-2799-EC34-191C915F6E21}"/>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264733" y="2876532"/>
            <a:ext cx="3407389" cy="2541345"/>
          </a:xfrm>
          <a:prstGeom prst="rect">
            <a:avLst/>
          </a:prstGeom>
        </p:spPr>
      </p:pic>
      <p:sp>
        <p:nvSpPr>
          <p:cNvPr id="3" name="İçerik Yer Tutucusu 2">
            <a:extLst>
              <a:ext uri="{FF2B5EF4-FFF2-40B4-BE49-F238E27FC236}">
                <a16:creationId xmlns:a16="http://schemas.microsoft.com/office/drawing/2014/main" id="{5216B4AE-9789-27D5-ED7F-F141E6923905}"/>
              </a:ext>
            </a:extLst>
          </p:cNvPr>
          <p:cNvSpPr>
            <a:spLocks noGrp="1"/>
          </p:cNvSpPr>
          <p:nvPr>
            <p:ph idx="1"/>
          </p:nvPr>
        </p:nvSpPr>
        <p:spPr>
          <a:xfrm>
            <a:off x="638881" y="1922561"/>
            <a:ext cx="10909643" cy="552659"/>
          </a:xfrm>
        </p:spPr>
        <p:txBody>
          <a:bodyPr vert="horz" lIns="91440" tIns="45720" rIns="91440" bIns="45720" rtlCol="0" anchor="ctr">
            <a:normAutofit/>
          </a:bodyPr>
          <a:lstStyle/>
          <a:p>
            <a:pPr marL="0" indent="0" algn="ctr">
              <a:buNone/>
            </a:pPr>
            <a:r>
              <a:rPr lang="en-US" sz="2400"/>
              <a:t>Table Method</a:t>
            </a:r>
          </a:p>
        </p:txBody>
      </p:sp>
      <p:pic>
        <p:nvPicPr>
          <p:cNvPr id="4" name="Resim 3">
            <a:extLst>
              <a:ext uri="{FF2B5EF4-FFF2-40B4-BE49-F238E27FC236}">
                <a16:creationId xmlns:a16="http://schemas.microsoft.com/office/drawing/2014/main" id="{BE414368-9101-038C-8BBA-FC9C410EA3E4}"/>
              </a:ext>
            </a:extLst>
          </p:cNvPr>
          <p:cNvPicPr>
            <a:picLocks noChangeAspect="1"/>
          </p:cNvPicPr>
          <p:nvPr/>
        </p:nvPicPr>
        <p:blipFill>
          <a:blip r:embed="rId4"/>
          <a:stretch>
            <a:fillRect/>
          </a:stretch>
        </p:blipFill>
        <p:spPr>
          <a:xfrm>
            <a:off x="6211966" y="3158076"/>
            <a:ext cx="5614416" cy="2259801"/>
          </a:xfrm>
          <a:prstGeom prst="rect">
            <a:avLst/>
          </a:prstGeom>
        </p:spPr>
      </p:pic>
      <p:sp>
        <p:nvSpPr>
          <p:cNvPr id="13" name="Unvan 5"/>
          <p:cNvSpPr txBox="1"/>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A first example</a:t>
            </a:r>
          </a:p>
        </p:txBody>
      </p:sp>
      <p:sp>
        <p:nvSpPr>
          <p:cNvPr id="10" name="Oval 9">
            <a:extLst>
              <a:ext uri="{FF2B5EF4-FFF2-40B4-BE49-F238E27FC236}">
                <a16:creationId xmlns:a16="http://schemas.microsoft.com/office/drawing/2014/main" id="{5ABDC8D7-0F7E-E753-2406-E86CD5EC3EB0}"/>
              </a:ext>
            </a:extLst>
          </p:cNvPr>
          <p:cNvSpPr/>
          <p:nvPr/>
        </p:nvSpPr>
        <p:spPr>
          <a:xfrm>
            <a:off x="6680200" y="2876532"/>
            <a:ext cx="1143000" cy="2203468"/>
          </a:xfrm>
          <a:prstGeom prst="ellipse">
            <a:avLst/>
          </a:prstGeom>
          <a:noFill/>
          <a:ln w="57150">
            <a:solidFill>
              <a:srgbClr val="FF0000"/>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sp>
        <p:nvSpPr>
          <p:cNvPr id="11" name="Oval 10">
            <a:extLst>
              <a:ext uri="{FF2B5EF4-FFF2-40B4-BE49-F238E27FC236}">
                <a16:creationId xmlns:a16="http://schemas.microsoft.com/office/drawing/2014/main" id="{C3B323BF-17DB-49B2-B2C4-92D76F258E80}"/>
              </a:ext>
            </a:extLst>
          </p:cNvPr>
          <p:cNvSpPr/>
          <p:nvPr/>
        </p:nvSpPr>
        <p:spPr>
          <a:xfrm>
            <a:off x="3481040" y="2832407"/>
            <a:ext cx="745271" cy="1843290"/>
          </a:xfrm>
          <a:prstGeom prst="ellipse">
            <a:avLst/>
          </a:prstGeom>
          <a:noFill/>
          <a:ln w="57150">
            <a:solidFill>
              <a:srgbClr val="FF0000"/>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sp>
        <p:nvSpPr>
          <p:cNvPr id="12" name="Oval 11">
            <a:extLst>
              <a:ext uri="{FF2B5EF4-FFF2-40B4-BE49-F238E27FC236}">
                <a16:creationId xmlns:a16="http://schemas.microsoft.com/office/drawing/2014/main" id="{7A9B52EE-51F2-32F3-CC14-C0AEBB7B53C2}"/>
              </a:ext>
            </a:extLst>
          </p:cNvPr>
          <p:cNvSpPr/>
          <p:nvPr/>
        </p:nvSpPr>
        <p:spPr>
          <a:xfrm>
            <a:off x="2275690" y="3791415"/>
            <a:ext cx="2050981" cy="739319"/>
          </a:xfrm>
          <a:prstGeom prst="ellipse">
            <a:avLst/>
          </a:prstGeom>
          <a:noFill/>
          <a:ln w="57150">
            <a:solidFill>
              <a:srgbClr val="FF0000"/>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spTree>
    <p:extLst>
      <p:ext uri="{BB962C8B-B14F-4D97-AF65-F5344CB8AC3E}">
        <p14:creationId xmlns:p14="http://schemas.microsoft.com/office/powerpoint/2010/main" val="2529757724"/>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3EF5E5E3-7930-0576-4986-133CE2BD37B7}"/>
              </a:ext>
            </a:extLst>
          </p:cNvPr>
          <p:cNvSpPr>
            <a:spLocks noGrp="1"/>
          </p:cNvSpPr>
          <p:nvPr>
            <p:ph idx="1"/>
          </p:nvPr>
        </p:nvSpPr>
        <p:spPr>
          <a:xfrm>
            <a:off x="1593459" y="1733107"/>
            <a:ext cx="10024729" cy="4348163"/>
          </a:xfrm>
        </p:spPr>
        <p:txBody>
          <a:bodyPr anchor="ctr">
            <a:normAutofit lnSpcReduction="10000"/>
          </a:bodyPr>
          <a:lstStyle/>
          <a:p>
            <a:pPr marL="0" indent="0">
              <a:buNone/>
            </a:pPr>
            <a:r>
              <a:rPr lang="en-US" sz="2600"/>
              <a:t>A = {w : w is a binary string containing 101 as a substring}. </a:t>
            </a:r>
          </a:p>
          <a:p>
            <a:pPr marL="0" indent="0">
              <a:buNone/>
            </a:pPr>
            <a:endParaRPr lang="en-US" sz="2600"/>
          </a:p>
          <a:p>
            <a:pPr marL="0" indent="0">
              <a:buNone/>
            </a:pPr>
            <a:r>
              <a:rPr lang="en-US" sz="2600"/>
              <a:t>Here, when we reach a “101” sequence, we accept it. This substring can be at beginning, end or middle of the string.</a:t>
            </a:r>
          </a:p>
          <a:p>
            <a:pPr marL="0" indent="0">
              <a:buNone/>
            </a:pPr>
            <a:endParaRPr lang="en-US" sz="2600"/>
          </a:p>
          <a:p>
            <a:pPr marL="0" indent="0">
              <a:buNone/>
              <a:tabLst>
                <a:tab pos="446088" algn="l"/>
              </a:tabLst>
            </a:pPr>
            <a:r>
              <a:rPr lang="en-US" sz="2600"/>
              <a:t>q 	</a:t>
            </a:r>
            <a:r>
              <a:rPr lang="tr-TR" sz="2600"/>
              <a:t>		</a:t>
            </a:r>
            <a:r>
              <a:rPr lang="en-US" sz="2600"/>
              <a:t>: Start state, we have nothing</a:t>
            </a:r>
          </a:p>
          <a:p>
            <a:pPr marL="0" indent="0">
              <a:buNone/>
              <a:tabLst>
                <a:tab pos="446088" algn="l"/>
              </a:tabLst>
            </a:pPr>
            <a:r>
              <a:rPr lang="en-US" sz="2600"/>
              <a:t>q</a:t>
            </a:r>
            <a:r>
              <a:rPr lang="en-US" sz="2600" baseline="-25000"/>
              <a:t>1	</a:t>
            </a:r>
            <a:r>
              <a:rPr lang="tr-TR" sz="2600" baseline="-25000"/>
              <a:t>		</a:t>
            </a:r>
            <a:r>
              <a:rPr lang="en-US" sz="2600"/>
              <a:t>: The first symbol (“1”) made an alarm</a:t>
            </a:r>
          </a:p>
          <a:p>
            <a:pPr marL="0" indent="0">
              <a:buNone/>
              <a:tabLst>
                <a:tab pos="446088" algn="l"/>
              </a:tabLst>
            </a:pPr>
            <a:r>
              <a:rPr lang="en-US" sz="2600"/>
              <a:t>q</a:t>
            </a:r>
            <a:r>
              <a:rPr lang="en-US" sz="2600" baseline="-25000"/>
              <a:t>10	</a:t>
            </a:r>
            <a:r>
              <a:rPr lang="en-US" sz="2600"/>
              <a:t>: The second symbol (“0”) increase the alarm level</a:t>
            </a:r>
          </a:p>
          <a:p>
            <a:pPr marL="0" indent="0">
              <a:buNone/>
              <a:tabLst>
                <a:tab pos="446088" algn="l"/>
              </a:tabLst>
            </a:pPr>
            <a:r>
              <a:rPr lang="en-US" sz="2600"/>
              <a:t>q</a:t>
            </a:r>
            <a:r>
              <a:rPr lang="en-US" sz="2600" baseline="-25000"/>
              <a:t>101	</a:t>
            </a:r>
            <a:r>
              <a:rPr lang="en-US" sz="2600"/>
              <a:t>: The third symbol (“1”) accepts the string</a:t>
            </a:r>
          </a:p>
          <a:p>
            <a:pPr marL="0" indent="0">
              <a:buNone/>
            </a:pPr>
            <a:endParaRPr lang="en-US" sz="2600"/>
          </a:p>
        </p:txBody>
      </p:sp>
      <p:sp>
        <p:nvSpPr>
          <p:cNvPr id="7" name="Unvan 5"/>
          <p:cNvSpPr txBox="1"/>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A second example</a:t>
            </a:r>
          </a:p>
        </p:txBody>
      </p:sp>
    </p:spTree>
    <p:extLst>
      <p:ext uri="{BB962C8B-B14F-4D97-AF65-F5344CB8AC3E}">
        <p14:creationId xmlns:p14="http://schemas.microsoft.com/office/powerpoint/2010/main" val="76374266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Resim 5">
            <a:extLst>
              <a:ext uri="{FF2B5EF4-FFF2-40B4-BE49-F238E27FC236}">
                <a16:creationId xmlns:a16="http://schemas.microsoft.com/office/drawing/2014/main" id="{CE5E9932-FA82-F4D1-15E8-78D4D5B200C7}"/>
              </a:ext>
            </a:extLst>
          </p:cNvPr>
          <p:cNvPicPr>
            <a:picLocks noChangeAspect="1"/>
          </p:cNvPicPr>
          <p:nvPr/>
        </p:nvPicPr>
        <p:blipFill>
          <a:blip r:embed="rId3"/>
          <a:stretch>
            <a:fillRect/>
          </a:stretch>
        </p:blipFill>
        <p:spPr>
          <a:xfrm>
            <a:off x="4059936" y="1991752"/>
            <a:ext cx="8132064" cy="4230316"/>
          </a:xfrm>
          <a:prstGeom prst="rect">
            <a:avLst/>
          </a:prstGeom>
        </p:spPr>
      </p:pic>
      <p:sp>
        <p:nvSpPr>
          <p:cNvPr id="10" name="Unvan 5"/>
          <p:cNvSpPr txBox="1"/>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A second example</a:t>
            </a:r>
          </a:p>
        </p:txBody>
      </p:sp>
    </p:spTree>
    <p:extLst>
      <p:ext uri="{BB962C8B-B14F-4D97-AF65-F5344CB8AC3E}">
        <p14:creationId xmlns:p14="http://schemas.microsoft.com/office/powerpoint/2010/main" val="395824410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517864A-F47D-2507-8442-849E1B143425}"/>
              </a:ext>
            </a:extLst>
          </p:cNvPr>
          <p:cNvSpPr>
            <a:spLocks noGrp="1"/>
          </p:cNvSpPr>
          <p:nvPr>
            <p:ph idx="1"/>
          </p:nvPr>
        </p:nvSpPr>
        <p:spPr>
          <a:xfrm>
            <a:off x="1593460" y="1637414"/>
            <a:ext cx="9760340" cy="4539549"/>
          </a:xfrm>
        </p:spPr>
        <p:txBody>
          <a:bodyPr anchor="ctr">
            <a:normAutofit lnSpcReduction="10000"/>
          </a:bodyPr>
          <a:lstStyle/>
          <a:p>
            <a:pPr marL="0" indent="0">
              <a:buNone/>
            </a:pPr>
            <a:r>
              <a:rPr lang="en-US" sz="2600" dirty="0"/>
              <a:t>A = {w ∈ {0,1}</a:t>
            </a:r>
            <a:r>
              <a:rPr lang="en-US" sz="2600" baseline="30000" dirty="0"/>
              <a:t>∗</a:t>
            </a:r>
            <a:r>
              <a:rPr lang="en-US" sz="2600" dirty="0"/>
              <a:t> : w has a 1 in the third position from the </a:t>
            </a:r>
            <a:r>
              <a:rPr lang="en-US" sz="2600" b="1" u="sng" dirty="0"/>
              <a:t>LEFT</a:t>
            </a:r>
            <a:r>
              <a:rPr lang="en-US" sz="2600" dirty="0"/>
              <a:t>}</a:t>
            </a:r>
          </a:p>
          <a:p>
            <a:endParaRPr lang="en-US" sz="2600" dirty="0"/>
          </a:p>
          <a:p>
            <a:r>
              <a:rPr lang="en-US" sz="2600" dirty="0"/>
              <a:t>This problem is easier than the previous one. Because the first and the second letters are not important, we can think at first the third letter from the start. </a:t>
            </a:r>
          </a:p>
          <a:p>
            <a:endParaRPr lang="en-US" sz="2600" dirty="0"/>
          </a:p>
          <a:p>
            <a:pPr marL="0" indent="0">
              <a:buNone/>
            </a:pPr>
            <a:r>
              <a:rPr lang="en-US" sz="2600" dirty="0"/>
              <a:t>	{0,1}  {0,1}  </a:t>
            </a:r>
            <a:r>
              <a:rPr lang="en-US" sz="2600" b="1" dirty="0">
                <a:solidFill>
                  <a:srgbClr val="FF0000"/>
                </a:solidFill>
              </a:rPr>
              <a:t>1</a:t>
            </a:r>
            <a:r>
              <a:rPr lang="en-US" sz="2600" dirty="0"/>
              <a:t>  {0,1}</a:t>
            </a:r>
            <a:r>
              <a:rPr lang="en-US" sz="2600" baseline="30000" dirty="0"/>
              <a:t>∗</a:t>
            </a:r>
            <a:endParaRPr lang="en-US" sz="2600" dirty="0"/>
          </a:p>
          <a:p>
            <a:pPr marL="0" indent="0">
              <a:buNone/>
            </a:pPr>
            <a:endParaRPr lang="en-US" sz="2600" dirty="0"/>
          </a:p>
          <a:p>
            <a:r>
              <a:rPr lang="en-US" sz="2600" dirty="0"/>
              <a:t>If the third one is 1, then go an accept stay and stay there, else, go a reject state and stay there.</a:t>
            </a:r>
          </a:p>
          <a:p>
            <a:pPr marL="0" indent="0">
              <a:buNone/>
            </a:pPr>
            <a:endParaRPr lang="en-US" sz="2600" dirty="0"/>
          </a:p>
        </p:txBody>
      </p:sp>
      <p:sp>
        <p:nvSpPr>
          <p:cNvPr id="9" name="Unvan 5"/>
          <p:cNvSpPr txBox="1"/>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A </a:t>
            </a:r>
            <a:r>
              <a:rPr lang="en-US">
                <a:solidFill>
                  <a:schemeClr val="tx1"/>
                </a:solidFill>
              </a:rPr>
              <a:t>third</a:t>
            </a:r>
            <a:r>
              <a:rPr lang="en-US"/>
              <a:t> example</a:t>
            </a:r>
          </a:p>
        </p:txBody>
      </p:sp>
    </p:spTree>
    <p:extLst>
      <p:ext uri="{BB962C8B-B14F-4D97-AF65-F5344CB8AC3E}">
        <p14:creationId xmlns:p14="http://schemas.microsoft.com/office/powerpoint/2010/main" val="104929257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Metin kutusu 32">
            <a:extLst>
              <a:ext uri="{FF2B5EF4-FFF2-40B4-BE49-F238E27FC236}">
                <a16:creationId xmlns:a16="http://schemas.microsoft.com/office/drawing/2014/main" id="{0A46E75F-496E-D99E-FD8A-EC64DF94EAF7}"/>
              </a:ext>
            </a:extLst>
          </p:cNvPr>
          <p:cNvSpPr txBox="1"/>
          <p:nvPr/>
        </p:nvSpPr>
        <p:spPr>
          <a:xfrm>
            <a:off x="1593458" y="1314616"/>
            <a:ext cx="9237155" cy="1149666"/>
          </a:xfrm>
          <a:prstGeom prst="rect">
            <a:avLst/>
          </a:prstGeom>
        </p:spPr>
        <p:txBody>
          <a:bodyPr vert="horz" lIns="91440" tIns="45720" rIns="91440" bIns="45720" rtlCol="0" anchor="ctr">
            <a:normAutofit/>
          </a:bodyPr>
          <a:lstStyle/>
          <a:p>
            <a:pPr>
              <a:lnSpc>
                <a:spcPct val="90000"/>
              </a:lnSpc>
              <a:spcAft>
                <a:spcPts val="600"/>
              </a:spcAft>
            </a:pPr>
            <a:r>
              <a:rPr lang="en-US" sz="2400"/>
              <a:t>Here, we should think the solution directly. Thus, we draw the first four states. Then we add a last state for rejecting. So, using five states is enough.</a:t>
            </a:r>
          </a:p>
        </p:txBody>
      </p:sp>
      <p:grpSp>
        <p:nvGrpSpPr>
          <p:cNvPr id="34" name="Grup 33">
            <a:extLst>
              <a:ext uri="{FF2B5EF4-FFF2-40B4-BE49-F238E27FC236}">
                <a16:creationId xmlns:a16="http://schemas.microsoft.com/office/drawing/2014/main" id="{DC2361C1-C882-47A5-AA89-5DFF157091A2}"/>
              </a:ext>
            </a:extLst>
          </p:cNvPr>
          <p:cNvGrpSpPr/>
          <p:nvPr/>
        </p:nvGrpSpPr>
        <p:grpSpPr>
          <a:xfrm>
            <a:off x="2315025" y="2781142"/>
            <a:ext cx="9876975" cy="3020854"/>
            <a:chOff x="838200" y="2757739"/>
            <a:chExt cx="9876975" cy="3020854"/>
          </a:xfrm>
        </p:grpSpPr>
        <p:sp>
          <p:nvSpPr>
            <p:cNvPr id="35" name="Oval 34">
              <a:extLst>
                <a:ext uri="{FF2B5EF4-FFF2-40B4-BE49-F238E27FC236}">
                  <a16:creationId xmlns:a16="http://schemas.microsoft.com/office/drawing/2014/main" id="{1455A100-F39F-A9BB-F986-A292B7EAD515}"/>
                </a:ext>
              </a:extLst>
            </p:cNvPr>
            <p:cNvSpPr/>
            <p:nvPr/>
          </p:nvSpPr>
          <p:spPr>
            <a:xfrm>
              <a:off x="1462006" y="3180456"/>
              <a:ext cx="867906" cy="852407"/>
            </a:xfrm>
            <a:prstGeom prst="ellipse">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a:t>q</a:t>
              </a:r>
              <a:r>
                <a:rPr lang="en-US" sz="2800" baseline="-25000"/>
                <a:t>1</a:t>
              </a:r>
            </a:p>
          </p:txBody>
        </p:sp>
        <p:sp>
          <p:nvSpPr>
            <p:cNvPr id="36" name="Oval 35">
              <a:extLst>
                <a:ext uri="{FF2B5EF4-FFF2-40B4-BE49-F238E27FC236}">
                  <a16:creationId xmlns:a16="http://schemas.microsoft.com/office/drawing/2014/main" id="{0096D9A7-1EF6-E9DC-6339-50638F0EBB38}"/>
                </a:ext>
              </a:extLst>
            </p:cNvPr>
            <p:cNvSpPr/>
            <p:nvPr/>
          </p:nvSpPr>
          <p:spPr>
            <a:xfrm>
              <a:off x="3779003" y="3180456"/>
              <a:ext cx="867906" cy="852407"/>
            </a:xfrm>
            <a:prstGeom prst="ellipse">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a:t>q</a:t>
              </a:r>
              <a:r>
                <a:rPr lang="en-US" sz="2800" baseline="-25000"/>
                <a:t>2</a:t>
              </a:r>
            </a:p>
          </p:txBody>
        </p:sp>
        <p:sp>
          <p:nvSpPr>
            <p:cNvPr id="37" name="Oval 36">
              <a:extLst>
                <a:ext uri="{FF2B5EF4-FFF2-40B4-BE49-F238E27FC236}">
                  <a16:creationId xmlns:a16="http://schemas.microsoft.com/office/drawing/2014/main" id="{05DFB056-6F34-5B13-85E5-1D85530BD57A}"/>
                </a:ext>
              </a:extLst>
            </p:cNvPr>
            <p:cNvSpPr/>
            <p:nvPr/>
          </p:nvSpPr>
          <p:spPr>
            <a:xfrm>
              <a:off x="6096000" y="3180456"/>
              <a:ext cx="867906" cy="852407"/>
            </a:xfrm>
            <a:prstGeom prst="ellipse">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a:t>q</a:t>
              </a:r>
              <a:r>
                <a:rPr lang="en-US" sz="2800" baseline="-25000"/>
                <a:t>3</a:t>
              </a:r>
            </a:p>
          </p:txBody>
        </p:sp>
        <p:sp>
          <p:nvSpPr>
            <p:cNvPr id="39" name="Oval 38">
              <a:extLst>
                <a:ext uri="{FF2B5EF4-FFF2-40B4-BE49-F238E27FC236}">
                  <a16:creationId xmlns:a16="http://schemas.microsoft.com/office/drawing/2014/main" id="{75803E37-9609-06D7-18A6-E9EF7CFDC06F}"/>
                </a:ext>
              </a:extLst>
            </p:cNvPr>
            <p:cNvSpPr/>
            <p:nvPr/>
          </p:nvSpPr>
          <p:spPr>
            <a:xfrm>
              <a:off x="8485883" y="3180456"/>
              <a:ext cx="867906" cy="852407"/>
            </a:xfrm>
            <a:prstGeom prst="ellipse">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a:t>q</a:t>
              </a:r>
              <a:r>
                <a:rPr lang="en-US" sz="2800" baseline="-25000"/>
                <a:t>4</a:t>
              </a:r>
            </a:p>
          </p:txBody>
        </p:sp>
        <p:sp>
          <p:nvSpPr>
            <p:cNvPr id="41" name="Oval 40">
              <a:extLst>
                <a:ext uri="{FF2B5EF4-FFF2-40B4-BE49-F238E27FC236}">
                  <a16:creationId xmlns:a16="http://schemas.microsoft.com/office/drawing/2014/main" id="{22DF4D98-1E73-92B9-27C3-FF865DB93DBA}"/>
                </a:ext>
              </a:extLst>
            </p:cNvPr>
            <p:cNvSpPr/>
            <p:nvPr/>
          </p:nvSpPr>
          <p:spPr>
            <a:xfrm>
              <a:off x="7711658" y="4926186"/>
              <a:ext cx="867906" cy="852407"/>
            </a:xfrm>
            <a:prstGeom prst="ellipse">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a:t>q</a:t>
              </a:r>
              <a:r>
                <a:rPr lang="en-US" sz="2800" baseline="-25000"/>
                <a:t>5</a:t>
              </a:r>
            </a:p>
          </p:txBody>
        </p:sp>
        <p:cxnSp>
          <p:nvCxnSpPr>
            <p:cNvPr id="42" name="Düz Ok Bağlayıcısı 41">
              <a:extLst>
                <a:ext uri="{FF2B5EF4-FFF2-40B4-BE49-F238E27FC236}">
                  <a16:creationId xmlns:a16="http://schemas.microsoft.com/office/drawing/2014/main" id="{7E254171-B0A6-0A43-9757-C99BF9532ADA}"/>
                </a:ext>
              </a:extLst>
            </p:cNvPr>
            <p:cNvCxnSpPr/>
            <p:nvPr/>
          </p:nvCxnSpPr>
          <p:spPr>
            <a:xfrm>
              <a:off x="838200" y="3606659"/>
              <a:ext cx="623806" cy="0"/>
            </a:xfrm>
            <a:prstGeom prst="straightConnector1">
              <a:avLst/>
            </a:prstGeom>
            <a:ln w="38100" cap="rnd">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3" name="Düz Ok Bağlayıcısı 42">
              <a:extLst>
                <a:ext uri="{FF2B5EF4-FFF2-40B4-BE49-F238E27FC236}">
                  <a16:creationId xmlns:a16="http://schemas.microsoft.com/office/drawing/2014/main" id="{C2A68DC4-1515-9FBB-27B6-428811999FBB}"/>
                </a:ext>
              </a:extLst>
            </p:cNvPr>
            <p:cNvCxnSpPr/>
            <p:nvPr/>
          </p:nvCxnSpPr>
          <p:spPr>
            <a:xfrm>
              <a:off x="2336787" y="3606659"/>
              <a:ext cx="1449091" cy="0"/>
            </a:xfrm>
            <a:prstGeom prst="straightConnector1">
              <a:avLst/>
            </a:prstGeom>
            <a:ln w="38100" cap="rnd">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4" name="Düz Ok Bağlayıcısı 43">
              <a:extLst>
                <a:ext uri="{FF2B5EF4-FFF2-40B4-BE49-F238E27FC236}">
                  <a16:creationId xmlns:a16="http://schemas.microsoft.com/office/drawing/2014/main" id="{6E429775-EFAB-3FFF-54CF-FAE73B12D37B}"/>
                </a:ext>
              </a:extLst>
            </p:cNvPr>
            <p:cNvCxnSpPr/>
            <p:nvPr/>
          </p:nvCxnSpPr>
          <p:spPr>
            <a:xfrm>
              <a:off x="4653784" y="3606659"/>
              <a:ext cx="1449091" cy="0"/>
            </a:xfrm>
            <a:prstGeom prst="straightConnector1">
              <a:avLst/>
            </a:prstGeom>
            <a:ln w="38100" cap="rnd">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5" name="Düz Ok Bağlayıcısı 44">
              <a:extLst>
                <a:ext uri="{FF2B5EF4-FFF2-40B4-BE49-F238E27FC236}">
                  <a16:creationId xmlns:a16="http://schemas.microsoft.com/office/drawing/2014/main" id="{9854C9EA-0ED3-5F36-D21C-01C645EA4FFA}"/>
                </a:ext>
              </a:extLst>
            </p:cNvPr>
            <p:cNvCxnSpPr/>
            <p:nvPr/>
          </p:nvCxnSpPr>
          <p:spPr>
            <a:xfrm>
              <a:off x="6973363" y="3606659"/>
              <a:ext cx="1449091" cy="0"/>
            </a:xfrm>
            <a:prstGeom prst="straightConnector1">
              <a:avLst/>
            </a:prstGeom>
            <a:ln w="38100" cap="rnd">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6" name="Düz Ok Bağlayıcısı 45">
              <a:extLst>
                <a:ext uri="{FF2B5EF4-FFF2-40B4-BE49-F238E27FC236}">
                  <a16:creationId xmlns:a16="http://schemas.microsoft.com/office/drawing/2014/main" id="{ED1B7212-270E-A387-04F9-5396DF304165}"/>
                </a:ext>
              </a:extLst>
            </p:cNvPr>
            <p:cNvCxnSpPr/>
            <p:nvPr/>
          </p:nvCxnSpPr>
          <p:spPr>
            <a:xfrm>
              <a:off x="6825486" y="3934997"/>
              <a:ext cx="1015022" cy="1104019"/>
            </a:xfrm>
            <a:prstGeom prst="straightConnector1">
              <a:avLst/>
            </a:prstGeom>
            <a:ln w="38100" cap="rnd">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47" name="Metin kutusu 46">
              <a:extLst>
                <a:ext uri="{FF2B5EF4-FFF2-40B4-BE49-F238E27FC236}">
                  <a16:creationId xmlns:a16="http://schemas.microsoft.com/office/drawing/2014/main" id="{5A7C358E-04EC-B268-2567-3B8CDD6466E0}"/>
                </a:ext>
              </a:extLst>
            </p:cNvPr>
            <p:cNvSpPr txBox="1"/>
            <p:nvPr/>
          </p:nvSpPr>
          <p:spPr>
            <a:xfrm>
              <a:off x="2635357" y="3180456"/>
              <a:ext cx="838200" cy="369332"/>
            </a:xfrm>
            <a:prstGeom prst="rect">
              <a:avLst/>
            </a:prstGeom>
            <a:noFill/>
          </p:spPr>
          <p:txBody>
            <a:bodyPr wrap="square" rtlCol="0">
              <a:spAutoFit/>
            </a:bodyPr>
            <a:lstStyle/>
            <a:p>
              <a:r>
                <a:rPr lang="en-US"/>
                <a:t>0,1</a:t>
              </a:r>
            </a:p>
          </p:txBody>
        </p:sp>
        <p:sp>
          <p:nvSpPr>
            <p:cNvPr id="48" name="Metin kutusu 47">
              <a:extLst>
                <a:ext uri="{FF2B5EF4-FFF2-40B4-BE49-F238E27FC236}">
                  <a16:creationId xmlns:a16="http://schemas.microsoft.com/office/drawing/2014/main" id="{8F9E0B26-43C8-8ACD-2ECE-45F5E8909157}"/>
                </a:ext>
              </a:extLst>
            </p:cNvPr>
            <p:cNvSpPr txBox="1"/>
            <p:nvPr/>
          </p:nvSpPr>
          <p:spPr>
            <a:xfrm>
              <a:off x="5190756" y="3180456"/>
              <a:ext cx="838200" cy="369332"/>
            </a:xfrm>
            <a:prstGeom prst="rect">
              <a:avLst/>
            </a:prstGeom>
            <a:noFill/>
          </p:spPr>
          <p:txBody>
            <a:bodyPr wrap="square" rtlCol="0">
              <a:spAutoFit/>
            </a:bodyPr>
            <a:lstStyle/>
            <a:p>
              <a:r>
                <a:rPr lang="en-US"/>
                <a:t>0,1</a:t>
              </a:r>
            </a:p>
          </p:txBody>
        </p:sp>
        <p:sp>
          <p:nvSpPr>
            <p:cNvPr id="49" name="Metin kutusu 48">
              <a:extLst>
                <a:ext uri="{FF2B5EF4-FFF2-40B4-BE49-F238E27FC236}">
                  <a16:creationId xmlns:a16="http://schemas.microsoft.com/office/drawing/2014/main" id="{F959BA4D-E643-7C0A-5F82-B576650CED0A}"/>
                </a:ext>
              </a:extLst>
            </p:cNvPr>
            <p:cNvSpPr txBox="1"/>
            <p:nvPr/>
          </p:nvSpPr>
          <p:spPr>
            <a:xfrm>
              <a:off x="7505931" y="3180456"/>
              <a:ext cx="838200" cy="369332"/>
            </a:xfrm>
            <a:prstGeom prst="rect">
              <a:avLst/>
            </a:prstGeom>
            <a:noFill/>
          </p:spPr>
          <p:txBody>
            <a:bodyPr wrap="square" rtlCol="0">
              <a:spAutoFit/>
            </a:bodyPr>
            <a:lstStyle/>
            <a:p>
              <a:r>
                <a:rPr lang="en-US"/>
                <a:t>1</a:t>
              </a:r>
            </a:p>
          </p:txBody>
        </p:sp>
        <p:sp>
          <p:nvSpPr>
            <p:cNvPr id="50" name="Metin kutusu 49">
              <a:extLst>
                <a:ext uri="{FF2B5EF4-FFF2-40B4-BE49-F238E27FC236}">
                  <a16:creationId xmlns:a16="http://schemas.microsoft.com/office/drawing/2014/main" id="{92D16FA7-FC95-036D-2517-5C0E717574EB}"/>
                </a:ext>
              </a:extLst>
            </p:cNvPr>
            <p:cNvSpPr txBox="1"/>
            <p:nvPr/>
          </p:nvSpPr>
          <p:spPr>
            <a:xfrm>
              <a:off x="7247280" y="4088476"/>
              <a:ext cx="838200" cy="369332"/>
            </a:xfrm>
            <a:prstGeom prst="rect">
              <a:avLst/>
            </a:prstGeom>
            <a:noFill/>
          </p:spPr>
          <p:txBody>
            <a:bodyPr wrap="square" rtlCol="0">
              <a:spAutoFit/>
            </a:bodyPr>
            <a:lstStyle/>
            <a:p>
              <a:r>
                <a:rPr lang="en-US"/>
                <a:t>0</a:t>
              </a:r>
            </a:p>
          </p:txBody>
        </p:sp>
        <p:sp>
          <p:nvSpPr>
            <p:cNvPr id="51" name="Metin kutusu 50">
              <a:extLst>
                <a:ext uri="{FF2B5EF4-FFF2-40B4-BE49-F238E27FC236}">
                  <a16:creationId xmlns:a16="http://schemas.microsoft.com/office/drawing/2014/main" id="{76F84327-CEAF-8D52-78CE-FF20DC5F9C45}"/>
                </a:ext>
              </a:extLst>
            </p:cNvPr>
            <p:cNvSpPr txBox="1"/>
            <p:nvPr/>
          </p:nvSpPr>
          <p:spPr>
            <a:xfrm>
              <a:off x="9876975" y="2855395"/>
              <a:ext cx="838200" cy="369332"/>
            </a:xfrm>
            <a:prstGeom prst="rect">
              <a:avLst/>
            </a:prstGeom>
            <a:noFill/>
          </p:spPr>
          <p:txBody>
            <a:bodyPr wrap="square" rtlCol="0">
              <a:spAutoFit/>
            </a:bodyPr>
            <a:lstStyle/>
            <a:p>
              <a:r>
                <a:rPr lang="en-US"/>
                <a:t>0,1</a:t>
              </a:r>
            </a:p>
          </p:txBody>
        </p:sp>
        <p:sp>
          <p:nvSpPr>
            <p:cNvPr id="52" name="Serbest Form 51">
              <a:extLst>
                <a:ext uri="{FF2B5EF4-FFF2-40B4-BE49-F238E27FC236}">
                  <a16:creationId xmlns:a16="http://schemas.microsoft.com/office/drawing/2014/main" id="{B35E3C0B-0DF0-9806-660D-F166A52A6430}"/>
                </a:ext>
              </a:extLst>
            </p:cNvPr>
            <p:cNvSpPr/>
            <p:nvPr/>
          </p:nvSpPr>
          <p:spPr>
            <a:xfrm rot="1200099">
              <a:off x="9246070" y="2757739"/>
              <a:ext cx="609458" cy="595917"/>
            </a:xfrm>
            <a:custGeom>
              <a:avLst/>
              <a:gdLst>
                <a:gd name="connsiteX0" fmla="*/ 1491 w 609458"/>
                <a:gd name="connsiteY0" fmla="*/ 549422 h 595917"/>
                <a:gd name="connsiteX1" fmla="*/ 94480 w 609458"/>
                <a:gd name="connsiteY1" fmla="*/ 37978 h 595917"/>
                <a:gd name="connsiteX2" fmla="*/ 605924 w 609458"/>
                <a:gd name="connsiteY2" fmla="*/ 99971 h 595917"/>
                <a:gd name="connsiteX3" fmla="*/ 280460 w 609458"/>
                <a:gd name="connsiteY3" fmla="*/ 595917 h 595917"/>
              </a:gdLst>
              <a:ahLst/>
              <a:cxnLst>
                <a:cxn ang="0">
                  <a:pos x="connsiteX0" y="connsiteY0"/>
                </a:cxn>
                <a:cxn ang="0">
                  <a:pos x="connsiteX1" y="connsiteY1"/>
                </a:cxn>
                <a:cxn ang="0">
                  <a:pos x="connsiteX2" y="connsiteY2"/>
                </a:cxn>
                <a:cxn ang="0">
                  <a:pos x="connsiteX3" y="connsiteY3"/>
                </a:cxn>
              </a:cxnLst>
              <a:rect l="l" t="t" r="r" b="b"/>
              <a:pathLst>
                <a:path w="609458" h="595917">
                  <a:moveTo>
                    <a:pt x="1491" y="549422"/>
                  </a:moveTo>
                  <a:cubicBezTo>
                    <a:pt x="-2384" y="331154"/>
                    <a:pt x="-6259" y="112886"/>
                    <a:pt x="94480" y="37978"/>
                  </a:cubicBezTo>
                  <a:cubicBezTo>
                    <a:pt x="195219" y="-36930"/>
                    <a:pt x="574927" y="6981"/>
                    <a:pt x="605924" y="99971"/>
                  </a:cubicBezTo>
                  <a:cubicBezTo>
                    <a:pt x="636921" y="192961"/>
                    <a:pt x="458690" y="394439"/>
                    <a:pt x="280460" y="595917"/>
                  </a:cubicBezTo>
                </a:path>
              </a:pathLst>
            </a:custGeom>
            <a:ln w="28575">
              <a:tailEnd type="stealth" w="lg" len="lg"/>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3" name="Metin kutusu 52">
              <a:extLst>
                <a:ext uri="{FF2B5EF4-FFF2-40B4-BE49-F238E27FC236}">
                  <a16:creationId xmlns:a16="http://schemas.microsoft.com/office/drawing/2014/main" id="{C699E4B7-5A6B-C603-AF28-BAAB64974415}"/>
                </a:ext>
              </a:extLst>
            </p:cNvPr>
            <p:cNvSpPr txBox="1"/>
            <p:nvPr/>
          </p:nvSpPr>
          <p:spPr>
            <a:xfrm>
              <a:off x="9184795" y="4697161"/>
              <a:ext cx="838200" cy="369332"/>
            </a:xfrm>
            <a:prstGeom prst="rect">
              <a:avLst/>
            </a:prstGeom>
            <a:noFill/>
          </p:spPr>
          <p:txBody>
            <a:bodyPr wrap="square" rtlCol="0">
              <a:spAutoFit/>
            </a:bodyPr>
            <a:lstStyle/>
            <a:p>
              <a:r>
                <a:rPr lang="en-US"/>
                <a:t>0,1</a:t>
              </a:r>
            </a:p>
          </p:txBody>
        </p:sp>
        <p:sp>
          <p:nvSpPr>
            <p:cNvPr id="54" name="Serbest Form 53">
              <a:extLst>
                <a:ext uri="{FF2B5EF4-FFF2-40B4-BE49-F238E27FC236}">
                  <a16:creationId xmlns:a16="http://schemas.microsoft.com/office/drawing/2014/main" id="{F7F33D61-4382-717A-3BC9-D7E1A7280AA8}"/>
                </a:ext>
              </a:extLst>
            </p:cNvPr>
            <p:cNvSpPr/>
            <p:nvPr/>
          </p:nvSpPr>
          <p:spPr>
            <a:xfrm rot="1200099">
              <a:off x="8527527" y="4635838"/>
              <a:ext cx="609458" cy="595917"/>
            </a:xfrm>
            <a:custGeom>
              <a:avLst/>
              <a:gdLst>
                <a:gd name="connsiteX0" fmla="*/ 1491 w 609458"/>
                <a:gd name="connsiteY0" fmla="*/ 549422 h 595917"/>
                <a:gd name="connsiteX1" fmla="*/ 94480 w 609458"/>
                <a:gd name="connsiteY1" fmla="*/ 37978 h 595917"/>
                <a:gd name="connsiteX2" fmla="*/ 605924 w 609458"/>
                <a:gd name="connsiteY2" fmla="*/ 99971 h 595917"/>
                <a:gd name="connsiteX3" fmla="*/ 280460 w 609458"/>
                <a:gd name="connsiteY3" fmla="*/ 595917 h 595917"/>
              </a:gdLst>
              <a:ahLst/>
              <a:cxnLst>
                <a:cxn ang="0">
                  <a:pos x="connsiteX0" y="connsiteY0"/>
                </a:cxn>
                <a:cxn ang="0">
                  <a:pos x="connsiteX1" y="connsiteY1"/>
                </a:cxn>
                <a:cxn ang="0">
                  <a:pos x="connsiteX2" y="connsiteY2"/>
                </a:cxn>
                <a:cxn ang="0">
                  <a:pos x="connsiteX3" y="connsiteY3"/>
                </a:cxn>
              </a:cxnLst>
              <a:rect l="l" t="t" r="r" b="b"/>
              <a:pathLst>
                <a:path w="609458" h="595917">
                  <a:moveTo>
                    <a:pt x="1491" y="549422"/>
                  </a:moveTo>
                  <a:cubicBezTo>
                    <a:pt x="-2384" y="331154"/>
                    <a:pt x="-6259" y="112886"/>
                    <a:pt x="94480" y="37978"/>
                  </a:cubicBezTo>
                  <a:cubicBezTo>
                    <a:pt x="195219" y="-36930"/>
                    <a:pt x="574927" y="6981"/>
                    <a:pt x="605924" y="99971"/>
                  </a:cubicBezTo>
                  <a:cubicBezTo>
                    <a:pt x="636921" y="192961"/>
                    <a:pt x="458690" y="394439"/>
                    <a:pt x="280460" y="595917"/>
                  </a:cubicBezTo>
                </a:path>
              </a:pathLst>
            </a:custGeom>
            <a:ln w="28575">
              <a:tailEnd type="stealth" w="lg" len="lg"/>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5" name="Oval 54">
              <a:extLst>
                <a:ext uri="{FF2B5EF4-FFF2-40B4-BE49-F238E27FC236}">
                  <a16:creationId xmlns:a16="http://schemas.microsoft.com/office/drawing/2014/main" id="{3880D85B-1421-8589-BFC0-BF334AD361AB}"/>
                </a:ext>
              </a:extLst>
            </p:cNvPr>
            <p:cNvSpPr/>
            <p:nvPr/>
          </p:nvSpPr>
          <p:spPr>
            <a:xfrm>
              <a:off x="8428938" y="3120285"/>
              <a:ext cx="986729" cy="968188"/>
            </a:xfrm>
            <a:prstGeom prst="ellipse">
              <a:avLst/>
            </a:prstGeom>
            <a:no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800" baseline="-25000"/>
            </a:p>
          </p:txBody>
        </p:sp>
      </p:grpSp>
      <p:sp>
        <p:nvSpPr>
          <p:cNvPr id="27" name="Unvan 5"/>
          <p:cNvSpPr txBox="1"/>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A </a:t>
            </a:r>
            <a:r>
              <a:rPr lang="en-US">
                <a:solidFill>
                  <a:schemeClr val="tx1"/>
                </a:solidFill>
              </a:rPr>
              <a:t>third</a:t>
            </a:r>
            <a:r>
              <a:rPr lang="en-US"/>
              <a:t> example</a:t>
            </a:r>
          </a:p>
        </p:txBody>
      </p:sp>
    </p:spTree>
    <p:extLst>
      <p:ext uri="{BB962C8B-B14F-4D97-AF65-F5344CB8AC3E}">
        <p14:creationId xmlns:p14="http://schemas.microsoft.com/office/powerpoint/2010/main" val="1642840677"/>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39D389ED-23BE-D02A-5F50-E76B12995137}"/>
              </a:ext>
            </a:extLst>
          </p:cNvPr>
          <p:cNvSpPr>
            <a:spLocks noGrp="1"/>
          </p:cNvSpPr>
          <p:nvPr>
            <p:ph idx="1"/>
          </p:nvPr>
        </p:nvSpPr>
        <p:spPr>
          <a:xfrm>
            <a:off x="1593460" y="1509824"/>
            <a:ext cx="9760340" cy="4667140"/>
          </a:xfrm>
        </p:spPr>
        <p:txBody>
          <a:bodyPr anchor="ctr">
            <a:normAutofit/>
          </a:bodyPr>
          <a:lstStyle/>
          <a:p>
            <a:pPr marL="0" indent="0">
              <a:buNone/>
            </a:pPr>
            <a:r>
              <a:rPr lang="en-US" sz="2400" dirty="0"/>
              <a:t>A = {w ∈ {0,1}∗ : w contains an even number of 0s and 1s}</a:t>
            </a:r>
          </a:p>
          <a:p>
            <a:pPr marL="0" indent="0">
              <a:buNone/>
            </a:pPr>
            <a:endParaRPr lang="en-US" sz="2400" dirty="0"/>
          </a:p>
          <a:p>
            <a:pPr marL="0" indent="0">
              <a:buNone/>
            </a:pPr>
            <a:r>
              <a:rPr lang="en-US" sz="2400" dirty="0"/>
              <a:t>Here, we can assume that there are even numbers of 0s and 1s in the start state. Now we need four states as:</a:t>
            </a:r>
          </a:p>
          <a:p>
            <a:r>
              <a:rPr lang="en-US" sz="2400" dirty="0" err="1"/>
              <a:t>q</a:t>
            </a:r>
            <a:r>
              <a:rPr lang="en-US" sz="2400" baseline="-25000" dirty="0" err="1"/>
              <a:t>ee</a:t>
            </a:r>
            <a:r>
              <a:rPr lang="en-US" sz="2400" dirty="0"/>
              <a:t>: even number of 0s and even numbers of 1s</a:t>
            </a:r>
          </a:p>
          <a:p>
            <a:r>
              <a:rPr lang="en-US" sz="2400" dirty="0" err="1"/>
              <a:t>q</a:t>
            </a:r>
            <a:r>
              <a:rPr lang="en-US" sz="2400" baseline="-25000" dirty="0" err="1"/>
              <a:t>oe</a:t>
            </a:r>
            <a:r>
              <a:rPr lang="en-US" sz="2400" dirty="0"/>
              <a:t>: odd number of 0s and even numbers of 1s</a:t>
            </a:r>
          </a:p>
          <a:p>
            <a:r>
              <a:rPr lang="en-US" sz="2400" dirty="0" err="1"/>
              <a:t>q</a:t>
            </a:r>
            <a:r>
              <a:rPr lang="en-US" sz="2400" baseline="-25000" dirty="0" err="1"/>
              <a:t>eo</a:t>
            </a:r>
            <a:r>
              <a:rPr lang="en-US" sz="2400" dirty="0"/>
              <a:t>: even number of 0s and odd numbers of 1s</a:t>
            </a:r>
          </a:p>
          <a:p>
            <a:r>
              <a:rPr lang="en-US" sz="2400" dirty="0" err="1"/>
              <a:t>q</a:t>
            </a:r>
            <a:r>
              <a:rPr lang="en-US" sz="2400" baseline="-25000" dirty="0" err="1"/>
              <a:t>oo</a:t>
            </a:r>
            <a:r>
              <a:rPr lang="en-US" sz="2400" dirty="0"/>
              <a:t>: odd number of 0s and odd numbers of 1s</a:t>
            </a:r>
          </a:p>
          <a:p>
            <a:pPr marL="0" indent="0">
              <a:buNone/>
            </a:pPr>
            <a:endParaRPr lang="en-US" sz="2400" dirty="0"/>
          </a:p>
        </p:txBody>
      </p:sp>
      <p:sp>
        <p:nvSpPr>
          <p:cNvPr id="8" name="Unvan 5"/>
          <p:cNvSpPr txBox="1"/>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It is your turn</a:t>
            </a:r>
            <a:endParaRPr lang="tr-TR" dirty="0"/>
          </a:p>
        </p:txBody>
      </p:sp>
    </p:spTree>
    <p:extLst>
      <p:ext uri="{BB962C8B-B14F-4D97-AF65-F5344CB8AC3E}">
        <p14:creationId xmlns:p14="http://schemas.microsoft.com/office/powerpoint/2010/main" val="298591204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39D389ED-23BE-D02A-5F50-E76B12995137}"/>
              </a:ext>
            </a:extLst>
          </p:cNvPr>
          <p:cNvSpPr>
            <a:spLocks noGrp="1"/>
          </p:cNvSpPr>
          <p:nvPr>
            <p:ph idx="1"/>
          </p:nvPr>
        </p:nvSpPr>
        <p:spPr>
          <a:xfrm>
            <a:off x="1593459" y="1488558"/>
            <a:ext cx="9760340" cy="4348163"/>
          </a:xfrm>
        </p:spPr>
        <p:txBody>
          <a:bodyPr anchor="ctr">
            <a:normAutofit/>
          </a:bodyPr>
          <a:lstStyle/>
          <a:p>
            <a:pPr marL="0" indent="0">
              <a:buNone/>
            </a:pPr>
            <a:r>
              <a:rPr lang="en-US" sz="2400"/>
              <a:t>A = {w ∈ {0,1}∗ : w has a 1 in the third position from the right}</a:t>
            </a:r>
          </a:p>
          <a:p>
            <a:pPr marL="0" indent="0">
              <a:buNone/>
            </a:pPr>
            <a:r>
              <a:rPr lang="en-US" sz="2400"/>
              <a:t>Here, the last three letters are important, and we need remember them all. Therefore, we need 8 different states:</a:t>
            </a:r>
          </a:p>
          <a:p>
            <a:endParaRPr lang="en-US" sz="2400"/>
          </a:p>
          <a:p>
            <a:endParaRPr lang="en-US" sz="2400"/>
          </a:p>
          <a:p>
            <a:endParaRPr lang="en-US" sz="2400"/>
          </a:p>
          <a:p>
            <a:pPr marL="0" indent="0">
              <a:buNone/>
            </a:pPr>
            <a:endParaRPr lang="en-US" sz="2400"/>
          </a:p>
          <a:p>
            <a:r>
              <a:rPr lang="en-US" sz="2400"/>
              <a:t>Since each new symbol from the user is added to the right of the string, the state in the design may have to change</a:t>
            </a:r>
          </a:p>
        </p:txBody>
      </p:sp>
      <p:graphicFrame>
        <p:nvGraphicFramePr>
          <p:cNvPr id="5" name="Tablo 4">
            <a:extLst>
              <a:ext uri="{FF2B5EF4-FFF2-40B4-BE49-F238E27FC236}">
                <a16:creationId xmlns:a16="http://schemas.microsoft.com/office/drawing/2014/main" id="{481ABA89-4559-ED84-B090-8662D70A9180}"/>
              </a:ext>
            </a:extLst>
          </p:cNvPr>
          <p:cNvGraphicFramePr>
            <a:graphicFrameLocks noGrp="1"/>
          </p:cNvGraphicFramePr>
          <p:nvPr>
            <p:extLst>
              <p:ext uri="{D42A27DB-BD31-4B8C-83A1-F6EECF244321}">
                <p14:modId xmlns:p14="http://schemas.microsoft.com/office/powerpoint/2010/main" val="1423110214"/>
              </p:ext>
            </p:extLst>
          </p:nvPr>
        </p:nvGraphicFramePr>
        <p:xfrm>
          <a:off x="3026914" y="3107228"/>
          <a:ext cx="4096899" cy="1867506"/>
        </p:xfrm>
        <a:graphic>
          <a:graphicData uri="http://schemas.openxmlformats.org/drawingml/2006/table">
            <a:tbl>
              <a:tblPr firstRow="1" bandRow="1">
                <a:tableStyleId>{5C22544A-7EE6-4342-B048-85BDC9FD1C3A}</a:tableStyleId>
              </a:tblPr>
              <a:tblGrid>
                <a:gridCol w="2528232">
                  <a:extLst>
                    <a:ext uri="{9D8B030D-6E8A-4147-A177-3AD203B41FA5}">
                      <a16:colId xmlns:a16="http://schemas.microsoft.com/office/drawing/2014/main" val="2489576753"/>
                    </a:ext>
                  </a:extLst>
                </a:gridCol>
                <a:gridCol w="1568667">
                  <a:extLst>
                    <a:ext uri="{9D8B030D-6E8A-4147-A177-3AD203B41FA5}">
                      <a16:colId xmlns:a16="http://schemas.microsoft.com/office/drawing/2014/main" val="4154740522"/>
                    </a:ext>
                  </a:extLst>
                </a:gridCol>
              </a:tblGrid>
              <a:tr h="1867506">
                <a:tc>
                  <a:txBody>
                    <a:bodyPr/>
                    <a:lstStyle/>
                    <a:p>
                      <a:r>
                        <a:rPr lang="en-US" sz="2400" b="0">
                          <a:solidFill>
                            <a:schemeClr val="tx1"/>
                          </a:solidFill>
                        </a:rPr>
                        <a:t>q</a:t>
                      </a:r>
                      <a:r>
                        <a:rPr lang="en-US" sz="2400" b="0" baseline="-25000">
                          <a:solidFill>
                            <a:schemeClr val="tx1"/>
                          </a:solidFill>
                        </a:rPr>
                        <a:t>000</a:t>
                      </a:r>
                      <a:endParaRPr lang="en-US" sz="2400" b="0" baseline="0">
                        <a:solidFill>
                          <a:schemeClr val="tx1"/>
                        </a:solidFill>
                      </a:endParaRPr>
                    </a:p>
                    <a:p>
                      <a:r>
                        <a:rPr lang="en-US" sz="2400" b="0">
                          <a:solidFill>
                            <a:schemeClr val="tx1"/>
                          </a:solidFill>
                        </a:rPr>
                        <a:t>q</a:t>
                      </a:r>
                      <a:r>
                        <a:rPr lang="en-US" sz="2400" b="0" baseline="-25000">
                          <a:solidFill>
                            <a:schemeClr val="tx1"/>
                          </a:solidFill>
                        </a:rPr>
                        <a:t>001</a:t>
                      </a:r>
                    </a:p>
                    <a:p>
                      <a:r>
                        <a:rPr lang="en-US" sz="2400" b="0">
                          <a:solidFill>
                            <a:schemeClr val="tx1"/>
                          </a:solidFill>
                        </a:rPr>
                        <a:t>q</a:t>
                      </a:r>
                      <a:r>
                        <a:rPr lang="en-US" sz="2400" b="0" baseline="-25000">
                          <a:solidFill>
                            <a:schemeClr val="tx1"/>
                          </a:solidFill>
                        </a:rPr>
                        <a:t>010</a:t>
                      </a:r>
                    </a:p>
                    <a:p>
                      <a:r>
                        <a:rPr lang="en-US" sz="2400" b="0">
                          <a:solidFill>
                            <a:schemeClr val="tx1"/>
                          </a:solidFill>
                        </a:rPr>
                        <a:t>q</a:t>
                      </a:r>
                      <a:r>
                        <a:rPr lang="en-US" sz="2400" b="0" baseline="-25000">
                          <a:solidFill>
                            <a:schemeClr val="tx1"/>
                          </a:solidFill>
                        </a:rPr>
                        <a:t>011</a:t>
                      </a:r>
                    </a:p>
                  </a:txBody>
                  <a:tcPr>
                    <a:noFill/>
                  </a:tcPr>
                </a:tc>
                <a:tc>
                  <a:txBody>
                    <a:bodyPr/>
                    <a:lstStyle/>
                    <a:p>
                      <a:r>
                        <a:rPr lang="en-US" sz="2400" b="0">
                          <a:solidFill>
                            <a:schemeClr val="tx1"/>
                          </a:solidFill>
                        </a:rPr>
                        <a:t>q</a:t>
                      </a:r>
                      <a:r>
                        <a:rPr lang="en-US" sz="2400" b="0" baseline="-25000">
                          <a:solidFill>
                            <a:schemeClr val="tx1"/>
                          </a:solidFill>
                        </a:rPr>
                        <a:t>100</a:t>
                      </a:r>
                    </a:p>
                    <a:p>
                      <a:r>
                        <a:rPr lang="en-US" sz="2400" b="0">
                          <a:solidFill>
                            <a:schemeClr val="tx1"/>
                          </a:solidFill>
                        </a:rPr>
                        <a:t>q</a:t>
                      </a:r>
                      <a:r>
                        <a:rPr lang="en-US" sz="2400" b="0" baseline="-25000">
                          <a:solidFill>
                            <a:schemeClr val="tx1"/>
                          </a:solidFill>
                        </a:rPr>
                        <a:t>101</a:t>
                      </a:r>
                    </a:p>
                    <a:p>
                      <a:r>
                        <a:rPr lang="en-US" sz="2400" b="0">
                          <a:solidFill>
                            <a:schemeClr val="tx1"/>
                          </a:solidFill>
                        </a:rPr>
                        <a:t>q</a:t>
                      </a:r>
                      <a:r>
                        <a:rPr lang="en-US" sz="2400" b="0" baseline="-25000">
                          <a:solidFill>
                            <a:schemeClr val="tx1"/>
                          </a:solidFill>
                        </a:rPr>
                        <a:t>110</a:t>
                      </a:r>
                    </a:p>
                    <a:p>
                      <a:r>
                        <a:rPr lang="en-US" sz="2400" b="0">
                          <a:solidFill>
                            <a:schemeClr val="tx1"/>
                          </a:solidFill>
                        </a:rPr>
                        <a:t>q</a:t>
                      </a:r>
                      <a:r>
                        <a:rPr lang="en-US" sz="2400" b="0" baseline="-25000">
                          <a:solidFill>
                            <a:schemeClr val="tx1"/>
                          </a:solidFill>
                        </a:rPr>
                        <a:t>111</a:t>
                      </a:r>
                    </a:p>
                  </a:txBody>
                  <a:tcPr>
                    <a:noFill/>
                  </a:tcPr>
                </a:tc>
                <a:extLst>
                  <a:ext uri="{0D108BD9-81ED-4DB2-BD59-A6C34878D82A}">
                    <a16:rowId xmlns:a16="http://schemas.microsoft.com/office/drawing/2014/main" val="2827244437"/>
                  </a:ext>
                </a:extLst>
              </a:tr>
            </a:tbl>
          </a:graphicData>
        </a:graphic>
      </p:graphicFrame>
      <p:sp>
        <p:nvSpPr>
          <p:cNvPr id="9" name="Unvan 5"/>
          <p:cNvSpPr txBox="1"/>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fourth example</a:t>
            </a:r>
          </a:p>
        </p:txBody>
      </p:sp>
    </p:spTree>
    <p:extLst>
      <p:ext uri="{BB962C8B-B14F-4D97-AF65-F5344CB8AC3E}">
        <p14:creationId xmlns:p14="http://schemas.microsoft.com/office/powerpoint/2010/main" val="51215404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39D389ED-23BE-D02A-5F50-E76B12995137}"/>
              </a:ext>
            </a:extLst>
          </p:cNvPr>
          <p:cNvSpPr>
            <a:spLocks noGrp="1"/>
          </p:cNvSpPr>
          <p:nvPr>
            <p:ph idx="1"/>
          </p:nvPr>
        </p:nvSpPr>
        <p:spPr>
          <a:xfrm>
            <a:off x="1593459" y="1628432"/>
            <a:ext cx="2994039" cy="4772367"/>
          </a:xfrm>
        </p:spPr>
        <p:txBody>
          <a:bodyPr anchor="t">
            <a:normAutofit/>
          </a:bodyPr>
          <a:lstStyle/>
          <a:p>
            <a:pPr marL="0" indent="0">
              <a:buNone/>
            </a:pPr>
            <a:r>
              <a:rPr lang="en-US" sz="2400"/>
              <a:t>After determination of the states, designing the transitions will be easier.</a:t>
            </a:r>
          </a:p>
          <a:p>
            <a:pPr marL="0" indent="0">
              <a:buNone/>
            </a:pPr>
            <a:endParaRPr lang="en-US" sz="2400"/>
          </a:p>
          <a:p>
            <a:pPr marL="0" indent="0">
              <a:buNone/>
            </a:pPr>
            <a:r>
              <a:rPr lang="en-US" sz="2400">
                <a:sym typeface="Wingdings" pitchFamily="2" charset="2"/>
              </a:rPr>
              <a:t>           </a:t>
            </a:r>
            <a:r>
              <a:rPr lang="en-US" sz="3600">
                <a:sym typeface="Wingdings" pitchFamily="2" charset="2"/>
              </a:rPr>
              <a:t></a:t>
            </a:r>
            <a:endParaRPr lang="en-US" sz="2400"/>
          </a:p>
        </p:txBody>
      </p:sp>
      <p:pic>
        <p:nvPicPr>
          <p:cNvPr id="7" name="Resim 6">
            <a:extLst>
              <a:ext uri="{FF2B5EF4-FFF2-40B4-BE49-F238E27FC236}">
                <a16:creationId xmlns:a16="http://schemas.microsoft.com/office/drawing/2014/main" id="{14018C49-1240-F76B-25BD-20C359504D74}"/>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587498" y="1263721"/>
            <a:ext cx="7385188" cy="5594279"/>
          </a:xfrm>
          <a:prstGeom prst="rect">
            <a:avLst/>
          </a:prstGeom>
        </p:spPr>
      </p:pic>
      <p:sp>
        <p:nvSpPr>
          <p:cNvPr id="8" name="Unvan 5"/>
          <p:cNvSpPr txBox="1"/>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fourth example</a:t>
            </a:r>
          </a:p>
        </p:txBody>
      </p:sp>
    </p:spTree>
    <p:extLst>
      <p:ext uri="{BB962C8B-B14F-4D97-AF65-F5344CB8AC3E}">
        <p14:creationId xmlns:p14="http://schemas.microsoft.com/office/powerpoint/2010/main" val="219018496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normAutofit/>
          </a:bodyPr>
          <a:lstStyle/>
          <a:p>
            <a:endParaRPr lang="tr-TR" sz="3200" dirty="0"/>
          </a:p>
          <a:p>
            <a:r>
              <a:rPr lang="en-US" sz="3200" dirty="0"/>
              <a:t>Draw the transition diagram of the finite state automaton of the regular language where both 0's and 1's are odd.</a:t>
            </a:r>
          </a:p>
          <a:p>
            <a:pPr marL="0" indent="0">
              <a:buNone/>
            </a:pPr>
            <a:endParaRPr lang="en-US" altLang="tr-TR" sz="3200" dirty="0"/>
          </a:p>
          <a:p>
            <a:pPr marL="0" indent="0">
              <a:buNone/>
            </a:pPr>
            <a:r>
              <a:rPr lang="en-US" altLang="tr-TR" sz="3200" dirty="0"/>
              <a:t>A={01, 10, 0001, 0111, 1110, 1000, 111000,…}</a:t>
            </a:r>
          </a:p>
        </p:txBody>
      </p:sp>
      <p:sp>
        <p:nvSpPr>
          <p:cNvPr id="6" name="Unvan 3"/>
          <p:cNvSpPr txBox="1">
            <a:spLocks/>
          </p:cNvSpPr>
          <p:nvPr/>
        </p:nvSpPr>
        <p:spPr>
          <a:xfrm>
            <a:off x="1593461"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It is your turn</a:t>
            </a:r>
            <a:endParaRPr lang="tr-TR" dirty="0"/>
          </a:p>
        </p:txBody>
      </p:sp>
    </p:spTree>
    <p:extLst>
      <p:ext uri="{BB962C8B-B14F-4D97-AF65-F5344CB8AC3E}">
        <p14:creationId xmlns:p14="http://schemas.microsoft.com/office/powerpoint/2010/main" val="126872670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8A084B1-B6F4-D4A1-3A86-EC4C7948BEB5}"/>
              </a:ext>
            </a:extLst>
          </p:cNvPr>
          <p:cNvSpPr>
            <a:spLocks noGrp="1"/>
          </p:cNvSpPr>
          <p:nvPr>
            <p:ph type="title"/>
          </p:nvPr>
        </p:nvSpPr>
        <p:spPr/>
        <p:txBody>
          <a:bodyPr/>
          <a:lstStyle/>
          <a:p>
            <a:r>
              <a:rPr lang="en-US" dirty="0"/>
              <a:t>Solution</a:t>
            </a:r>
          </a:p>
        </p:txBody>
      </p:sp>
      <p:pic>
        <p:nvPicPr>
          <p:cNvPr id="4" name="Resim 3">
            <a:extLst>
              <a:ext uri="{FF2B5EF4-FFF2-40B4-BE49-F238E27FC236}">
                <a16:creationId xmlns:a16="http://schemas.microsoft.com/office/drawing/2014/main" id="{2692D1F8-B5F2-3A16-7817-8A8F6E8242E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8022567" y="2934238"/>
            <a:ext cx="4169434" cy="971718"/>
          </a:xfrm>
          <a:prstGeom prst="rect">
            <a:avLst/>
          </a:prstGeom>
        </p:spPr>
      </p:pic>
      <p:pic>
        <p:nvPicPr>
          <p:cNvPr id="5" name="Resim 4">
            <a:extLst>
              <a:ext uri="{FF2B5EF4-FFF2-40B4-BE49-F238E27FC236}">
                <a16:creationId xmlns:a16="http://schemas.microsoft.com/office/drawing/2014/main" id="{55954BAB-342A-EE7C-27C6-7292CE8C7D09}"/>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334321" y="2133600"/>
            <a:ext cx="6384471" cy="3559629"/>
          </a:xfrm>
          <a:prstGeom prst="rect">
            <a:avLst/>
          </a:prstGeom>
        </p:spPr>
      </p:pic>
    </p:spTree>
    <p:extLst>
      <p:ext uri="{BB962C8B-B14F-4D97-AF65-F5344CB8AC3E}">
        <p14:creationId xmlns:p14="http://schemas.microsoft.com/office/powerpoint/2010/main" val="137139611"/>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normAutofit/>
          </a:bodyPr>
          <a:lstStyle/>
          <a:p>
            <a:endParaRPr lang="en-US" sz="2800"/>
          </a:p>
          <a:p>
            <a:r>
              <a:rPr lang="en-US" sz="2800"/>
              <a:t>That’s all.</a:t>
            </a:r>
          </a:p>
          <a:p>
            <a:endParaRPr lang="en-US" sz="2800"/>
          </a:p>
          <a:p>
            <a:r>
              <a:rPr lang="en-US" altLang="tr-TR" sz="2800"/>
              <a:t>Thanks for listening.</a:t>
            </a:r>
          </a:p>
        </p:txBody>
      </p:sp>
    </p:spTree>
    <p:extLst>
      <p:ext uri="{BB962C8B-B14F-4D97-AF65-F5344CB8AC3E}">
        <p14:creationId xmlns:p14="http://schemas.microsoft.com/office/powerpoint/2010/main" val="2692347392"/>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3.1.32"/>
  <p:tag name="AS_OS" val="Microsoft Windows NT 10.0.19045.0"/>
  <p:tag name="AS_RELEASE_DATE" val="2023.09.14"/>
  <p:tag name="AS_TITLE" val="Aspose.Slides for .NET Standard 2.0"/>
  <p:tag name="AS_VERSION" val="23.9"/>
</p:tagLst>
</file>

<file path=ppt/theme/theme1.xml><?xml version="1.0" encoding="utf-8"?>
<a:theme xmlns:a="http://schemas.openxmlformats.org/drawingml/2006/main" name="Duman">
  <a:themeElements>
    <a:clrScheme name="Turuncu Kırmızı">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Duman">
      <a:majorFont>
        <a:latin typeface="Century Gothic" panose="020B0502020202020204"/>
        <a:ea typeface="Century Gothic" panose="020B0502020202020204"/>
        <a:cs typeface="Arial"/>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Century Gothic" panose="020B0502020202020204"/>
        <a:cs typeface="Arial"/>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uma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965</TotalTime>
  <Words>3017</Words>
  <Application>Microsoft Macintosh PowerPoint</Application>
  <PresentationFormat>Geniş ekran</PresentationFormat>
  <Paragraphs>243</Paragraphs>
  <Slides>27</Slides>
  <Notes>26</Notes>
  <HiddenSlides>0</HiddenSlides>
  <MMClips>0</MMClips>
  <ScaleCrop>false</ScaleCrop>
  <HeadingPairs>
    <vt:vector size="6" baseType="variant">
      <vt:variant>
        <vt:lpstr>Kullanılan Yazı Tipleri</vt:lpstr>
      </vt:variant>
      <vt:variant>
        <vt:i4>10</vt:i4>
      </vt:variant>
      <vt:variant>
        <vt:lpstr>Tema</vt:lpstr>
      </vt:variant>
      <vt:variant>
        <vt:i4>1</vt:i4>
      </vt:variant>
      <vt:variant>
        <vt:lpstr>Slayt Başlıkları</vt:lpstr>
      </vt:variant>
      <vt:variant>
        <vt:i4>27</vt:i4>
      </vt:variant>
    </vt:vector>
  </HeadingPairs>
  <TitlesOfParts>
    <vt:vector size="38" baseType="lpstr">
      <vt:lpstr>Arial</vt:lpstr>
      <vt:lpstr>Calibri</vt:lpstr>
      <vt:lpstr>Calibri Light</vt:lpstr>
      <vt:lpstr>Century Gothic</vt:lpstr>
      <vt:lpstr>CMBX12</vt:lpstr>
      <vt:lpstr>CMMI12</vt:lpstr>
      <vt:lpstr>CMR12</vt:lpstr>
      <vt:lpstr>CMSY10</vt:lpstr>
      <vt:lpstr>CMTI12</vt:lpstr>
      <vt:lpstr>Wingdings 3</vt:lpstr>
      <vt:lpstr>Duman</vt:lpstr>
      <vt:lpstr> Theory of Computation  Lesson 1</vt:lpstr>
      <vt:lpstr>PowerPoint Sunusu</vt:lpstr>
      <vt:lpstr>Imagine opening the gate with 25 cents.</vt:lpstr>
      <vt:lpstr>But we have a problem</vt:lpstr>
      <vt:lpstr>Instead of Variables</vt:lpstr>
      <vt:lpstr>To save the world We need Transformers</vt:lpstr>
      <vt:lpstr>We need a Transformation</vt:lpstr>
      <vt:lpstr>States</vt:lpstr>
      <vt:lpstr>Alphabet</vt:lpstr>
      <vt:lpstr>Transitions</vt:lpstr>
      <vt:lpstr>Start State</vt:lpstr>
      <vt:lpstr>Accept State</vt:lpstr>
      <vt:lpstr>Formal Definition</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Solution</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Theory of Computation</dc:title>
  <dc:creator>Prof.Dr. Umut ORHAN</dc:creator>
  <cp:lastModifiedBy>Prof.Dr. Umut ORHAN</cp:lastModifiedBy>
  <cp:revision>40</cp:revision>
  <dcterms:created xsi:type="dcterms:W3CDTF">2022-09-29T06:50:07Z</dcterms:created>
  <dcterms:modified xsi:type="dcterms:W3CDTF">2023-10-10T12:37:12Z</dcterms:modified>
</cp:coreProperties>
</file>