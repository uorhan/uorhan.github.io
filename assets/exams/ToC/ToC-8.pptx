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0"/>
  </p:notesMasterIdLst>
  <p:sldIdLst>
    <p:sldId id="344" r:id="rId2"/>
    <p:sldId id="325" r:id="rId3"/>
    <p:sldId id="326" r:id="rId4"/>
    <p:sldId id="327" r:id="rId5"/>
    <p:sldId id="330" r:id="rId6"/>
    <p:sldId id="331" r:id="rId7"/>
    <p:sldId id="332" r:id="rId8"/>
    <p:sldId id="333" r:id="rId9"/>
    <p:sldId id="334" r:id="rId10"/>
    <p:sldId id="335" r:id="rId11"/>
    <p:sldId id="336" r:id="rId12"/>
    <p:sldId id="337" r:id="rId13"/>
    <p:sldId id="341" r:id="rId14"/>
    <p:sldId id="343" r:id="rId15"/>
    <p:sldId id="338" r:id="rId16"/>
    <p:sldId id="339" r:id="rId17"/>
    <p:sldId id="340" r:id="rId18"/>
    <p:sldId id="31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41" autoAdjust="0"/>
    <p:restoredTop sz="94364" autoAdjust="0"/>
  </p:normalViewPr>
  <p:slideViewPr>
    <p:cSldViewPr snapToGrid="0">
      <p:cViewPr varScale="1">
        <p:scale>
          <a:sx n="107" d="100"/>
          <a:sy n="107" d="100"/>
        </p:scale>
        <p:origin x="1208" y="160"/>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tr-TR" err="1"/>
              <a:t>It is the eighth</a:t>
            </a:r>
            <a:r>
              <a:rPr lang="en-US"/>
              <a:t> </a:t>
            </a:r>
            <a:r>
              <a:rPr lang="tr-TR" err="1"/>
              <a:t>lesson </a:t>
            </a:r>
            <a:r>
              <a:rPr lang="en-US"/>
              <a:t>in Theory of Computation. </a:t>
            </a:r>
            <a:r>
              <a:rPr lang="tr-TR" err="1"/>
              <a:t>In this lesson</a:t>
            </a:r>
            <a:r>
              <a:rPr lang="en-US"/>
              <a:t> we will learn Chomsky Normal Form</a:t>
            </a:r>
          </a:p>
          <a:p>
            <a:pPr marL="0" marR="0" lvl="0" indent="0" algn="l" defTabSz="914400" rtl="0" eaLnBrk="1" fontAlgn="auto" latinLnBrk="0" hangingPunct="1">
              <a:lnSpc>
                <a:spcPct val="100000"/>
              </a:lnSpc>
              <a:spcBef>
                <a:spcPct val="0"/>
              </a:spcBef>
              <a:spcAft>
                <a:spcPct val="0"/>
              </a:spcAft>
              <a:buClrTx/>
              <a:buSzTx/>
              <a:buFontTx/>
              <a:buNone/>
              <a:defRPr/>
            </a:pPr>
            <a:endParaRPr lang="en-US"/>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07230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Because context free language encompasses regular language, the grammar of any regular expression or automaton can be written. The reverse is not always true. For example, let X be a regular language problem. Since this language is also Context free, its grammar can be written. On the other hand, another problem Y is grammatically writable as a context free language problem. But the finite state automaton or regular expression of problem Y cannot be written.</a:t>
            </a:r>
            <a:r>
              <a:rPr lang="tr-TR" dirty="0"/>
              <a:t> </a:t>
            </a:r>
            <a:r>
              <a:rPr lang="en-US" dirty="0"/>
              <a:t>Thus, every regular language problem such as X can be transformed into the context free grammar, but every context free problem such as Y may not be transformed into a regular one.</a:t>
            </a:r>
          </a:p>
        </p:txBody>
      </p:sp>
      <p:sp>
        <p:nvSpPr>
          <p:cNvPr id="4" name="Slayt Numarası Yer Tutucusu 3"/>
          <p:cNvSpPr>
            <a:spLocks noGrp="1"/>
          </p:cNvSpPr>
          <p:nvPr>
            <p:ph type="sldNum" sz="quarter" idx="10"/>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2028738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Here you see the transition diagram of the problem given the deterministic finite state automaton. Let's try to write a context free grammar of the same language problem by looking at this diagram. Considering the situation we just described, this is a solvable question.</a:t>
            </a:r>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4011839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Just as we begin the process of converting deterministic finite-state automata to regular expressions, we just need to write the language rule for each state. The rules on the right are the solution to this problem. That's all.</a:t>
            </a:r>
          </a:p>
        </p:txBody>
      </p:sp>
      <p:sp>
        <p:nvSpPr>
          <p:cNvPr id="4" name="Slayt Numarası Yer Tutucusu 3"/>
          <p:cNvSpPr>
            <a:spLocks noGrp="1"/>
          </p:cNvSpPr>
          <p:nvPr>
            <p:ph type="sldNum" sz="quarter" idx="10"/>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1157453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Consider the following three grammar rules. S goes to SS or symbol 1 or ε</a:t>
            </a:r>
          </a:p>
          <a:p>
            <a:endParaRPr lang="en-US" dirty="0"/>
          </a:p>
          <a:p>
            <a:r>
              <a:rPr lang="en-US" dirty="0"/>
              <a:t>Using this grammar we can write a '1' symbol in different ways. For example, we can only use the second rule. But it's not the only way. We can choose to use the first, second and third rules, respectively. Let's take a look at this.</a:t>
            </a:r>
          </a:p>
        </p:txBody>
      </p:sp>
      <p:sp>
        <p:nvSpPr>
          <p:cNvPr id="4" name="Slayt Numarası Yer Tutucusu 3"/>
          <p:cNvSpPr>
            <a:spLocks noGrp="1"/>
          </p:cNvSpPr>
          <p:nvPr>
            <p:ph type="sldNum" sz="quarter" idx="10"/>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2388392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The ways to generate the single-symbol word '1' using which grammatical rules sequentially are shown below. As can be seen, it is possible to produce words in an infinite way by combining the first and third rules. But this is not a method that can be automated. Therefore, it is no longer a problem where we can give the grammar rules to a computer and say "try all combinations and find the result". Nobody wants a program that can run forever. So we have to look at the way to standardize the rules.</a:t>
            </a:r>
            <a:r>
              <a:rPr lang="tr-TR" dirty="0"/>
              <a:t> </a:t>
            </a:r>
            <a:r>
              <a:rPr lang="en-US" dirty="0"/>
              <a:t>Chomsky normal form is an approach that emerged at this point and eliminated this problem.</a:t>
            </a:r>
          </a:p>
        </p:txBody>
      </p:sp>
      <p:sp>
        <p:nvSpPr>
          <p:cNvPr id="4" name="Slayt Numarası Yer Tutucusu 3"/>
          <p:cNvSpPr>
            <a:spLocks noGrp="1"/>
          </p:cNvSpPr>
          <p:nvPr>
            <p:ph type="sldNum" sz="quarter" idx="10"/>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2544115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b="0" dirty="0"/>
              <a:t>Formal Definition </a:t>
            </a:r>
          </a:p>
          <a:p>
            <a:pPr marL="0" indent="0">
              <a:buNone/>
            </a:pPr>
            <a:r>
              <a:rPr lang="en-US" sz="1200" b="0" dirty="0"/>
              <a:t>A context-free grammar G = (V, Capital sigma, R, S) is said to be in Chomsky normal form, if every rule in R has one of the following three forms:</a:t>
            </a:r>
          </a:p>
          <a:p>
            <a:pPr marL="0" indent="0">
              <a:buNone/>
            </a:pPr>
            <a:r>
              <a:rPr lang="en-US" sz="1200" b="0" dirty="0"/>
              <a:t>Capital-A goes to Capital BC, where A-B and C are elements of V, and B is not equal to S, and C is not equal to S.</a:t>
            </a:r>
          </a:p>
          <a:p>
            <a:pPr marL="0" indent="0">
              <a:buNone/>
            </a:pPr>
            <a:r>
              <a:rPr lang="en-US" sz="1200" b="0" dirty="0"/>
              <a:t>Capital-A goes to lowercase-a, where Capital-A is an element of V and lowercase-a is an element of Capital sigma.</a:t>
            </a:r>
          </a:p>
          <a:p>
            <a:pPr marL="0" indent="0">
              <a:buNone/>
            </a:pPr>
            <a:r>
              <a:rPr lang="en-US" sz="1200" b="0" dirty="0"/>
              <a:t>S goes to epsilon, where S is the start variable.</a:t>
            </a:r>
          </a:p>
          <a:p>
            <a:pPr marL="0" indent="0">
              <a:buNone/>
            </a:pPr>
            <a:endParaRPr lang="en-US" sz="1200" b="0" dirty="0" err="1"/>
          </a:p>
        </p:txBody>
      </p:sp>
      <p:sp>
        <p:nvSpPr>
          <p:cNvPr id="4" name="Slayt Numarası Yer Tutucusu 3"/>
          <p:cNvSpPr>
            <a:spLocks noGrp="1"/>
          </p:cNvSpPr>
          <p:nvPr>
            <p:ph type="sldNum" sz="quarter" idx="10"/>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3242729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When we revise the above grammar with Chomsky Normal Form, it will turn into the following grammar. Again try to derive symbol 1. There is only one way now. But we may not always do this easily. We need a transformation method.</a:t>
            </a:r>
          </a:p>
        </p:txBody>
      </p:sp>
      <p:sp>
        <p:nvSpPr>
          <p:cNvPr id="4" name="Slayt Numarası Yer Tutucusu 3"/>
          <p:cNvSpPr>
            <a:spLocks noGrp="1"/>
          </p:cNvSpPr>
          <p:nvPr>
            <p:ph type="sldNum" sz="quarter" idx="10"/>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3883169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Here we will learn a five-step transformation method. If we write the rules briefly, we will have the steps as follows.</a:t>
            </a:r>
          </a:p>
          <a:p>
            <a:pPr marL="0" indent="0">
              <a:buNone/>
            </a:pPr>
            <a:r>
              <a:rPr lang="en-US" sz="1200" dirty="0"/>
              <a:t>The first, Eliminate the start variable on the right.</a:t>
            </a:r>
          </a:p>
          <a:p>
            <a:pPr marL="0" indent="0">
              <a:buNone/>
            </a:pPr>
            <a:r>
              <a:rPr lang="en-US" sz="1200" dirty="0"/>
              <a:t>The second, Eliminate all ε-rules.</a:t>
            </a:r>
          </a:p>
          <a:p>
            <a:pPr marL="0" indent="0">
              <a:buNone/>
            </a:pPr>
            <a:r>
              <a:rPr lang="en-US" sz="1200" dirty="0"/>
              <a:t>The third, Eliminate all unit-rules.</a:t>
            </a:r>
          </a:p>
          <a:p>
            <a:pPr marL="0" indent="0">
              <a:buNone/>
            </a:pPr>
            <a:r>
              <a:rPr lang="en-US" sz="1200" dirty="0"/>
              <a:t>The fourth, Eliminate all rules having more than two symbols.</a:t>
            </a:r>
          </a:p>
          <a:p>
            <a:pPr marL="0" indent="0">
              <a:buNone/>
            </a:pPr>
            <a:r>
              <a:rPr lang="en-US" sz="1200" dirty="0"/>
              <a:t>The fifth, Eliminate all rules, whose right-hand side contains exactly two symbols, which are not both variables.</a:t>
            </a:r>
          </a:p>
          <a:p>
            <a:pPr marL="0" indent="0">
              <a:buNone/>
            </a:pPr>
            <a:endParaRPr lang="tr-TR"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1898906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dirty="0"/>
              <a:t>Let's look at an example on context-free grammar to Chomsky normal form.</a:t>
            </a:r>
          </a:p>
          <a:p>
            <a:pPr marL="0" indent="0">
              <a:buNone/>
            </a:pPr>
            <a:r>
              <a:rPr lang="en-US" sz="1200" dirty="0"/>
              <a:t>Consider the context-free grammar G = (V, capital sigma, R, A), where V = {A, B}, capital sigma = {0, 1}, A is the start variable, and R consists of the rules</a:t>
            </a:r>
          </a:p>
          <a:p>
            <a:pPr marL="0" indent="0">
              <a:buNone/>
            </a:pPr>
            <a:r>
              <a:rPr lang="en-US" sz="1200" dirty="0"/>
              <a:t>A goes to B-A-B or B or epsilon</a:t>
            </a:r>
          </a:p>
          <a:p>
            <a:pPr marL="0" indent="0">
              <a:buNone/>
            </a:pPr>
            <a:r>
              <a:rPr lang="en-US" sz="1200" dirty="0"/>
              <a:t>B goes to double 0 or epsilon</a:t>
            </a:r>
          </a:p>
          <a:p>
            <a:pPr marL="0" indent="0">
              <a:buNone/>
            </a:pPr>
            <a:endParaRPr lang="tr-TR"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2901312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Our first rule says to eliminate the starting variable on the right. Instead, it's easier to add a new start variable that goes to the old start variable. This is how we start.</a:t>
            </a:r>
          </a:p>
        </p:txBody>
      </p:sp>
      <p:sp>
        <p:nvSpPr>
          <p:cNvPr id="4" name="Slayt Numarası Yer Tutucusu 3"/>
          <p:cNvSpPr>
            <a:spLocks noGrp="1"/>
          </p:cNvSpPr>
          <p:nvPr>
            <p:ph type="sldNum" sz="quarter" idx="10"/>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3663644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second rule says to eliminate all epsilon rules. Looking at our rules, we see two epsilons. First, we start by eliminating the capital A's going epsilon rule.</a:t>
            </a:r>
            <a:r>
              <a:rPr lang="tr-TR" sz="1200" dirty="0"/>
              <a:t> </a:t>
            </a:r>
            <a:r>
              <a:rPr lang="en-US" sz="1200" dirty="0"/>
              <a:t>However, this deletion causes some skills to be lost in our grammar. To make up for this deficiency, grammar needs to regain what it has lost.</a:t>
            </a:r>
            <a:r>
              <a:rPr lang="tr-TR" sz="1200" dirty="0"/>
              <a:t> </a:t>
            </a:r>
            <a:r>
              <a:rPr lang="en-US" sz="1200" dirty="0"/>
              <a:t>Therefore, we reconsider all rules containing A on the right. There are two such rules: S goes to A and A goes to B-A-B. These two rules give rise to two new rules by writing epsilon instead of A: S goes to epsilon and A goes to B-B.</a:t>
            </a:r>
          </a:p>
        </p:txBody>
      </p:sp>
      <p:sp>
        <p:nvSpPr>
          <p:cNvPr id="4" name="Slayt Numarası Yer Tutucusu 3"/>
          <p:cNvSpPr>
            <a:spLocks noGrp="1"/>
          </p:cNvSpPr>
          <p:nvPr>
            <p:ph type="sldNum" sz="quarter" idx="10"/>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4092846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Next, we go on by eliminating the capital B's going epsilon rule. When we reconsider all rules containing B on the right, we see three rules: A goes to B-A-B and B also B-B. By writing epsilon instead of B’s, we found three new rules.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13</a:t>
            </a:fld>
            <a:endParaRPr lang="tr-TR"/>
          </a:p>
        </p:txBody>
      </p:sp>
    </p:spTree>
    <p:extLst>
      <p:ext uri="{BB962C8B-B14F-4D97-AF65-F5344CB8AC3E}">
        <p14:creationId xmlns:p14="http://schemas.microsoft.com/office/powerpoint/2010/main" val="25583829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Here we show how the three newly found rules are derived. You see, we're actually obtaining five new rules. But we already have the rule that A goes to B. On the other hand, in the step of deleting the rule where A goes to epsilon, it is absurd to reproduce this rule. So writing these two rules has no sense.</a:t>
            </a:r>
          </a:p>
        </p:txBody>
      </p:sp>
      <p:sp>
        <p:nvSpPr>
          <p:cNvPr id="4" name="Slayt Numarası Yer Tutucusu 3"/>
          <p:cNvSpPr>
            <a:spLocks noGrp="1"/>
          </p:cNvSpPr>
          <p:nvPr>
            <p:ph type="sldNum" sz="quarter" idx="10"/>
          </p:nvPr>
        </p:nvSpPr>
        <p:spPr/>
        <p:txBody>
          <a:bodyPr/>
          <a:lstStyle/>
          <a:p>
            <a:fld id="{6049F921-94E2-2146-8BC6-089D7989E1CD}" type="slidenum">
              <a:rPr lang="tr-TR" smtClean="0"/>
              <a:t>14</a:t>
            </a:fld>
            <a:endParaRPr lang="tr-TR"/>
          </a:p>
        </p:txBody>
      </p:sp>
    </p:spTree>
    <p:extLst>
      <p:ext uri="{BB962C8B-B14F-4D97-AF65-F5344CB8AC3E}">
        <p14:creationId xmlns:p14="http://schemas.microsoft.com/office/powerpoint/2010/main" val="2575277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Our third rule tells us, to eliminate all unit-rules. There are three unit-rules observed on the right. Among these, A goes to A-rule can be deleted directly, because it does not cause any loss. The other two rules are deleted with the replace approach. First, we delete the rule-A goes to B, by writing the rule-B goes to double 0, where we see B on the right. Similarly, we delete the rule S goes to-A, by adding the right side of rule-A, to the right of rule-S as it is.</a:t>
            </a:r>
          </a:p>
        </p:txBody>
      </p:sp>
      <p:sp>
        <p:nvSpPr>
          <p:cNvPr id="4" name="Slayt Numarası Yer Tutucusu 3"/>
          <p:cNvSpPr>
            <a:spLocks noGrp="1"/>
          </p:cNvSpPr>
          <p:nvPr>
            <p:ph type="sldNum" sz="quarter" idx="10"/>
          </p:nvPr>
        </p:nvSpPr>
        <p:spPr/>
        <p:txBody>
          <a:bodyPr/>
          <a:lstStyle/>
          <a:p>
            <a:fld id="{6049F921-94E2-2146-8BC6-089D7989E1CD}" type="slidenum">
              <a:rPr lang="tr-TR" smtClean="0"/>
              <a:t>15</a:t>
            </a:fld>
            <a:endParaRPr lang="tr-TR"/>
          </a:p>
        </p:txBody>
      </p:sp>
    </p:spTree>
    <p:extLst>
      <p:ext uri="{BB962C8B-B14F-4D97-AF65-F5344CB8AC3E}">
        <p14:creationId xmlns:p14="http://schemas.microsoft.com/office/powerpoint/2010/main" val="3633500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fourth one commands to eliminate all rules having more than two symbols. Here, we only have the terms B-A-B in two places. To eliminate them, we need a new variable, such as C, that will contain two of the three symbols of this term. If we define that C goes to A-B, we can use this C instead of A-B at the end of the term B-A-B.</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16</a:t>
            </a:fld>
            <a:endParaRPr lang="tr-TR"/>
          </a:p>
        </p:txBody>
      </p:sp>
    </p:spTree>
    <p:extLst>
      <p:ext uri="{BB962C8B-B14F-4D97-AF65-F5344CB8AC3E}">
        <p14:creationId xmlns:p14="http://schemas.microsoft.com/office/powerpoint/2010/main" val="1918340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the last step, we should eliminate all rules, whose right-hand side contains exactly two symbols, which are not both variables. The thing is, this step requires defining each terminal symbol with a variable. Since only the symbol-0 is used in our example, it is sufficient to define a variable like D and assign it to this terminal. Then we will write the name of this new variable wherever we see symbol-0 on the right.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17</a:t>
            </a:fld>
            <a:endParaRPr lang="tr-TR"/>
          </a:p>
        </p:txBody>
      </p:sp>
    </p:spTree>
    <p:extLst>
      <p:ext uri="{BB962C8B-B14F-4D97-AF65-F5344CB8AC3E}">
        <p14:creationId xmlns:p14="http://schemas.microsoft.com/office/powerpoint/2010/main" val="21333701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18</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dirty="0"/>
            </a:br>
            <a:r>
              <a:rPr lang="en-US" dirty="0"/>
              <a:t>Theory of Computation </a:t>
            </a:r>
            <a:br>
              <a:rPr lang="tr-TR" dirty="0"/>
            </a:br>
            <a:r>
              <a:rPr lang="en-US" sz="3600" dirty="0"/>
              <a:t>Lesson </a:t>
            </a:r>
            <a:r>
              <a:rPr lang="tr-TR" sz="3600" dirty="0"/>
              <a:t>8</a:t>
            </a:r>
            <a:endParaRPr lang="en-US" sz="3600" dirty="0"/>
          </a:p>
        </p:txBody>
      </p:sp>
      <p:sp>
        <p:nvSpPr>
          <p:cNvPr id="3" name="Alt Başlık 2"/>
          <p:cNvSpPr>
            <a:spLocks noGrp="1"/>
          </p:cNvSpPr>
          <p:nvPr>
            <p:ph type="subTitle" idx="1"/>
          </p:nvPr>
        </p:nvSpPr>
        <p:spPr/>
        <p:txBody>
          <a:bodyPr anchor="b">
            <a:normAutofit/>
          </a:bodyPr>
          <a:lstStyle/>
          <a:p>
            <a:r>
              <a:rPr lang="en-US" sz="2800" dirty="0">
                <a:solidFill>
                  <a:srgbClr val="FF0000"/>
                </a:solidFill>
              </a:rPr>
              <a:t>Chomsky Normal Form</a:t>
            </a:r>
            <a:endParaRPr lang="tr-TR" sz="2800" dirty="0">
              <a:solidFill>
                <a:srgbClr val="FF0000"/>
              </a:solidFill>
            </a:endParaRPr>
          </a:p>
        </p:txBody>
      </p:sp>
      <p:sp>
        <p:nvSpPr>
          <p:cNvPr id="4" name="Dikdörtgen 3"/>
          <p:cNvSpPr/>
          <p:nvPr/>
        </p:nvSpPr>
        <p:spPr>
          <a:xfrm>
            <a:off x="4196501" y="913851"/>
            <a:ext cx="3407624" cy="938719"/>
          </a:xfrm>
          <a:prstGeom prst="rect">
            <a:avLst/>
          </a:prstGeom>
        </p:spPr>
        <p:txBody>
          <a:bodyPr wrap="square">
            <a:spAutoFit/>
          </a:bodyPr>
          <a:lstStyle/>
          <a:p>
            <a:pPr algn="ctr">
              <a:lnSpc>
                <a:spcPct val="150000"/>
              </a:lnSpc>
            </a:pPr>
            <a:r>
              <a:rPr lang="tr-TR" sz="4000" dirty="0">
                <a:solidFill>
                  <a:srgbClr val="00B050"/>
                </a:solidFill>
                <a:latin typeface="Monotype Corsiva" panose="03010101010201010101" pitchFamily="66" charset="0"/>
              </a:rPr>
              <a:t>S → S S | 1 | </a:t>
            </a:r>
            <a:r>
              <a:rPr lang="el-GR" sz="4000" dirty="0">
                <a:solidFill>
                  <a:srgbClr val="00B050"/>
                </a:solidFill>
                <a:latin typeface="Monotype Corsiva" panose="03010101010201010101" pitchFamily="66" charset="0"/>
              </a:rPr>
              <a:t>ε</a:t>
            </a:r>
            <a:endParaRPr lang="tr-TR" sz="4000" dirty="0">
              <a:solidFill>
                <a:srgbClr val="00B050"/>
              </a:solidFill>
              <a:latin typeface="Monotype Corsiva" panose="03010101010201010101" pitchFamily="66" charset="0"/>
            </a:endParaRPr>
          </a:p>
        </p:txBody>
      </p:sp>
    </p:spTree>
    <p:extLst>
      <p:ext uri="{BB962C8B-B14F-4D97-AF65-F5344CB8AC3E}">
        <p14:creationId xmlns:p14="http://schemas.microsoft.com/office/powerpoint/2010/main" val="1465122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6" descr="The Chomsky Hierarchy is a series of increasingly complex classes of...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2925" y="1582881"/>
            <a:ext cx="7422374" cy="4724400"/>
          </a:xfrm>
          <a:prstGeom prst="rect">
            <a:avLst/>
          </a:prstGeom>
          <a:noFill/>
          <a:extLst>
            <a:ext uri="{909E8E84-426E-40DD-AFC4-6F175D3DCCD1}">
              <a14:hiddenFill xmlns:a14="http://schemas.microsoft.com/office/drawing/2010/main">
                <a:solidFill>
                  <a:srgbClr val="FFFFFF"/>
                </a:solidFill>
              </a14:hiddenFill>
            </a:ext>
          </a:extLst>
        </p:spPr>
      </p:pic>
      <p:sp>
        <p:nvSpPr>
          <p:cNvPr id="2" name="Unvan 1"/>
          <p:cNvSpPr>
            <a:spLocks noGrp="1"/>
          </p:cNvSpPr>
          <p:nvPr>
            <p:ph type="title"/>
          </p:nvPr>
        </p:nvSpPr>
        <p:spPr/>
        <p:txBody>
          <a:bodyPr/>
          <a:lstStyle/>
          <a:p>
            <a:r>
              <a:rPr lang="en-US" dirty="0"/>
              <a:t>Regular languages are context-free</a:t>
            </a:r>
          </a:p>
        </p:txBody>
      </p:sp>
      <p:sp>
        <p:nvSpPr>
          <p:cNvPr id="3" name="İçerik Yer Tutucusu 2"/>
          <p:cNvSpPr>
            <a:spLocks noGrp="1"/>
          </p:cNvSpPr>
          <p:nvPr>
            <p:ph idx="1"/>
          </p:nvPr>
        </p:nvSpPr>
        <p:spPr>
          <a:xfrm>
            <a:off x="6066060" y="5505445"/>
            <a:ext cx="476103" cy="765469"/>
          </a:xfrm>
        </p:spPr>
        <p:txBody>
          <a:bodyPr>
            <a:normAutofit/>
          </a:bodyPr>
          <a:lstStyle/>
          <a:p>
            <a:pPr marL="0" indent="0">
              <a:lnSpc>
                <a:spcPct val="150000"/>
              </a:lnSpc>
              <a:buNone/>
            </a:pPr>
            <a:r>
              <a:rPr lang="tr-TR" sz="2800" b="1" dirty="0">
                <a:solidFill>
                  <a:srgbClr val="FF0000"/>
                </a:solidFill>
              </a:rPr>
              <a:t>X</a:t>
            </a:r>
            <a:endParaRPr lang="el-GR" sz="2800" b="1" dirty="0">
              <a:solidFill>
                <a:srgbClr val="FF0000"/>
              </a:solidFill>
            </a:endParaRPr>
          </a:p>
        </p:txBody>
      </p:sp>
      <p:sp>
        <p:nvSpPr>
          <p:cNvPr id="7" name="İçerik Yer Tutucusu 2"/>
          <p:cNvSpPr txBox="1">
            <a:spLocks/>
          </p:cNvSpPr>
          <p:nvPr/>
        </p:nvSpPr>
        <p:spPr>
          <a:xfrm>
            <a:off x="7917184" y="4601437"/>
            <a:ext cx="476103" cy="76546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Font typeface="Wingdings 3" charset="2"/>
              <a:buNone/>
            </a:pPr>
            <a:r>
              <a:rPr lang="tr-TR" sz="2800" b="1" dirty="0">
                <a:solidFill>
                  <a:srgbClr val="FF0000"/>
                </a:solidFill>
              </a:rPr>
              <a:t>Y</a:t>
            </a:r>
            <a:endParaRPr lang="el-GR" sz="2800" b="1" dirty="0">
              <a:solidFill>
                <a:srgbClr val="FF0000"/>
              </a:solidFill>
            </a:endParaRPr>
          </a:p>
        </p:txBody>
      </p:sp>
    </p:spTree>
    <p:extLst>
      <p:ext uri="{BB962C8B-B14F-4D97-AF65-F5344CB8AC3E}">
        <p14:creationId xmlns:p14="http://schemas.microsoft.com/office/powerpoint/2010/main" val="635164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3"/>
          <a:stretch>
            <a:fillRect/>
          </a:stretch>
        </p:blipFill>
        <p:spPr>
          <a:xfrm>
            <a:off x="2592925" y="2645558"/>
            <a:ext cx="8316486" cy="4020111"/>
          </a:xfrm>
          <a:prstGeom prst="rect">
            <a:avLst/>
          </a:prstGeom>
        </p:spPr>
      </p:pic>
      <p:sp>
        <p:nvSpPr>
          <p:cNvPr id="2" name="Unvan 1"/>
          <p:cNvSpPr>
            <a:spLocks noGrp="1"/>
          </p:cNvSpPr>
          <p:nvPr>
            <p:ph type="title"/>
          </p:nvPr>
        </p:nvSpPr>
        <p:spPr/>
        <p:txBody>
          <a:bodyPr/>
          <a:lstStyle/>
          <a:p>
            <a:r>
              <a:rPr lang="en-US" dirty="0"/>
              <a:t>Regular languages are context-free</a:t>
            </a:r>
          </a:p>
        </p:txBody>
      </p:sp>
    </p:spTree>
    <p:extLst>
      <p:ext uri="{BB962C8B-B14F-4D97-AF65-F5344CB8AC3E}">
        <p14:creationId xmlns:p14="http://schemas.microsoft.com/office/powerpoint/2010/main" val="406394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3"/>
          <a:stretch>
            <a:fillRect/>
          </a:stretch>
        </p:blipFill>
        <p:spPr>
          <a:xfrm>
            <a:off x="2592925" y="2645558"/>
            <a:ext cx="8316486" cy="4020111"/>
          </a:xfrm>
          <a:prstGeom prst="rect">
            <a:avLst/>
          </a:prstGeom>
        </p:spPr>
      </p:pic>
      <p:sp>
        <p:nvSpPr>
          <p:cNvPr id="2" name="Unvan 1"/>
          <p:cNvSpPr>
            <a:spLocks noGrp="1"/>
          </p:cNvSpPr>
          <p:nvPr>
            <p:ph type="title"/>
          </p:nvPr>
        </p:nvSpPr>
        <p:spPr/>
        <p:txBody>
          <a:bodyPr/>
          <a:lstStyle/>
          <a:p>
            <a:r>
              <a:rPr lang="en-US" dirty="0"/>
              <a:t>Regular languages are context-free</a:t>
            </a:r>
          </a:p>
        </p:txBody>
      </p:sp>
      <p:sp>
        <p:nvSpPr>
          <p:cNvPr id="3" name="İçerik Yer Tutucusu 2"/>
          <p:cNvSpPr>
            <a:spLocks noGrp="1"/>
          </p:cNvSpPr>
          <p:nvPr>
            <p:ph idx="1"/>
          </p:nvPr>
        </p:nvSpPr>
        <p:spPr>
          <a:xfrm>
            <a:off x="8356170" y="1790695"/>
            <a:ext cx="3148442" cy="3777622"/>
          </a:xfrm>
        </p:spPr>
        <p:txBody>
          <a:bodyPr>
            <a:normAutofit/>
          </a:bodyPr>
          <a:lstStyle/>
          <a:p>
            <a:pPr marL="0" indent="0">
              <a:lnSpc>
                <a:spcPct val="150000"/>
              </a:lnSpc>
              <a:buNone/>
            </a:pPr>
            <a:r>
              <a:rPr lang="tr-TR" sz="2800" dirty="0">
                <a:solidFill>
                  <a:srgbClr val="FF0000"/>
                </a:solidFill>
              </a:rPr>
              <a:t>S  → 0 S | 1A</a:t>
            </a:r>
          </a:p>
          <a:p>
            <a:pPr marL="0" indent="0">
              <a:lnSpc>
                <a:spcPct val="150000"/>
              </a:lnSpc>
              <a:buNone/>
            </a:pPr>
            <a:r>
              <a:rPr lang="tr-TR" sz="2800" dirty="0">
                <a:solidFill>
                  <a:srgbClr val="FF0000"/>
                </a:solidFill>
              </a:rPr>
              <a:t>A → 1A | 0B </a:t>
            </a:r>
          </a:p>
          <a:p>
            <a:pPr marL="0" indent="0">
              <a:lnSpc>
                <a:spcPct val="150000"/>
              </a:lnSpc>
              <a:buNone/>
            </a:pPr>
            <a:r>
              <a:rPr lang="tr-TR" sz="2800" dirty="0">
                <a:solidFill>
                  <a:srgbClr val="FF0000"/>
                </a:solidFill>
              </a:rPr>
              <a:t>B →  0S | 1C</a:t>
            </a:r>
          </a:p>
          <a:p>
            <a:pPr marL="0" indent="0">
              <a:lnSpc>
                <a:spcPct val="150000"/>
              </a:lnSpc>
              <a:buNone/>
            </a:pPr>
            <a:r>
              <a:rPr lang="tr-TR" sz="2800" dirty="0">
                <a:solidFill>
                  <a:srgbClr val="FF0000"/>
                </a:solidFill>
              </a:rPr>
              <a:t>C → 0C | 1C | </a:t>
            </a:r>
            <a:r>
              <a:rPr lang="el-GR" sz="2800" dirty="0">
                <a:solidFill>
                  <a:srgbClr val="FF0000"/>
                </a:solidFill>
              </a:rPr>
              <a:t>ε</a:t>
            </a:r>
          </a:p>
        </p:txBody>
      </p:sp>
    </p:spTree>
    <p:extLst>
      <p:ext uri="{BB962C8B-B14F-4D97-AF65-F5344CB8AC3E}">
        <p14:creationId xmlns:p14="http://schemas.microsoft.com/office/powerpoint/2010/main" val="4231691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Chomsky normal form</a:t>
            </a:r>
          </a:p>
        </p:txBody>
      </p:sp>
      <p:sp>
        <p:nvSpPr>
          <p:cNvPr id="3" name="İçerik Yer Tutucusu 2"/>
          <p:cNvSpPr>
            <a:spLocks noGrp="1"/>
          </p:cNvSpPr>
          <p:nvPr>
            <p:ph idx="1"/>
          </p:nvPr>
        </p:nvSpPr>
        <p:spPr/>
        <p:txBody>
          <a:bodyPr>
            <a:normAutofit/>
          </a:bodyPr>
          <a:lstStyle/>
          <a:p>
            <a:pPr marL="0" indent="0">
              <a:buNone/>
            </a:pPr>
            <a:r>
              <a:rPr lang="en-US" sz="2800" dirty="0"/>
              <a:t>Consider the following three grammar rules:</a:t>
            </a:r>
          </a:p>
          <a:p>
            <a:pPr marL="0" indent="0">
              <a:buNone/>
            </a:pPr>
            <a:r>
              <a:rPr lang="tr-TR" sz="2800" dirty="0"/>
              <a:t>	</a:t>
            </a:r>
          </a:p>
          <a:p>
            <a:pPr marL="0" indent="0">
              <a:buNone/>
            </a:pPr>
            <a:r>
              <a:rPr lang="tr-TR" sz="2800" dirty="0"/>
              <a:t>	S</a:t>
            </a:r>
            <a:r>
              <a:rPr lang="en-US" sz="2800" dirty="0"/>
              <a:t> → </a:t>
            </a:r>
            <a:r>
              <a:rPr lang="tr-TR" sz="2800" dirty="0"/>
              <a:t>SS</a:t>
            </a:r>
            <a:r>
              <a:rPr lang="en-US" sz="2800" dirty="0"/>
              <a:t> | 1 | </a:t>
            </a:r>
            <a:r>
              <a:rPr lang="el-GR" sz="2800" dirty="0"/>
              <a:t>ε</a:t>
            </a:r>
            <a:endParaRPr lang="tr-TR" sz="2800" dirty="0"/>
          </a:p>
          <a:p>
            <a:pPr marL="0" indent="0">
              <a:buNone/>
            </a:pPr>
            <a:endParaRPr lang="tr-TR" sz="2800" dirty="0"/>
          </a:p>
          <a:p>
            <a:pPr marL="0" indent="0">
              <a:buNone/>
            </a:pPr>
            <a:r>
              <a:rPr lang="en-US" sz="2800" dirty="0"/>
              <a:t>Using this grammar we can write a '1' symbol in different ways. For example, you can only use the second rule, or 1th, 2nd, 3rd rules respectively.</a:t>
            </a:r>
            <a:endParaRPr lang="el-GR" sz="2800" dirty="0"/>
          </a:p>
        </p:txBody>
      </p:sp>
      <p:sp>
        <p:nvSpPr>
          <p:cNvPr id="4" name="Dikdörtgen 3"/>
          <p:cNvSpPr/>
          <p:nvPr/>
        </p:nvSpPr>
        <p:spPr>
          <a:xfrm>
            <a:off x="3838928" y="2951248"/>
            <a:ext cx="1723549" cy="507831"/>
          </a:xfrm>
          <a:prstGeom prst="rect">
            <a:avLst/>
          </a:prstGeom>
        </p:spPr>
        <p:txBody>
          <a:bodyPr wrap="none">
            <a:spAutoFit/>
          </a:bodyPr>
          <a:lstStyle/>
          <a:p>
            <a:pPr>
              <a:lnSpc>
                <a:spcPct val="150000"/>
              </a:lnSpc>
            </a:pPr>
            <a:r>
              <a:rPr lang="tr-TR" dirty="0">
                <a:solidFill>
                  <a:srgbClr val="FF0000"/>
                </a:solidFill>
              </a:rPr>
              <a:t> 1         2        3</a:t>
            </a:r>
            <a:endParaRPr lang="el-GR" dirty="0">
              <a:solidFill>
                <a:srgbClr val="FF0000"/>
              </a:solidFill>
            </a:endParaRPr>
          </a:p>
        </p:txBody>
      </p:sp>
    </p:spTree>
    <p:extLst>
      <p:ext uri="{BB962C8B-B14F-4D97-AF65-F5344CB8AC3E}">
        <p14:creationId xmlns:p14="http://schemas.microsoft.com/office/powerpoint/2010/main" val="2758529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Chomsky normal form</a:t>
            </a:r>
          </a:p>
        </p:txBody>
      </p:sp>
      <p:sp>
        <p:nvSpPr>
          <p:cNvPr id="3" name="İçerik Yer Tutucusu 2"/>
          <p:cNvSpPr>
            <a:spLocks noGrp="1"/>
          </p:cNvSpPr>
          <p:nvPr>
            <p:ph idx="1"/>
          </p:nvPr>
        </p:nvSpPr>
        <p:spPr>
          <a:xfrm>
            <a:off x="9458097" y="1464123"/>
            <a:ext cx="2701245" cy="478971"/>
          </a:xfrm>
        </p:spPr>
        <p:txBody>
          <a:bodyPr>
            <a:normAutofit lnSpcReduction="10000"/>
          </a:bodyPr>
          <a:lstStyle/>
          <a:p>
            <a:pPr marL="0" indent="0">
              <a:buNone/>
            </a:pPr>
            <a:r>
              <a:rPr lang="tr-TR" sz="2800" b="1" dirty="0"/>
              <a:t>S</a:t>
            </a:r>
            <a:r>
              <a:rPr lang="en-US" sz="2800" b="1" dirty="0"/>
              <a:t> → </a:t>
            </a:r>
            <a:r>
              <a:rPr lang="tr-TR" sz="2800" b="1" dirty="0"/>
              <a:t>SS</a:t>
            </a:r>
            <a:r>
              <a:rPr lang="en-US" sz="2800" b="1" dirty="0"/>
              <a:t> | 1 | </a:t>
            </a:r>
            <a:r>
              <a:rPr lang="el-GR" sz="2800" b="1" dirty="0"/>
              <a:t>ε</a:t>
            </a:r>
            <a:endParaRPr lang="tr-TR" sz="2800" b="1" dirty="0"/>
          </a:p>
        </p:txBody>
      </p:sp>
      <p:sp>
        <p:nvSpPr>
          <p:cNvPr id="4" name="Dikdörtgen 3"/>
          <p:cNvSpPr/>
          <p:nvPr/>
        </p:nvSpPr>
        <p:spPr>
          <a:xfrm>
            <a:off x="10238262" y="1070592"/>
            <a:ext cx="1723549" cy="507831"/>
          </a:xfrm>
          <a:prstGeom prst="rect">
            <a:avLst/>
          </a:prstGeom>
        </p:spPr>
        <p:txBody>
          <a:bodyPr wrap="none">
            <a:spAutoFit/>
          </a:bodyPr>
          <a:lstStyle/>
          <a:p>
            <a:pPr>
              <a:lnSpc>
                <a:spcPct val="150000"/>
              </a:lnSpc>
            </a:pPr>
            <a:r>
              <a:rPr lang="tr-TR" dirty="0">
                <a:solidFill>
                  <a:srgbClr val="FF0000"/>
                </a:solidFill>
              </a:rPr>
              <a:t> 1         2        3</a:t>
            </a:r>
            <a:endParaRPr lang="el-GR" dirty="0">
              <a:solidFill>
                <a:srgbClr val="FF0000"/>
              </a:solidFill>
            </a:endParaRPr>
          </a:p>
        </p:txBody>
      </p:sp>
      <p:sp>
        <p:nvSpPr>
          <p:cNvPr id="6" name="İçerik Yer Tutucusu 2"/>
          <p:cNvSpPr txBox="1">
            <a:spLocks/>
          </p:cNvSpPr>
          <p:nvPr/>
        </p:nvSpPr>
        <p:spPr>
          <a:xfrm>
            <a:off x="2589212" y="2133600"/>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tr-TR" sz="2800" dirty="0"/>
              <a:t>S</a:t>
            </a:r>
            <a:r>
              <a:rPr lang="en-US" sz="2800" dirty="0"/>
              <a:t> → </a:t>
            </a:r>
            <a:r>
              <a:rPr lang="tr-TR" sz="2800" dirty="0"/>
              <a:t>1</a:t>
            </a:r>
          </a:p>
          <a:p>
            <a:pPr marL="0" indent="0">
              <a:buNone/>
            </a:pPr>
            <a:r>
              <a:rPr lang="tr-TR" sz="2800" dirty="0"/>
              <a:t>S</a:t>
            </a:r>
            <a:r>
              <a:rPr lang="en-US" sz="2800" dirty="0"/>
              <a:t> → </a:t>
            </a:r>
            <a:r>
              <a:rPr lang="tr-TR" sz="2800" dirty="0"/>
              <a:t>SS</a:t>
            </a:r>
            <a:r>
              <a:rPr lang="en-US" sz="2800" dirty="0"/>
              <a:t> → </a:t>
            </a:r>
            <a:r>
              <a:rPr lang="tr-TR" sz="2800" dirty="0"/>
              <a:t>1S</a:t>
            </a:r>
            <a:r>
              <a:rPr lang="en-US" sz="2800" dirty="0"/>
              <a:t> → </a:t>
            </a:r>
            <a:r>
              <a:rPr lang="tr-TR" sz="2800" dirty="0"/>
              <a:t>1</a:t>
            </a:r>
          </a:p>
          <a:p>
            <a:pPr marL="0" indent="0">
              <a:buNone/>
            </a:pPr>
            <a:r>
              <a:rPr lang="tr-TR" sz="2800" dirty="0"/>
              <a:t>S</a:t>
            </a:r>
            <a:r>
              <a:rPr lang="en-US" sz="2800" dirty="0"/>
              <a:t> → </a:t>
            </a:r>
            <a:r>
              <a:rPr lang="tr-TR" sz="2800" dirty="0"/>
              <a:t>SS</a:t>
            </a:r>
            <a:r>
              <a:rPr lang="en-US" sz="2800" dirty="0"/>
              <a:t> → </a:t>
            </a:r>
            <a:r>
              <a:rPr lang="tr-TR" sz="2800" dirty="0"/>
              <a:t>SSS</a:t>
            </a:r>
            <a:r>
              <a:rPr lang="en-US" sz="2800" dirty="0"/>
              <a:t> → </a:t>
            </a:r>
            <a:r>
              <a:rPr lang="tr-TR" sz="2800" dirty="0"/>
              <a:t>1SS</a:t>
            </a:r>
            <a:r>
              <a:rPr lang="en-US" sz="2800" dirty="0"/>
              <a:t> → </a:t>
            </a:r>
            <a:r>
              <a:rPr lang="tr-TR" sz="2800" dirty="0"/>
              <a:t>1S</a:t>
            </a:r>
            <a:r>
              <a:rPr lang="en-US" sz="2800" dirty="0"/>
              <a:t> → </a:t>
            </a:r>
            <a:r>
              <a:rPr lang="tr-TR" sz="2800" dirty="0"/>
              <a:t>1</a:t>
            </a:r>
          </a:p>
          <a:p>
            <a:pPr marL="0" indent="0">
              <a:buNone/>
            </a:pPr>
            <a:r>
              <a:rPr lang="tr-TR" sz="2800" dirty="0"/>
              <a:t>S </a:t>
            </a:r>
            <a:r>
              <a:rPr lang="en-US" sz="2800" dirty="0"/>
              <a:t>→</a:t>
            </a:r>
            <a:r>
              <a:rPr lang="tr-TR" sz="2800" dirty="0"/>
              <a:t> SS </a:t>
            </a:r>
            <a:r>
              <a:rPr lang="en-US" sz="2800" dirty="0"/>
              <a:t>→</a:t>
            </a:r>
            <a:r>
              <a:rPr lang="tr-TR" sz="2800" dirty="0"/>
              <a:t> SSS </a:t>
            </a:r>
            <a:r>
              <a:rPr lang="en-US" sz="2800" dirty="0"/>
              <a:t>→</a:t>
            </a:r>
            <a:r>
              <a:rPr lang="tr-TR" sz="2800" dirty="0"/>
              <a:t> SSSS </a:t>
            </a:r>
            <a:r>
              <a:rPr lang="en-US" sz="2800" dirty="0"/>
              <a:t>→</a:t>
            </a:r>
            <a:r>
              <a:rPr lang="tr-TR" sz="2800" dirty="0"/>
              <a:t> 1SSS </a:t>
            </a:r>
            <a:r>
              <a:rPr lang="en-US" sz="2800" dirty="0"/>
              <a:t>→</a:t>
            </a:r>
            <a:r>
              <a:rPr lang="tr-TR" sz="2800" dirty="0"/>
              <a:t> 1SS </a:t>
            </a:r>
            <a:r>
              <a:rPr lang="en-US" sz="2800" dirty="0"/>
              <a:t>→</a:t>
            </a:r>
            <a:r>
              <a:rPr lang="tr-TR" sz="2800" dirty="0"/>
              <a:t> 1S </a:t>
            </a:r>
            <a:r>
              <a:rPr lang="en-US" sz="2800" dirty="0"/>
              <a:t>→</a:t>
            </a:r>
            <a:r>
              <a:rPr lang="tr-TR" sz="2800" dirty="0"/>
              <a:t> 1</a:t>
            </a:r>
          </a:p>
          <a:p>
            <a:pPr marL="0" indent="0">
              <a:buNone/>
            </a:pPr>
            <a:r>
              <a:rPr lang="tr-TR" sz="2800" dirty="0"/>
              <a:t>…</a:t>
            </a:r>
          </a:p>
          <a:p>
            <a:pPr marL="0" indent="0">
              <a:buNone/>
            </a:pPr>
            <a:endParaRPr lang="tr-TR" sz="2800" dirty="0"/>
          </a:p>
        </p:txBody>
      </p:sp>
      <p:sp>
        <p:nvSpPr>
          <p:cNvPr id="7" name="Dikdörtgen 6"/>
          <p:cNvSpPr/>
          <p:nvPr/>
        </p:nvSpPr>
        <p:spPr>
          <a:xfrm>
            <a:off x="2902651" y="1995487"/>
            <a:ext cx="377026" cy="455189"/>
          </a:xfrm>
          <a:prstGeom prst="rect">
            <a:avLst/>
          </a:prstGeom>
        </p:spPr>
        <p:txBody>
          <a:bodyPr wrap="none">
            <a:spAutoFit/>
          </a:bodyPr>
          <a:lstStyle/>
          <a:p>
            <a:pPr>
              <a:lnSpc>
                <a:spcPct val="150000"/>
              </a:lnSpc>
            </a:pPr>
            <a:r>
              <a:rPr lang="tr-TR" dirty="0">
                <a:solidFill>
                  <a:srgbClr val="FF0000"/>
                </a:solidFill>
              </a:rPr>
              <a:t> 2</a:t>
            </a:r>
            <a:endParaRPr lang="el-GR" dirty="0">
              <a:solidFill>
                <a:srgbClr val="FF0000"/>
              </a:solidFill>
            </a:endParaRPr>
          </a:p>
        </p:txBody>
      </p:sp>
      <p:sp>
        <p:nvSpPr>
          <p:cNvPr id="8" name="Dikdörtgen 7"/>
          <p:cNvSpPr/>
          <p:nvPr/>
        </p:nvSpPr>
        <p:spPr>
          <a:xfrm>
            <a:off x="2893251" y="3673728"/>
            <a:ext cx="7045518" cy="507831"/>
          </a:xfrm>
          <a:prstGeom prst="rect">
            <a:avLst/>
          </a:prstGeom>
        </p:spPr>
        <p:txBody>
          <a:bodyPr wrap="none">
            <a:spAutoFit/>
          </a:bodyPr>
          <a:lstStyle/>
          <a:p>
            <a:pPr>
              <a:lnSpc>
                <a:spcPct val="150000"/>
              </a:lnSpc>
            </a:pPr>
            <a:r>
              <a:rPr lang="tr-TR" dirty="0">
                <a:solidFill>
                  <a:srgbClr val="FF0000"/>
                </a:solidFill>
              </a:rPr>
              <a:t> 1            1               1                  2                  3                3            3</a:t>
            </a:r>
            <a:endParaRPr lang="el-GR" dirty="0">
              <a:solidFill>
                <a:srgbClr val="FF0000"/>
              </a:solidFill>
            </a:endParaRPr>
          </a:p>
        </p:txBody>
      </p:sp>
      <p:sp>
        <p:nvSpPr>
          <p:cNvPr id="9" name="Dikdörtgen 8"/>
          <p:cNvSpPr/>
          <p:nvPr/>
        </p:nvSpPr>
        <p:spPr>
          <a:xfrm>
            <a:off x="2893251" y="2556131"/>
            <a:ext cx="2236510" cy="507831"/>
          </a:xfrm>
          <a:prstGeom prst="rect">
            <a:avLst/>
          </a:prstGeom>
        </p:spPr>
        <p:txBody>
          <a:bodyPr wrap="none">
            <a:spAutoFit/>
          </a:bodyPr>
          <a:lstStyle/>
          <a:p>
            <a:pPr>
              <a:lnSpc>
                <a:spcPct val="150000"/>
              </a:lnSpc>
            </a:pPr>
            <a:r>
              <a:rPr lang="tr-TR" dirty="0">
                <a:solidFill>
                  <a:srgbClr val="FF0000"/>
                </a:solidFill>
              </a:rPr>
              <a:t> 1            2             3</a:t>
            </a:r>
            <a:endParaRPr lang="el-GR" dirty="0">
              <a:solidFill>
                <a:srgbClr val="FF0000"/>
              </a:solidFill>
            </a:endParaRPr>
          </a:p>
        </p:txBody>
      </p:sp>
      <p:sp>
        <p:nvSpPr>
          <p:cNvPr id="10" name="Dikdörtgen 9"/>
          <p:cNvSpPr/>
          <p:nvPr/>
        </p:nvSpPr>
        <p:spPr>
          <a:xfrm>
            <a:off x="2893251" y="3136703"/>
            <a:ext cx="4480714" cy="507831"/>
          </a:xfrm>
          <a:prstGeom prst="rect">
            <a:avLst/>
          </a:prstGeom>
        </p:spPr>
        <p:txBody>
          <a:bodyPr wrap="none">
            <a:spAutoFit/>
          </a:bodyPr>
          <a:lstStyle/>
          <a:p>
            <a:pPr>
              <a:lnSpc>
                <a:spcPct val="150000"/>
              </a:lnSpc>
            </a:pPr>
            <a:r>
              <a:rPr lang="tr-TR" dirty="0">
                <a:solidFill>
                  <a:srgbClr val="FF0000"/>
                </a:solidFill>
              </a:rPr>
              <a:t> 1            1               2                3            3</a:t>
            </a:r>
            <a:endParaRPr lang="el-GR" dirty="0">
              <a:solidFill>
                <a:srgbClr val="FF0000"/>
              </a:solidFill>
            </a:endParaRPr>
          </a:p>
        </p:txBody>
      </p:sp>
      <p:sp>
        <p:nvSpPr>
          <p:cNvPr id="11" name="Dikdörtgen 10"/>
          <p:cNvSpPr/>
          <p:nvPr/>
        </p:nvSpPr>
        <p:spPr>
          <a:xfrm>
            <a:off x="9245600" y="1070592"/>
            <a:ext cx="2931886" cy="1063008"/>
          </a:xfrm>
          <a:prstGeom prst="rect">
            <a:avLst/>
          </a:prstGeom>
          <a:noFill/>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5" name="Dikdörtgen 3">
            <a:extLst>
              <a:ext uri="{FF2B5EF4-FFF2-40B4-BE49-F238E27FC236}">
                <a16:creationId xmlns:a16="http://schemas.microsoft.com/office/drawing/2014/main" id="{7ACF5D28-37D9-528D-E202-1D3DEF0BBA55}"/>
              </a:ext>
            </a:extLst>
          </p:cNvPr>
          <p:cNvSpPr/>
          <p:nvPr/>
        </p:nvSpPr>
        <p:spPr>
          <a:xfrm>
            <a:off x="1789835" y="1243516"/>
            <a:ext cx="7154523" cy="656718"/>
          </a:xfrm>
          <a:prstGeom prst="rect">
            <a:avLst/>
          </a:prstGeom>
        </p:spPr>
        <p:txBody>
          <a:bodyPr wrap="none">
            <a:spAutoFit/>
          </a:bodyPr>
          <a:lstStyle/>
          <a:p>
            <a:pPr>
              <a:lnSpc>
                <a:spcPct val="150000"/>
              </a:lnSpc>
            </a:pPr>
            <a:r>
              <a:rPr lang="tr-TR" sz="2800" dirty="0">
                <a:solidFill>
                  <a:srgbClr val="FF0000"/>
                </a:solidFill>
              </a:rPr>
              <a:t>How can we derivate ‘1’ with this CFG? </a:t>
            </a:r>
            <a:endParaRPr lang="el-GR" sz="2800" dirty="0">
              <a:solidFill>
                <a:srgbClr val="FF0000"/>
              </a:solidFill>
            </a:endParaRPr>
          </a:p>
        </p:txBody>
      </p:sp>
    </p:spTree>
    <p:extLst>
      <p:ext uri="{BB962C8B-B14F-4D97-AF65-F5344CB8AC3E}">
        <p14:creationId xmlns:p14="http://schemas.microsoft.com/office/powerpoint/2010/main" val="4053983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983327" y="624110"/>
            <a:ext cx="8911687" cy="1280890"/>
          </a:xfrm>
        </p:spPr>
        <p:txBody>
          <a:bodyPr/>
          <a:lstStyle/>
          <a:p>
            <a:r>
              <a:rPr lang="en-US" b="1" dirty="0"/>
              <a:t>Formal Definition</a:t>
            </a:r>
          </a:p>
        </p:txBody>
      </p:sp>
      <p:sp>
        <p:nvSpPr>
          <p:cNvPr id="3" name="İçerik Yer Tutucusu 2"/>
          <p:cNvSpPr>
            <a:spLocks noGrp="1"/>
          </p:cNvSpPr>
          <p:nvPr>
            <p:ph idx="1"/>
          </p:nvPr>
        </p:nvSpPr>
        <p:spPr>
          <a:xfrm>
            <a:off x="2002971" y="1640114"/>
            <a:ext cx="9884229" cy="4354285"/>
          </a:xfrm>
        </p:spPr>
        <p:txBody>
          <a:bodyPr>
            <a:noAutofit/>
          </a:bodyPr>
          <a:lstStyle/>
          <a:p>
            <a:pPr marL="0" indent="0">
              <a:buNone/>
            </a:pPr>
            <a:r>
              <a:rPr lang="en-US" sz="2800" dirty="0"/>
              <a:t>A context-free grammar G = (V,</a:t>
            </a:r>
            <a:r>
              <a:rPr lang="el-GR" sz="2800" dirty="0"/>
              <a:t>Σ</a:t>
            </a:r>
            <a:r>
              <a:rPr lang="en-US" sz="2800" dirty="0"/>
              <a:t>,R,S) is said to be in</a:t>
            </a:r>
            <a:r>
              <a:rPr lang="tr-TR" sz="2800" dirty="0"/>
              <a:t> </a:t>
            </a:r>
            <a:r>
              <a:rPr lang="en-US" sz="2800" dirty="0"/>
              <a:t>Chomsky normal form, if every rule in R has one of the following three forms:</a:t>
            </a:r>
          </a:p>
          <a:p>
            <a:pPr marL="514350" indent="-514350">
              <a:buFont typeface="+mj-lt"/>
              <a:buAutoNum type="arabicPeriod"/>
            </a:pPr>
            <a:r>
              <a:rPr lang="en-US" sz="2800" dirty="0"/>
              <a:t>A → BC, where A, B, and C are elements of V, B≠S, and C≠S.</a:t>
            </a:r>
            <a:endParaRPr lang="tr-TR" sz="2800" dirty="0"/>
          </a:p>
          <a:p>
            <a:pPr marL="514350" indent="-514350">
              <a:buFont typeface="+mj-lt"/>
              <a:buAutoNum type="arabicPeriod"/>
            </a:pPr>
            <a:r>
              <a:rPr lang="en-US" sz="2800" dirty="0"/>
              <a:t>A → a, where A is an element of V and a is an element of </a:t>
            </a:r>
            <a:r>
              <a:rPr lang="el-GR" sz="2800" dirty="0"/>
              <a:t>Σ</a:t>
            </a:r>
            <a:r>
              <a:rPr lang="en-US" sz="2800" dirty="0"/>
              <a:t>.</a:t>
            </a:r>
            <a:endParaRPr lang="tr-TR" sz="2800" dirty="0"/>
          </a:p>
          <a:p>
            <a:pPr marL="514350" indent="-514350">
              <a:buFont typeface="+mj-lt"/>
              <a:buAutoNum type="arabicPeriod"/>
            </a:pPr>
            <a:r>
              <a:rPr lang="en-US" sz="2800" dirty="0"/>
              <a:t>S → </a:t>
            </a:r>
            <a:r>
              <a:rPr lang="el-GR" sz="2800" dirty="0"/>
              <a:t>ε</a:t>
            </a:r>
            <a:r>
              <a:rPr lang="en-US" sz="2800" dirty="0"/>
              <a:t>, where S is the start variable.</a:t>
            </a:r>
          </a:p>
        </p:txBody>
      </p:sp>
    </p:spTree>
    <p:extLst>
      <p:ext uri="{BB962C8B-B14F-4D97-AF65-F5344CB8AC3E}">
        <p14:creationId xmlns:p14="http://schemas.microsoft.com/office/powerpoint/2010/main" val="3244297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Transforming CFG to CNF</a:t>
            </a:r>
          </a:p>
        </p:txBody>
      </p:sp>
      <p:sp>
        <p:nvSpPr>
          <p:cNvPr id="3" name="İçerik Yer Tutucusu 2"/>
          <p:cNvSpPr>
            <a:spLocks noGrp="1"/>
          </p:cNvSpPr>
          <p:nvPr>
            <p:ph idx="1"/>
          </p:nvPr>
        </p:nvSpPr>
        <p:spPr>
          <a:xfrm>
            <a:off x="2188029" y="1779814"/>
            <a:ext cx="9316583" cy="4767942"/>
          </a:xfrm>
        </p:spPr>
        <p:txBody>
          <a:bodyPr>
            <a:normAutofit/>
          </a:bodyPr>
          <a:lstStyle/>
          <a:p>
            <a:pPr marL="0" indent="0">
              <a:buNone/>
            </a:pPr>
            <a:r>
              <a:rPr lang="tr-TR" sz="2800" dirty="0"/>
              <a:t>			S</a:t>
            </a:r>
            <a:r>
              <a:rPr lang="en-US" sz="2800" dirty="0"/>
              <a:t> → </a:t>
            </a:r>
            <a:r>
              <a:rPr lang="tr-TR" sz="2800" dirty="0"/>
              <a:t>SS</a:t>
            </a:r>
            <a:r>
              <a:rPr lang="en-US" sz="2800" dirty="0"/>
              <a:t> | 1 | </a:t>
            </a:r>
            <a:r>
              <a:rPr lang="el-GR" sz="2800" dirty="0"/>
              <a:t>ε</a:t>
            </a:r>
            <a:r>
              <a:rPr lang="tr-TR" sz="2800" dirty="0"/>
              <a:t>	</a:t>
            </a:r>
          </a:p>
          <a:p>
            <a:pPr marL="0" indent="0">
              <a:buNone/>
            </a:pPr>
            <a:endParaRPr lang="tr-TR" sz="2800" dirty="0"/>
          </a:p>
          <a:p>
            <a:pPr marL="0" indent="0">
              <a:buNone/>
            </a:pPr>
            <a:r>
              <a:rPr lang="en-US" sz="2800" dirty="0"/>
              <a:t>When we revise the above grammar with Chomsky Normal Form, it will turn into the following grammar.</a:t>
            </a:r>
            <a:endParaRPr lang="tr-TR" sz="2800" dirty="0"/>
          </a:p>
          <a:p>
            <a:pPr marL="0" indent="0">
              <a:buNone/>
            </a:pPr>
            <a:endParaRPr lang="tr-TR" sz="2800" dirty="0"/>
          </a:p>
          <a:p>
            <a:pPr marL="0" indent="0">
              <a:buNone/>
            </a:pPr>
            <a:r>
              <a:rPr lang="tr-TR" sz="2800" dirty="0"/>
              <a:t>			S</a:t>
            </a:r>
            <a:r>
              <a:rPr lang="en-US" sz="2800" dirty="0"/>
              <a:t> → </a:t>
            </a:r>
            <a:r>
              <a:rPr lang="tr-TR" sz="2800" dirty="0"/>
              <a:t>AA| 1</a:t>
            </a:r>
            <a:r>
              <a:rPr lang="en-US" sz="2800" dirty="0"/>
              <a:t> | </a:t>
            </a:r>
            <a:r>
              <a:rPr lang="el-GR" sz="2800" dirty="0"/>
              <a:t>ε</a:t>
            </a:r>
            <a:endParaRPr lang="tr-TR" sz="2800" dirty="0"/>
          </a:p>
          <a:p>
            <a:pPr marL="0" indent="0">
              <a:buNone/>
            </a:pPr>
            <a:r>
              <a:rPr lang="tr-TR" sz="2800" dirty="0"/>
              <a:t>			A</a:t>
            </a:r>
            <a:r>
              <a:rPr lang="en-US" sz="2800" dirty="0"/>
              <a:t> → </a:t>
            </a:r>
            <a:r>
              <a:rPr lang="tr-TR" sz="2800" dirty="0"/>
              <a:t>AA</a:t>
            </a:r>
            <a:r>
              <a:rPr lang="en-US" sz="2800" dirty="0"/>
              <a:t> | 1</a:t>
            </a:r>
            <a:endParaRPr lang="tr-TR" sz="2800" dirty="0"/>
          </a:p>
          <a:p>
            <a:pPr marL="0" indent="0">
              <a:buNone/>
            </a:pPr>
            <a:endParaRPr lang="tr-TR" sz="2800" dirty="0"/>
          </a:p>
        </p:txBody>
      </p:sp>
    </p:spTree>
    <p:extLst>
      <p:ext uri="{BB962C8B-B14F-4D97-AF65-F5344CB8AC3E}">
        <p14:creationId xmlns:p14="http://schemas.microsoft.com/office/powerpoint/2010/main" val="652281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Transforming CFG to CNF</a:t>
            </a:r>
          </a:p>
        </p:txBody>
      </p:sp>
      <p:sp>
        <p:nvSpPr>
          <p:cNvPr id="3" name="İçerik Yer Tutucusu 2"/>
          <p:cNvSpPr>
            <a:spLocks noGrp="1"/>
          </p:cNvSpPr>
          <p:nvPr>
            <p:ph idx="1"/>
          </p:nvPr>
        </p:nvSpPr>
        <p:spPr>
          <a:xfrm>
            <a:off x="2188029" y="1779814"/>
            <a:ext cx="9316583" cy="4767942"/>
          </a:xfrm>
        </p:spPr>
        <p:txBody>
          <a:bodyPr>
            <a:normAutofit/>
          </a:bodyPr>
          <a:lstStyle/>
          <a:p>
            <a:pPr marL="0" indent="0">
              <a:buNone/>
            </a:pPr>
            <a:r>
              <a:rPr lang="en-US" sz="2800" dirty="0"/>
              <a:t>Here we will learn a five-step transformation method. </a:t>
            </a:r>
            <a:endParaRPr lang="tr-TR" sz="2800" dirty="0"/>
          </a:p>
          <a:p>
            <a:pPr marL="0" indent="0">
              <a:buNone/>
            </a:pPr>
            <a:r>
              <a:rPr lang="en-US" sz="2800" dirty="0"/>
              <a:t>1. Eliminate the start variable on the right.</a:t>
            </a:r>
          </a:p>
          <a:p>
            <a:pPr marL="0" indent="0">
              <a:buNone/>
            </a:pPr>
            <a:r>
              <a:rPr lang="en-US" sz="2800" dirty="0"/>
              <a:t>2. Eliminate all ε-rules.</a:t>
            </a:r>
          </a:p>
          <a:p>
            <a:pPr marL="0" indent="0">
              <a:buNone/>
            </a:pPr>
            <a:r>
              <a:rPr lang="en-US" sz="2800" dirty="0"/>
              <a:t>3. Eliminate all unit-rules.</a:t>
            </a:r>
          </a:p>
          <a:p>
            <a:pPr marL="0" indent="0">
              <a:buNone/>
            </a:pPr>
            <a:r>
              <a:rPr lang="en-US" sz="2800" dirty="0"/>
              <a:t>4. Eliminate all rules having more than two symbols.</a:t>
            </a:r>
          </a:p>
          <a:p>
            <a:pPr marL="0" indent="0">
              <a:buNone/>
            </a:pPr>
            <a:r>
              <a:rPr lang="en-US" sz="2800" dirty="0"/>
              <a:t>5. Eliminate all rules, whose right-hand side contains exactly two symbols, which are not both variables.</a:t>
            </a:r>
            <a:endParaRPr lang="tr-TR" sz="2800" dirty="0"/>
          </a:p>
        </p:txBody>
      </p:sp>
    </p:spTree>
    <p:extLst>
      <p:ext uri="{BB962C8B-B14F-4D97-AF65-F5344CB8AC3E}">
        <p14:creationId xmlns:p14="http://schemas.microsoft.com/office/powerpoint/2010/main" val="2966462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316583" cy="4767942"/>
          </a:xfrm>
        </p:spPr>
        <p:txBody>
          <a:bodyPr>
            <a:normAutofit/>
          </a:bodyPr>
          <a:lstStyle/>
          <a:p>
            <a:pPr marL="0" indent="0">
              <a:buNone/>
            </a:pPr>
            <a:r>
              <a:rPr lang="en-US" sz="2800" dirty="0"/>
              <a:t>Consider the context-free grammar G = (V,</a:t>
            </a:r>
            <a:r>
              <a:rPr lang="el-GR" sz="2800" dirty="0"/>
              <a:t> Σ</a:t>
            </a:r>
            <a:r>
              <a:rPr lang="en-US" sz="2800" dirty="0"/>
              <a:t>,</a:t>
            </a:r>
            <a:r>
              <a:rPr lang="tr-TR" sz="2800" dirty="0"/>
              <a:t> </a:t>
            </a:r>
            <a:r>
              <a:rPr lang="en-US" sz="2800" dirty="0"/>
              <a:t>R,</a:t>
            </a:r>
            <a:r>
              <a:rPr lang="tr-TR" sz="2800" dirty="0"/>
              <a:t> </a:t>
            </a:r>
            <a:r>
              <a:rPr lang="en-US" sz="2800" dirty="0"/>
              <a:t>A), where V = {A,</a:t>
            </a:r>
            <a:r>
              <a:rPr lang="tr-TR" sz="2800" dirty="0"/>
              <a:t> </a:t>
            </a:r>
            <a:r>
              <a:rPr lang="en-US" sz="2800" dirty="0"/>
              <a:t>B},</a:t>
            </a:r>
            <a:r>
              <a:rPr lang="tr-TR" sz="2800" dirty="0"/>
              <a:t> </a:t>
            </a:r>
            <a:r>
              <a:rPr lang="el-GR" sz="2800" dirty="0"/>
              <a:t>Σ</a:t>
            </a:r>
            <a:r>
              <a:rPr lang="en-US" sz="2800" dirty="0"/>
              <a:t> = {0, 1}, A is the start variable, and R consists of the rules</a:t>
            </a:r>
            <a:endParaRPr lang="tr-TR" sz="2800" dirty="0"/>
          </a:p>
          <a:p>
            <a:pPr marL="0" indent="0">
              <a:buNone/>
            </a:pPr>
            <a:endParaRPr lang="en-US" sz="2800" dirty="0"/>
          </a:p>
          <a:p>
            <a:pPr marL="0" indent="0">
              <a:buNone/>
            </a:pPr>
            <a:r>
              <a:rPr lang="tr-TR" sz="2800" dirty="0"/>
              <a:t>	</a:t>
            </a:r>
            <a:r>
              <a:rPr lang="en-US" sz="2800" dirty="0"/>
              <a:t>A → BAB</a:t>
            </a:r>
            <a:r>
              <a:rPr lang="tr-TR" sz="2800" dirty="0"/>
              <a:t> </a:t>
            </a:r>
            <a:r>
              <a:rPr lang="en-US" sz="2800" dirty="0"/>
              <a:t>|</a:t>
            </a:r>
            <a:r>
              <a:rPr lang="tr-TR" sz="2800" dirty="0"/>
              <a:t> </a:t>
            </a:r>
            <a:r>
              <a:rPr lang="en-US" sz="2800" dirty="0"/>
              <a:t>B</a:t>
            </a:r>
            <a:r>
              <a:rPr lang="tr-TR" sz="2800" dirty="0"/>
              <a:t> </a:t>
            </a:r>
            <a:r>
              <a:rPr lang="en-US" sz="2800" dirty="0"/>
              <a:t>|</a:t>
            </a:r>
            <a:r>
              <a:rPr lang="tr-TR" sz="2800" dirty="0"/>
              <a:t> </a:t>
            </a:r>
            <a:r>
              <a:rPr lang="en-US" sz="2800" dirty="0"/>
              <a:t>ε</a:t>
            </a:r>
            <a:endParaRPr lang="tr-TR" sz="2800" dirty="0"/>
          </a:p>
          <a:p>
            <a:pPr marL="0" indent="0">
              <a:buNone/>
            </a:pPr>
            <a:r>
              <a:rPr lang="tr-TR" sz="2800" dirty="0"/>
              <a:t>	</a:t>
            </a:r>
            <a:r>
              <a:rPr lang="en-US" sz="2800" dirty="0"/>
              <a:t>B → 00</a:t>
            </a:r>
            <a:r>
              <a:rPr lang="tr-TR" sz="2800" dirty="0"/>
              <a:t> </a:t>
            </a:r>
            <a:r>
              <a:rPr lang="en-US" sz="2800" dirty="0"/>
              <a:t>|</a:t>
            </a:r>
            <a:r>
              <a:rPr lang="tr-TR" sz="2800" dirty="0"/>
              <a:t> </a:t>
            </a:r>
            <a:r>
              <a:rPr lang="en-US" sz="2800" dirty="0"/>
              <a:t>ε</a:t>
            </a:r>
            <a:endParaRPr lang="tr-TR" sz="2800" dirty="0"/>
          </a:p>
        </p:txBody>
      </p:sp>
    </p:spTree>
    <p:extLst>
      <p:ext uri="{BB962C8B-B14F-4D97-AF65-F5344CB8AC3E}">
        <p14:creationId xmlns:p14="http://schemas.microsoft.com/office/powerpoint/2010/main" val="1201816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316583" cy="4767942"/>
          </a:xfrm>
        </p:spPr>
        <p:txBody>
          <a:bodyPr>
            <a:normAutofit/>
          </a:bodyPr>
          <a:lstStyle/>
          <a:p>
            <a:pPr marL="0" indent="0">
              <a:buNone/>
            </a:pPr>
            <a:r>
              <a:rPr lang="en-US" sz="2800" dirty="0"/>
              <a:t>1. Eliminate the start variable on the right.</a:t>
            </a:r>
          </a:p>
          <a:p>
            <a:pPr marL="0" indent="0">
              <a:buNone/>
            </a:pPr>
            <a:endParaRPr lang="en-US" sz="2800" dirty="0"/>
          </a:p>
          <a:p>
            <a:pPr marL="0" indent="0">
              <a:buNone/>
            </a:pPr>
            <a:r>
              <a:rPr lang="tr-TR" sz="2800" dirty="0"/>
              <a:t>	</a:t>
            </a:r>
            <a:r>
              <a:rPr lang="tr-TR" sz="2800" dirty="0">
                <a:solidFill>
                  <a:srgbClr val="FF0000"/>
                </a:solidFill>
              </a:rPr>
              <a:t>S</a:t>
            </a:r>
            <a:r>
              <a:rPr lang="en-US" sz="2800" dirty="0">
                <a:solidFill>
                  <a:srgbClr val="FF0000"/>
                </a:solidFill>
              </a:rPr>
              <a:t> </a:t>
            </a:r>
            <a:r>
              <a:rPr lang="tr-TR" sz="2800" dirty="0">
                <a:solidFill>
                  <a:srgbClr val="FF0000"/>
                </a:solidFill>
              </a:rPr>
              <a:t> </a:t>
            </a:r>
            <a:r>
              <a:rPr lang="en-US" sz="2800" dirty="0">
                <a:solidFill>
                  <a:srgbClr val="FF0000"/>
                </a:solidFill>
              </a:rPr>
              <a:t>→ </a:t>
            </a:r>
            <a:r>
              <a:rPr lang="tr-TR" sz="2800" dirty="0">
                <a:solidFill>
                  <a:srgbClr val="FF0000"/>
                </a:solidFill>
              </a:rPr>
              <a:t>A</a:t>
            </a:r>
          </a:p>
          <a:p>
            <a:pPr marL="0" indent="0">
              <a:buNone/>
            </a:pPr>
            <a:r>
              <a:rPr lang="tr-TR" sz="2800" dirty="0"/>
              <a:t>	</a:t>
            </a:r>
            <a:r>
              <a:rPr lang="en-US" sz="2800" dirty="0"/>
              <a:t>A → BAB</a:t>
            </a:r>
            <a:r>
              <a:rPr lang="tr-TR" sz="2800" dirty="0"/>
              <a:t> </a:t>
            </a:r>
            <a:r>
              <a:rPr lang="en-US" sz="2800" dirty="0"/>
              <a:t>|</a:t>
            </a:r>
            <a:r>
              <a:rPr lang="tr-TR" sz="2800" dirty="0"/>
              <a:t> </a:t>
            </a:r>
            <a:r>
              <a:rPr lang="en-US" sz="2800" dirty="0"/>
              <a:t>B</a:t>
            </a:r>
            <a:r>
              <a:rPr lang="tr-TR" sz="2800" dirty="0"/>
              <a:t> </a:t>
            </a:r>
            <a:r>
              <a:rPr lang="en-US" sz="2800" dirty="0"/>
              <a:t>|</a:t>
            </a:r>
            <a:r>
              <a:rPr lang="tr-TR" sz="2800" dirty="0"/>
              <a:t> </a:t>
            </a:r>
            <a:r>
              <a:rPr lang="en-US" sz="2800" dirty="0"/>
              <a:t>ε</a:t>
            </a:r>
            <a:endParaRPr lang="tr-TR" sz="2800" dirty="0"/>
          </a:p>
          <a:p>
            <a:pPr marL="0" indent="0">
              <a:buNone/>
            </a:pPr>
            <a:r>
              <a:rPr lang="tr-TR" sz="2800" dirty="0"/>
              <a:t>	</a:t>
            </a:r>
            <a:r>
              <a:rPr lang="en-US" sz="2800" dirty="0"/>
              <a:t>B </a:t>
            </a:r>
            <a:r>
              <a:rPr lang="tr-TR" sz="2800" dirty="0"/>
              <a:t> </a:t>
            </a:r>
            <a:r>
              <a:rPr lang="en-US" sz="2800" dirty="0"/>
              <a:t>→ 00</a:t>
            </a:r>
            <a:r>
              <a:rPr lang="tr-TR" sz="2800" dirty="0"/>
              <a:t> </a:t>
            </a:r>
            <a:r>
              <a:rPr lang="en-US" sz="2800" dirty="0"/>
              <a:t>|</a:t>
            </a:r>
            <a:r>
              <a:rPr lang="tr-TR" sz="2800" dirty="0"/>
              <a:t> </a:t>
            </a:r>
            <a:r>
              <a:rPr lang="en-US" sz="2800" dirty="0"/>
              <a:t>ε</a:t>
            </a:r>
            <a:endParaRPr lang="tr-TR" sz="2800" dirty="0"/>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t>A → BAB</a:t>
            </a:r>
            <a:r>
              <a:rPr lang="tr-TR" sz="2800" b="1" dirty="0"/>
              <a:t> </a:t>
            </a:r>
            <a:r>
              <a:rPr lang="en-US" sz="2800" b="1" dirty="0"/>
              <a:t>|</a:t>
            </a:r>
            <a:r>
              <a:rPr lang="tr-TR" sz="2800" b="1" dirty="0"/>
              <a:t> </a:t>
            </a:r>
            <a:r>
              <a:rPr lang="en-US" sz="2800" b="1" dirty="0"/>
              <a:t>B</a:t>
            </a:r>
            <a:r>
              <a:rPr lang="tr-TR" sz="2800" b="1" dirty="0"/>
              <a:t> </a:t>
            </a:r>
            <a:r>
              <a:rPr lang="en-US" sz="2800" b="1" dirty="0"/>
              <a:t>|</a:t>
            </a:r>
            <a:r>
              <a:rPr lang="tr-TR" sz="2800" b="1" dirty="0"/>
              <a:t> </a:t>
            </a:r>
            <a:r>
              <a:rPr lang="en-US" sz="2800" b="1" dirty="0"/>
              <a:t>ε</a:t>
            </a:r>
            <a:endParaRPr lang="tr-TR" sz="2800" b="1" dirty="0"/>
          </a:p>
          <a:p>
            <a:pPr marL="0" indent="0">
              <a:buFont typeface="Wingdings 3" charset="2"/>
              <a:buNone/>
            </a:pPr>
            <a:r>
              <a:rPr lang="tr-TR" b="1" dirty="0"/>
              <a:t> </a:t>
            </a:r>
            <a:r>
              <a:rPr lang="en-US" sz="2800" b="1" dirty="0"/>
              <a:t>B → 00</a:t>
            </a:r>
            <a:r>
              <a:rPr lang="tr-TR" sz="2800" b="1" dirty="0"/>
              <a:t> </a:t>
            </a:r>
            <a:r>
              <a:rPr lang="en-US" sz="2800" b="1" dirty="0"/>
              <a:t>|</a:t>
            </a:r>
            <a:r>
              <a:rPr lang="tr-TR" sz="2800" b="1" dirty="0"/>
              <a:t> </a:t>
            </a:r>
            <a:r>
              <a:rPr lang="en-US" sz="2800" b="1" dirty="0"/>
              <a:t>ε</a:t>
            </a:r>
            <a:endParaRPr lang="tr-TR" sz="2800" b="1" dirty="0"/>
          </a:p>
        </p:txBody>
      </p:sp>
    </p:spTree>
    <p:extLst>
      <p:ext uri="{BB962C8B-B14F-4D97-AF65-F5344CB8AC3E}">
        <p14:creationId xmlns:p14="http://schemas.microsoft.com/office/powerpoint/2010/main" val="3023019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316583" cy="4767942"/>
          </a:xfrm>
        </p:spPr>
        <p:txBody>
          <a:bodyPr>
            <a:normAutofit/>
          </a:bodyPr>
          <a:lstStyle/>
          <a:p>
            <a:pPr marL="0" indent="0">
              <a:buNone/>
            </a:pPr>
            <a:r>
              <a:rPr lang="en-US" sz="2800" dirty="0"/>
              <a:t>2. Eliminate all ε-rules.</a:t>
            </a:r>
          </a:p>
          <a:p>
            <a:pPr marL="0" indent="0">
              <a:buNone/>
            </a:pPr>
            <a:endParaRPr lang="en-US" sz="2800" dirty="0"/>
          </a:p>
          <a:p>
            <a:pPr marL="0" indent="0">
              <a:buNone/>
            </a:pPr>
            <a:r>
              <a:rPr lang="tr-TR" sz="2800" dirty="0">
                <a:solidFill>
                  <a:schemeClr val="tx1"/>
                </a:solidFill>
              </a:rPr>
              <a:t>	S</a:t>
            </a:r>
            <a:r>
              <a:rPr lang="en-US" sz="2800" dirty="0">
                <a:solidFill>
                  <a:schemeClr val="tx1"/>
                </a:solidFill>
              </a:rPr>
              <a:t> </a:t>
            </a:r>
            <a:r>
              <a:rPr lang="tr-TR" sz="2800" dirty="0">
                <a:solidFill>
                  <a:schemeClr val="tx1"/>
                </a:solidFill>
              </a:rPr>
              <a:t> </a:t>
            </a:r>
            <a:r>
              <a:rPr lang="en-US" sz="2800" dirty="0">
                <a:solidFill>
                  <a:schemeClr val="tx1"/>
                </a:solidFill>
              </a:rPr>
              <a:t>→ </a:t>
            </a:r>
            <a:r>
              <a:rPr lang="tr-TR" sz="2800" dirty="0">
                <a:solidFill>
                  <a:schemeClr val="tx1"/>
                </a:solidFill>
              </a:rPr>
              <a:t>A								S</a:t>
            </a:r>
            <a:r>
              <a:rPr lang="en-US" sz="2800" dirty="0">
                <a:solidFill>
                  <a:schemeClr val="tx1"/>
                </a:solidFill>
              </a:rPr>
              <a:t> </a:t>
            </a:r>
            <a:r>
              <a:rPr lang="tr-TR" sz="2800" dirty="0">
                <a:solidFill>
                  <a:schemeClr val="tx1"/>
                </a:solidFill>
              </a:rPr>
              <a:t> </a:t>
            </a:r>
            <a:r>
              <a:rPr lang="en-US" sz="2800" dirty="0">
                <a:solidFill>
                  <a:schemeClr val="tx1"/>
                </a:solidFill>
              </a:rPr>
              <a:t>→ </a:t>
            </a:r>
            <a:r>
              <a:rPr lang="tr-TR" sz="2800" dirty="0">
                <a:solidFill>
                  <a:schemeClr val="tx1"/>
                </a:solidFill>
              </a:rPr>
              <a:t>A </a:t>
            </a:r>
            <a:r>
              <a:rPr lang="en-US" sz="2800" dirty="0">
                <a:solidFill>
                  <a:schemeClr val="tx1"/>
                </a:solidFill>
              </a:rPr>
              <a:t>|</a:t>
            </a:r>
            <a:r>
              <a:rPr lang="tr-TR" sz="2800" dirty="0">
                <a:solidFill>
                  <a:schemeClr val="tx1"/>
                </a:solidFill>
              </a:rPr>
              <a:t> </a:t>
            </a:r>
            <a:r>
              <a:rPr lang="en-US" sz="2800" dirty="0">
                <a:solidFill>
                  <a:srgbClr val="FF0000"/>
                </a:solidFill>
              </a:rPr>
              <a:t>ε</a:t>
            </a:r>
            <a:endParaRPr lang="tr-TR" sz="2800" dirty="0">
              <a:solidFill>
                <a:srgbClr val="FF0000"/>
              </a:solidFill>
            </a:endParaRPr>
          </a:p>
          <a:p>
            <a:pPr marL="0" indent="0">
              <a:buNone/>
            </a:pPr>
            <a:r>
              <a:rPr lang="tr-TR" sz="2800" dirty="0">
                <a:solidFill>
                  <a:schemeClr val="tx1"/>
                </a:solidFill>
              </a:rPr>
              <a:t>	</a:t>
            </a:r>
            <a:r>
              <a:rPr lang="en-US" sz="2800" dirty="0">
                <a:solidFill>
                  <a:schemeClr val="tx1"/>
                </a:solidFill>
              </a:rPr>
              <a:t>A → BAB</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B</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rgbClr val="FF0000"/>
                </a:solidFill>
              </a:rPr>
              <a:t>ε</a:t>
            </a:r>
            <a:r>
              <a:rPr lang="tr-TR" sz="2800" dirty="0">
                <a:solidFill>
                  <a:schemeClr val="tx1"/>
                </a:solidFill>
              </a:rPr>
              <a:t> 				</a:t>
            </a:r>
            <a:r>
              <a:rPr lang="en-US" sz="2800" dirty="0">
                <a:solidFill>
                  <a:schemeClr val="tx1"/>
                </a:solidFill>
              </a:rPr>
              <a:t>A → BAB</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B</a:t>
            </a:r>
            <a:r>
              <a:rPr lang="tr-TR" sz="2800" dirty="0">
                <a:solidFill>
                  <a:schemeClr val="tx1"/>
                </a:solidFill>
              </a:rPr>
              <a:t> </a:t>
            </a:r>
            <a:r>
              <a:rPr lang="en-US" sz="2800" dirty="0">
                <a:solidFill>
                  <a:schemeClr val="tx1"/>
                </a:solidFill>
              </a:rPr>
              <a:t>|</a:t>
            </a:r>
            <a:r>
              <a:rPr lang="tr-TR" sz="2800" dirty="0">
                <a:solidFill>
                  <a:schemeClr val="tx1"/>
                </a:solidFill>
              </a:rPr>
              <a:t> </a:t>
            </a:r>
            <a:r>
              <a:rPr lang="tr-TR" sz="2800" dirty="0">
                <a:solidFill>
                  <a:srgbClr val="FF0000"/>
                </a:solidFill>
              </a:rPr>
              <a:t>BB</a:t>
            </a:r>
          </a:p>
          <a:p>
            <a:pPr marL="0" indent="0">
              <a:buNone/>
            </a:pPr>
            <a:r>
              <a:rPr lang="tr-TR" sz="2800" dirty="0">
                <a:solidFill>
                  <a:schemeClr val="tx1"/>
                </a:solidFill>
              </a:rPr>
              <a:t>	</a:t>
            </a:r>
            <a:r>
              <a:rPr lang="en-US" sz="2800" dirty="0">
                <a:solidFill>
                  <a:schemeClr val="tx1"/>
                </a:solidFill>
              </a:rPr>
              <a:t>B </a:t>
            </a:r>
            <a:r>
              <a:rPr lang="tr-TR" sz="2800" dirty="0">
                <a:solidFill>
                  <a:schemeClr val="tx1"/>
                </a:solidFill>
              </a:rPr>
              <a:t> </a:t>
            </a:r>
            <a:r>
              <a:rPr lang="en-US" sz="2800" dirty="0">
                <a:solidFill>
                  <a:schemeClr val="tx1"/>
                </a:solidFill>
              </a:rPr>
              <a:t>→ 00</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ε</a:t>
            </a:r>
            <a:r>
              <a:rPr lang="tr-TR" sz="2800" dirty="0">
                <a:solidFill>
                  <a:schemeClr val="tx1"/>
                </a:solidFill>
              </a:rPr>
              <a:t> 						</a:t>
            </a:r>
            <a:r>
              <a:rPr lang="en-US" sz="2800" dirty="0">
                <a:solidFill>
                  <a:schemeClr val="tx1"/>
                </a:solidFill>
              </a:rPr>
              <a:t>B </a:t>
            </a:r>
            <a:r>
              <a:rPr lang="tr-TR" sz="2800" dirty="0">
                <a:solidFill>
                  <a:schemeClr val="tx1"/>
                </a:solidFill>
              </a:rPr>
              <a:t> </a:t>
            </a:r>
            <a:r>
              <a:rPr lang="en-US" sz="2800" dirty="0">
                <a:solidFill>
                  <a:schemeClr val="tx1"/>
                </a:solidFill>
              </a:rPr>
              <a:t>→ 00</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ε</a:t>
            </a:r>
            <a:endParaRPr lang="tr-TR" sz="2800" dirty="0">
              <a:solidFill>
                <a:schemeClr val="tx1"/>
              </a:solidFill>
            </a:endParaRPr>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t>A → BAB</a:t>
            </a:r>
            <a:r>
              <a:rPr lang="tr-TR" sz="2800" b="1" dirty="0"/>
              <a:t> </a:t>
            </a:r>
            <a:r>
              <a:rPr lang="en-US" sz="2800" b="1" dirty="0"/>
              <a:t>|</a:t>
            </a:r>
            <a:r>
              <a:rPr lang="tr-TR" sz="2800" b="1" dirty="0"/>
              <a:t> </a:t>
            </a:r>
            <a:r>
              <a:rPr lang="en-US" sz="2800" b="1" dirty="0"/>
              <a:t>B</a:t>
            </a:r>
            <a:r>
              <a:rPr lang="tr-TR" sz="2800" b="1" dirty="0"/>
              <a:t> </a:t>
            </a:r>
            <a:r>
              <a:rPr lang="en-US" sz="2800" b="1" dirty="0"/>
              <a:t>|</a:t>
            </a:r>
            <a:r>
              <a:rPr lang="tr-TR" sz="2800" b="1" dirty="0"/>
              <a:t> </a:t>
            </a:r>
            <a:r>
              <a:rPr lang="en-US" sz="2800" b="1" dirty="0"/>
              <a:t>ε</a:t>
            </a:r>
            <a:endParaRPr lang="tr-TR" sz="2800" b="1" dirty="0"/>
          </a:p>
          <a:p>
            <a:pPr marL="0" indent="0">
              <a:buFont typeface="Wingdings 3" charset="2"/>
              <a:buNone/>
            </a:pPr>
            <a:r>
              <a:rPr lang="tr-TR" b="1" dirty="0"/>
              <a:t> </a:t>
            </a:r>
            <a:r>
              <a:rPr lang="en-US" sz="2800" b="1" dirty="0"/>
              <a:t>B → 00</a:t>
            </a:r>
            <a:r>
              <a:rPr lang="tr-TR" sz="2800" b="1" dirty="0"/>
              <a:t> </a:t>
            </a:r>
            <a:r>
              <a:rPr lang="en-US" sz="2800" b="1" dirty="0"/>
              <a:t>|</a:t>
            </a:r>
            <a:r>
              <a:rPr lang="tr-TR" sz="2800" b="1" dirty="0"/>
              <a:t> </a:t>
            </a:r>
            <a:r>
              <a:rPr lang="en-US" sz="2800" b="1" dirty="0"/>
              <a:t>ε</a:t>
            </a:r>
            <a:endParaRPr lang="tr-TR" sz="2800" b="1" dirty="0"/>
          </a:p>
        </p:txBody>
      </p:sp>
      <p:sp>
        <p:nvSpPr>
          <p:cNvPr id="7" name="Dikdörtgen 6"/>
          <p:cNvSpPr/>
          <p:nvPr/>
        </p:nvSpPr>
        <p:spPr>
          <a:xfrm>
            <a:off x="3165267" y="5054617"/>
            <a:ext cx="1104790" cy="461665"/>
          </a:xfrm>
          <a:prstGeom prst="rect">
            <a:avLst/>
          </a:prstGeom>
        </p:spPr>
        <p:txBody>
          <a:bodyPr wrap="none">
            <a:spAutoFit/>
          </a:bodyPr>
          <a:lstStyle/>
          <a:p>
            <a:r>
              <a:rPr lang="en-US" sz="2400" b="1" dirty="0">
                <a:solidFill>
                  <a:srgbClr val="FF0000"/>
                </a:solidFill>
              </a:rPr>
              <a:t>A → ε</a:t>
            </a:r>
            <a:r>
              <a:rPr lang="tr-TR" sz="2400" b="1" dirty="0">
                <a:solidFill>
                  <a:srgbClr val="FF0000"/>
                </a:solidFill>
              </a:rPr>
              <a:t> </a:t>
            </a:r>
            <a:endParaRPr lang="en-US" sz="2400" b="1" dirty="0">
              <a:solidFill>
                <a:srgbClr val="FF0000"/>
              </a:solidFill>
            </a:endParaRPr>
          </a:p>
        </p:txBody>
      </p:sp>
      <p:sp>
        <p:nvSpPr>
          <p:cNvPr id="8" name="Simge &quot;Yok&quot; 7"/>
          <p:cNvSpPr/>
          <p:nvPr/>
        </p:nvSpPr>
        <p:spPr>
          <a:xfrm>
            <a:off x="3101936" y="4820471"/>
            <a:ext cx="1104790" cy="959790"/>
          </a:xfrm>
          <a:prstGeom prst="noSmoking">
            <a:avLst>
              <a:gd name="adj" fmla="val 167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Dikdörtgen 8"/>
          <p:cNvSpPr/>
          <p:nvPr/>
        </p:nvSpPr>
        <p:spPr>
          <a:xfrm>
            <a:off x="7372206" y="4776858"/>
            <a:ext cx="1249060" cy="830997"/>
          </a:xfrm>
          <a:prstGeom prst="rect">
            <a:avLst/>
          </a:prstGeom>
        </p:spPr>
        <p:txBody>
          <a:bodyPr wrap="none">
            <a:spAutoFit/>
          </a:bodyPr>
          <a:lstStyle/>
          <a:p>
            <a:r>
              <a:rPr lang="tr-TR" sz="2400" b="1" dirty="0">
                <a:solidFill>
                  <a:srgbClr val="FF0000"/>
                </a:solidFill>
              </a:rPr>
              <a:t>S</a:t>
            </a:r>
            <a:r>
              <a:rPr lang="tr-TR" sz="2000" b="1" dirty="0">
                <a:solidFill>
                  <a:srgbClr val="FF0000"/>
                </a:solidFill>
              </a:rPr>
              <a:t> </a:t>
            </a:r>
            <a:r>
              <a:rPr lang="en-US" sz="2400" b="1" dirty="0">
                <a:solidFill>
                  <a:srgbClr val="FF0000"/>
                </a:solidFill>
              </a:rPr>
              <a:t> → ε</a:t>
            </a:r>
            <a:r>
              <a:rPr lang="tr-TR" sz="2400" b="1" dirty="0">
                <a:solidFill>
                  <a:srgbClr val="FF0000"/>
                </a:solidFill>
              </a:rPr>
              <a:t> </a:t>
            </a:r>
          </a:p>
          <a:p>
            <a:r>
              <a:rPr lang="tr-TR" sz="2400" b="1" dirty="0">
                <a:solidFill>
                  <a:srgbClr val="FF0000"/>
                </a:solidFill>
              </a:rPr>
              <a:t>A</a:t>
            </a:r>
            <a:r>
              <a:rPr lang="en-US" sz="2400" b="1" dirty="0">
                <a:solidFill>
                  <a:srgbClr val="FF0000"/>
                </a:solidFill>
              </a:rPr>
              <a:t> →</a:t>
            </a:r>
            <a:r>
              <a:rPr lang="tr-TR" sz="2400" b="1" dirty="0">
                <a:solidFill>
                  <a:srgbClr val="FF0000"/>
                </a:solidFill>
              </a:rPr>
              <a:t> BB</a:t>
            </a:r>
            <a:endParaRPr lang="en-US" sz="2400" b="1" dirty="0">
              <a:solidFill>
                <a:srgbClr val="FF0000"/>
              </a:solidFill>
            </a:endParaRPr>
          </a:p>
        </p:txBody>
      </p:sp>
      <p:sp>
        <p:nvSpPr>
          <p:cNvPr id="11" name="Sağ Ok 10"/>
          <p:cNvSpPr/>
          <p:nvPr/>
        </p:nvSpPr>
        <p:spPr>
          <a:xfrm>
            <a:off x="6128657" y="3409043"/>
            <a:ext cx="696686" cy="63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294058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902371" cy="4767942"/>
          </a:xfrm>
        </p:spPr>
        <p:txBody>
          <a:bodyPr>
            <a:normAutofit/>
          </a:bodyPr>
          <a:lstStyle/>
          <a:p>
            <a:pPr marL="0" indent="0">
              <a:buNone/>
            </a:pPr>
            <a:r>
              <a:rPr lang="en-US" sz="2800" dirty="0"/>
              <a:t>2. Eliminate all ε-rules.</a:t>
            </a:r>
          </a:p>
          <a:p>
            <a:pPr marL="0" indent="0">
              <a:buNone/>
            </a:pPr>
            <a:endParaRPr lang="en-US" sz="2800" dirty="0"/>
          </a:p>
          <a:p>
            <a:pPr marL="0" indent="0">
              <a:buNone/>
            </a:pPr>
            <a:r>
              <a:rPr lang="tr-TR" sz="2800" dirty="0">
                <a:solidFill>
                  <a:schemeClr val="tx1"/>
                </a:solidFill>
              </a:rPr>
              <a:t>	S</a:t>
            </a:r>
            <a:r>
              <a:rPr lang="en-US" sz="2800" dirty="0">
                <a:solidFill>
                  <a:schemeClr val="tx1"/>
                </a:solidFill>
              </a:rPr>
              <a:t> </a:t>
            </a:r>
            <a:r>
              <a:rPr lang="tr-TR" sz="2800" dirty="0">
                <a:solidFill>
                  <a:schemeClr val="tx1"/>
                </a:solidFill>
              </a:rPr>
              <a:t> </a:t>
            </a:r>
            <a:r>
              <a:rPr lang="en-US" sz="2800" dirty="0">
                <a:solidFill>
                  <a:schemeClr val="tx1"/>
                </a:solidFill>
              </a:rPr>
              <a:t>→ </a:t>
            </a:r>
            <a:r>
              <a:rPr lang="tr-TR" sz="2800" dirty="0">
                <a:solidFill>
                  <a:schemeClr val="tx1"/>
                </a:solidFill>
              </a:rPr>
              <a:t>A</a:t>
            </a:r>
            <a:r>
              <a:rPr lang="en-US" sz="2800" dirty="0">
                <a:solidFill>
                  <a:schemeClr val="tx1"/>
                </a:solidFill>
              </a:rPr>
              <a:t> |</a:t>
            </a:r>
            <a:r>
              <a:rPr lang="tr-TR" sz="2800" dirty="0">
                <a:solidFill>
                  <a:schemeClr val="tx1"/>
                </a:solidFill>
              </a:rPr>
              <a:t> </a:t>
            </a:r>
            <a:r>
              <a:rPr lang="en-US" sz="2800" dirty="0">
                <a:solidFill>
                  <a:schemeClr val="tx1"/>
                </a:solidFill>
              </a:rPr>
              <a:t>ε</a:t>
            </a:r>
            <a:r>
              <a:rPr lang="tr-TR" sz="2800" dirty="0">
                <a:solidFill>
                  <a:schemeClr val="tx1"/>
                </a:solidFill>
              </a:rPr>
              <a:t> 							S</a:t>
            </a:r>
            <a:r>
              <a:rPr lang="en-US" sz="2800" dirty="0">
                <a:solidFill>
                  <a:schemeClr val="tx1"/>
                </a:solidFill>
              </a:rPr>
              <a:t> </a:t>
            </a:r>
            <a:r>
              <a:rPr lang="tr-TR" sz="2800" dirty="0">
                <a:solidFill>
                  <a:schemeClr val="tx1"/>
                </a:solidFill>
              </a:rPr>
              <a:t> </a:t>
            </a:r>
            <a:r>
              <a:rPr lang="en-US" sz="2800" dirty="0">
                <a:solidFill>
                  <a:schemeClr val="tx1"/>
                </a:solidFill>
              </a:rPr>
              <a:t>→ </a:t>
            </a:r>
            <a:r>
              <a:rPr lang="tr-TR" sz="2800" dirty="0">
                <a:solidFill>
                  <a:schemeClr val="tx1"/>
                </a:solidFill>
              </a:rPr>
              <a:t>A </a:t>
            </a:r>
            <a:r>
              <a:rPr lang="en-US" sz="2800" dirty="0">
                <a:solidFill>
                  <a:schemeClr val="tx1"/>
                </a:solidFill>
              </a:rPr>
              <a:t>|</a:t>
            </a:r>
            <a:r>
              <a:rPr lang="tr-TR" sz="2800" dirty="0">
                <a:solidFill>
                  <a:schemeClr val="tx1"/>
                </a:solidFill>
              </a:rPr>
              <a:t> </a:t>
            </a:r>
            <a:r>
              <a:rPr lang="en-US" sz="2800" dirty="0">
                <a:solidFill>
                  <a:schemeClr val="tx1"/>
                </a:solidFill>
              </a:rPr>
              <a:t>ε</a:t>
            </a:r>
            <a:endParaRPr lang="tr-TR" sz="2800" dirty="0">
              <a:solidFill>
                <a:schemeClr val="tx1"/>
              </a:solidFill>
            </a:endParaRPr>
          </a:p>
          <a:p>
            <a:pPr marL="0" indent="0">
              <a:buNone/>
            </a:pPr>
            <a:r>
              <a:rPr lang="tr-TR" sz="2800" dirty="0">
                <a:solidFill>
                  <a:schemeClr val="tx1"/>
                </a:solidFill>
              </a:rPr>
              <a:t>	</a:t>
            </a:r>
            <a:r>
              <a:rPr lang="en-US" sz="2800" dirty="0">
                <a:solidFill>
                  <a:schemeClr val="tx1"/>
                </a:solidFill>
              </a:rPr>
              <a:t>A → </a:t>
            </a:r>
            <a:r>
              <a:rPr lang="en-US" sz="2800" dirty="0">
                <a:solidFill>
                  <a:srgbClr val="0070C0"/>
                </a:solidFill>
              </a:rPr>
              <a:t>B</a:t>
            </a:r>
            <a:r>
              <a:rPr lang="en-US" sz="2800" dirty="0">
                <a:solidFill>
                  <a:schemeClr val="tx1"/>
                </a:solidFill>
              </a:rPr>
              <a:t>A</a:t>
            </a:r>
            <a:r>
              <a:rPr lang="en-US" sz="2800" dirty="0">
                <a:solidFill>
                  <a:srgbClr val="0070C0"/>
                </a:solidFill>
              </a:rPr>
              <a:t>B</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rgbClr val="0070C0"/>
                </a:solidFill>
              </a:rPr>
              <a:t>B</a:t>
            </a:r>
            <a:r>
              <a:rPr lang="tr-TR" sz="2800" dirty="0">
                <a:solidFill>
                  <a:schemeClr val="tx1"/>
                </a:solidFill>
              </a:rPr>
              <a:t> </a:t>
            </a:r>
            <a:r>
              <a:rPr lang="en-US" sz="2800" dirty="0">
                <a:solidFill>
                  <a:schemeClr val="tx1"/>
                </a:solidFill>
              </a:rPr>
              <a:t>| </a:t>
            </a:r>
            <a:r>
              <a:rPr lang="en-US" sz="2800" dirty="0">
                <a:solidFill>
                  <a:srgbClr val="0070C0"/>
                </a:solidFill>
              </a:rPr>
              <a:t>BB</a:t>
            </a:r>
            <a:r>
              <a:rPr lang="tr-TR" sz="2800" dirty="0">
                <a:solidFill>
                  <a:schemeClr val="tx1"/>
                </a:solidFill>
              </a:rPr>
              <a:t> 				</a:t>
            </a:r>
            <a:r>
              <a:rPr lang="en-US" sz="2800" dirty="0">
                <a:solidFill>
                  <a:schemeClr val="tx1"/>
                </a:solidFill>
              </a:rPr>
              <a:t>A</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BAB|B|</a:t>
            </a:r>
            <a:r>
              <a:rPr lang="tr-TR" sz="2800" dirty="0">
                <a:solidFill>
                  <a:schemeClr val="tx1"/>
                </a:solidFill>
              </a:rPr>
              <a:t>BB</a:t>
            </a:r>
            <a:r>
              <a:rPr lang="en-US" sz="2800" dirty="0">
                <a:solidFill>
                  <a:schemeClr val="tx1"/>
                </a:solidFill>
              </a:rPr>
              <a:t>|</a:t>
            </a:r>
            <a:r>
              <a:rPr lang="tr-TR" sz="2800" dirty="0">
                <a:solidFill>
                  <a:srgbClr val="FF0000"/>
                </a:solidFill>
              </a:rPr>
              <a:t>AB</a:t>
            </a:r>
            <a:r>
              <a:rPr lang="en-US" sz="2800" dirty="0">
                <a:solidFill>
                  <a:srgbClr val="FF0000"/>
                </a:solidFill>
              </a:rPr>
              <a:t>|</a:t>
            </a:r>
            <a:r>
              <a:rPr lang="tr-TR" sz="2800" dirty="0">
                <a:solidFill>
                  <a:srgbClr val="FF0000"/>
                </a:solidFill>
              </a:rPr>
              <a:t>BA</a:t>
            </a:r>
            <a:r>
              <a:rPr lang="en-US" sz="2800" dirty="0">
                <a:solidFill>
                  <a:srgbClr val="FF0000"/>
                </a:solidFill>
              </a:rPr>
              <a:t>|</a:t>
            </a:r>
            <a:r>
              <a:rPr lang="tr-TR" sz="2800" dirty="0">
                <a:solidFill>
                  <a:srgbClr val="FF0000"/>
                </a:solidFill>
              </a:rPr>
              <a:t>A</a:t>
            </a:r>
          </a:p>
          <a:p>
            <a:pPr marL="0" indent="0">
              <a:buNone/>
            </a:pPr>
            <a:r>
              <a:rPr lang="tr-TR" sz="2800" dirty="0">
                <a:solidFill>
                  <a:schemeClr val="tx1"/>
                </a:solidFill>
              </a:rPr>
              <a:t>	</a:t>
            </a:r>
            <a:r>
              <a:rPr lang="en-US" sz="2800" dirty="0">
                <a:solidFill>
                  <a:schemeClr val="tx1"/>
                </a:solidFill>
              </a:rPr>
              <a:t>B </a:t>
            </a:r>
            <a:r>
              <a:rPr lang="tr-TR" sz="2800" dirty="0">
                <a:solidFill>
                  <a:schemeClr val="tx1"/>
                </a:solidFill>
              </a:rPr>
              <a:t> </a:t>
            </a:r>
            <a:r>
              <a:rPr lang="en-US" sz="2800" dirty="0">
                <a:solidFill>
                  <a:schemeClr val="tx1"/>
                </a:solidFill>
              </a:rPr>
              <a:t>→ 00</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rgbClr val="FF0000"/>
                </a:solidFill>
              </a:rPr>
              <a:t>ε</a:t>
            </a:r>
            <a:r>
              <a:rPr lang="tr-TR" sz="2800" dirty="0">
                <a:solidFill>
                  <a:schemeClr val="tx1"/>
                </a:solidFill>
              </a:rPr>
              <a:t> 						</a:t>
            </a:r>
            <a:r>
              <a:rPr lang="en-US" sz="2800" dirty="0">
                <a:solidFill>
                  <a:schemeClr val="tx1"/>
                </a:solidFill>
              </a:rPr>
              <a:t>B </a:t>
            </a:r>
            <a:r>
              <a:rPr lang="tr-TR" sz="2800" dirty="0">
                <a:solidFill>
                  <a:schemeClr val="tx1"/>
                </a:solidFill>
              </a:rPr>
              <a:t> </a:t>
            </a:r>
            <a:r>
              <a:rPr lang="en-US" sz="2800" dirty="0">
                <a:solidFill>
                  <a:schemeClr val="tx1"/>
                </a:solidFill>
              </a:rPr>
              <a:t>→ 00</a:t>
            </a:r>
            <a:endParaRPr lang="tr-TR" sz="2800" dirty="0">
              <a:solidFill>
                <a:schemeClr val="tx1"/>
              </a:solidFill>
            </a:endParaRPr>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t>A → BAB</a:t>
            </a:r>
            <a:r>
              <a:rPr lang="tr-TR" sz="2800" b="1" dirty="0"/>
              <a:t> </a:t>
            </a:r>
            <a:r>
              <a:rPr lang="en-US" sz="2800" b="1" dirty="0"/>
              <a:t>|</a:t>
            </a:r>
            <a:r>
              <a:rPr lang="tr-TR" sz="2800" b="1" dirty="0"/>
              <a:t> </a:t>
            </a:r>
            <a:r>
              <a:rPr lang="en-US" sz="2800" b="1" dirty="0"/>
              <a:t>B</a:t>
            </a:r>
            <a:r>
              <a:rPr lang="tr-TR" sz="2800" b="1" dirty="0"/>
              <a:t> </a:t>
            </a:r>
            <a:r>
              <a:rPr lang="en-US" sz="2800" b="1" dirty="0"/>
              <a:t>|</a:t>
            </a:r>
            <a:r>
              <a:rPr lang="tr-TR" sz="2800" b="1" dirty="0"/>
              <a:t> </a:t>
            </a:r>
            <a:r>
              <a:rPr lang="en-US" sz="2800" b="1" dirty="0"/>
              <a:t>ε</a:t>
            </a:r>
            <a:endParaRPr lang="tr-TR" sz="2800" b="1" dirty="0"/>
          </a:p>
          <a:p>
            <a:pPr marL="0" indent="0">
              <a:buFont typeface="Wingdings 3" charset="2"/>
              <a:buNone/>
            </a:pPr>
            <a:r>
              <a:rPr lang="tr-TR" b="1" dirty="0"/>
              <a:t> </a:t>
            </a:r>
            <a:r>
              <a:rPr lang="en-US" sz="2800" b="1" dirty="0"/>
              <a:t>B → 00</a:t>
            </a:r>
            <a:r>
              <a:rPr lang="tr-TR" sz="2800" b="1" dirty="0"/>
              <a:t> </a:t>
            </a:r>
            <a:r>
              <a:rPr lang="en-US" sz="2800" b="1" dirty="0"/>
              <a:t>|</a:t>
            </a:r>
            <a:r>
              <a:rPr lang="tr-TR" sz="2800" b="1" dirty="0"/>
              <a:t> </a:t>
            </a:r>
            <a:r>
              <a:rPr lang="en-US" sz="2800" b="1" dirty="0"/>
              <a:t>ε</a:t>
            </a:r>
            <a:endParaRPr lang="tr-TR" sz="2800" b="1" dirty="0"/>
          </a:p>
        </p:txBody>
      </p:sp>
      <p:sp>
        <p:nvSpPr>
          <p:cNvPr id="12" name="Sağ Ok 11"/>
          <p:cNvSpPr/>
          <p:nvPr/>
        </p:nvSpPr>
        <p:spPr>
          <a:xfrm>
            <a:off x="6128657" y="3409043"/>
            <a:ext cx="696686" cy="63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kdörtgen 12"/>
          <p:cNvSpPr/>
          <p:nvPr/>
        </p:nvSpPr>
        <p:spPr>
          <a:xfrm>
            <a:off x="7294191" y="5549916"/>
            <a:ext cx="2300630" cy="461665"/>
          </a:xfrm>
          <a:prstGeom prst="rect">
            <a:avLst/>
          </a:prstGeom>
        </p:spPr>
        <p:txBody>
          <a:bodyPr wrap="none">
            <a:spAutoFit/>
          </a:bodyPr>
          <a:lstStyle/>
          <a:p>
            <a:r>
              <a:rPr lang="tr-TR" sz="2400" b="1" dirty="0">
                <a:solidFill>
                  <a:srgbClr val="FF0000"/>
                </a:solidFill>
              </a:rPr>
              <a:t>A</a:t>
            </a:r>
            <a:r>
              <a:rPr lang="en-US" sz="2400" b="1" dirty="0">
                <a:solidFill>
                  <a:srgbClr val="FF0000"/>
                </a:solidFill>
              </a:rPr>
              <a:t> →</a:t>
            </a:r>
            <a:r>
              <a:rPr lang="tr-TR" sz="2400" b="1" dirty="0">
                <a:solidFill>
                  <a:srgbClr val="FF0000"/>
                </a:solidFill>
              </a:rPr>
              <a:t> AB|BA|A</a:t>
            </a:r>
            <a:endParaRPr lang="en-US" sz="2400" b="1" dirty="0">
              <a:solidFill>
                <a:srgbClr val="FF0000"/>
              </a:solidFill>
            </a:endParaRPr>
          </a:p>
        </p:txBody>
      </p:sp>
      <p:sp>
        <p:nvSpPr>
          <p:cNvPr id="14" name="Dikdörtgen 13"/>
          <p:cNvSpPr/>
          <p:nvPr/>
        </p:nvSpPr>
        <p:spPr>
          <a:xfrm>
            <a:off x="3165267" y="5549917"/>
            <a:ext cx="1064715" cy="461665"/>
          </a:xfrm>
          <a:prstGeom prst="rect">
            <a:avLst/>
          </a:prstGeom>
        </p:spPr>
        <p:txBody>
          <a:bodyPr wrap="none">
            <a:spAutoFit/>
          </a:bodyPr>
          <a:lstStyle/>
          <a:p>
            <a:r>
              <a:rPr lang="tr-TR" sz="2400" b="1" dirty="0">
                <a:solidFill>
                  <a:srgbClr val="FF0000"/>
                </a:solidFill>
              </a:rPr>
              <a:t>B</a:t>
            </a:r>
            <a:r>
              <a:rPr lang="en-US" sz="2400" b="1" dirty="0">
                <a:solidFill>
                  <a:srgbClr val="FF0000"/>
                </a:solidFill>
              </a:rPr>
              <a:t> → ε</a:t>
            </a:r>
            <a:r>
              <a:rPr lang="tr-TR" sz="2400" b="1" dirty="0">
                <a:solidFill>
                  <a:srgbClr val="FF0000"/>
                </a:solidFill>
              </a:rPr>
              <a:t> </a:t>
            </a:r>
            <a:endParaRPr lang="en-US" sz="2400" b="1" dirty="0">
              <a:solidFill>
                <a:srgbClr val="FF0000"/>
              </a:solidFill>
            </a:endParaRPr>
          </a:p>
        </p:txBody>
      </p:sp>
      <p:sp>
        <p:nvSpPr>
          <p:cNvPr id="15" name="Simge &quot;Yok&quot; 14"/>
          <p:cNvSpPr/>
          <p:nvPr/>
        </p:nvSpPr>
        <p:spPr>
          <a:xfrm>
            <a:off x="3101936" y="5315771"/>
            <a:ext cx="1104790" cy="959790"/>
          </a:xfrm>
          <a:prstGeom prst="noSmoking">
            <a:avLst>
              <a:gd name="adj" fmla="val 167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06797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solidFill>
                  <a:schemeClr val="bg1">
                    <a:lumMod val="65000"/>
                  </a:schemeClr>
                </a:solidFill>
              </a:rPr>
              <a:t>An Example on CFG2CNF</a:t>
            </a:r>
          </a:p>
        </p:txBody>
      </p:sp>
      <p:sp>
        <p:nvSpPr>
          <p:cNvPr id="3" name="İçerik Yer Tutucusu 2"/>
          <p:cNvSpPr>
            <a:spLocks noGrp="1"/>
          </p:cNvSpPr>
          <p:nvPr>
            <p:ph idx="1"/>
          </p:nvPr>
        </p:nvSpPr>
        <p:spPr>
          <a:xfrm>
            <a:off x="2188029" y="1779814"/>
            <a:ext cx="9902371" cy="4767942"/>
          </a:xfrm>
        </p:spPr>
        <p:txBody>
          <a:bodyPr>
            <a:normAutofit/>
          </a:bodyPr>
          <a:lstStyle/>
          <a:p>
            <a:pPr marL="0" indent="0">
              <a:buNone/>
            </a:pPr>
            <a:r>
              <a:rPr lang="en-US" sz="2800" dirty="0">
                <a:solidFill>
                  <a:schemeClr val="bg1">
                    <a:lumMod val="65000"/>
                  </a:schemeClr>
                </a:solidFill>
              </a:rPr>
              <a:t>2. Eliminate all ε-rules.</a:t>
            </a:r>
          </a:p>
          <a:p>
            <a:pPr marL="0" indent="0">
              <a:buNone/>
            </a:pPr>
            <a:endParaRPr lang="en-US" sz="2800" dirty="0"/>
          </a:p>
          <a:p>
            <a:pPr marL="0" indent="0">
              <a:buNone/>
            </a:pPr>
            <a:r>
              <a:rPr lang="tr-TR" sz="2800" dirty="0">
                <a:solidFill>
                  <a:schemeClr val="tx1"/>
                </a:solidFill>
              </a:rPr>
              <a:t>	</a:t>
            </a:r>
          </a:p>
          <a:p>
            <a:pPr marL="0" indent="0">
              <a:buNone/>
            </a:pPr>
            <a:r>
              <a:rPr lang="tr-TR" sz="2800" dirty="0">
                <a:solidFill>
                  <a:schemeClr val="tx1"/>
                </a:solidFill>
              </a:rPr>
              <a:t>	</a:t>
            </a:r>
            <a:r>
              <a:rPr lang="en-US" sz="2800" dirty="0">
                <a:solidFill>
                  <a:schemeClr val="bg1">
                    <a:lumMod val="65000"/>
                  </a:schemeClr>
                </a:solidFill>
              </a:rPr>
              <a:t>A →</a:t>
            </a:r>
            <a:r>
              <a:rPr lang="en-US" sz="2800" dirty="0">
                <a:solidFill>
                  <a:schemeClr val="tx1"/>
                </a:solidFill>
              </a:rPr>
              <a:t> </a:t>
            </a:r>
            <a:r>
              <a:rPr lang="en-US" sz="2800" dirty="0">
                <a:solidFill>
                  <a:srgbClr val="0070C0"/>
                </a:solidFill>
              </a:rPr>
              <a:t>B</a:t>
            </a:r>
            <a:r>
              <a:rPr lang="en-US" sz="2800" dirty="0">
                <a:solidFill>
                  <a:schemeClr val="tx1"/>
                </a:solidFill>
              </a:rPr>
              <a:t>A</a:t>
            </a:r>
            <a:r>
              <a:rPr lang="en-US" sz="2800" dirty="0">
                <a:solidFill>
                  <a:srgbClr val="0070C0"/>
                </a:solidFill>
              </a:rPr>
              <a:t>B</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rgbClr val="0070C0"/>
                </a:solidFill>
              </a:rPr>
              <a:t>B</a:t>
            </a:r>
            <a:r>
              <a:rPr lang="tr-TR" sz="2800" dirty="0">
                <a:solidFill>
                  <a:srgbClr val="0070C0"/>
                </a:solidFill>
              </a:rPr>
              <a:t> </a:t>
            </a:r>
            <a:r>
              <a:rPr lang="tr-TR" sz="2800" dirty="0">
                <a:solidFill>
                  <a:schemeClr val="tx1"/>
                </a:solidFill>
              </a:rPr>
              <a:t> </a:t>
            </a:r>
            <a:r>
              <a:rPr lang="en-US" sz="2800" dirty="0">
                <a:solidFill>
                  <a:schemeClr val="tx1"/>
                </a:solidFill>
              </a:rPr>
              <a:t>| </a:t>
            </a:r>
            <a:r>
              <a:rPr lang="tr-TR" sz="2800" dirty="0">
                <a:solidFill>
                  <a:schemeClr val="tx1"/>
                </a:solidFill>
              </a:rPr>
              <a:t> </a:t>
            </a:r>
            <a:r>
              <a:rPr lang="en-US" sz="2800" dirty="0">
                <a:solidFill>
                  <a:srgbClr val="0070C0"/>
                </a:solidFill>
              </a:rPr>
              <a:t>BB</a:t>
            </a:r>
            <a:r>
              <a:rPr lang="tr-TR" sz="2800" dirty="0">
                <a:solidFill>
                  <a:schemeClr val="tx1"/>
                </a:solidFill>
              </a:rPr>
              <a:t> 		</a:t>
            </a:r>
            <a:r>
              <a:rPr lang="en-US" sz="2800" dirty="0">
                <a:solidFill>
                  <a:schemeClr val="bg1">
                    <a:lumMod val="65000"/>
                  </a:schemeClr>
                </a:solidFill>
              </a:rPr>
              <a:t>A</a:t>
            </a:r>
            <a:r>
              <a:rPr lang="tr-TR" sz="2800" dirty="0">
                <a:solidFill>
                  <a:schemeClr val="bg1">
                    <a:lumMod val="65000"/>
                  </a:schemeClr>
                </a:solidFill>
              </a:rPr>
              <a:t> </a:t>
            </a:r>
            <a:r>
              <a:rPr lang="en-US" sz="2800" dirty="0">
                <a:solidFill>
                  <a:schemeClr val="bg1">
                    <a:lumMod val="65000"/>
                  </a:schemeClr>
                </a:solidFill>
              </a:rPr>
              <a:t>→</a:t>
            </a:r>
            <a:r>
              <a:rPr lang="tr-TR" sz="2800" dirty="0">
                <a:solidFill>
                  <a:schemeClr val="bg1">
                    <a:lumMod val="65000"/>
                  </a:schemeClr>
                </a:solidFill>
              </a:rPr>
              <a:t> </a:t>
            </a:r>
            <a:r>
              <a:rPr lang="en-US" sz="2800" dirty="0">
                <a:solidFill>
                  <a:schemeClr val="bg1">
                    <a:lumMod val="65000"/>
                  </a:schemeClr>
                </a:solidFill>
              </a:rPr>
              <a:t>BAB|B|</a:t>
            </a:r>
            <a:r>
              <a:rPr lang="tr-TR" sz="2800" dirty="0">
                <a:solidFill>
                  <a:schemeClr val="bg1">
                    <a:lumMod val="65000"/>
                  </a:schemeClr>
                </a:solidFill>
              </a:rPr>
              <a:t>BB</a:t>
            </a:r>
            <a:r>
              <a:rPr lang="en-US" sz="2800" dirty="0">
                <a:solidFill>
                  <a:schemeClr val="bg1">
                    <a:lumMod val="65000"/>
                  </a:schemeClr>
                </a:solidFill>
              </a:rPr>
              <a:t>|</a:t>
            </a:r>
            <a:r>
              <a:rPr lang="tr-TR" sz="2800" dirty="0">
                <a:solidFill>
                  <a:srgbClr val="FF0000"/>
                </a:solidFill>
              </a:rPr>
              <a:t>AB</a:t>
            </a:r>
            <a:r>
              <a:rPr lang="en-US" sz="2800" dirty="0">
                <a:solidFill>
                  <a:srgbClr val="FF0000"/>
                </a:solidFill>
              </a:rPr>
              <a:t>|</a:t>
            </a:r>
            <a:r>
              <a:rPr lang="tr-TR" sz="2800" dirty="0">
                <a:solidFill>
                  <a:srgbClr val="FF0000"/>
                </a:solidFill>
              </a:rPr>
              <a:t>BA</a:t>
            </a:r>
            <a:r>
              <a:rPr lang="en-US" sz="2800" dirty="0">
                <a:solidFill>
                  <a:srgbClr val="FF0000"/>
                </a:solidFill>
              </a:rPr>
              <a:t>|</a:t>
            </a:r>
            <a:r>
              <a:rPr lang="tr-TR" sz="2800" dirty="0">
                <a:solidFill>
                  <a:srgbClr val="FF0000"/>
                </a:solidFill>
              </a:rPr>
              <a:t>A</a:t>
            </a:r>
          </a:p>
          <a:p>
            <a:pPr marL="0" indent="0">
              <a:buNone/>
            </a:pPr>
            <a:r>
              <a:rPr lang="tr-TR" sz="2800" dirty="0">
                <a:solidFill>
                  <a:schemeClr val="tx1"/>
                </a:solidFill>
              </a:rPr>
              <a:t>			</a:t>
            </a:r>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solidFill>
                  <a:schemeClr val="bg1">
                    <a:lumMod val="65000"/>
                  </a:schemeClr>
                </a:solidFill>
              </a:rPr>
              <a:t>A → BAB</a:t>
            </a:r>
            <a:r>
              <a:rPr lang="tr-TR" sz="2800" b="1" dirty="0">
                <a:solidFill>
                  <a:schemeClr val="bg1">
                    <a:lumMod val="65000"/>
                  </a:schemeClr>
                </a:solidFill>
              </a:rPr>
              <a:t> </a:t>
            </a:r>
            <a:r>
              <a:rPr lang="en-US" sz="2800" b="1" dirty="0">
                <a:solidFill>
                  <a:schemeClr val="bg1">
                    <a:lumMod val="65000"/>
                  </a:schemeClr>
                </a:solidFill>
              </a:rPr>
              <a:t>|</a:t>
            </a:r>
            <a:r>
              <a:rPr lang="tr-TR" sz="2800" b="1" dirty="0">
                <a:solidFill>
                  <a:schemeClr val="bg1">
                    <a:lumMod val="65000"/>
                  </a:schemeClr>
                </a:solidFill>
              </a:rPr>
              <a:t> </a:t>
            </a:r>
            <a:r>
              <a:rPr lang="en-US" sz="2800" b="1" dirty="0">
                <a:solidFill>
                  <a:schemeClr val="bg1">
                    <a:lumMod val="65000"/>
                  </a:schemeClr>
                </a:solidFill>
              </a:rPr>
              <a:t>B</a:t>
            </a:r>
            <a:r>
              <a:rPr lang="tr-TR" sz="2800" b="1" dirty="0">
                <a:solidFill>
                  <a:schemeClr val="bg1">
                    <a:lumMod val="65000"/>
                  </a:schemeClr>
                </a:solidFill>
              </a:rPr>
              <a:t> </a:t>
            </a:r>
            <a:r>
              <a:rPr lang="en-US" sz="2800" b="1" dirty="0">
                <a:solidFill>
                  <a:schemeClr val="bg1">
                    <a:lumMod val="65000"/>
                  </a:schemeClr>
                </a:solidFill>
              </a:rPr>
              <a:t>|</a:t>
            </a:r>
            <a:r>
              <a:rPr lang="tr-TR" sz="2800" b="1" dirty="0">
                <a:solidFill>
                  <a:schemeClr val="bg1">
                    <a:lumMod val="65000"/>
                  </a:schemeClr>
                </a:solidFill>
              </a:rPr>
              <a:t> </a:t>
            </a:r>
            <a:r>
              <a:rPr lang="en-US" sz="2800" b="1" dirty="0">
                <a:solidFill>
                  <a:schemeClr val="bg1">
                    <a:lumMod val="65000"/>
                  </a:schemeClr>
                </a:solidFill>
              </a:rPr>
              <a:t>ε</a:t>
            </a:r>
            <a:endParaRPr lang="tr-TR" sz="2800" b="1" dirty="0">
              <a:solidFill>
                <a:schemeClr val="bg1">
                  <a:lumMod val="65000"/>
                </a:schemeClr>
              </a:solidFill>
            </a:endParaRPr>
          </a:p>
          <a:p>
            <a:pPr marL="0" indent="0">
              <a:buFont typeface="Wingdings 3" charset="2"/>
              <a:buNone/>
            </a:pPr>
            <a:r>
              <a:rPr lang="tr-TR" b="1" dirty="0">
                <a:solidFill>
                  <a:schemeClr val="bg1">
                    <a:lumMod val="65000"/>
                  </a:schemeClr>
                </a:solidFill>
              </a:rPr>
              <a:t> </a:t>
            </a:r>
            <a:r>
              <a:rPr lang="en-US" sz="2800" b="1" dirty="0">
                <a:solidFill>
                  <a:schemeClr val="bg1">
                    <a:lumMod val="65000"/>
                  </a:schemeClr>
                </a:solidFill>
              </a:rPr>
              <a:t>B → 00</a:t>
            </a:r>
            <a:r>
              <a:rPr lang="tr-TR" sz="2800" b="1" dirty="0">
                <a:solidFill>
                  <a:schemeClr val="bg1">
                    <a:lumMod val="65000"/>
                  </a:schemeClr>
                </a:solidFill>
              </a:rPr>
              <a:t> </a:t>
            </a:r>
            <a:r>
              <a:rPr lang="en-US" sz="2800" b="1" dirty="0">
                <a:solidFill>
                  <a:schemeClr val="bg1">
                    <a:lumMod val="65000"/>
                  </a:schemeClr>
                </a:solidFill>
              </a:rPr>
              <a:t>|</a:t>
            </a:r>
            <a:r>
              <a:rPr lang="tr-TR" sz="2800" b="1" dirty="0">
                <a:solidFill>
                  <a:schemeClr val="bg1">
                    <a:lumMod val="65000"/>
                  </a:schemeClr>
                </a:solidFill>
              </a:rPr>
              <a:t> </a:t>
            </a:r>
            <a:r>
              <a:rPr lang="en-US" sz="2800" b="1" dirty="0">
                <a:solidFill>
                  <a:schemeClr val="bg1">
                    <a:lumMod val="65000"/>
                  </a:schemeClr>
                </a:solidFill>
              </a:rPr>
              <a:t>ε</a:t>
            </a:r>
            <a:endParaRPr lang="tr-TR" sz="2800" b="1" dirty="0">
              <a:solidFill>
                <a:schemeClr val="bg1">
                  <a:lumMod val="65000"/>
                </a:schemeClr>
              </a:solidFill>
            </a:endParaRPr>
          </a:p>
        </p:txBody>
      </p:sp>
      <p:sp>
        <p:nvSpPr>
          <p:cNvPr id="5" name="Sağ Ok 4"/>
          <p:cNvSpPr/>
          <p:nvPr/>
        </p:nvSpPr>
        <p:spPr>
          <a:xfrm>
            <a:off x="6128657" y="3409043"/>
            <a:ext cx="696686" cy="63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461657" y="3434443"/>
            <a:ext cx="865414" cy="509814"/>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Dikdörtgen 11"/>
          <p:cNvSpPr/>
          <p:nvPr/>
        </p:nvSpPr>
        <p:spPr>
          <a:xfrm>
            <a:off x="2498168" y="4733925"/>
            <a:ext cx="489236" cy="369332"/>
          </a:xfrm>
          <a:prstGeom prst="rect">
            <a:avLst/>
          </a:prstGeom>
        </p:spPr>
        <p:txBody>
          <a:bodyPr wrap="none">
            <a:spAutoFit/>
          </a:bodyPr>
          <a:lstStyle/>
          <a:p>
            <a:r>
              <a:rPr lang="tr-TR" dirty="0">
                <a:solidFill>
                  <a:srgbClr val="FF0000"/>
                </a:solidFill>
              </a:rPr>
              <a:t>AB</a:t>
            </a:r>
          </a:p>
        </p:txBody>
      </p:sp>
      <p:cxnSp>
        <p:nvCxnSpPr>
          <p:cNvPr id="14" name="Düz Ok Bağlayıcısı 13"/>
          <p:cNvCxnSpPr>
            <a:stCxn id="4" idx="3"/>
          </p:cNvCxnSpPr>
          <p:nvPr/>
        </p:nvCxnSpPr>
        <p:spPr>
          <a:xfrm flipH="1">
            <a:off x="2781300" y="3869596"/>
            <a:ext cx="807094" cy="8643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Dikdörtgen 14"/>
          <p:cNvSpPr/>
          <p:nvPr/>
        </p:nvSpPr>
        <p:spPr>
          <a:xfrm>
            <a:off x="2742229" y="4092654"/>
            <a:ext cx="474810" cy="338554"/>
          </a:xfrm>
          <a:prstGeom prst="rect">
            <a:avLst/>
          </a:prstGeom>
        </p:spPr>
        <p:txBody>
          <a:bodyPr wrap="none">
            <a:spAutoFit/>
          </a:bodyPr>
          <a:lstStyle/>
          <a:p>
            <a:r>
              <a:rPr lang="el-GR" sz="1600" dirty="0">
                <a:solidFill>
                  <a:srgbClr val="4F75B4"/>
                </a:solidFill>
              </a:rPr>
              <a:t>ε</a:t>
            </a:r>
            <a:r>
              <a:rPr lang="tr-TR" sz="1200" dirty="0">
                <a:solidFill>
                  <a:srgbClr val="4F75B4"/>
                </a:solidFill>
              </a:rPr>
              <a:t>AB</a:t>
            </a:r>
          </a:p>
        </p:txBody>
      </p:sp>
      <p:cxnSp>
        <p:nvCxnSpPr>
          <p:cNvPr id="16" name="Düz Ok Bağlayıcısı 15"/>
          <p:cNvCxnSpPr>
            <a:stCxn id="4" idx="4"/>
          </p:cNvCxnSpPr>
          <p:nvPr/>
        </p:nvCxnSpPr>
        <p:spPr>
          <a:xfrm flipH="1">
            <a:off x="3461657" y="3944257"/>
            <a:ext cx="432707" cy="7896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Dikdörtgen 18"/>
          <p:cNvSpPr/>
          <p:nvPr/>
        </p:nvSpPr>
        <p:spPr>
          <a:xfrm>
            <a:off x="3211142" y="4741081"/>
            <a:ext cx="489236" cy="369332"/>
          </a:xfrm>
          <a:prstGeom prst="rect">
            <a:avLst/>
          </a:prstGeom>
        </p:spPr>
        <p:txBody>
          <a:bodyPr wrap="none">
            <a:spAutoFit/>
          </a:bodyPr>
          <a:lstStyle/>
          <a:p>
            <a:r>
              <a:rPr lang="tr-TR" dirty="0">
                <a:solidFill>
                  <a:srgbClr val="FF0000"/>
                </a:solidFill>
              </a:rPr>
              <a:t>BA</a:t>
            </a:r>
          </a:p>
        </p:txBody>
      </p:sp>
      <p:sp>
        <p:nvSpPr>
          <p:cNvPr id="20" name="Dikdörtgen 19"/>
          <p:cNvSpPr/>
          <p:nvPr/>
        </p:nvSpPr>
        <p:spPr>
          <a:xfrm>
            <a:off x="3300800" y="4092654"/>
            <a:ext cx="473206" cy="338554"/>
          </a:xfrm>
          <a:prstGeom prst="rect">
            <a:avLst/>
          </a:prstGeom>
        </p:spPr>
        <p:txBody>
          <a:bodyPr wrap="none">
            <a:spAutoFit/>
          </a:bodyPr>
          <a:lstStyle/>
          <a:p>
            <a:r>
              <a:rPr lang="tr-TR" sz="1200" dirty="0">
                <a:solidFill>
                  <a:srgbClr val="4F75B4"/>
                </a:solidFill>
              </a:rPr>
              <a:t>AB</a:t>
            </a:r>
            <a:r>
              <a:rPr lang="el-GR" sz="1600" dirty="0">
                <a:solidFill>
                  <a:srgbClr val="4F75B4"/>
                </a:solidFill>
              </a:rPr>
              <a:t>ε</a:t>
            </a:r>
            <a:endParaRPr lang="tr-TR" sz="1200" dirty="0">
              <a:solidFill>
                <a:srgbClr val="4F75B4"/>
              </a:solidFill>
            </a:endParaRPr>
          </a:p>
        </p:txBody>
      </p:sp>
      <p:cxnSp>
        <p:nvCxnSpPr>
          <p:cNvPr id="21" name="Düz Ok Bağlayıcısı 20"/>
          <p:cNvCxnSpPr>
            <a:stCxn id="4" idx="5"/>
          </p:cNvCxnSpPr>
          <p:nvPr/>
        </p:nvCxnSpPr>
        <p:spPr>
          <a:xfrm>
            <a:off x="4200334" y="3869596"/>
            <a:ext cx="1" cy="86432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Dikdörtgen 24"/>
          <p:cNvSpPr/>
          <p:nvPr/>
        </p:nvSpPr>
        <p:spPr>
          <a:xfrm>
            <a:off x="3811547" y="4092654"/>
            <a:ext cx="471604" cy="338554"/>
          </a:xfrm>
          <a:prstGeom prst="rect">
            <a:avLst/>
          </a:prstGeom>
        </p:spPr>
        <p:txBody>
          <a:bodyPr wrap="none">
            <a:spAutoFit/>
          </a:bodyPr>
          <a:lstStyle/>
          <a:p>
            <a:r>
              <a:rPr lang="el-GR" sz="1600" dirty="0">
                <a:solidFill>
                  <a:srgbClr val="4F75B4"/>
                </a:solidFill>
              </a:rPr>
              <a:t>ε</a:t>
            </a:r>
            <a:r>
              <a:rPr lang="tr-TR" sz="1200" dirty="0">
                <a:solidFill>
                  <a:srgbClr val="4F75B4"/>
                </a:solidFill>
              </a:rPr>
              <a:t>A</a:t>
            </a:r>
            <a:r>
              <a:rPr lang="el-GR" sz="1600" dirty="0">
                <a:solidFill>
                  <a:srgbClr val="4F75B4"/>
                </a:solidFill>
              </a:rPr>
              <a:t>ε</a:t>
            </a:r>
            <a:endParaRPr lang="tr-TR" sz="1200" dirty="0">
              <a:solidFill>
                <a:srgbClr val="4F75B4"/>
              </a:solidFill>
            </a:endParaRPr>
          </a:p>
        </p:txBody>
      </p:sp>
      <p:sp>
        <p:nvSpPr>
          <p:cNvPr id="26" name="Dikdörtgen 25"/>
          <p:cNvSpPr/>
          <p:nvPr/>
        </p:nvSpPr>
        <p:spPr>
          <a:xfrm>
            <a:off x="4016556" y="4741081"/>
            <a:ext cx="356188" cy="369332"/>
          </a:xfrm>
          <a:prstGeom prst="rect">
            <a:avLst/>
          </a:prstGeom>
        </p:spPr>
        <p:txBody>
          <a:bodyPr wrap="none">
            <a:spAutoFit/>
          </a:bodyPr>
          <a:lstStyle/>
          <a:p>
            <a:r>
              <a:rPr lang="tr-TR" dirty="0">
                <a:solidFill>
                  <a:srgbClr val="FF0000"/>
                </a:solidFill>
              </a:rPr>
              <a:t>A</a:t>
            </a:r>
          </a:p>
        </p:txBody>
      </p:sp>
      <p:sp>
        <p:nvSpPr>
          <p:cNvPr id="27" name="Oval 26"/>
          <p:cNvSpPr/>
          <p:nvPr/>
        </p:nvSpPr>
        <p:spPr>
          <a:xfrm>
            <a:off x="4656204" y="3434443"/>
            <a:ext cx="501124" cy="509814"/>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Oval 27"/>
          <p:cNvSpPr/>
          <p:nvPr/>
        </p:nvSpPr>
        <p:spPr>
          <a:xfrm>
            <a:off x="5554961" y="3434443"/>
            <a:ext cx="641086" cy="509814"/>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29" name="Düz Ok Bağlayıcısı 28"/>
          <p:cNvCxnSpPr>
            <a:stCxn id="27" idx="4"/>
          </p:cNvCxnSpPr>
          <p:nvPr/>
        </p:nvCxnSpPr>
        <p:spPr>
          <a:xfrm>
            <a:off x="4906766" y="3944257"/>
            <a:ext cx="0" cy="7896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Dikdörtgen 31"/>
          <p:cNvSpPr/>
          <p:nvPr/>
        </p:nvSpPr>
        <p:spPr>
          <a:xfrm>
            <a:off x="4611507" y="4694541"/>
            <a:ext cx="293670" cy="400110"/>
          </a:xfrm>
          <a:prstGeom prst="rect">
            <a:avLst/>
          </a:prstGeom>
        </p:spPr>
        <p:txBody>
          <a:bodyPr wrap="none">
            <a:spAutoFit/>
          </a:bodyPr>
          <a:lstStyle/>
          <a:p>
            <a:r>
              <a:rPr lang="el-GR" sz="2000" dirty="0"/>
              <a:t>ε</a:t>
            </a:r>
            <a:endParaRPr lang="tr-TR" sz="2000" dirty="0"/>
          </a:p>
        </p:txBody>
      </p:sp>
      <p:cxnSp>
        <p:nvCxnSpPr>
          <p:cNvPr id="33" name="Düz Ok Bağlayıcısı 32"/>
          <p:cNvCxnSpPr>
            <a:stCxn id="28" idx="4"/>
          </p:cNvCxnSpPr>
          <p:nvPr/>
        </p:nvCxnSpPr>
        <p:spPr>
          <a:xfrm flipH="1">
            <a:off x="5304400" y="3944257"/>
            <a:ext cx="571104" cy="7896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Dikdörtgen 36"/>
          <p:cNvSpPr/>
          <p:nvPr/>
        </p:nvSpPr>
        <p:spPr>
          <a:xfrm>
            <a:off x="4537850" y="4092654"/>
            <a:ext cx="271228" cy="338554"/>
          </a:xfrm>
          <a:prstGeom prst="rect">
            <a:avLst/>
          </a:prstGeom>
        </p:spPr>
        <p:txBody>
          <a:bodyPr wrap="none">
            <a:spAutoFit/>
          </a:bodyPr>
          <a:lstStyle/>
          <a:p>
            <a:r>
              <a:rPr lang="el-GR" sz="1600" dirty="0">
                <a:solidFill>
                  <a:srgbClr val="4F75B4"/>
                </a:solidFill>
              </a:rPr>
              <a:t>ε</a:t>
            </a:r>
            <a:endParaRPr lang="tr-TR" sz="1200" dirty="0">
              <a:solidFill>
                <a:srgbClr val="4F75B4"/>
              </a:solidFill>
            </a:endParaRPr>
          </a:p>
        </p:txBody>
      </p:sp>
      <p:sp>
        <p:nvSpPr>
          <p:cNvPr id="38" name="Dikdörtgen 37"/>
          <p:cNvSpPr/>
          <p:nvPr/>
        </p:nvSpPr>
        <p:spPr>
          <a:xfrm>
            <a:off x="4950752" y="4095908"/>
            <a:ext cx="357790" cy="338554"/>
          </a:xfrm>
          <a:prstGeom prst="rect">
            <a:avLst/>
          </a:prstGeom>
        </p:spPr>
        <p:txBody>
          <a:bodyPr wrap="none">
            <a:spAutoFit/>
          </a:bodyPr>
          <a:lstStyle/>
          <a:p>
            <a:r>
              <a:rPr lang="el-GR" sz="1600" dirty="0">
                <a:solidFill>
                  <a:srgbClr val="4F75B4"/>
                </a:solidFill>
              </a:rPr>
              <a:t>εε</a:t>
            </a:r>
            <a:endParaRPr lang="tr-TR" sz="1200" dirty="0">
              <a:solidFill>
                <a:srgbClr val="4F75B4"/>
              </a:solidFill>
            </a:endParaRPr>
          </a:p>
        </p:txBody>
      </p:sp>
      <p:cxnSp>
        <p:nvCxnSpPr>
          <p:cNvPr id="39" name="Düz Ok Bağlayıcısı 38"/>
          <p:cNvCxnSpPr>
            <a:stCxn id="28" idx="4"/>
          </p:cNvCxnSpPr>
          <p:nvPr/>
        </p:nvCxnSpPr>
        <p:spPr>
          <a:xfrm>
            <a:off x="5875504" y="3944257"/>
            <a:ext cx="0" cy="75028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Dikdörtgen 42"/>
          <p:cNvSpPr/>
          <p:nvPr/>
        </p:nvSpPr>
        <p:spPr>
          <a:xfrm>
            <a:off x="5224440" y="4092654"/>
            <a:ext cx="590226" cy="584775"/>
          </a:xfrm>
          <a:prstGeom prst="rect">
            <a:avLst/>
          </a:prstGeom>
        </p:spPr>
        <p:txBody>
          <a:bodyPr wrap="none">
            <a:spAutoFit/>
          </a:bodyPr>
          <a:lstStyle/>
          <a:p>
            <a:r>
              <a:rPr lang="tr-TR" sz="1600" dirty="0">
                <a:solidFill>
                  <a:srgbClr val="4F75B4"/>
                </a:solidFill>
              </a:rPr>
              <a:t>    </a:t>
            </a:r>
            <a:r>
              <a:rPr lang="el-GR" sz="1600" dirty="0">
                <a:solidFill>
                  <a:srgbClr val="4F75B4"/>
                </a:solidFill>
              </a:rPr>
              <a:t>ε</a:t>
            </a:r>
            <a:r>
              <a:rPr lang="tr-TR" sz="1200" dirty="0">
                <a:solidFill>
                  <a:srgbClr val="4F75B4"/>
                </a:solidFill>
              </a:rPr>
              <a:t>B</a:t>
            </a:r>
          </a:p>
          <a:p>
            <a:r>
              <a:rPr lang="tr-TR" sz="1200" dirty="0">
                <a:solidFill>
                  <a:srgbClr val="4F75B4"/>
                </a:solidFill>
              </a:rPr>
              <a:t>     B</a:t>
            </a:r>
            <a:r>
              <a:rPr lang="el-GR" sz="1600" dirty="0">
                <a:solidFill>
                  <a:srgbClr val="4F75B4"/>
                </a:solidFill>
              </a:rPr>
              <a:t>ε</a:t>
            </a:r>
            <a:endParaRPr lang="tr-TR" sz="1200" dirty="0">
              <a:solidFill>
                <a:srgbClr val="4F75B4"/>
              </a:solidFill>
            </a:endParaRPr>
          </a:p>
        </p:txBody>
      </p:sp>
      <p:sp>
        <p:nvSpPr>
          <p:cNvPr id="44" name="Dikdörtgen 43"/>
          <p:cNvSpPr/>
          <p:nvPr/>
        </p:nvSpPr>
        <p:spPr>
          <a:xfrm>
            <a:off x="5359511" y="4741081"/>
            <a:ext cx="317716" cy="369332"/>
          </a:xfrm>
          <a:prstGeom prst="rect">
            <a:avLst/>
          </a:prstGeom>
        </p:spPr>
        <p:txBody>
          <a:bodyPr wrap="none">
            <a:spAutoFit/>
          </a:bodyPr>
          <a:lstStyle/>
          <a:p>
            <a:r>
              <a:rPr lang="tr-TR" dirty="0">
                <a:solidFill>
                  <a:srgbClr val="4F75B4"/>
                </a:solidFill>
              </a:rPr>
              <a:t>B</a:t>
            </a:r>
          </a:p>
        </p:txBody>
      </p:sp>
      <p:sp>
        <p:nvSpPr>
          <p:cNvPr id="45" name="Dikdörtgen 44"/>
          <p:cNvSpPr/>
          <p:nvPr/>
        </p:nvSpPr>
        <p:spPr>
          <a:xfrm>
            <a:off x="7294191" y="5549916"/>
            <a:ext cx="2300630" cy="461665"/>
          </a:xfrm>
          <a:prstGeom prst="rect">
            <a:avLst/>
          </a:prstGeom>
        </p:spPr>
        <p:txBody>
          <a:bodyPr wrap="none">
            <a:spAutoFit/>
          </a:bodyPr>
          <a:lstStyle/>
          <a:p>
            <a:r>
              <a:rPr lang="tr-TR" sz="2400" b="1" dirty="0">
                <a:solidFill>
                  <a:srgbClr val="FF0000"/>
                </a:solidFill>
              </a:rPr>
              <a:t>A</a:t>
            </a:r>
            <a:r>
              <a:rPr lang="en-US" sz="2400" b="1" dirty="0">
                <a:solidFill>
                  <a:srgbClr val="FF0000"/>
                </a:solidFill>
              </a:rPr>
              <a:t> →</a:t>
            </a:r>
            <a:r>
              <a:rPr lang="tr-TR" sz="2400" b="1" dirty="0">
                <a:solidFill>
                  <a:srgbClr val="FF0000"/>
                </a:solidFill>
              </a:rPr>
              <a:t> AB|BA|A</a:t>
            </a:r>
            <a:endParaRPr lang="en-US" sz="2400" b="1" dirty="0">
              <a:solidFill>
                <a:srgbClr val="FF0000"/>
              </a:solidFill>
            </a:endParaRPr>
          </a:p>
        </p:txBody>
      </p:sp>
      <p:sp>
        <p:nvSpPr>
          <p:cNvPr id="46" name="Dikdörtgen 45"/>
          <p:cNvSpPr/>
          <p:nvPr/>
        </p:nvSpPr>
        <p:spPr>
          <a:xfrm>
            <a:off x="3165267" y="5549917"/>
            <a:ext cx="1064715" cy="461665"/>
          </a:xfrm>
          <a:prstGeom prst="rect">
            <a:avLst/>
          </a:prstGeom>
        </p:spPr>
        <p:txBody>
          <a:bodyPr wrap="none">
            <a:spAutoFit/>
          </a:bodyPr>
          <a:lstStyle/>
          <a:p>
            <a:r>
              <a:rPr lang="tr-TR" sz="2400" b="1" dirty="0">
                <a:solidFill>
                  <a:srgbClr val="FF0000"/>
                </a:solidFill>
              </a:rPr>
              <a:t>B</a:t>
            </a:r>
            <a:r>
              <a:rPr lang="en-US" sz="2400" b="1" dirty="0">
                <a:solidFill>
                  <a:srgbClr val="FF0000"/>
                </a:solidFill>
              </a:rPr>
              <a:t> → ε</a:t>
            </a:r>
            <a:r>
              <a:rPr lang="tr-TR" sz="2400" b="1" dirty="0">
                <a:solidFill>
                  <a:srgbClr val="FF0000"/>
                </a:solidFill>
              </a:rPr>
              <a:t> </a:t>
            </a:r>
            <a:endParaRPr lang="en-US" sz="2400" b="1" dirty="0">
              <a:solidFill>
                <a:srgbClr val="FF0000"/>
              </a:solidFill>
            </a:endParaRPr>
          </a:p>
        </p:txBody>
      </p:sp>
      <p:sp>
        <p:nvSpPr>
          <p:cNvPr id="47" name="Simge &quot;Yok&quot; 46"/>
          <p:cNvSpPr/>
          <p:nvPr/>
        </p:nvSpPr>
        <p:spPr>
          <a:xfrm>
            <a:off x="3101936" y="5315771"/>
            <a:ext cx="1104790" cy="959790"/>
          </a:xfrm>
          <a:prstGeom prst="noSmoking">
            <a:avLst>
              <a:gd name="adj" fmla="val 167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107399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316583" cy="5078186"/>
          </a:xfrm>
        </p:spPr>
        <p:txBody>
          <a:bodyPr>
            <a:normAutofit/>
          </a:bodyPr>
          <a:lstStyle/>
          <a:p>
            <a:pPr marL="0" indent="0">
              <a:buNone/>
            </a:pPr>
            <a:r>
              <a:rPr lang="en-US" sz="2800" dirty="0"/>
              <a:t>3. Eliminate all unit-rules.</a:t>
            </a:r>
          </a:p>
          <a:p>
            <a:pPr marL="0" indent="0">
              <a:buNone/>
            </a:pPr>
            <a:r>
              <a:rPr lang="tr-TR" sz="2800" dirty="0"/>
              <a:t>														</a:t>
            </a:r>
            <a:r>
              <a:rPr lang="tr-TR" sz="2800" dirty="0">
                <a:solidFill>
                  <a:srgbClr val="FF0000"/>
                </a:solidFill>
              </a:rPr>
              <a:t> </a:t>
            </a:r>
            <a:r>
              <a:rPr lang="tr-TR" sz="2000" dirty="0">
                <a:solidFill>
                  <a:srgbClr val="FF0000"/>
                </a:solidFill>
              </a:rPr>
              <a:t>S </a:t>
            </a:r>
            <a:r>
              <a:rPr lang="en-US" sz="2000" dirty="0">
                <a:solidFill>
                  <a:srgbClr val="FF0000"/>
                </a:solidFill>
              </a:rPr>
              <a:t>→</a:t>
            </a:r>
            <a:r>
              <a:rPr lang="tr-TR" sz="2000" dirty="0">
                <a:solidFill>
                  <a:srgbClr val="FF0000"/>
                </a:solidFill>
              </a:rPr>
              <a:t> A</a:t>
            </a:r>
            <a:r>
              <a:rPr lang="en-US" sz="2000" dirty="0">
                <a:solidFill>
                  <a:srgbClr val="FF0000"/>
                </a:solidFill>
              </a:rPr>
              <a:t> </a:t>
            </a:r>
            <a:endParaRPr lang="en-US" sz="2800" dirty="0"/>
          </a:p>
          <a:p>
            <a:pPr marL="0" indent="0">
              <a:buNone/>
            </a:pPr>
            <a:r>
              <a:rPr lang="tr-TR" sz="2800" dirty="0">
                <a:solidFill>
                  <a:schemeClr val="tx1"/>
                </a:solidFill>
              </a:rPr>
              <a:t>	S</a:t>
            </a:r>
            <a:r>
              <a:rPr lang="en-US" sz="2800" dirty="0">
                <a:solidFill>
                  <a:schemeClr val="tx1"/>
                </a:solidFill>
              </a:rPr>
              <a:t> </a:t>
            </a:r>
            <a:r>
              <a:rPr lang="tr-TR" sz="2800" dirty="0">
                <a:solidFill>
                  <a:schemeClr val="tx1"/>
                </a:solidFill>
              </a:rPr>
              <a:t> </a:t>
            </a:r>
            <a:r>
              <a:rPr lang="en-US" sz="2800" dirty="0">
                <a:solidFill>
                  <a:schemeClr val="tx1"/>
                </a:solidFill>
              </a:rPr>
              <a:t>→ </a:t>
            </a:r>
            <a:r>
              <a:rPr lang="tr-TR" sz="2800" dirty="0">
                <a:solidFill>
                  <a:srgbClr val="FF0000"/>
                </a:solidFill>
              </a:rPr>
              <a:t>A</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ε</a:t>
            </a:r>
            <a:r>
              <a:rPr lang="tr-TR" sz="2800" dirty="0">
                <a:solidFill>
                  <a:schemeClr val="tx1"/>
                </a:solidFill>
              </a:rPr>
              <a:t>										</a:t>
            </a:r>
            <a:r>
              <a:rPr lang="tr-TR" sz="2800" dirty="0">
                <a:solidFill>
                  <a:srgbClr val="FF0000"/>
                </a:solidFill>
              </a:rPr>
              <a:t> </a:t>
            </a:r>
            <a:r>
              <a:rPr lang="en-US" sz="2000" dirty="0">
                <a:solidFill>
                  <a:srgbClr val="FF0000"/>
                </a:solidFill>
              </a:rPr>
              <a:t>A</a:t>
            </a:r>
            <a:r>
              <a:rPr lang="tr-TR" sz="2000" dirty="0">
                <a:solidFill>
                  <a:srgbClr val="FF0000"/>
                </a:solidFill>
              </a:rPr>
              <a:t> </a:t>
            </a:r>
            <a:r>
              <a:rPr lang="en-US" sz="2000" dirty="0">
                <a:solidFill>
                  <a:srgbClr val="FF0000"/>
                </a:solidFill>
              </a:rPr>
              <a:t>→</a:t>
            </a:r>
            <a:r>
              <a:rPr lang="tr-TR" sz="2000" dirty="0">
                <a:solidFill>
                  <a:srgbClr val="FF0000"/>
                </a:solidFill>
              </a:rPr>
              <a:t> </a:t>
            </a:r>
            <a:r>
              <a:rPr lang="en-US" sz="2000" dirty="0">
                <a:solidFill>
                  <a:srgbClr val="FF0000"/>
                </a:solidFill>
              </a:rPr>
              <a:t>B</a:t>
            </a:r>
            <a:r>
              <a:rPr lang="en-US" sz="2800" dirty="0">
                <a:solidFill>
                  <a:srgbClr val="FF0000"/>
                </a:solidFill>
              </a:rPr>
              <a:t> </a:t>
            </a:r>
            <a:endParaRPr lang="tr-TR" sz="2000" dirty="0">
              <a:solidFill>
                <a:schemeClr val="tx1"/>
              </a:solidFill>
            </a:endParaRPr>
          </a:p>
          <a:p>
            <a:pPr marL="0" indent="0">
              <a:buNone/>
            </a:pPr>
            <a:r>
              <a:rPr lang="tr-TR" sz="2800" dirty="0">
                <a:solidFill>
                  <a:schemeClr val="tx1"/>
                </a:solidFill>
              </a:rPr>
              <a:t>	</a:t>
            </a:r>
            <a:r>
              <a:rPr lang="en-US" sz="2800" dirty="0">
                <a:solidFill>
                  <a:schemeClr val="tx1"/>
                </a:solidFill>
              </a:rPr>
              <a:t>A</a:t>
            </a:r>
            <a:r>
              <a:rPr lang="tr-TR" sz="2800" dirty="0">
                <a:solidFill>
                  <a:schemeClr val="tx1"/>
                </a:solidFill>
              </a:rPr>
              <a:t> </a:t>
            </a:r>
            <a:r>
              <a:rPr lang="en-US" sz="2800" dirty="0">
                <a:solidFill>
                  <a:schemeClr val="tx1"/>
                </a:solidFill>
              </a:rPr>
              <a:t>→</a:t>
            </a:r>
            <a:r>
              <a:rPr lang="tr-TR" sz="2800" dirty="0">
                <a:solidFill>
                  <a:schemeClr val="tx1"/>
                </a:solidFill>
              </a:rPr>
              <a:t> </a:t>
            </a:r>
            <a:r>
              <a:rPr lang="en-US" sz="2800" dirty="0">
                <a:solidFill>
                  <a:schemeClr val="tx1"/>
                </a:solidFill>
              </a:rPr>
              <a:t>BAB|</a:t>
            </a:r>
            <a:r>
              <a:rPr lang="en-US" sz="2800" dirty="0">
                <a:solidFill>
                  <a:srgbClr val="FF0000"/>
                </a:solidFill>
              </a:rPr>
              <a:t>B</a:t>
            </a:r>
            <a:r>
              <a:rPr lang="en-US" sz="2800" dirty="0">
                <a:solidFill>
                  <a:schemeClr val="tx1"/>
                </a:solidFill>
              </a:rPr>
              <a:t>|</a:t>
            </a:r>
            <a:r>
              <a:rPr lang="tr-TR" sz="2800" dirty="0">
                <a:solidFill>
                  <a:schemeClr val="tx1"/>
                </a:solidFill>
              </a:rPr>
              <a:t>BB</a:t>
            </a:r>
            <a:r>
              <a:rPr lang="en-US" sz="2800" dirty="0">
                <a:solidFill>
                  <a:schemeClr val="tx1"/>
                </a:solidFill>
              </a:rPr>
              <a:t>|</a:t>
            </a:r>
            <a:r>
              <a:rPr lang="tr-TR" sz="2800" dirty="0">
                <a:solidFill>
                  <a:schemeClr val="tx1"/>
                </a:solidFill>
              </a:rPr>
              <a:t>AB</a:t>
            </a:r>
            <a:r>
              <a:rPr lang="en-US" sz="2800" dirty="0">
                <a:solidFill>
                  <a:schemeClr val="tx1"/>
                </a:solidFill>
              </a:rPr>
              <a:t>|</a:t>
            </a:r>
            <a:r>
              <a:rPr lang="tr-TR" sz="2800" dirty="0">
                <a:solidFill>
                  <a:schemeClr val="tx1"/>
                </a:solidFill>
              </a:rPr>
              <a:t>BA</a:t>
            </a:r>
            <a:r>
              <a:rPr lang="en-US" sz="2800" dirty="0">
                <a:solidFill>
                  <a:schemeClr val="tx1"/>
                </a:solidFill>
              </a:rPr>
              <a:t>|</a:t>
            </a:r>
            <a:r>
              <a:rPr lang="tr-TR" sz="2800" dirty="0">
                <a:solidFill>
                  <a:srgbClr val="FF0000"/>
                </a:solidFill>
              </a:rPr>
              <a:t>A				 </a:t>
            </a:r>
            <a:r>
              <a:rPr lang="en-US" sz="2000" dirty="0">
                <a:solidFill>
                  <a:srgbClr val="FF0000"/>
                </a:solidFill>
              </a:rPr>
              <a:t>A</a:t>
            </a:r>
            <a:r>
              <a:rPr lang="tr-TR" sz="2000" dirty="0">
                <a:solidFill>
                  <a:srgbClr val="FF0000"/>
                </a:solidFill>
              </a:rPr>
              <a:t> </a:t>
            </a:r>
            <a:r>
              <a:rPr lang="en-US" sz="2000" dirty="0">
                <a:solidFill>
                  <a:srgbClr val="FF0000"/>
                </a:solidFill>
              </a:rPr>
              <a:t>→</a:t>
            </a:r>
            <a:r>
              <a:rPr lang="tr-TR" sz="2000" dirty="0">
                <a:solidFill>
                  <a:srgbClr val="FF0000"/>
                </a:solidFill>
              </a:rPr>
              <a:t> A</a:t>
            </a:r>
            <a:endParaRPr lang="tr-TR" sz="2800" dirty="0">
              <a:solidFill>
                <a:srgbClr val="FF0000"/>
              </a:solidFill>
            </a:endParaRPr>
          </a:p>
          <a:p>
            <a:pPr marL="0" indent="0">
              <a:buNone/>
            </a:pPr>
            <a:r>
              <a:rPr lang="tr-TR" sz="2800" dirty="0">
                <a:solidFill>
                  <a:schemeClr val="tx1"/>
                </a:solidFill>
              </a:rPr>
              <a:t>	</a:t>
            </a:r>
            <a:r>
              <a:rPr lang="en-US" sz="2800" dirty="0">
                <a:solidFill>
                  <a:schemeClr val="tx1"/>
                </a:solidFill>
              </a:rPr>
              <a:t>B </a:t>
            </a:r>
            <a:r>
              <a:rPr lang="tr-TR" sz="2800" dirty="0">
                <a:solidFill>
                  <a:schemeClr val="tx1"/>
                </a:solidFill>
              </a:rPr>
              <a:t> </a:t>
            </a:r>
            <a:r>
              <a:rPr lang="en-US" sz="2800" dirty="0">
                <a:solidFill>
                  <a:schemeClr val="tx1"/>
                </a:solidFill>
              </a:rPr>
              <a:t>→ 00</a:t>
            </a:r>
            <a:r>
              <a:rPr lang="tr-TR" sz="2800" dirty="0">
                <a:solidFill>
                  <a:schemeClr val="tx1"/>
                </a:solidFill>
              </a:rPr>
              <a:t>											</a:t>
            </a:r>
          </a:p>
          <a:p>
            <a:pPr marL="0" indent="0">
              <a:buNone/>
            </a:pPr>
            <a:r>
              <a:rPr lang="tr-TR" sz="2000" dirty="0">
                <a:solidFill>
                  <a:srgbClr val="FF0000"/>
                </a:solidFill>
              </a:rPr>
              <a:t>								</a:t>
            </a:r>
            <a:r>
              <a:rPr lang="tr-TR" sz="2400" dirty="0">
                <a:solidFill>
                  <a:schemeClr val="tx1"/>
                </a:solidFill>
              </a:rPr>
              <a:t>S</a:t>
            </a:r>
            <a:r>
              <a:rPr lang="en-US" sz="2400" dirty="0">
                <a:solidFill>
                  <a:schemeClr val="tx1"/>
                </a:solidFill>
              </a:rPr>
              <a:t> </a:t>
            </a:r>
            <a:r>
              <a:rPr lang="tr-TR" sz="2400" dirty="0">
                <a:solidFill>
                  <a:schemeClr val="tx1"/>
                </a:solidFill>
              </a:rPr>
              <a:t> </a:t>
            </a:r>
            <a:r>
              <a:rPr lang="en-US" sz="2400" dirty="0">
                <a:solidFill>
                  <a:schemeClr val="tx1"/>
                </a:solidFill>
              </a:rPr>
              <a:t>→ ε</a:t>
            </a:r>
            <a:r>
              <a:rPr lang="tr-TR" sz="2400" dirty="0">
                <a:solidFill>
                  <a:schemeClr val="tx1"/>
                </a:solidFill>
              </a:rPr>
              <a:t> | BAB | BB | AB | BA | 00</a:t>
            </a:r>
            <a:endParaRPr lang="tr-TR" sz="2400" dirty="0">
              <a:solidFill>
                <a:srgbClr val="FF0000"/>
              </a:solidFill>
            </a:endParaRPr>
          </a:p>
          <a:p>
            <a:pPr marL="0" indent="0">
              <a:buNone/>
            </a:pPr>
            <a:r>
              <a:rPr lang="tr-TR" sz="2000" dirty="0">
                <a:solidFill>
                  <a:srgbClr val="FF0000"/>
                </a:solidFill>
              </a:rPr>
              <a:t>								</a:t>
            </a:r>
            <a:r>
              <a:rPr lang="tr-TR" sz="2400" dirty="0">
                <a:solidFill>
                  <a:schemeClr val="tx1"/>
                </a:solidFill>
              </a:rPr>
              <a:t>A </a:t>
            </a:r>
            <a:r>
              <a:rPr lang="en-US" sz="2400" dirty="0">
                <a:solidFill>
                  <a:schemeClr val="tx1"/>
                </a:solidFill>
              </a:rPr>
              <a:t>→ </a:t>
            </a:r>
            <a:r>
              <a:rPr lang="tr-TR" sz="2400" dirty="0">
                <a:solidFill>
                  <a:schemeClr val="tx1"/>
                </a:solidFill>
              </a:rPr>
              <a:t>BAB | BB | AB | BA | 00</a:t>
            </a:r>
          </a:p>
          <a:p>
            <a:pPr marL="0" indent="0">
              <a:buNone/>
            </a:pPr>
            <a:r>
              <a:rPr lang="tr-TR" sz="2000" dirty="0">
                <a:solidFill>
                  <a:srgbClr val="FF0000"/>
                </a:solidFill>
              </a:rPr>
              <a:t>								</a:t>
            </a:r>
            <a:r>
              <a:rPr lang="tr-TR" sz="2400" dirty="0">
                <a:solidFill>
                  <a:schemeClr val="tx1"/>
                </a:solidFill>
              </a:rPr>
              <a:t>B</a:t>
            </a:r>
            <a:r>
              <a:rPr lang="el-GR" sz="2000" dirty="0">
                <a:solidFill>
                  <a:schemeClr val="tx1"/>
                </a:solidFill>
              </a:rPr>
              <a:t> </a:t>
            </a:r>
            <a:r>
              <a:rPr lang="tr-TR" sz="2000" dirty="0">
                <a:solidFill>
                  <a:schemeClr val="tx1"/>
                </a:solidFill>
              </a:rPr>
              <a:t> </a:t>
            </a:r>
            <a:r>
              <a:rPr lang="el-GR" sz="2400" dirty="0">
                <a:solidFill>
                  <a:schemeClr val="tx1"/>
                </a:solidFill>
              </a:rPr>
              <a:t>→ </a:t>
            </a:r>
            <a:r>
              <a:rPr lang="tr-TR" sz="2400" dirty="0">
                <a:solidFill>
                  <a:schemeClr val="tx1"/>
                </a:solidFill>
              </a:rPr>
              <a:t>00</a:t>
            </a:r>
            <a:endParaRPr lang="tr-TR" sz="2800" dirty="0">
              <a:solidFill>
                <a:schemeClr val="tx1"/>
              </a:solidFill>
            </a:endParaRPr>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t>A → BAB</a:t>
            </a:r>
            <a:r>
              <a:rPr lang="tr-TR" sz="2800" b="1" dirty="0"/>
              <a:t> </a:t>
            </a:r>
            <a:r>
              <a:rPr lang="en-US" sz="2800" b="1" dirty="0"/>
              <a:t>|</a:t>
            </a:r>
            <a:r>
              <a:rPr lang="tr-TR" sz="2800" b="1" dirty="0"/>
              <a:t> </a:t>
            </a:r>
            <a:r>
              <a:rPr lang="en-US" sz="2800" b="1" dirty="0"/>
              <a:t>B</a:t>
            </a:r>
            <a:r>
              <a:rPr lang="tr-TR" sz="2800" b="1" dirty="0"/>
              <a:t> </a:t>
            </a:r>
            <a:r>
              <a:rPr lang="en-US" sz="2800" b="1" dirty="0"/>
              <a:t>|</a:t>
            </a:r>
            <a:r>
              <a:rPr lang="tr-TR" sz="2800" b="1" dirty="0"/>
              <a:t> </a:t>
            </a:r>
            <a:r>
              <a:rPr lang="en-US" sz="2800" b="1" dirty="0"/>
              <a:t>ε</a:t>
            </a:r>
            <a:endParaRPr lang="tr-TR" sz="2800" b="1" dirty="0"/>
          </a:p>
          <a:p>
            <a:pPr marL="0" indent="0">
              <a:buFont typeface="Wingdings 3" charset="2"/>
              <a:buNone/>
            </a:pPr>
            <a:r>
              <a:rPr lang="tr-TR" b="1" dirty="0"/>
              <a:t> </a:t>
            </a:r>
            <a:r>
              <a:rPr lang="en-US" sz="2800" b="1" dirty="0"/>
              <a:t>B → 00</a:t>
            </a:r>
            <a:r>
              <a:rPr lang="tr-TR" sz="2800" b="1" dirty="0"/>
              <a:t> </a:t>
            </a:r>
            <a:r>
              <a:rPr lang="en-US" sz="2800" b="1" dirty="0"/>
              <a:t>|</a:t>
            </a:r>
            <a:r>
              <a:rPr lang="tr-TR" sz="2800" b="1" dirty="0"/>
              <a:t> </a:t>
            </a:r>
            <a:r>
              <a:rPr lang="en-US" sz="2800" b="1" dirty="0"/>
              <a:t>ε</a:t>
            </a:r>
            <a:endParaRPr lang="tr-TR" sz="2800" b="1" dirty="0"/>
          </a:p>
        </p:txBody>
      </p:sp>
      <p:sp>
        <p:nvSpPr>
          <p:cNvPr id="5" name="Simge &quot;Yok&quot; 4"/>
          <p:cNvSpPr/>
          <p:nvPr/>
        </p:nvSpPr>
        <p:spPr>
          <a:xfrm>
            <a:off x="8300360" y="2384838"/>
            <a:ext cx="1682334" cy="1599333"/>
          </a:xfrm>
          <a:prstGeom prst="noSmoking">
            <a:avLst>
              <a:gd name="adj" fmla="val 167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Sağ Ok 6"/>
          <p:cNvSpPr/>
          <p:nvPr/>
        </p:nvSpPr>
        <p:spPr>
          <a:xfrm>
            <a:off x="4593771" y="5139871"/>
            <a:ext cx="696686" cy="63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5766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316583" cy="5078186"/>
          </a:xfrm>
        </p:spPr>
        <p:txBody>
          <a:bodyPr>
            <a:normAutofit/>
          </a:bodyPr>
          <a:lstStyle/>
          <a:p>
            <a:pPr marL="0" indent="0">
              <a:buNone/>
            </a:pPr>
            <a:r>
              <a:rPr lang="en-US" sz="2800" dirty="0"/>
              <a:t>4. Eliminate all rules having more than two symbols.</a:t>
            </a:r>
          </a:p>
          <a:p>
            <a:pPr marL="0" indent="0">
              <a:buNone/>
            </a:pPr>
            <a:endParaRPr lang="en-US" sz="2800" dirty="0"/>
          </a:p>
          <a:p>
            <a:pPr marL="0" indent="0">
              <a:buNone/>
            </a:pPr>
            <a:r>
              <a:rPr lang="tr-TR" sz="2800" dirty="0"/>
              <a:t>	</a:t>
            </a:r>
            <a:r>
              <a:rPr lang="en-US" sz="2800" dirty="0"/>
              <a:t>S  → </a:t>
            </a:r>
            <a:r>
              <a:rPr lang="el-GR" sz="2800" dirty="0"/>
              <a:t>ε | </a:t>
            </a:r>
            <a:r>
              <a:rPr lang="en-US" sz="2800" dirty="0">
                <a:solidFill>
                  <a:srgbClr val="FF0000"/>
                </a:solidFill>
              </a:rPr>
              <a:t>BAB</a:t>
            </a:r>
            <a:r>
              <a:rPr lang="en-US" sz="2800" dirty="0"/>
              <a:t> | BB | AB | BA | 00</a:t>
            </a:r>
          </a:p>
          <a:p>
            <a:pPr marL="0" indent="0">
              <a:buNone/>
            </a:pPr>
            <a:r>
              <a:rPr lang="tr-TR" sz="2800" dirty="0"/>
              <a:t>	</a:t>
            </a:r>
            <a:r>
              <a:rPr lang="en-US" sz="2800" dirty="0"/>
              <a:t>A → </a:t>
            </a:r>
            <a:r>
              <a:rPr lang="en-US" sz="2800" dirty="0">
                <a:solidFill>
                  <a:srgbClr val="FF0000"/>
                </a:solidFill>
              </a:rPr>
              <a:t>BAB</a:t>
            </a:r>
            <a:r>
              <a:rPr lang="en-US" sz="2800" dirty="0"/>
              <a:t> | BB | AB | BA | 00</a:t>
            </a:r>
            <a:endParaRPr lang="tr-TR" sz="2800" dirty="0"/>
          </a:p>
          <a:p>
            <a:pPr marL="0" indent="0">
              <a:buNone/>
            </a:pPr>
            <a:r>
              <a:rPr lang="tr-TR" sz="2800" dirty="0"/>
              <a:t>	B  → 00</a:t>
            </a:r>
          </a:p>
          <a:p>
            <a:pPr marL="0" indent="0">
              <a:buNone/>
            </a:pPr>
            <a:r>
              <a:rPr lang="tr-TR" sz="2400" dirty="0"/>
              <a:t>								</a:t>
            </a:r>
            <a:r>
              <a:rPr lang="en-US" sz="2400" dirty="0"/>
              <a:t>S  → </a:t>
            </a:r>
            <a:r>
              <a:rPr lang="el-GR" sz="2400" dirty="0"/>
              <a:t>ε | </a:t>
            </a:r>
            <a:r>
              <a:rPr lang="en-US" sz="2400" dirty="0">
                <a:solidFill>
                  <a:srgbClr val="FF0000"/>
                </a:solidFill>
              </a:rPr>
              <a:t>B</a:t>
            </a:r>
            <a:r>
              <a:rPr lang="tr-TR" sz="2400" dirty="0">
                <a:solidFill>
                  <a:srgbClr val="FF0000"/>
                </a:solidFill>
              </a:rPr>
              <a:t>C</a:t>
            </a:r>
            <a:r>
              <a:rPr lang="en-US" sz="2400" dirty="0"/>
              <a:t> | BB | AB | BA | 00</a:t>
            </a:r>
          </a:p>
          <a:p>
            <a:pPr marL="0" indent="0">
              <a:buNone/>
            </a:pPr>
            <a:r>
              <a:rPr lang="tr-TR" sz="2400" dirty="0"/>
              <a:t>								</a:t>
            </a:r>
            <a:r>
              <a:rPr lang="en-US" sz="2400" dirty="0"/>
              <a:t>A → </a:t>
            </a:r>
            <a:r>
              <a:rPr lang="en-US" sz="2400" dirty="0">
                <a:solidFill>
                  <a:srgbClr val="FF0000"/>
                </a:solidFill>
              </a:rPr>
              <a:t>B</a:t>
            </a:r>
            <a:r>
              <a:rPr lang="tr-TR" sz="2400" dirty="0">
                <a:solidFill>
                  <a:srgbClr val="FF0000"/>
                </a:solidFill>
              </a:rPr>
              <a:t>C</a:t>
            </a:r>
            <a:r>
              <a:rPr lang="en-US" sz="2400" dirty="0"/>
              <a:t> | BB | AB | BA | 00</a:t>
            </a:r>
            <a:endParaRPr lang="tr-TR" sz="2400" dirty="0"/>
          </a:p>
          <a:p>
            <a:pPr marL="0" indent="0">
              <a:buNone/>
            </a:pPr>
            <a:r>
              <a:rPr lang="tr-TR" sz="2400" dirty="0"/>
              <a:t>								B  → 00</a:t>
            </a:r>
          </a:p>
          <a:p>
            <a:pPr marL="0" indent="0">
              <a:buNone/>
            </a:pPr>
            <a:r>
              <a:rPr lang="tr-TR" sz="2400" dirty="0">
                <a:solidFill>
                  <a:srgbClr val="FF0000"/>
                </a:solidFill>
              </a:rPr>
              <a:t>								C</a:t>
            </a:r>
            <a:r>
              <a:rPr lang="en-US" sz="2400" dirty="0">
                <a:solidFill>
                  <a:srgbClr val="FF0000"/>
                </a:solidFill>
              </a:rPr>
              <a:t> → </a:t>
            </a:r>
            <a:r>
              <a:rPr lang="tr-TR" sz="2400" dirty="0">
                <a:solidFill>
                  <a:srgbClr val="FF0000"/>
                </a:solidFill>
              </a:rPr>
              <a:t>AB</a:t>
            </a:r>
          </a:p>
          <a:p>
            <a:pPr marL="0" indent="0">
              <a:buNone/>
            </a:pPr>
            <a:endParaRPr lang="tr-TR" sz="2800" dirty="0"/>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t>A → BAB</a:t>
            </a:r>
            <a:r>
              <a:rPr lang="tr-TR" sz="2800" b="1" dirty="0"/>
              <a:t> </a:t>
            </a:r>
            <a:r>
              <a:rPr lang="en-US" sz="2800" b="1" dirty="0"/>
              <a:t>|</a:t>
            </a:r>
            <a:r>
              <a:rPr lang="tr-TR" sz="2800" b="1" dirty="0"/>
              <a:t> </a:t>
            </a:r>
            <a:r>
              <a:rPr lang="en-US" sz="2800" b="1" dirty="0"/>
              <a:t>B</a:t>
            </a:r>
            <a:r>
              <a:rPr lang="tr-TR" sz="2800" b="1" dirty="0"/>
              <a:t> </a:t>
            </a:r>
            <a:r>
              <a:rPr lang="en-US" sz="2800" b="1" dirty="0"/>
              <a:t>|</a:t>
            </a:r>
            <a:r>
              <a:rPr lang="tr-TR" sz="2800" b="1" dirty="0"/>
              <a:t> </a:t>
            </a:r>
            <a:r>
              <a:rPr lang="en-US" sz="2800" b="1" dirty="0"/>
              <a:t>ε</a:t>
            </a:r>
            <a:endParaRPr lang="tr-TR" sz="2800" b="1" dirty="0"/>
          </a:p>
          <a:p>
            <a:pPr marL="0" indent="0">
              <a:buFont typeface="Wingdings 3" charset="2"/>
              <a:buNone/>
            </a:pPr>
            <a:r>
              <a:rPr lang="tr-TR" b="1" dirty="0"/>
              <a:t> </a:t>
            </a:r>
            <a:r>
              <a:rPr lang="en-US" sz="2800" b="1" dirty="0"/>
              <a:t>B → 00</a:t>
            </a:r>
            <a:r>
              <a:rPr lang="tr-TR" sz="2800" b="1" dirty="0"/>
              <a:t> </a:t>
            </a:r>
            <a:r>
              <a:rPr lang="en-US" sz="2800" b="1" dirty="0"/>
              <a:t>|</a:t>
            </a:r>
            <a:r>
              <a:rPr lang="tr-TR" sz="2800" b="1" dirty="0"/>
              <a:t> </a:t>
            </a:r>
            <a:r>
              <a:rPr lang="en-US" sz="2800" b="1" dirty="0"/>
              <a:t>ε</a:t>
            </a:r>
            <a:endParaRPr lang="tr-TR" sz="2800" b="1" dirty="0"/>
          </a:p>
        </p:txBody>
      </p:sp>
      <p:sp>
        <p:nvSpPr>
          <p:cNvPr id="7" name="Sağ Ok 6"/>
          <p:cNvSpPr/>
          <p:nvPr/>
        </p:nvSpPr>
        <p:spPr>
          <a:xfrm>
            <a:off x="4593771" y="5139871"/>
            <a:ext cx="696686" cy="63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4779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2217366" y="624110"/>
            <a:ext cx="8911687" cy="1280890"/>
          </a:xfrm>
        </p:spPr>
        <p:txBody>
          <a:bodyPr/>
          <a:lstStyle/>
          <a:p>
            <a:r>
              <a:rPr lang="en-US" dirty="0"/>
              <a:t>An Example on CFG2CNF</a:t>
            </a:r>
          </a:p>
        </p:txBody>
      </p:sp>
      <p:sp>
        <p:nvSpPr>
          <p:cNvPr id="3" name="İçerik Yer Tutucusu 2"/>
          <p:cNvSpPr>
            <a:spLocks noGrp="1"/>
          </p:cNvSpPr>
          <p:nvPr>
            <p:ph idx="1"/>
          </p:nvPr>
        </p:nvSpPr>
        <p:spPr>
          <a:xfrm>
            <a:off x="2188029" y="1779814"/>
            <a:ext cx="9316583" cy="4767942"/>
          </a:xfrm>
        </p:spPr>
        <p:txBody>
          <a:bodyPr>
            <a:normAutofit lnSpcReduction="10000"/>
          </a:bodyPr>
          <a:lstStyle/>
          <a:p>
            <a:pPr marL="0" indent="0">
              <a:buNone/>
            </a:pPr>
            <a:r>
              <a:rPr lang="en-US" sz="2800" dirty="0"/>
              <a:t>5. Eliminate all rules, whose right-hand side contains exactly two symbols, which are not both variables.</a:t>
            </a:r>
            <a:endParaRPr lang="tr-TR" sz="2800" dirty="0"/>
          </a:p>
          <a:p>
            <a:pPr marL="0" indent="0">
              <a:buNone/>
            </a:pPr>
            <a:endParaRPr lang="en-US" sz="1100" dirty="0"/>
          </a:p>
          <a:p>
            <a:pPr marL="0" indent="0">
              <a:buNone/>
            </a:pPr>
            <a:r>
              <a:rPr lang="tr-TR" sz="2400" dirty="0"/>
              <a:t>	S  → </a:t>
            </a:r>
            <a:r>
              <a:rPr lang="el-GR" sz="2400" dirty="0"/>
              <a:t>ε | </a:t>
            </a:r>
            <a:r>
              <a:rPr lang="tr-TR" sz="2400" dirty="0"/>
              <a:t>BC | BB | AB | BA | </a:t>
            </a:r>
            <a:r>
              <a:rPr lang="tr-TR" sz="2400" dirty="0">
                <a:solidFill>
                  <a:srgbClr val="FF0000"/>
                </a:solidFill>
              </a:rPr>
              <a:t>00</a:t>
            </a:r>
          </a:p>
          <a:p>
            <a:pPr marL="0" indent="0">
              <a:buNone/>
            </a:pPr>
            <a:r>
              <a:rPr lang="tr-TR" sz="2400" dirty="0"/>
              <a:t>	A → BC | BB | AB | BA | </a:t>
            </a:r>
            <a:r>
              <a:rPr lang="tr-TR" sz="2400" dirty="0">
                <a:solidFill>
                  <a:srgbClr val="FF0000"/>
                </a:solidFill>
              </a:rPr>
              <a:t>00</a:t>
            </a:r>
          </a:p>
          <a:p>
            <a:pPr marL="0" indent="0">
              <a:buNone/>
            </a:pPr>
            <a:r>
              <a:rPr lang="tr-TR" sz="2400" dirty="0"/>
              <a:t>	B  → </a:t>
            </a:r>
            <a:r>
              <a:rPr lang="tr-TR" sz="2400" dirty="0">
                <a:solidFill>
                  <a:srgbClr val="FF0000"/>
                </a:solidFill>
              </a:rPr>
              <a:t>00</a:t>
            </a:r>
          </a:p>
          <a:p>
            <a:pPr marL="0" indent="0">
              <a:buNone/>
            </a:pPr>
            <a:r>
              <a:rPr lang="tr-TR" sz="2400" dirty="0"/>
              <a:t>	C → AB</a:t>
            </a:r>
            <a:r>
              <a:rPr lang="tr-TR" sz="2000" dirty="0"/>
              <a:t>					S  → </a:t>
            </a:r>
            <a:r>
              <a:rPr lang="el-GR" sz="2000" dirty="0"/>
              <a:t>ε | </a:t>
            </a:r>
            <a:r>
              <a:rPr lang="tr-TR" sz="2000" dirty="0"/>
              <a:t>BC | BB | AB | BA | </a:t>
            </a:r>
            <a:r>
              <a:rPr lang="tr-TR" sz="2000" dirty="0">
                <a:solidFill>
                  <a:srgbClr val="FF0000"/>
                </a:solidFill>
              </a:rPr>
              <a:t>DD</a:t>
            </a:r>
          </a:p>
          <a:p>
            <a:pPr marL="0" indent="0">
              <a:buNone/>
            </a:pPr>
            <a:r>
              <a:rPr lang="tr-TR" sz="2000" dirty="0"/>
              <a:t>								A → BC | BB | AB | BA | </a:t>
            </a:r>
            <a:r>
              <a:rPr lang="tr-TR" sz="2000" dirty="0">
                <a:solidFill>
                  <a:srgbClr val="FF0000"/>
                </a:solidFill>
              </a:rPr>
              <a:t>DD</a:t>
            </a:r>
          </a:p>
          <a:p>
            <a:pPr marL="0" indent="0">
              <a:buNone/>
            </a:pPr>
            <a:r>
              <a:rPr lang="tr-TR" sz="2000" dirty="0"/>
              <a:t>								B  → </a:t>
            </a:r>
            <a:r>
              <a:rPr lang="tr-TR" sz="2000" dirty="0">
                <a:solidFill>
                  <a:srgbClr val="FF0000"/>
                </a:solidFill>
              </a:rPr>
              <a:t>DD</a:t>
            </a:r>
          </a:p>
          <a:p>
            <a:pPr marL="0" indent="0">
              <a:buNone/>
            </a:pPr>
            <a:r>
              <a:rPr lang="tr-TR" sz="2000" dirty="0"/>
              <a:t>								C → AB</a:t>
            </a:r>
          </a:p>
          <a:p>
            <a:pPr marL="0" indent="0">
              <a:buNone/>
            </a:pPr>
            <a:r>
              <a:rPr lang="tr-TR" sz="2000" dirty="0"/>
              <a:t>								</a:t>
            </a:r>
            <a:r>
              <a:rPr lang="tr-TR" sz="2000" dirty="0">
                <a:solidFill>
                  <a:srgbClr val="FF0000"/>
                </a:solidFill>
              </a:rPr>
              <a:t>D → 0</a:t>
            </a:r>
          </a:p>
        </p:txBody>
      </p:sp>
      <p:sp>
        <p:nvSpPr>
          <p:cNvPr id="6" name="İçerik Yer Tutucusu 2"/>
          <p:cNvSpPr txBox="1">
            <a:spLocks/>
          </p:cNvSpPr>
          <p:nvPr/>
        </p:nvSpPr>
        <p:spPr>
          <a:xfrm>
            <a:off x="8284031" y="624111"/>
            <a:ext cx="2932610" cy="1155703"/>
          </a:xfrm>
          <a:prstGeom prst="rect">
            <a:avLst/>
          </a:prstGeom>
        </p:spPr>
        <p:style>
          <a:lnRef idx="2">
            <a:schemeClr val="dk1"/>
          </a:lnRef>
          <a:fillRef idx="1">
            <a:schemeClr val="lt1"/>
          </a:fillRef>
          <a:effectRef idx="0">
            <a:schemeClr val="dk1"/>
          </a:effectRef>
          <a:fontRef idx="minor">
            <a:schemeClr val="dk1"/>
          </a:fontRef>
        </p:style>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US" sz="2800" b="1" dirty="0"/>
              <a:t>A → BAB</a:t>
            </a:r>
            <a:r>
              <a:rPr lang="tr-TR" sz="2800" b="1" dirty="0"/>
              <a:t> </a:t>
            </a:r>
            <a:r>
              <a:rPr lang="en-US" sz="2800" b="1" dirty="0"/>
              <a:t>|</a:t>
            </a:r>
            <a:r>
              <a:rPr lang="tr-TR" sz="2800" b="1" dirty="0"/>
              <a:t> </a:t>
            </a:r>
            <a:r>
              <a:rPr lang="en-US" sz="2800" b="1" dirty="0"/>
              <a:t>B</a:t>
            </a:r>
            <a:r>
              <a:rPr lang="tr-TR" sz="2800" b="1" dirty="0"/>
              <a:t> </a:t>
            </a:r>
            <a:r>
              <a:rPr lang="en-US" sz="2800" b="1" dirty="0"/>
              <a:t>|</a:t>
            </a:r>
            <a:r>
              <a:rPr lang="tr-TR" sz="2800" b="1" dirty="0"/>
              <a:t> </a:t>
            </a:r>
            <a:r>
              <a:rPr lang="en-US" sz="2800" b="1" dirty="0"/>
              <a:t>ε</a:t>
            </a:r>
            <a:endParaRPr lang="tr-TR" sz="2800" b="1" dirty="0"/>
          </a:p>
          <a:p>
            <a:pPr marL="0" indent="0">
              <a:buFont typeface="Wingdings 3" charset="2"/>
              <a:buNone/>
            </a:pPr>
            <a:r>
              <a:rPr lang="tr-TR" b="1" dirty="0"/>
              <a:t> </a:t>
            </a:r>
            <a:r>
              <a:rPr lang="en-US" sz="2800" b="1" dirty="0"/>
              <a:t>B → 00</a:t>
            </a:r>
            <a:r>
              <a:rPr lang="tr-TR" sz="2800" b="1" dirty="0"/>
              <a:t> </a:t>
            </a:r>
            <a:r>
              <a:rPr lang="en-US" sz="2800" b="1" dirty="0"/>
              <a:t>|</a:t>
            </a:r>
            <a:r>
              <a:rPr lang="tr-TR" sz="2800" b="1" dirty="0"/>
              <a:t> </a:t>
            </a:r>
            <a:r>
              <a:rPr lang="en-US" sz="2800" b="1" dirty="0"/>
              <a:t>ε</a:t>
            </a:r>
            <a:endParaRPr lang="tr-TR" sz="2800" b="1" dirty="0"/>
          </a:p>
        </p:txBody>
      </p:sp>
      <p:sp>
        <p:nvSpPr>
          <p:cNvPr id="5" name="Sağ Ok 4"/>
          <p:cNvSpPr/>
          <p:nvPr/>
        </p:nvSpPr>
        <p:spPr>
          <a:xfrm>
            <a:off x="4593771" y="5139871"/>
            <a:ext cx="696686" cy="6386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402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5012</TotalTime>
  <Words>2474</Words>
  <Application>Microsoft Macintosh PowerPoint</Application>
  <PresentationFormat>Geniş ekran</PresentationFormat>
  <Paragraphs>199</Paragraphs>
  <Slides>18</Slides>
  <Notes>18</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18</vt:i4>
      </vt:variant>
    </vt:vector>
  </HeadingPairs>
  <TitlesOfParts>
    <vt:vector size="24" baseType="lpstr">
      <vt:lpstr>Arial</vt:lpstr>
      <vt:lpstr>Calibri</vt:lpstr>
      <vt:lpstr>Century Gothic</vt:lpstr>
      <vt:lpstr>Monotype Corsiva</vt:lpstr>
      <vt:lpstr>Wingdings 3</vt:lpstr>
      <vt:lpstr>Duman</vt:lpstr>
      <vt:lpstr> Theory of Computation  Lesson 8</vt:lpstr>
      <vt:lpstr>Regular languages are context-free</vt:lpstr>
      <vt:lpstr>Regular languages are context-free</vt:lpstr>
      <vt:lpstr>Regular languages are context-free</vt:lpstr>
      <vt:lpstr>Chomsky normal form</vt:lpstr>
      <vt:lpstr>Chomsky normal form</vt:lpstr>
      <vt:lpstr>Formal Definition</vt:lpstr>
      <vt:lpstr>Transforming CFG to CNF</vt:lpstr>
      <vt:lpstr>Transforming CFG to CNF</vt:lpstr>
      <vt:lpstr>An Example on CFG2CNF</vt:lpstr>
      <vt:lpstr>An Example on CFG2CNF</vt:lpstr>
      <vt:lpstr>An Example on CFG2CNF</vt:lpstr>
      <vt:lpstr>An Example on CFG2CNF</vt:lpstr>
      <vt:lpstr>An Example on CFG2CNF</vt:lpstr>
      <vt:lpstr>An Example on CFG2CNF</vt:lpstr>
      <vt:lpstr>An Example on CFG2CNF</vt:lpstr>
      <vt:lpstr>An Example on CFG2CNF</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180</cp:revision>
  <dcterms:created xsi:type="dcterms:W3CDTF">2022-09-29T06:50:07Z</dcterms:created>
  <dcterms:modified xsi:type="dcterms:W3CDTF">2025-11-21T06:56:05Z</dcterms:modified>
</cp:coreProperties>
</file>