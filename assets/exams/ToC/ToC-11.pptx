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1"/>
  </p:sldMasterIdLst>
  <p:notesMasterIdLst>
    <p:notesMasterId r:id="rId21"/>
  </p:notesMasterIdLst>
  <p:sldIdLst>
    <p:sldId id="394" r:id="rId2"/>
    <p:sldId id="369" r:id="rId3"/>
    <p:sldId id="388" r:id="rId4"/>
    <p:sldId id="285" r:id="rId5"/>
    <p:sldId id="374" r:id="rId6"/>
    <p:sldId id="393" r:id="rId7"/>
    <p:sldId id="376" r:id="rId8"/>
    <p:sldId id="378" r:id="rId9"/>
    <p:sldId id="379" r:id="rId10"/>
    <p:sldId id="380" r:id="rId11"/>
    <p:sldId id="382" r:id="rId12"/>
    <p:sldId id="383" r:id="rId13"/>
    <p:sldId id="384" r:id="rId14"/>
    <p:sldId id="395" r:id="rId15"/>
    <p:sldId id="377" r:id="rId16"/>
    <p:sldId id="381" r:id="rId17"/>
    <p:sldId id="391" r:id="rId18"/>
    <p:sldId id="385" r:id="rId19"/>
    <p:sldId id="313"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B"/>
    <a:srgbClr val="CCFF99"/>
    <a:srgbClr val="4F75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567" autoAdjust="0"/>
    <p:restoredTop sz="95801" autoAdjust="0"/>
  </p:normalViewPr>
  <p:slideViewPr>
    <p:cSldViewPr snapToGrid="0">
      <p:cViewPr varScale="1">
        <p:scale>
          <a:sx n="102" d="100"/>
          <a:sy n="102" d="100"/>
        </p:scale>
        <p:origin x="1656" y="1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0DDE67-59A0-3C4A-890A-468253F431D6}" type="datetimeFigureOut">
              <a:rPr lang="tr-TR" smtClean="0"/>
              <a:t>21.11.2025</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49F921-94E2-2146-8BC6-089D7989E1CD}" type="slidenum">
              <a:rPr lang="tr-TR" smtClean="0"/>
              <a:t>‹#›</a:t>
            </a:fld>
            <a:endParaRPr lang="tr-TR"/>
          </a:p>
        </p:txBody>
      </p:sp>
    </p:spTree>
    <p:extLst>
      <p:ext uri="{BB962C8B-B14F-4D97-AF65-F5344CB8AC3E}">
        <p14:creationId xmlns:p14="http://schemas.microsoft.com/office/powerpoint/2010/main" val="4031870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This is the lesson </a:t>
            </a:r>
            <a:r>
              <a:rPr lang="tr-TR" noProof="0" dirty="0" err="1"/>
              <a:t>eleven</a:t>
            </a:r>
            <a:r>
              <a:rPr lang="tr-TR" noProof="0" dirty="0"/>
              <a:t> </a:t>
            </a:r>
            <a:r>
              <a:rPr lang="en-US" noProof="0" dirty="0"/>
              <a:t>in Theory of Computation. We start to the new chapter. </a:t>
            </a:r>
            <a:r>
              <a:rPr lang="tr-TR" noProof="0" dirty="0" err="1"/>
              <a:t>In</a:t>
            </a:r>
            <a:r>
              <a:rPr lang="tr-TR" noProof="0" dirty="0"/>
              <a:t> </a:t>
            </a:r>
            <a:r>
              <a:rPr lang="tr-TR" noProof="0" dirty="0" err="1"/>
              <a:t>this</a:t>
            </a:r>
            <a:r>
              <a:rPr lang="tr-TR" noProof="0" dirty="0"/>
              <a:t> </a:t>
            </a:r>
            <a:r>
              <a:rPr lang="tr-TR" noProof="0" dirty="0" err="1"/>
              <a:t>lesson</a:t>
            </a:r>
            <a:r>
              <a:rPr lang="en-US" noProof="0" dirty="0"/>
              <a:t>, we will learn Decidable &amp; Un</a:t>
            </a:r>
            <a:r>
              <a:rPr lang="tr-TR" noProof="0" dirty="0"/>
              <a:t>-</a:t>
            </a:r>
            <a:r>
              <a:rPr lang="en-US" noProof="0" dirty="0"/>
              <a:t>decidable Languages.</a:t>
            </a:r>
          </a:p>
        </p:txBody>
      </p:sp>
      <p:sp>
        <p:nvSpPr>
          <p:cNvPr id="4" name="Slayt Numarası Yer Tutucusu 3"/>
          <p:cNvSpPr>
            <a:spLocks noGrp="1"/>
          </p:cNvSpPr>
          <p:nvPr>
            <p:ph type="sldNum" sz="quarter" idx="10"/>
          </p:nvPr>
        </p:nvSpPr>
        <p:spPr/>
        <p:txBody>
          <a:bodyPr/>
          <a:lstStyle/>
          <a:p>
            <a:fld id="{6049F921-94E2-2146-8BC6-089D7989E1CD}" type="slidenum">
              <a:rPr lang="tr-TR" smtClean="0"/>
              <a:t>1</a:t>
            </a:fld>
            <a:endParaRPr lang="tr-TR"/>
          </a:p>
        </p:txBody>
      </p:sp>
    </p:spTree>
    <p:extLst>
      <p:ext uri="{BB962C8B-B14F-4D97-AF65-F5344CB8AC3E}">
        <p14:creationId xmlns:p14="http://schemas.microsoft.com/office/powerpoint/2010/main" val="38943046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main titles you will hear within the scope of this chapter are as follows:</a:t>
            </a:r>
          </a:p>
          <a:p>
            <a:r>
              <a:rPr lang="en-US" sz="1200" dirty="0"/>
              <a:t>The first, Decidable Languages</a:t>
            </a:r>
          </a:p>
          <a:p>
            <a:r>
              <a:rPr lang="en-US" sz="1200" dirty="0"/>
              <a:t>The second, E-numerable Languages</a:t>
            </a:r>
          </a:p>
          <a:p>
            <a:r>
              <a:rPr lang="en-US" sz="1200" dirty="0"/>
              <a:t>The third, Un-decidable Languages</a:t>
            </a:r>
            <a:endParaRPr lang="tr-TR" sz="1200" dirty="0"/>
          </a:p>
          <a:p>
            <a:r>
              <a:rPr lang="en-US" sz="1200" dirty="0"/>
              <a:t>In some resources, the terms Recursively E-numerable or Turing Recognizable is used instead of E-numerable. Don't be confused, they all</a:t>
            </a:r>
            <a:r>
              <a:rPr lang="tr-TR" sz="1200" dirty="0"/>
              <a:t> </a:t>
            </a:r>
            <a:r>
              <a:rPr lang="en-US" sz="1200" dirty="0"/>
              <a:t>represent the same thing.</a:t>
            </a:r>
            <a:endParaRPr lang="tr-TR" sz="1200" dirty="0"/>
          </a:p>
        </p:txBody>
      </p:sp>
      <p:sp>
        <p:nvSpPr>
          <p:cNvPr id="4" name="Slayt Numarası Yer Tutucusu 3"/>
          <p:cNvSpPr>
            <a:spLocks noGrp="1"/>
          </p:cNvSpPr>
          <p:nvPr>
            <p:ph type="sldNum" sz="quarter" idx="10"/>
          </p:nvPr>
        </p:nvSpPr>
        <p:spPr/>
        <p:txBody>
          <a:bodyPr/>
          <a:lstStyle/>
          <a:p>
            <a:fld id="{6049F921-94E2-2146-8BC6-089D7989E1CD}" type="slidenum">
              <a:rPr lang="tr-TR" smtClean="0"/>
              <a:t>2</a:t>
            </a:fld>
            <a:endParaRPr lang="tr-TR"/>
          </a:p>
        </p:txBody>
      </p:sp>
    </p:spTree>
    <p:extLst>
      <p:ext uri="{BB962C8B-B14F-4D97-AF65-F5344CB8AC3E}">
        <p14:creationId xmlns:p14="http://schemas.microsoft.com/office/powerpoint/2010/main" val="16939725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representation of the tools we learned in this course in terms of decidability is shown in the figure. In short, all problems that are not decidable are called un-decidable. But some of the un-decidable languages are treated as recursively e-numerable. This is conceptually important.</a:t>
            </a:r>
            <a:endParaRPr lang="tr-TR" sz="1200" dirty="0"/>
          </a:p>
        </p:txBody>
      </p:sp>
      <p:sp>
        <p:nvSpPr>
          <p:cNvPr id="4" name="Slayt Numarası Yer Tutucusu 3"/>
          <p:cNvSpPr>
            <a:spLocks noGrp="1"/>
          </p:cNvSpPr>
          <p:nvPr>
            <p:ph type="sldNum" sz="quarter" idx="10"/>
          </p:nvPr>
        </p:nvSpPr>
        <p:spPr/>
        <p:txBody>
          <a:bodyPr/>
          <a:lstStyle/>
          <a:p>
            <a:fld id="{6049F921-94E2-2146-8BC6-089D7989E1CD}" type="slidenum">
              <a:rPr lang="tr-TR" smtClean="0"/>
              <a:t>3</a:t>
            </a:fld>
            <a:endParaRPr lang="tr-TR"/>
          </a:p>
        </p:txBody>
      </p:sp>
    </p:spTree>
    <p:extLst>
      <p:ext uri="{BB962C8B-B14F-4D97-AF65-F5344CB8AC3E}">
        <p14:creationId xmlns:p14="http://schemas.microsoft.com/office/powerpoint/2010/main" val="39544000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On a word entered for testing L-language, a Turing Machine can do one of following:</a:t>
            </a:r>
          </a:p>
          <a:p>
            <a:r>
              <a:rPr lang="en-US" sz="1200" b="0" i="0" u="none" strike="noStrike" kern="1200" baseline="0" dirty="0">
                <a:solidFill>
                  <a:schemeClr val="tx1"/>
                </a:solidFill>
                <a:latin typeface="+mn-lt"/>
                <a:ea typeface="+mn-ea"/>
                <a:cs typeface="+mn-cs"/>
              </a:rPr>
              <a:t>it stops and accepts,</a:t>
            </a:r>
          </a:p>
          <a:p>
            <a:r>
              <a:rPr lang="en-US" sz="1200" b="0" i="0" u="none" strike="noStrike" kern="1200" baseline="0" dirty="0">
                <a:solidFill>
                  <a:schemeClr val="tx1"/>
                </a:solidFill>
                <a:latin typeface="+mn-lt"/>
                <a:ea typeface="+mn-ea"/>
                <a:cs typeface="+mn-cs"/>
              </a:rPr>
              <a:t>it stops and rejects,</a:t>
            </a:r>
          </a:p>
          <a:p>
            <a:r>
              <a:rPr lang="en-US" sz="1200" b="0" i="0" u="none" strike="noStrike" kern="1200" baseline="0" dirty="0">
                <a:solidFill>
                  <a:schemeClr val="tx1"/>
                </a:solidFill>
                <a:latin typeface="+mn-lt"/>
                <a:ea typeface="+mn-ea"/>
                <a:cs typeface="+mn-cs"/>
              </a:rPr>
              <a:t>or it cannot stop.</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Although we are not dealing with a machine that does not stop in the chapter of Turing machines, you have experienced this in the Pushdown Automata examples. So you can predict that any Turing Machine can also go into an infinite loop. Now we will talk about the formal definitions of the term Decidability on machines which can stop or not stop.</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If a Turing Machine prepared for an L-language guarantees to stop by making a decision of accept or reject on every word entered by</a:t>
            </a:r>
            <a:r>
              <a:rPr lang="tr-TR" sz="1200" b="0" i="0" u="none" strike="noStrike" kern="1200" baseline="0" dirty="0">
                <a:solidFill>
                  <a:schemeClr val="tx1"/>
                </a:solidFill>
                <a:latin typeface="+mn-lt"/>
                <a:ea typeface="+mn-ea"/>
                <a:cs typeface="+mn-cs"/>
              </a:rPr>
              <a:t> a</a:t>
            </a:r>
            <a:r>
              <a:rPr lang="en-US" sz="1200" b="0" i="0" u="none" strike="noStrike" kern="1200" baseline="0" dirty="0">
                <a:solidFill>
                  <a:schemeClr val="tx1"/>
                </a:solidFill>
                <a:latin typeface="+mn-lt"/>
                <a:ea typeface="+mn-ea"/>
                <a:cs typeface="+mn-cs"/>
              </a:rPr>
              <a:t> user, then the L-language is called Decidable Language.</a:t>
            </a:r>
          </a:p>
        </p:txBody>
      </p:sp>
      <p:sp>
        <p:nvSpPr>
          <p:cNvPr id="4" name="Slayt Numarası Yer Tutucusu 3"/>
          <p:cNvSpPr>
            <a:spLocks noGrp="1"/>
          </p:cNvSpPr>
          <p:nvPr>
            <p:ph type="sldNum" sz="quarter" idx="5"/>
          </p:nvPr>
        </p:nvSpPr>
        <p:spPr/>
        <p:txBody>
          <a:bodyPr/>
          <a:lstStyle/>
          <a:p>
            <a:fld id="{6049F921-94E2-2146-8BC6-089D7989E1CD}" type="slidenum">
              <a:rPr lang="tr-TR" smtClean="0"/>
              <a:t>4</a:t>
            </a:fld>
            <a:endParaRPr lang="tr-TR"/>
          </a:p>
        </p:txBody>
      </p:sp>
    </p:spTree>
    <p:extLst>
      <p:ext uri="{BB962C8B-B14F-4D97-AF65-F5344CB8AC3E}">
        <p14:creationId xmlns:p14="http://schemas.microsoft.com/office/powerpoint/2010/main" val="10960341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sz="1200" dirty="0"/>
              <a:t>Recursively e-numerable or Turing recognizable languages are a bit different from decidable ones.</a:t>
            </a:r>
          </a:p>
          <a:p>
            <a:pPr marL="0" indent="0">
              <a:buNone/>
            </a:pPr>
            <a:r>
              <a:rPr lang="en-US" sz="1200" dirty="0"/>
              <a:t>L-language is called recursively e-numerable or Turing recognizable, if a Turing Machine prepared for L </a:t>
            </a:r>
          </a:p>
          <a:p>
            <a:pPr marL="0" indent="0">
              <a:buNone/>
            </a:pPr>
            <a:r>
              <a:rPr lang="en-US" sz="1200" dirty="0"/>
              <a:t>stops by accepting words that are elements of L-language, </a:t>
            </a:r>
          </a:p>
          <a:p>
            <a:pPr marL="0" indent="0">
              <a:buNone/>
            </a:pPr>
            <a:r>
              <a:rPr lang="en-US" sz="1200" dirty="0"/>
              <a:t>but cannot guarantee stopping on words that are not elements (sometimes rejecting but sometimes not terminating)</a:t>
            </a:r>
          </a:p>
        </p:txBody>
      </p:sp>
      <p:sp>
        <p:nvSpPr>
          <p:cNvPr id="4" name="Slayt Numarası Yer Tutucusu 3"/>
          <p:cNvSpPr>
            <a:spLocks noGrp="1"/>
          </p:cNvSpPr>
          <p:nvPr>
            <p:ph type="sldNum" sz="quarter" idx="5"/>
          </p:nvPr>
        </p:nvSpPr>
        <p:spPr/>
        <p:txBody>
          <a:bodyPr/>
          <a:lstStyle/>
          <a:p>
            <a:fld id="{6049F921-94E2-2146-8BC6-089D7989E1CD}" type="slidenum">
              <a:rPr lang="tr-TR" smtClean="0"/>
              <a:t>5</a:t>
            </a:fld>
            <a:endParaRPr lang="tr-TR"/>
          </a:p>
        </p:txBody>
      </p:sp>
    </p:spTree>
    <p:extLst>
      <p:ext uri="{BB962C8B-B14F-4D97-AF65-F5344CB8AC3E}">
        <p14:creationId xmlns:p14="http://schemas.microsoft.com/office/powerpoint/2010/main" val="24934594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sz="1200" dirty="0"/>
              <a:t>If a Turing Machine cannot terminate on L-language,</a:t>
            </a:r>
            <a:r>
              <a:rPr lang="tr-TR" sz="1200" baseline="0" dirty="0"/>
              <a:t> </a:t>
            </a:r>
            <a:r>
              <a:rPr lang="en-US" sz="1200" dirty="0"/>
              <a:t>in other words neither</a:t>
            </a:r>
          </a:p>
          <a:p>
            <a:pPr marL="0" indent="0">
              <a:buNone/>
            </a:pPr>
            <a:r>
              <a:rPr lang="en-US" sz="1200" dirty="0"/>
              <a:t>If any Turing Machine cannot guarantee terminate in words that are elements of the language,</a:t>
            </a:r>
          </a:p>
          <a:p>
            <a:pPr marL="0" indent="0">
              <a:buNone/>
            </a:pPr>
            <a:r>
              <a:rPr lang="en-US" sz="1200" dirty="0"/>
              <a:t>o</a:t>
            </a:r>
            <a:r>
              <a:rPr lang="en-US" sz="1200" noProof="0" dirty="0"/>
              <a:t>r</a:t>
            </a:r>
            <a:r>
              <a:rPr lang="en-US" sz="1200" dirty="0"/>
              <a:t>, If any Turing Machine cannot guarantee stopping on words that are not elements of the language,</a:t>
            </a:r>
          </a:p>
          <a:p>
            <a:pPr marL="0" indent="0">
              <a:buNone/>
            </a:pPr>
            <a:r>
              <a:rPr lang="en-US" sz="1200" dirty="0"/>
              <a:t>that L-language is called as Un-decidable.</a:t>
            </a:r>
          </a:p>
          <a:p>
            <a:pPr marL="0" indent="0">
              <a:buNone/>
            </a:pPr>
            <a:endParaRPr lang="en-US" sz="1200" dirty="0"/>
          </a:p>
        </p:txBody>
      </p:sp>
      <p:sp>
        <p:nvSpPr>
          <p:cNvPr id="4" name="Slayt Numarası Yer Tutucusu 3"/>
          <p:cNvSpPr>
            <a:spLocks noGrp="1"/>
          </p:cNvSpPr>
          <p:nvPr>
            <p:ph type="sldNum" sz="quarter" idx="5"/>
          </p:nvPr>
        </p:nvSpPr>
        <p:spPr/>
        <p:txBody>
          <a:bodyPr/>
          <a:lstStyle/>
          <a:p>
            <a:fld id="{6049F921-94E2-2146-8BC6-089D7989E1CD}" type="slidenum">
              <a:rPr lang="tr-TR" smtClean="0"/>
              <a:t>6</a:t>
            </a:fld>
            <a:endParaRPr lang="tr-TR"/>
          </a:p>
        </p:txBody>
      </p:sp>
    </p:spTree>
    <p:extLst>
      <p:ext uri="{BB962C8B-B14F-4D97-AF65-F5344CB8AC3E}">
        <p14:creationId xmlns:p14="http://schemas.microsoft.com/office/powerpoint/2010/main" val="1018263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sz="1200" u="none" dirty="0"/>
              <a:t>Remember, we started this lesson by learning Deterministic Finite State Automata, namely DFA. We will now interpret the state of the DFA in the Turing Machine.</a:t>
            </a:r>
          </a:p>
          <a:p>
            <a:pPr marL="0" indent="0">
              <a:buNone/>
            </a:pPr>
            <a:r>
              <a:rPr lang="en-US" sz="1200" u="none" dirty="0"/>
              <a:t>We can implement any DFA language on JFLAP to represent the Turing Machine, and the code can decide a word is element of that language or not. We can be sure that our code will terminate absolutely. Because we know that, there is no loop-forever in DFA. It has states and each state means accept or reject.</a:t>
            </a:r>
          </a:p>
          <a:p>
            <a:pPr marL="0" indent="0">
              <a:buNone/>
            </a:pPr>
            <a:r>
              <a:rPr lang="en-US" sz="1200" u="none" dirty="0"/>
              <a:t>For this reason we can say DFA language is decidable. </a:t>
            </a:r>
            <a:endParaRPr lang="en-US" altLang="tr-TR" sz="1200" dirty="0"/>
          </a:p>
        </p:txBody>
      </p:sp>
      <p:sp>
        <p:nvSpPr>
          <p:cNvPr id="4" name="Slayt Numarası Yer Tutucusu 3"/>
          <p:cNvSpPr>
            <a:spLocks noGrp="1"/>
          </p:cNvSpPr>
          <p:nvPr>
            <p:ph type="sldNum" sz="quarter" idx="10"/>
          </p:nvPr>
        </p:nvSpPr>
        <p:spPr/>
        <p:txBody>
          <a:bodyPr/>
          <a:lstStyle/>
          <a:p>
            <a:fld id="{464F05E7-666C-4291-B07E-B8BAE79ECBCA}" type="slidenum">
              <a:rPr lang="tr-TR" smtClean="0"/>
              <a:t>7</a:t>
            </a:fld>
            <a:endParaRPr lang="tr-TR"/>
          </a:p>
        </p:txBody>
      </p:sp>
    </p:spTree>
    <p:extLst>
      <p:ext uri="{BB962C8B-B14F-4D97-AF65-F5344CB8AC3E}">
        <p14:creationId xmlns:p14="http://schemas.microsoft.com/office/powerpoint/2010/main" val="34607870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noProof="0" dirty="0"/>
              <a:t>We learned that DFA and NFA are equivalent to each other. With this information alone, you can interpret that, if DFA is decidable, then NFA must be decidable too. </a:t>
            </a:r>
          </a:p>
          <a:p>
            <a:r>
              <a:rPr lang="en-US" noProof="0" dirty="0"/>
              <a:t>You are right. Because every NFA can be transformed into a DFA, we can prove this theoretically.</a:t>
            </a:r>
          </a:p>
          <a:p>
            <a:endParaRPr lang="en-US" noProof="0" dirty="0"/>
          </a:p>
          <a:p>
            <a:r>
              <a:rPr lang="en-US" noProof="0" dirty="0"/>
              <a:t>As a result, NFA language is decidable.</a:t>
            </a:r>
          </a:p>
        </p:txBody>
      </p:sp>
      <p:sp>
        <p:nvSpPr>
          <p:cNvPr id="4" name="Slayt Numarası Yer Tutucusu 3"/>
          <p:cNvSpPr>
            <a:spLocks noGrp="1"/>
          </p:cNvSpPr>
          <p:nvPr>
            <p:ph type="sldNum" sz="quarter" idx="10"/>
          </p:nvPr>
        </p:nvSpPr>
        <p:spPr/>
        <p:txBody>
          <a:bodyPr/>
          <a:lstStyle/>
          <a:p>
            <a:fld id="{464F05E7-666C-4291-B07E-B8BAE79ECBCA}" type="slidenum">
              <a:rPr lang="tr-TR" smtClean="0"/>
              <a:t>8</a:t>
            </a:fld>
            <a:endParaRPr lang="tr-TR"/>
          </a:p>
        </p:txBody>
      </p:sp>
    </p:spTree>
    <p:extLst>
      <p:ext uri="{BB962C8B-B14F-4D97-AF65-F5344CB8AC3E}">
        <p14:creationId xmlns:p14="http://schemas.microsoft.com/office/powerpoint/2010/main" val="40283672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noProof="0" dirty="0"/>
              <a:t>Now, we can look at Context Free Grammar language. Remember, there can be some loop-forever structures in this language. But Chomsky normal form could prevent this situation.</a:t>
            </a:r>
          </a:p>
          <a:p>
            <a:endParaRPr lang="en-US" noProof="0" dirty="0"/>
          </a:p>
          <a:p>
            <a:r>
              <a:rPr lang="en-US" noProof="0" dirty="0"/>
              <a:t>In order to find out if it is decidable, we can consider Chomsky normal form. If we transform a Context Free Grammar into Chomsky normal form, for a word with n length, it is guaranteed that it terminates in 2 n minus 1 steps.</a:t>
            </a:r>
          </a:p>
          <a:p>
            <a:endParaRPr lang="en-US" noProof="0" dirty="0"/>
          </a:p>
          <a:p>
            <a:r>
              <a:rPr lang="en-US" noProof="0" dirty="0"/>
              <a:t>Thus, we have proved the following result: Context Free Grammar language</a:t>
            </a:r>
            <a:r>
              <a:rPr lang="tr-TR" noProof="0" dirty="0"/>
              <a:t> </a:t>
            </a:r>
            <a:r>
              <a:rPr lang="en-US" noProof="0" dirty="0"/>
              <a:t>is decidable.</a:t>
            </a:r>
          </a:p>
        </p:txBody>
      </p:sp>
      <p:sp>
        <p:nvSpPr>
          <p:cNvPr id="4" name="Slayt Numarası Yer Tutucusu 3"/>
          <p:cNvSpPr>
            <a:spLocks noGrp="1"/>
          </p:cNvSpPr>
          <p:nvPr>
            <p:ph type="sldNum" sz="quarter" idx="10"/>
          </p:nvPr>
        </p:nvSpPr>
        <p:spPr/>
        <p:txBody>
          <a:bodyPr/>
          <a:lstStyle/>
          <a:p>
            <a:fld id="{464F05E7-666C-4291-B07E-B8BAE79ECBCA}" type="slidenum">
              <a:rPr lang="tr-TR" smtClean="0"/>
              <a:t>9</a:t>
            </a:fld>
            <a:endParaRPr lang="tr-TR"/>
          </a:p>
        </p:txBody>
      </p:sp>
    </p:spTree>
    <p:extLst>
      <p:ext uri="{BB962C8B-B14F-4D97-AF65-F5344CB8AC3E}">
        <p14:creationId xmlns:p14="http://schemas.microsoft.com/office/powerpoint/2010/main" val="17399397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sz="1200" dirty="0"/>
              <a:t>Now we're starting to look at really hard problems.</a:t>
            </a:r>
            <a:r>
              <a:rPr lang="tr-TR" sz="1200" dirty="0"/>
              <a:t> </a:t>
            </a:r>
            <a:r>
              <a:rPr lang="en-US" sz="1200" dirty="0"/>
              <a:t>We can start by considering the JFLAP implementation again. When a code written with a Turing Machine is loaded into JFLAP, can JFLAP detect that the code has an infinite-loop? </a:t>
            </a:r>
            <a:endParaRPr lang="tr-TR" sz="1200" dirty="0"/>
          </a:p>
          <a:p>
            <a:r>
              <a:rPr lang="en-US" sz="1200" dirty="0"/>
              <a:t>Or we can ask the question as follows. Can JFLAP guarantee terminating on every Turing Machine code?</a:t>
            </a:r>
            <a:endParaRPr lang="en-US" altLang="tr-TR" sz="1200" dirty="0"/>
          </a:p>
          <a:p>
            <a:endParaRPr lang="en-US" noProof="0" dirty="0"/>
          </a:p>
        </p:txBody>
      </p:sp>
      <p:sp>
        <p:nvSpPr>
          <p:cNvPr id="4" name="Slayt Numarası Yer Tutucusu 3"/>
          <p:cNvSpPr>
            <a:spLocks noGrp="1"/>
          </p:cNvSpPr>
          <p:nvPr>
            <p:ph type="sldNum" sz="quarter" idx="10"/>
          </p:nvPr>
        </p:nvSpPr>
        <p:spPr/>
        <p:txBody>
          <a:bodyPr/>
          <a:lstStyle/>
          <a:p>
            <a:fld id="{464F05E7-666C-4291-B07E-B8BAE79ECBCA}" type="slidenum">
              <a:rPr lang="tr-TR" smtClean="0"/>
              <a:t>10</a:t>
            </a:fld>
            <a:endParaRPr lang="tr-TR"/>
          </a:p>
        </p:txBody>
      </p:sp>
    </p:spTree>
    <p:extLst>
      <p:ext uri="{BB962C8B-B14F-4D97-AF65-F5344CB8AC3E}">
        <p14:creationId xmlns:p14="http://schemas.microsoft.com/office/powerpoint/2010/main" val="5546879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sz="1200" dirty="0"/>
              <a:t>Now, We assume that A-TM is decidable. With this assumption, there exists a Turing machine H that has the following property. For every input string M comma w for H:</a:t>
            </a:r>
          </a:p>
          <a:p>
            <a:pPr marL="0" indent="0">
              <a:buNone/>
            </a:pPr>
            <a:r>
              <a:rPr lang="en-US" sz="1200" dirty="0"/>
              <a:t>If M comma w is element of  A-TM, then H terminates in its accept state.</a:t>
            </a:r>
          </a:p>
          <a:p>
            <a:pPr marL="0" indent="0">
              <a:buNone/>
            </a:pPr>
            <a:r>
              <a:rPr lang="en-US" sz="1200" dirty="0"/>
              <a:t>If M comma w is not element of A-TM, then H terminates in its reject state.</a:t>
            </a:r>
            <a:endParaRPr lang="tr-TR" sz="1200" dirty="0"/>
          </a:p>
          <a:p>
            <a:pPr marL="0" indent="0">
              <a:buNone/>
            </a:pPr>
            <a:r>
              <a:rPr lang="en-US" noProof="0" dirty="0"/>
              <a:t>Here, You can think of H as JFLAP and M is just another Turing machine code to run on a word. If M can terminate on w word with accept, H will also accept, otherwise H will reject.</a:t>
            </a:r>
          </a:p>
        </p:txBody>
      </p:sp>
      <p:sp>
        <p:nvSpPr>
          <p:cNvPr id="4" name="Slayt Numarası Yer Tutucusu 3"/>
          <p:cNvSpPr>
            <a:spLocks noGrp="1"/>
          </p:cNvSpPr>
          <p:nvPr>
            <p:ph type="sldNum" sz="quarter" idx="10"/>
          </p:nvPr>
        </p:nvSpPr>
        <p:spPr/>
        <p:txBody>
          <a:bodyPr/>
          <a:lstStyle/>
          <a:p>
            <a:fld id="{464F05E7-666C-4291-B07E-B8BAE79ECBCA}" type="slidenum">
              <a:rPr lang="tr-TR" smtClean="0"/>
              <a:t>11</a:t>
            </a:fld>
            <a:endParaRPr lang="tr-TR"/>
          </a:p>
        </p:txBody>
      </p:sp>
    </p:spTree>
    <p:extLst>
      <p:ext uri="{BB962C8B-B14F-4D97-AF65-F5344CB8AC3E}">
        <p14:creationId xmlns:p14="http://schemas.microsoft.com/office/powerpoint/2010/main" val="1250140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sz="1200" dirty="0"/>
              <a:t>We create a new Turing machine D to run on M. You can think of D as a compiler and M is just another Turing machine code to run on D. The D compiler is executed as follows:</a:t>
            </a:r>
          </a:p>
          <a:p>
            <a:pPr marL="0" indent="0">
              <a:buNone/>
            </a:pPr>
            <a:r>
              <a:rPr lang="en-US" sz="1200" dirty="0"/>
              <a:t>Run the Turing machine H on the input M comma M. Here we are sure that H terminates. For this reason, we don't write any situation about H not stopping in D codes.</a:t>
            </a:r>
          </a:p>
          <a:p>
            <a:pPr marL="0" indent="0">
              <a:buNone/>
            </a:pPr>
            <a:r>
              <a:rPr lang="en-US" sz="1200" dirty="0"/>
              <a:t>Then D decides by considering the result of H.</a:t>
            </a:r>
          </a:p>
          <a:p>
            <a:pPr marL="0" indent="0">
              <a:buNone/>
            </a:pPr>
            <a:r>
              <a:rPr lang="en-US" sz="1200" dirty="0"/>
              <a:t>If H terminates in its accept state, then D terminates in its reject state.</a:t>
            </a:r>
          </a:p>
          <a:p>
            <a:pPr marL="0" indent="0">
              <a:buNone/>
            </a:pPr>
            <a:r>
              <a:rPr lang="en-US" sz="1200" dirty="0"/>
              <a:t>If H terminates in its reject state, then D terminates in its accept state.</a:t>
            </a:r>
          </a:p>
        </p:txBody>
      </p:sp>
      <p:sp>
        <p:nvSpPr>
          <p:cNvPr id="4" name="Slayt Numarası Yer Tutucusu 3"/>
          <p:cNvSpPr>
            <a:spLocks noGrp="1"/>
          </p:cNvSpPr>
          <p:nvPr>
            <p:ph type="sldNum" sz="quarter" idx="10"/>
          </p:nvPr>
        </p:nvSpPr>
        <p:spPr/>
        <p:txBody>
          <a:bodyPr/>
          <a:lstStyle/>
          <a:p>
            <a:fld id="{464F05E7-666C-4291-B07E-B8BAE79ECBCA}" type="slidenum">
              <a:rPr lang="tr-TR" smtClean="0"/>
              <a:t>12</a:t>
            </a:fld>
            <a:endParaRPr lang="tr-TR"/>
          </a:p>
        </p:txBody>
      </p:sp>
    </p:spTree>
    <p:extLst>
      <p:ext uri="{BB962C8B-B14F-4D97-AF65-F5344CB8AC3E}">
        <p14:creationId xmlns:p14="http://schemas.microsoft.com/office/powerpoint/2010/main" val="23161300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sz="1200" dirty="0"/>
              <a:t>Now we can test it. Imagine that we load D itself as code into the D compiler again. Already the D compiler was testing the loaded code by sending its own codes as strings via H. So there is a conflict here. This is the part you will struggle to understand.</a:t>
            </a:r>
          </a:p>
          <a:p>
            <a:pPr marL="0" indent="0">
              <a:buNone/>
            </a:pPr>
            <a:endParaRPr lang="en-US" sz="1200" dirty="0"/>
          </a:p>
          <a:p>
            <a:pPr marL="0" indent="0">
              <a:buNone/>
            </a:pPr>
            <a:r>
              <a:rPr lang="en-US" sz="1200" dirty="0"/>
              <a:t>If program D could accept its own codes as strings and stop, then program H would still accept D codes on the D string. But this time, the D compiler, which indirectly refers to the H compiler, will say that the D program rejects the D string, relying on H's decision when making a decision. There seems to be something wrong. Now let's consider the opposite.</a:t>
            </a:r>
          </a:p>
          <a:p>
            <a:pPr marL="0" indent="0">
              <a:buNone/>
            </a:pPr>
            <a:endParaRPr lang="en-US" sz="1200" dirty="0"/>
          </a:p>
          <a:p>
            <a:pPr marL="0" indent="0">
              <a:buNone/>
            </a:pPr>
            <a:r>
              <a:rPr lang="en-US" sz="1200" dirty="0"/>
              <a:t>If program D rejected its own codes as strings or could not stop, program H would still reject D codes on the D string. The D compiler, relying on the H compiler, will also say, "The D program accepts the D string". Again, there is a contradiction. Therefore, it would not be correct to say that the A-TM language is decidable.</a:t>
            </a:r>
          </a:p>
        </p:txBody>
      </p:sp>
      <p:sp>
        <p:nvSpPr>
          <p:cNvPr id="4" name="Slayt Numarası Yer Tutucusu 3"/>
          <p:cNvSpPr>
            <a:spLocks noGrp="1"/>
          </p:cNvSpPr>
          <p:nvPr>
            <p:ph type="sldNum" sz="quarter" idx="10"/>
          </p:nvPr>
        </p:nvSpPr>
        <p:spPr/>
        <p:txBody>
          <a:bodyPr/>
          <a:lstStyle/>
          <a:p>
            <a:fld id="{464F05E7-666C-4291-B07E-B8BAE79ECBCA}" type="slidenum">
              <a:rPr lang="tr-TR" smtClean="0"/>
              <a:t>13</a:t>
            </a:fld>
            <a:endParaRPr lang="tr-TR"/>
          </a:p>
        </p:txBody>
      </p:sp>
    </p:spTree>
    <p:extLst>
      <p:ext uri="{BB962C8B-B14F-4D97-AF65-F5344CB8AC3E}">
        <p14:creationId xmlns:p14="http://schemas.microsoft.com/office/powerpoint/2010/main" val="24445645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sz="1200" dirty="0"/>
              <a:t>We create a new Turing machine D to run on M. You can think of D as a compiler and M is just another Turing machine code to run on D. The D compiler is executed as follows:</a:t>
            </a:r>
          </a:p>
          <a:p>
            <a:pPr marL="0" indent="0">
              <a:buNone/>
            </a:pPr>
            <a:r>
              <a:rPr lang="en-US" sz="1200" dirty="0"/>
              <a:t>Run the Turing machine H on the input M comma M. Here we are sure that H terminates. For this reason, we don't write any situation about H not stopping in D codes.</a:t>
            </a:r>
          </a:p>
          <a:p>
            <a:pPr marL="0" indent="0">
              <a:buNone/>
            </a:pPr>
            <a:r>
              <a:rPr lang="en-US" sz="1200" dirty="0"/>
              <a:t>Then D decides by considering the result of H.</a:t>
            </a:r>
          </a:p>
          <a:p>
            <a:pPr marL="0" indent="0">
              <a:buNone/>
            </a:pPr>
            <a:r>
              <a:rPr lang="en-US" sz="1200" dirty="0"/>
              <a:t>If H terminates in its accept state, then D terminates in its reject state.</a:t>
            </a:r>
          </a:p>
          <a:p>
            <a:pPr marL="0" indent="0">
              <a:buNone/>
            </a:pPr>
            <a:r>
              <a:rPr lang="en-US" sz="1200" dirty="0"/>
              <a:t>If H terminates in its reject state, then D terminates in its accept state.</a:t>
            </a:r>
          </a:p>
        </p:txBody>
      </p:sp>
      <p:sp>
        <p:nvSpPr>
          <p:cNvPr id="4" name="Slayt Numarası Yer Tutucusu 3"/>
          <p:cNvSpPr>
            <a:spLocks noGrp="1"/>
          </p:cNvSpPr>
          <p:nvPr>
            <p:ph type="sldNum" sz="quarter" idx="10"/>
          </p:nvPr>
        </p:nvSpPr>
        <p:spPr/>
        <p:txBody>
          <a:bodyPr/>
          <a:lstStyle/>
          <a:p>
            <a:fld id="{464F05E7-666C-4291-B07E-B8BAE79ECBCA}" type="slidenum">
              <a:rPr lang="tr-TR" smtClean="0"/>
              <a:t>14</a:t>
            </a:fld>
            <a:endParaRPr lang="tr-TR"/>
          </a:p>
        </p:txBody>
      </p:sp>
    </p:spTree>
    <p:extLst>
      <p:ext uri="{BB962C8B-B14F-4D97-AF65-F5344CB8AC3E}">
        <p14:creationId xmlns:p14="http://schemas.microsoft.com/office/powerpoint/2010/main" val="39010740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noProof="0" dirty="0"/>
              <a:t>Based on the Church</a:t>
            </a:r>
            <a:r>
              <a:rPr lang="tr-TR" noProof="0" dirty="0"/>
              <a:t>-</a:t>
            </a:r>
            <a:r>
              <a:rPr lang="en-US" noProof="0" dirty="0"/>
              <a:t>Turing thesis, we can say that the same problem can occur in a Java programs. We define the following language: </a:t>
            </a:r>
          </a:p>
          <a:p>
            <a:endParaRPr lang="en-US" noProof="0" dirty="0"/>
          </a:p>
          <a:p>
            <a:r>
              <a:rPr lang="en-US" noProof="0" dirty="0"/>
              <a:t>Halt = P comma w so that P is a Java program that terminates on the input string w. </a:t>
            </a:r>
          </a:p>
          <a:p>
            <a:endParaRPr lang="en-US" noProof="0" dirty="0"/>
          </a:p>
        </p:txBody>
      </p:sp>
      <p:sp>
        <p:nvSpPr>
          <p:cNvPr id="4" name="Slayt Numarası Yer Tutucusu 3"/>
          <p:cNvSpPr>
            <a:spLocks noGrp="1"/>
          </p:cNvSpPr>
          <p:nvPr>
            <p:ph type="sldNum" sz="quarter" idx="10"/>
          </p:nvPr>
        </p:nvSpPr>
        <p:spPr/>
        <p:txBody>
          <a:bodyPr/>
          <a:lstStyle/>
          <a:p>
            <a:fld id="{464F05E7-666C-4291-B07E-B8BAE79ECBCA}" type="slidenum">
              <a:rPr lang="tr-TR" smtClean="0"/>
              <a:t>15</a:t>
            </a:fld>
            <a:endParaRPr lang="tr-TR"/>
          </a:p>
        </p:txBody>
      </p:sp>
    </p:spTree>
    <p:extLst>
      <p:ext uri="{BB962C8B-B14F-4D97-AF65-F5344CB8AC3E}">
        <p14:creationId xmlns:p14="http://schemas.microsoft.com/office/powerpoint/2010/main" val="7241476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en-US" noProof="0" dirty="0"/>
          </a:p>
        </p:txBody>
      </p:sp>
      <p:sp>
        <p:nvSpPr>
          <p:cNvPr id="4" name="Slayt Numarası Yer Tutucusu 3"/>
          <p:cNvSpPr>
            <a:spLocks noGrp="1"/>
          </p:cNvSpPr>
          <p:nvPr>
            <p:ph type="sldNum" sz="quarter" idx="10"/>
          </p:nvPr>
        </p:nvSpPr>
        <p:spPr/>
        <p:txBody>
          <a:bodyPr/>
          <a:lstStyle/>
          <a:p>
            <a:fld id="{464F05E7-666C-4291-B07E-B8BAE79ECBCA}" type="slidenum">
              <a:rPr lang="tr-TR" smtClean="0"/>
              <a:t>16</a:t>
            </a:fld>
            <a:endParaRPr lang="tr-TR"/>
          </a:p>
        </p:txBody>
      </p:sp>
    </p:spTree>
    <p:extLst>
      <p:ext uri="{BB962C8B-B14F-4D97-AF65-F5344CB8AC3E}">
        <p14:creationId xmlns:p14="http://schemas.microsoft.com/office/powerpoint/2010/main" val="10838009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Both of the languages we mentioned fall under E-</a:t>
            </a:r>
            <a:r>
              <a:rPr lang="en-US" sz="1200" dirty="0" err="1"/>
              <a:t>numerability</a:t>
            </a:r>
            <a:r>
              <a:rPr lang="en-US" sz="1200" dirty="0"/>
              <a:t>. But we will also talk about a language which is not e-numerable.</a:t>
            </a:r>
            <a:endParaRPr lang="tr-TR" sz="1200" dirty="0"/>
          </a:p>
        </p:txBody>
      </p:sp>
      <p:sp>
        <p:nvSpPr>
          <p:cNvPr id="4" name="Slayt Numarası Yer Tutucusu 3"/>
          <p:cNvSpPr>
            <a:spLocks noGrp="1"/>
          </p:cNvSpPr>
          <p:nvPr>
            <p:ph type="sldNum" sz="quarter" idx="10"/>
          </p:nvPr>
        </p:nvSpPr>
        <p:spPr/>
        <p:txBody>
          <a:bodyPr/>
          <a:lstStyle/>
          <a:p>
            <a:fld id="{6049F921-94E2-2146-8BC6-089D7989E1CD}" type="slidenum">
              <a:rPr lang="tr-TR" smtClean="0"/>
              <a:t>17</a:t>
            </a:fld>
            <a:endParaRPr lang="tr-TR"/>
          </a:p>
        </p:txBody>
      </p:sp>
    </p:spTree>
    <p:extLst>
      <p:ext uri="{BB962C8B-B14F-4D97-AF65-F5344CB8AC3E}">
        <p14:creationId xmlns:p14="http://schemas.microsoft.com/office/powerpoint/2010/main" val="7546979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noProof="0" dirty="0"/>
              <a:t>There are some relationships between Decidability and E-</a:t>
            </a:r>
            <a:r>
              <a:rPr lang="en-US" noProof="0" dirty="0" err="1"/>
              <a:t>numerability</a:t>
            </a:r>
            <a:r>
              <a:rPr lang="en-US" noProof="0" dirty="0"/>
              <a:t>. If you are in doubt about a problem, you can comment using the rules below.</a:t>
            </a:r>
          </a:p>
          <a:p>
            <a:r>
              <a:rPr lang="en-US" noProof="0" dirty="0"/>
              <a:t>The first, the P program is Decidable, if and only if inverse of P is Decidable. </a:t>
            </a:r>
          </a:p>
          <a:p>
            <a:r>
              <a:rPr lang="en-US" noProof="0" dirty="0"/>
              <a:t>The second, the P program is Decidable, if and only if both P and inverse of P are Enumerable.</a:t>
            </a:r>
          </a:p>
          <a:p>
            <a:r>
              <a:rPr lang="en-US" noProof="0" dirty="0"/>
              <a:t>The third, If the P program is Decidable, then P is Enumerable.</a:t>
            </a:r>
          </a:p>
        </p:txBody>
      </p:sp>
      <p:sp>
        <p:nvSpPr>
          <p:cNvPr id="4" name="Slayt Numarası Yer Tutucusu 3"/>
          <p:cNvSpPr>
            <a:spLocks noGrp="1"/>
          </p:cNvSpPr>
          <p:nvPr>
            <p:ph type="sldNum" sz="quarter" idx="10"/>
          </p:nvPr>
        </p:nvSpPr>
        <p:spPr/>
        <p:txBody>
          <a:bodyPr/>
          <a:lstStyle/>
          <a:p>
            <a:fld id="{464F05E7-666C-4291-B07E-B8BAE79ECBCA}" type="slidenum">
              <a:rPr lang="tr-TR" smtClean="0"/>
              <a:t>18</a:t>
            </a:fld>
            <a:endParaRPr lang="tr-TR"/>
          </a:p>
        </p:txBody>
      </p:sp>
    </p:spTree>
    <p:extLst>
      <p:ext uri="{BB962C8B-B14F-4D97-AF65-F5344CB8AC3E}">
        <p14:creationId xmlns:p14="http://schemas.microsoft.com/office/powerpoint/2010/main" val="10096930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a:t>That’s all.</a:t>
            </a:r>
          </a:p>
          <a:p>
            <a:endParaRPr lang="en-US" sz="1200"/>
          </a:p>
          <a:p>
            <a:r>
              <a:rPr lang="en-US" altLang="tr-TR" sz="1200"/>
              <a:t>Thanks for listening.</a:t>
            </a:r>
          </a:p>
        </p:txBody>
      </p:sp>
      <p:sp>
        <p:nvSpPr>
          <p:cNvPr id="4" name="Slayt Numarası Yer Tutucusu 3"/>
          <p:cNvSpPr>
            <a:spLocks noGrp="1"/>
          </p:cNvSpPr>
          <p:nvPr>
            <p:ph type="sldNum" sz="quarter" idx="10"/>
          </p:nvPr>
        </p:nvSpPr>
        <p:spPr/>
        <p:txBody>
          <a:bodyPr/>
          <a:lstStyle/>
          <a:p>
            <a:fld id="{464F05E7-666C-4291-B07E-B8BAE79ECBCA}" type="slidenum">
              <a:rPr lang="tr-TR" smtClean="0"/>
              <a:t>19</a:t>
            </a:fld>
            <a:endParaRPr lang="tr-TR"/>
          </a:p>
        </p:txBody>
      </p:sp>
    </p:spTree>
    <p:extLst>
      <p:ext uri="{BB962C8B-B14F-4D97-AF65-F5344CB8AC3E}">
        <p14:creationId xmlns:p14="http://schemas.microsoft.com/office/powerpoint/2010/main" val="6138402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tr-TR"/>
              <a:t>Asıl başlık stili için tıklatın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4062904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tr-TR"/>
              <a:t>Asıl başlık stili için tıklatın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945659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tr-TR"/>
              <a:t>Asıl başlık stili için tıklatın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457744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tr-TR"/>
              <a:t>Asıl başlık stili için tıklatın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761418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a:t>Asıl başlık stili için tıklatın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AF36C430-287F-DD4C-AA12-0A938495B580}" type="datetimeFigureOut">
              <a:rPr lang="tr-TR" smtClean="0"/>
              <a:t>21.11.2025</a:t>
            </a:fld>
            <a:endParaRPr lang="tr-TR"/>
          </a:p>
        </p:txBody>
      </p:sp>
      <p:sp>
        <p:nvSpPr>
          <p:cNvPr id="8" name="Footer Placeholder 7"/>
          <p:cNvSpPr>
            <a:spLocks noGrp="1"/>
          </p:cNvSpPr>
          <p:nvPr>
            <p:ph type="ftr" sz="quarter" idx="11"/>
          </p:nvPr>
        </p:nvSpPr>
        <p:spPr/>
        <p:txBody>
          <a:bodyPr/>
          <a:lstStyle/>
          <a:p>
            <a:endParaRPr lang="tr-T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063016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Date Placeholder 2"/>
          <p:cNvSpPr>
            <a:spLocks noGrp="1"/>
          </p:cNvSpPr>
          <p:nvPr>
            <p:ph type="dt" sz="half" idx="10"/>
          </p:nvPr>
        </p:nvSpPr>
        <p:spPr/>
        <p:txBody>
          <a:bodyPr/>
          <a:lstStyle/>
          <a:p>
            <a:fld id="{AF36C430-287F-DD4C-AA12-0A938495B580}" type="datetimeFigureOut">
              <a:rPr lang="tr-TR" smtClean="0"/>
              <a:t>21.11.2025</a:t>
            </a:fld>
            <a:endParaRPr lang="tr-TR"/>
          </a:p>
        </p:txBody>
      </p:sp>
      <p:sp>
        <p:nvSpPr>
          <p:cNvPr id="4" name="Footer Placeholder 3"/>
          <p:cNvSpPr>
            <a:spLocks noGrp="1"/>
          </p:cNvSpPr>
          <p:nvPr>
            <p:ph type="ftr" sz="quarter" idx="11"/>
          </p:nvPr>
        </p:nvSpPr>
        <p:spPr/>
        <p:txBody>
          <a:bodyPr/>
          <a:lstStyle/>
          <a:p>
            <a:endParaRPr lang="tr-T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701496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36C430-287F-DD4C-AA12-0A938495B580}" type="datetimeFigureOut">
              <a:rPr lang="tr-TR" smtClean="0"/>
              <a:t>21.11.2025</a:t>
            </a:fld>
            <a:endParaRPr lang="tr-TR"/>
          </a:p>
        </p:txBody>
      </p:sp>
      <p:sp>
        <p:nvSpPr>
          <p:cNvPr id="3" name="Footer Placeholder 2"/>
          <p:cNvSpPr>
            <a:spLocks noGrp="1"/>
          </p:cNvSpPr>
          <p:nvPr>
            <p:ph type="ftr" sz="quarter" idx="11"/>
          </p:nvPr>
        </p:nvSpPr>
        <p:spPr/>
        <p:txBody>
          <a:bodyPr/>
          <a:lstStyle/>
          <a:p>
            <a:endParaRPr lang="tr-T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412631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tr-TR"/>
              <a:t>Asıl başlık stili için tıklatın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517925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tr-TR"/>
              <a:t>Asıl başlık stili için tıklatın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simgeyi tıklatın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3239567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tr-TR"/>
              <a:t>Asıl başlık stili için tıklatın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4195719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 için tıklatın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377159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tr-TR"/>
              <a:t>Asıl başlık stili için tıklatın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7501822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 için tıklatın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553556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tr-TR"/>
              <a:t>Asıl başlık stili için tıklatın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5136148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6462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tr-TR"/>
              <a:t>Asıl başlık stili için tıklatın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05454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tr-TR"/>
              <a:t>Asıl başlık stili için tıklatın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F36C430-287F-DD4C-AA12-0A938495B580}" type="datetimeFigureOut">
              <a:rPr lang="tr-TR" smtClean="0"/>
              <a:t>21.11.2025</a:t>
            </a:fld>
            <a:endParaRPr lang="tr-T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tr-T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9DD1268-69E4-B14A-81C8-E49092695496}" type="slidenum">
              <a:rPr lang="tr-TR" smtClean="0"/>
              <a:t>‹#›</a:t>
            </a:fld>
            <a:endParaRPr lang="tr-TR"/>
          </a:p>
        </p:txBody>
      </p:sp>
    </p:spTree>
    <p:extLst>
      <p:ext uri="{BB962C8B-B14F-4D97-AF65-F5344CB8AC3E}">
        <p14:creationId xmlns:p14="http://schemas.microsoft.com/office/powerpoint/2010/main" val="101904302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Resim 9"/>
          <p:cNvPicPr>
            <a:picLocks noChangeAspect="1"/>
          </p:cNvPicPr>
          <p:nvPr/>
        </p:nvPicPr>
        <p:blipFill>
          <a:blip r:embed="rId3">
            <a:clrChange>
              <a:clrFrom>
                <a:srgbClr val="0F33DB"/>
              </a:clrFrom>
              <a:clrTo>
                <a:srgbClr val="0F33DB">
                  <a:alpha val="0"/>
                </a:srgbClr>
              </a:clrTo>
            </a:clrChange>
          </a:blip>
          <a:stretch>
            <a:fillRect/>
          </a:stretch>
        </p:blipFill>
        <p:spPr>
          <a:xfrm>
            <a:off x="3288631" y="32084"/>
            <a:ext cx="6188963" cy="3543228"/>
          </a:xfrm>
          <a:prstGeom prst="rect">
            <a:avLst/>
          </a:prstGeom>
        </p:spPr>
      </p:pic>
      <p:sp>
        <p:nvSpPr>
          <p:cNvPr id="8" name="Unvan 1"/>
          <p:cNvSpPr>
            <a:spLocks noGrp="1"/>
          </p:cNvSpPr>
          <p:nvPr>
            <p:ph type="ctrTitle"/>
          </p:nvPr>
        </p:nvSpPr>
        <p:spPr>
          <a:xfrm>
            <a:off x="2589213" y="2514600"/>
            <a:ext cx="8915399" cy="2262781"/>
          </a:xfrm>
        </p:spPr>
        <p:txBody>
          <a:bodyPr>
            <a:normAutofit fontScale="90000"/>
          </a:bodyPr>
          <a:lstStyle/>
          <a:p>
            <a:br>
              <a:rPr lang="en-US" dirty="0"/>
            </a:br>
            <a:r>
              <a:rPr lang="en-US" dirty="0"/>
              <a:t>Theory of Computation </a:t>
            </a:r>
            <a:br>
              <a:rPr lang="tr-TR" dirty="0"/>
            </a:br>
            <a:r>
              <a:rPr lang="en-US" sz="3600" dirty="0"/>
              <a:t>Lesson </a:t>
            </a:r>
            <a:r>
              <a:rPr lang="tr-TR" sz="3600" dirty="0"/>
              <a:t>11</a:t>
            </a:r>
            <a:endParaRPr lang="en-US" sz="3600" dirty="0"/>
          </a:p>
        </p:txBody>
      </p:sp>
      <p:sp>
        <p:nvSpPr>
          <p:cNvPr id="9" name="Alt Başlık 2"/>
          <p:cNvSpPr txBox="1">
            <a:spLocks/>
          </p:cNvSpPr>
          <p:nvPr/>
        </p:nvSpPr>
        <p:spPr>
          <a:xfrm>
            <a:off x="2589213" y="4777379"/>
            <a:ext cx="8915399" cy="1126283"/>
          </a:xfrm>
          <a:prstGeom prst="rect">
            <a:avLst/>
          </a:prstGeom>
        </p:spPr>
        <p:txBody>
          <a:bodyPr vert="horz" lIns="91440" tIns="45720" rIns="91440" bIns="45720" rtlCol="0" anchor="b">
            <a:norm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r>
              <a:rPr lang="tr-TR" sz="2800" dirty="0" err="1">
                <a:solidFill>
                  <a:srgbClr val="FF0000"/>
                </a:solidFill>
              </a:rPr>
              <a:t>Decidable</a:t>
            </a:r>
            <a:r>
              <a:rPr lang="tr-TR" sz="2800" dirty="0">
                <a:solidFill>
                  <a:srgbClr val="FF0000"/>
                </a:solidFill>
              </a:rPr>
              <a:t> &amp; </a:t>
            </a:r>
            <a:r>
              <a:rPr lang="tr-TR" sz="2800" dirty="0" err="1">
                <a:solidFill>
                  <a:srgbClr val="FF0000"/>
                </a:solidFill>
              </a:rPr>
              <a:t>Undecidable</a:t>
            </a:r>
            <a:r>
              <a:rPr lang="tr-TR" sz="2800" dirty="0">
                <a:solidFill>
                  <a:srgbClr val="FF0000"/>
                </a:solidFill>
              </a:rPr>
              <a:t> </a:t>
            </a:r>
            <a:r>
              <a:rPr lang="tr-TR" sz="2800" dirty="0" err="1">
                <a:solidFill>
                  <a:srgbClr val="FF0000"/>
                </a:solidFill>
              </a:rPr>
              <a:t>Languages</a:t>
            </a:r>
            <a:endParaRPr lang="tr-TR" sz="2800" dirty="0">
              <a:solidFill>
                <a:srgbClr val="FF0000"/>
              </a:solidFill>
            </a:endParaRPr>
          </a:p>
        </p:txBody>
      </p:sp>
    </p:spTree>
    <p:extLst>
      <p:ext uri="{BB962C8B-B14F-4D97-AF65-F5344CB8AC3E}">
        <p14:creationId xmlns:p14="http://schemas.microsoft.com/office/powerpoint/2010/main" val="1124340245"/>
      </p:ext>
    </p:extLst>
  </p:cSld>
  <p:clrMapOvr>
    <a:masterClrMapping/>
  </p:clrMapOvr>
  <mc:AlternateContent xmlns:mc="http://schemas.openxmlformats.org/markup-compatibility/2006" xmlns:p14="http://schemas.microsoft.com/office/powerpoint/2010/main">
    <mc:Choice Requires="p14">
      <p:transition spd="slow" p14:dur="2000" advClick="0" advTm="14400"/>
    </mc:Choice>
    <mc:Fallback xmlns="">
      <p:transition spd="slow" advClick="0" advTm="144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çerik Yer Tutucusu 2"/>
          <p:cNvSpPr txBox="1">
            <a:spLocks/>
          </p:cNvSpPr>
          <p:nvPr/>
        </p:nvSpPr>
        <p:spPr>
          <a:xfrm>
            <a:off x="2002971" y="1640114"/>
            <a:ext cx="98842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dirty="0"/>
              <a:t>The main titles you will hear within the scope of this chapter are as follows:</a:t>
            </a:r>
          </a:p>
          <a:p>
            <a:r>
              <a:rPr lang="en-US" sz="2800" dirty="0"/>
              <a:t>Decidable Languages</a:t>
            </a:r>
          </a:p>
          <a:p>
            <a:r>
              <a:rPr lang="en-US" sz="2800" i="1" dirty="0">
                <a:solidFill>
                  <a:srgbClr val="FF0000"/>
                </a:solidFill>
              </a:rPr>
              <a:t>Enumerable</a:t>
            </a:r>
            <a:r>
              <a:rPr lang="en-US" sz="2800" i="1" dirty="0"/>
              <a:t> Languages</a:t>
            </a:r>
          </a:p>
          <a:p>
            <a:r>
              <a:rPr lang="en-US" sz="2800" dirty="0"/>
              <a:t>Undecidable Languages</a:t>
            </a:r>
            <a:endParaRPr lang="tr-TR" sz="2800" dirty="0"/>
          </a:p>
          <a:p>
            <a:pPr marL="0" indent="0">
              <a:buNone/>
            </a:pPr>
            <a:endParaRPr lang="tr-TR" sz="2800" dirty="0"/>
          </a:p>
          <a:p>
            <a:pPr marL="0" indent="0">
              <a:buNone/>
            </a:pPr>
            <a:r>
              <a:rPr lang="en-US" sz="2800" dirty="0"/>
              <a:t>In some sources, the terms </a:t>
            </a:r>
            <a:r>
              <a:rPr lang="en-US" sz="2800" i="1" dirty="0">
                <a:solidFill>
                  <a:srgbClr val="FF0000"/>
                </a:solidFill>
              </a:rPr>
              <a:t>Recursively Enumerable</a:t>
            </a:r>
            <a:r>
              <a:rPr lang="en-US" sz="2800" dirty="0"/>
              <a:t> or </a:t>
            </a:r>
            <a:r>
              <a:rPr lang="en-US" sz="2800" i="1" dirty="0">
                <a:solidFill>
                  <a:srgbClr val="FF0000"/>
                </a:solidFill>
              </a:rPr>
              <a:t>Turing Recognizable </a:t>
            </a:r>
            <a:r>
              <a:rPr lang="tr-TR" sz="2800" dirty="0"/>
              <a:t>is </a:t>
            </a:r>
            <a:r>
              <a:rPr lang="en-US" sz="2800" dirty="0"/>
              <a:t>used instead of </a:t>
            </a:r>
            <a:r>
              <a:rPr lang="en-US" sz="2800" i="1" dirty="0">
                <a:solidFill>
                  <a:srgbClr val="FF0000"/>
                </a:solidFill>
              </a:rPr>
              <a:t>Enumerable</a:t>
            </a:r>
            <a:r>
              <a:rPr lang="en-US" sz="2800" dirty="0"/>
              <a:t>. Don't be confused, they all</a:t>
            </a:r>
            <a:r>
              <a:rPr lang="tr-TR" sz="2800" dirty="0"/>
              <a:t> </a:t>
            </a:r>
            <a:r>
              <a:rPr lang="en-US" sz="2800" dirty="0"/>
              <a:t>represent the same thing.</a:t>
            </a:r>
          </a:p>
        </p:txBody>
      </p:sp>
      <p:sp>
        <p:nvSpPr>
          <p:cNvPr id="7" name="Unvan 3"/>
          <p:cNvSpPr txBox="1">
            <a:spLocks/>
          </p:cNvSpPr>
          <p:nvPr/>
        </p:nvSpPr>
        <p:spPr>
          <a:xfrm>
            <a:off x="2054083"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t>Decidability</a:t>
            </a:r>
          </a:p>
        </p:txBody>
      </p:sp>
    </p:spTree>
    <p:extLst>
      <p:ext uri="{BB962C8B-B14F-4D97-AF65-F5344CB8AC3E}">
        <p14:creationId xmlns:p14="http://schemas.microsoft.com/office/powerpoint/2010/main" val="1082478469"/>
      </p:ext>
    </p:extLst>
  </p:cSld>
  <p:clrMapOvr>
    <a:masterClrMapping/>
  </p:clrMapOvr>
  <mc:AlternateContent xmlns:mc="http://schemas.openxmlformats.org/markup-compatibility/2006" xmlns:p14="http://schemas.microsoft.com/office/powerpoint/2010/main">
    <mc:Choice Requires="p14">
      <p:transition spd="slow" p14:dur="2000" advClick="0" advTm="34000"/>
    </mc:Choice>
    <mc:Fallback xmlns="">
      <p:transition spd="slow" advClick="0" advTm="34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van 3"/>
          <p:cNvSpPr txBox="1">
            <a:spLocks/>
          </p:cNvSpPr>
          <p:nvPr/>
        </p:nvSpPr>
        <p:spPr>
          <a:xfrm>
            <a:off x="2054083"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t>Decidability</a:t>
            </a:r>
          </a:p>
        </p:txBody>
      </p:sp>
      <p:pic>
        <p:nvPicPr>
          <p:cNvPr id="5" name="Resim 4"/>
          <p:cNvPicPr>
            <a:picLocks noChangeAspect="1"/>
          </p:cNvPicPr>
          <p:nvPr/>
        </p:nvPicPr>
        <p:blipFill rotWithShape="1">
          <a:blip r:embed="rId3"/>
          <a:srcRect b="42406"/>
          <a:stretch/>
        </p:blipFill>
        <p:spPr>
          <a:xfrm>
            <a:off x="547938" y="2049378"/>
            <a:ext cx="8561608" cy="4799361"/>
          </a:xfrm>
          <a:prstGeom prst="rect">
            <a:avLst/>
          </a:prstGeom>
        </p:spPr>
      </p:pic>
      <p:sp>
        <p:nvSpPr>
          <p:cNvPr id="6" name="İçerik Yer Tutucusu 2"/>
          <p:cNvSpPr txBox="1">
            <a:spLocks/>
          </p:cNvSpPr>
          <p:nvPr/>
        </p:nvSpPr>
        <p:spPr>
          <a:xfrm>
            <a:off x="6224338" y="1852863"/>
            <a:ext cx="6128084" cy="1896168"/>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dirty="0"/>
              <a:t>Undecidable Languages</a:t>
            </a:r>
            <a:endParaRPr lang="tr-TR" sz="2800" dirty="0"/>
          </a:p>
          <a:p>
            <a:pPr marL="0" indent="0">
              <a:buNone/>
            </a:pPr>
            <a:endParaRPr lang="tr-TR" sz="2800" dirty="0"/>
          </a:p>
          <a:p>
            <a:pPr marL="0" indent="0">
              <a:buNone/>
            </a:pPr>
            <a:r>
              <a:rPr lang="tr-TR" sz="2800" dirty="0"/>
              <a:t>                 </a:t>
            </a:r>
            <a:r>
              <a:rPr lang="en-US" sz="2800" dirty="0"/>
              <a:t>Decidable Languages</a:t>
            </a:r>
          </a:p>
        </p:txBody>
      </p:sp>
      <p:cxnSp>
        <p:nvCxnSpPr>
          <p:cNvPr id="3" name="Düz Ok Bağlayıcısı 2"/>
          <p:cNvCxnSpPr/>
          <p:nvPr/>
        </p:nvCxnSpPr>
        <p:spPr>
          <a:xfrm flipV="1">
            <a:off x="5358064" y="2295839"/>
            <a:ext cx="1010652" cy="3959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Düz Ok Bağlayıcısı 7"/>
          <p:cNvCxnSpPr/>
          <p:nvPr/>
        </p:nvCxnSpPr>
        <p:spPr>
          <a:xfrm flipV="1">
            <a:off x="5358064" y="2342530"/>
            <a:ext cx="1323473" cy="9917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Düz Ok Bağlayıcısı 9"/>
          <p:cNvCxnSpPr/>
          <p:nvPr/>
        </p:nvCxnSpPr>
        <p:spPr>
          <a:xfrm flipV="1">
            <a:off x="5206258" y="3373015"/>
            <a:ext cx="2798753" cy="4938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Düz Ok Bağlayıcısı 11"/>
          <p:cNvCxnSpPr/>
          <p:nvPr/>
        </p:nvCxnSpPr>
        <p:spPr>
          <a:xfrm flipV="1">
            <a:off x="5135844" y="3468101"/>
            <a:ext cx="3206051" cy="949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Düz Ok Bağlayıcısı 13"/>
          <p:cNvCxnSpPr/>
          <p:nvPr/>
        </p:nvCxnSpPr>
        <p:spPr>
          <a:xfrm flipV="1">
            <a:off x="5135844" y="3478658"/>
            <a:ext cx="3497179" cy="14991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Düz Ok Bağlayıcısı 15"/>
          <p:cNvCxnSpPr/>
          <p:nvPr/>
        </p:nvCxnSpPr>
        <p:spPr>
          <a:xfrm flipV="1">
            <a:off x="5358064" y="3478658"/>
            <a:ext cx="3425583" cy="2103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Düz Ok Bağlayıcısı 17"/>
          <p:cNvCxnSpPr/>
          <p:nvPr/>
        </p:nvCxnSpPr>
        <p:spPr>
          <a:xfrm flipV="1">
            <a:off x="5150700" y="3478658"/>
            <a:ext cx="3784753" cy="26818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9485634"/>
      </p:ext>
    </p:extLst>
  </p:cSld>
  <p:clrMapOvr>
    <a:masterClrMapping/>
  </p:clrMapOvr>
  <mc:AlternateContent xmlns:mc="http://schemas.openxmlformats.org/markup-compatibility/2006" xmlns:p14="http://schemas.microsoft.com/office/powerpoint/2010/main">
    <mc:Choice Requires="p14">
      <p:transition spd="slow" p14:dur="2000" advClick="0" advTm="25000"/>
    </mc:Choice>
    <mc:Fallback xmlns="">
      <p:transition spd="slow" advClick="0" advTm="25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a:xfrm>
            <a:off x="2054083" y="624110"/>
            <a:ext cx="8911687" cy="1280890"/>
          </a:xfrm>
        </p:spPr>
        <p:txBody>
          <a:bodyPr/>
          <a:lstStyle/>
          <a:p>
            <a:r>
              <a:rPr lang="en-US" b="1" dirty="0"/>
              <a:t>Decidable Languages</a:t>
            </a:r>
          </a:p>
        </p:txBody>
      </p:sp>
      <p:sp>
        <p:nvSpPr>
          <p:cNvPr id="6" name="İçerik Yer Tutucusu 2"/>
          <p:cNvSpPr txBox="1">
            <a:spLocks/>
          </p:cNvSpPr>
          <p:nvPr/>
        </p:nvSpPr>
        <p:spPr>
          <a:xfrm>
            <a:off x="2002971" y="1640114"/>
            <a:ext cx="98842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dirty="0"/>
              <a:t>On a word entered for testing L</a:t>
            </a:r>
            <a:r>
              <a:rPr lang="tr-TR" sz="2800" dirty="0"/>
              <a:t>-</a:t>
            </a:r>
            <a:r>
              <a:rPr lang="en-US" sz="2800" dirty="0"/>
              <a:t>language, a Turing Machine (TM) can do one of following:</a:t>
            </a:r>
            <a:endParaRPr lang="tr-TR" sz="2800" dirty="0"/>
          </a:p>
          <a:p>
            <a:r>
              <a:rPr lang="en-US" sz="2800" dirty="0"/>
              <a:t>stops and accepts,</a:t>
            </a:r>
          </a:p>
          <a:p>
            <a:r>
              <a:rPr lang="en-US" sz="2800" dirty="0"/>
              <a:t>stops and rejects,</a:t>
            </a:r>
          </a:p>
          <a:p>
            <a:r>
              <a:rPr lang="en-US" sz="2800" dirty="0"/>
              <a:t>or cannot stop.</a:t>
            </a:r>
            <a:endParaRPr lang="tr-TR" sz="2800" dirty="0"/>
          </a:p>
          <a:p>
            <a:pPr marL="0" indent="0">
              <a:buNone/>
            </a:pPr>
            <a:r>
              <a:rPr lang="en-US" sz="2800" dirty="0"/>
              <a:t>If a TM prepared for an L</a:t>
            </a:r>
            <a:r>
              <a:rPr lang="tr-TR" sz="2800" dirty="0"/>
              <a:t>-</a:t>
            </a:r>
            <a:r>
              <a:rPr lang="en-US" sz="2800" dirty="0"/>
              <a:t>language guarantees to stop by making a decision of accept or reject on every word entered by </a:t>
            </a:r>
            <a:r>
              <a:rPr lang="tr-TR" sz="2800" dirty="0"/>
              <a:t>a </a:t>
            </a:r>
            <a:r>
              <a:rPr lang="en-US" sz="2800" dirty="0"/>
              <a:t>user, then the L</a:t>
            </a:r>
            <a:r>
              <a:rPr lang="tr-TR" sz="2800" dirty="0"/>
              <a:t>-</a:t>
            </a:r>
            <a:r>
              <a:rPr lang="en-US" sz="2800" dirty="0"/>
              <a:t>language is called </a:t>
            </a:r>
            <a:r>
              <a:rPr lang="en-US" sz="2800" b="1" dirty="0"/>
              <a:t>Decidable Language</a:t>
            </a:r>
            <a:r>
              <a:rPr lang="en-US" sz="2800" dirty="0"/>
              <a:t>.</a:t>
            </a:r>
          </a:p>
        </p:txBody>
      </p:sp>
    </p:spTree>
    <p:extLst>
      <p:ext uri="{BB962C8B-B14F-4D97-AF65-F5344CB8AC3E}">
        <p14:creationId xmlns:p14="http://schemas.microsoft.com/office/powerpoint/2010/main" val="1143300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a:xfrm>
            <a:off x="2054083" y="624110"/>
            <a:ext cx="9720822" cy="1280890"/>
          </a:xfrm>
        </p:spPr>
        <p:txBody>
          <a:bodyPr/>
          <a:lstStyle/>
          <a:p>
            <a:r>
              <a:rPr lang="en-US" b="1" dirty="0"/>
              <a:t>Enumerable (Recognizable) Languages</a:t>
            </a:r>
          </a:p>
        </p:txBody>
      </p:sp>
      <p:sp>
        <p:nvSpPr>
          <p:cNvPr id="6" name="İçerik Yer Tutucusu 2"/>
          <p:cNvSpPr txBox="1">
            <a:spLocks/>
          </p:cNvSpPr>
          <p:nvPr/>
        </p:nvSpPr>
        <p:spPr>
          <a:xfrm>
            <a:off x="2002971" y="1640114"/>
            <a:ext cx="98842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dirty="0"/>
              <a:t>L-language is called recursively enumerable or Turing recognizable, if a Turing Machine prepared for L </a:t>
            </a:r>
            <a:endParaRPr lang="tr-TR" sz="2800" dirty="0"/>
          </a:p>
          <a:p>
            <a:pPr marL="0" indent="0">
              <a:buNone/>
            </a:pPr>
            <a:endParaRPr lang="en-US" sz="2800" dirty="0"/>
          </a:p>
          <a:p>
            <a:r>
              <a:rPr lang="en-US" sz="2800" b="1" dirty="0"/>
              <a:t>stops by accepting </a:t>
            </a:r>
            <a:r>
              <a:rPr lang="en-US" sz="2800" dirty="0"/>
              <a:t>words that are elements of L-language, </a:t>
            </a:r>
          </a:p>
          <a:p>
            <a:r>
              <a:rPr lang="en-US" sz="2800" b="1" dirty="0"/>
              <a:t>but cannot guarantee stopping </a:t>
            </a:r>
            <a:r>
              <a:rPr lang="en-US" sz="2800" dirty="0"/>
              <a:t>on words that are not elements (sometimes </a:t>
            </a:r>
            <a:r>
              <a:rPr lang="en-US" sz="2800" b="1" dirty="0"/>
              <a:t>rejecting</a:t>
            </a:r>
            <a:r>
              <a:rPr lang="en-US" sz="2800" dirty="0"/>
              <a:t> but sometimes not terminating)</a:t>
            </a:r>
          </a:p>
        </p:txBody>
      </p:sp>
    </p:spTree>
    <p:extLst>
      <p:ext uri="{BB962C8B-B14F-4D97-AF65-F5344CB8AC3E}">
        <p14:creationId xmlns:p14="http://schemas.microsoft.com/office/powerpoint/2010/main" val="3860597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a:xfrm>
            <a:off x="2054083" y="624110"/>
            <a:ext cx="9720822" cy="1280890"/>
          </a:xfrm>
        </p:spPr>
        <p:txBody>
          <a:bodyPr/>
          <a:lstStyle/>
          <a:p>
            <a:r>
              <a:rPr lang="en-US" b="1" dirty="0"/>
              <a:t>Undecidable Languages</a:t>
            </a:r>
          </a:p>
        </p:txBody>
      </p:sp>
      <p:sp>
        <p:nvSpPr>
          <p:cNvPr id="6" name="İçerik Yer Tutucusu 2"/>
          <p:cNvSpPr txBox="1">
            <a:spLocks/>
          </p:cNvSpPr>
          <p:nvPr/>
        </p:nvSpPr>
        <p:spPr>
          <a:xfrm>
            <a:off x="2002971" y="1640114"/>
            <a:ext cx="98842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dirty="0"/>
              <a:t>If a Turing Machine cannot terminate on L-language,       in other words</a:t>
            </a:r>
            <a:r>
              <a:rPr lang="tr-TR" sz="2800" dirty="0"/>
              <a:t> </a:t>
            </a:r>
            <a:r>
              <a:rPr lang="en-US" sz="2800" dirty="0"/>
              <a:t>neither</a:t>
            </a:r>
          </a:p>
          <a:p>
            <a:pPr marL="0" indent="0">
              <a:buNone/>
            </a:pPr>
            <a:endParaRPr lang="en-US" sz="2800" dirty="0"/>
          </a:p>
          <a:p>
            <a:r>
              <a:rPr lang="en-US" sz="2800" dirty="0"/>
              <a:t>If any TM cannot guarantee terminate in words that are elements of the language,</a:t>
            </a:r>
          </a:p>
          <a:p>
            <a:r>
              <a:rPr lang="en-US" sz="2800" dirty="0"/>
              <a:t>If any TM cannot guarantee stopping on words that are not elements of the language,</a:t>
            </a:r>
          </a:p>
          <a:p>
            <a:pPr marL="0" indent="0">
              <a:buNone/>
            </a:pPr>
            <a:endParaRPr lang="tr-TR" sz="2800" dirty="0"/>
          </a:p>
          <a:p>
            <a:pPr marL="0" indent="0">
              <a:buNone/>
            </a:pPr>
            <a:r>
              <a:rPr lang="en-US" sz="2800" dirty="0"/>
              <a:t>That L-language is called as </a:t>
            </a:r>
            <a:r>
              <a:rPr lang="en-US" sz="2800" b="1" dirty="0"/>
              <a:t>Undecidable</a:t>
            </a:r>
            <a:r>
              <a:rPr lang="en-US" sz="2800" dirty="0"/>
              <a:t>.</a:t>
            </a:r>
          </a:p>
        </p:txBody>
      </p:sp>
    </p:spTree>
    <p:extLst>
      <p:ext uri="{BB962C8B-B14F-4D97-AF65-F5344CB8AC3E}">
        <p14:creationId xmlns:p14="http://schemas.microsoft.com/office/powerpoint/2010/main" val="3526588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çerik Yer Tutucusu 2"/>
          <p:cNvSpPr txBox="1">
            <a:spLocks/>
          </p:cNvSpPr>
          <p:nvPr/>
        </p:nvSpPr>
        <p:spPr>
          <a:xfrm>
            <a:off x="2002971" y="1640114"/>
            <a:ext cx="98842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dirty="0"/>
              <a:t>We can implement any DFA language on JFLAP, and the code can decide a word is element of that language or not. We can be sure that our code will terminate absolutely. Because we know that, there is no loop-forever in DFA. It has states and each state means accept or reject.</a:t>
            </a:r>
            <a:endParaRPr lang="tr-TR" sz="2800" dirty="0"/>
          </a:p>
          <a:p>
            <a:pPr marL="0" indent="0">
              <a:buNone/>
            </a:pPr>
            <a:endParaRPr lang="tr-TR" altLang="tr-TR" sz="2800" dirty="0"/>
          </a:p>
          <a:p>
            <a:pPr marL="0" indent="0">
              <a:buNone/>
            </a:pPr>
            <a:r>
              <a:rPr lang="en-US" sz="2800" u="sng" dirty="0"/>
              <a:t>DFA language is decidable. </a:t>
            </a:r>
            <a:endParaRPr lang="tr-TR" sz="2800" u="sng" dirty="0"/>
          </a:p>
          <a:p>
            <a:pPr marL="0" indent="0">
              <a:buNone/>
            </a:pPr>
            <a:endParaRPr lang="en-US" altLang="tr-TR" sz="2800" dirty="0"/>
          </a:p>
        </p:txBody>
      </p:sp>
      <p:sp>
        <p:nvSpPr>
          <p:cNvPr id="6" name="Unvan 3"/>
          <p:cNvSpPr txBox="1">
            <a:spLocks/>
          </p:cNvSpPr>
          <p:nvPr/>
        </p:nvSpPr>
        <p:spPr>
          <a:xfrm>
            <a:off x="2054083" y="624110"/>
            <a:ext cx="9720822"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tr-TR" b="1" dirty="0"/>
              <a:t>A</a:t>
            </a:r>
            <a:r>
              <a:rPr lang="en-US" b="1" baseline="-25000" dirty="0"/>
              <a:t>DFA</a:t>
            </a:r>
            <a:r>
              <a:rPr lang="en-US" b="1" dirty="0"/>
              <a:t> Language with TM</a:t>
            </a:r>
          </a:p>
        </p:txBody>
      </p:sp>
    </p:spTree>
    <p:extLst>
      <p:ext uri="{BB962C8B-B14F-4D97-AF65-F5344CB8AC3E}">
        <p14:creationId xmlns:p14="http://schemas.microsoft.com/office/powerpoint/2010/main" val="1204956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çerik Yer Tutucusu 2"/>
          <p:cNvSpPr txBox="1">
            <a:spLocks/>
          </p:cNvSpPr>
          <p:nvPr/>
        </p:nvSpPr>
        <p:spPr>
          <a:xfrm>
            <a:off x="2002971" y="1640114"/>
            <a:ext cx="98842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dirty="0"/>
              <a:t>We learned that DFA and NFA are equivalent to each other. With this information alone, you can interpret that, if DFA is decidable, then NFA must be decidable too. Because every NFA can be transformed into a DFA, we can prove this theoretically.</a:t>
            </a:r>
          </a:p>
          <a:p>
            <a:pPr marL="0" indent="0">
              <a:buNone/>
            </a:pPr>
            <a:endParaRPr lang="tr-TR" sz="2800" u="sng" dirty="0"/>
          </a:p>
          <a:p>
            <a:pPr marL="0" indent="0">
              <a:buNone/>
            </a:pPr>
            <a:r>
              <a:rPr lang="en-US" sz="2800" u="sng" dirty="0"/>
              <a:t>NFA language is decidable. </a:t>
            </a:r>
            <a:endParaRPr lang="tr-TR" sz="2800" u="sng" dirty="0"/>
          </a:p>
        </p:txBody>
      </p:sp>
      <p:sp>
        <p:nvSpPr>
          <p:cNvPr id="6" name="Unvan 3"/>
          <p:cNvSpPr txBox="1">
            <a:spLocks/>
          </p:cNvSpPr>
          <p:nvPr/>
        </p:nvSpPr>
        <p:spPr>
          <a:xfrm>
            <a:off x="2054083" y="624110"/>
            <a:ext cx="9720822"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tr-TR" b="1" dirty="0"/>
              <a:t>A</a:t>
            </a:r>
            <a:r>
              <a:rPr lang="en-US" b="1" baseline="-25000" dirty="0"/>
              <a:t>NFA </a:t>
            </a:r>
            <a:r>
              <a:rPr lang="en-US" b="1" dirty="0"/>
              <a:t>Language with TM</a:t>
            </a:r>
          </a:p>
        </p:txBody>
      </p:sp>
    </p:spTree>
    <p:extLst>
      <p:ext uri="{BB962C8B-B14F-4D97-AF65-F5344CB8AC3E}">
        <p14:creationId xmlns:p14="http://schemas.microsoft.com/office/powerpoint/2010/main" val="1581248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çerik Yer Tutucusu 2"/>
          <p:cNvSpPr txBox="1">
            <a:spLocks/>
          </p:cNvSpPr>
          <p:nvPr/>
        </p:nvSpPr>
        <p:spPr>
          <a:xfrm>
            <a:off x="2002971" y="1640114"/>
            <a:ext cx="98842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dirty="0"/>
              <a:t>In order to find out if it is decidable, we can consider Chomsky normal form. If we transform a CFG into Chomsky normal form, for a word with n length, it is guaranteed that it terminates in 2n-1 steps.</a:t>
            </a:r>
            <a:r>
              <a:rPr lang="tr-TR" sz="2800" dirty="0"/>
              <a:t> </a:t>
            </a:r>
            <a:r>
              <a:rPr lang="en-US" sz="2800" dirty="0"/>
              <a:t>Thus, we have proved the following result: </a:t>
            </a:r>
            <a:endParaRPr lang="tr-TR" sz="2800" dirty="0"/>
          </a:p>
          <a:p>
            <a:pPr marL="0" indent="0">
              <a:buNone/>
            </a:pPr>
            <a:endParaRPr lang="tr-TR" sz="2800" dirty="0"/>
          </a:p>
          <a:p>
            <a:pPr marL="0" indent="0">
              <a:buNone/>
            </a:pPr>
            <a:r>
              <a:rPr lang="en-US" sz="2800" u="sng" dirty="0"/>
              <a:t>CFG language is decidable.</a:t>
            </a:r>
            <a:endParaRPr lang="en-US" altLang="tr-TR" sz="2800" u="sng" dirty="0"/>
          </a:p>
        </p:txBody>
      </p:sp>
      <p:sp>
        <p:nvSpPr>
          <p:cNvPr id="6" name="Unvan 3"/>
          <p:cNvSpPr txBox="1">
            <a:spLocks/>
          </p:cNvSpPr>
          <p:nvPr/>
        </p:nvSpPr>
        <p:spPr>
          <a:xfrm>
            <a:off x="2054083" y="624110"/>
            <a:ext cx="9720822"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tr-TR" b="1" dirty="0"/>
              <a:t>A</a:t>
            </a:r>
            <a:r>
              <a:rPr lang="en-US" b="1" baseline="-25000" dirty="0"/>
              <a:t>CFG </a:t>
            </a:r>
            <a:r>
              <a:rPr lang="en-US" b="1" dirty="0"/>
              <a:t>Language with TM</a:t>
            </a:r>
          </a:p>
        </p:txBody>
      </p:sp>
    </p:spTree>
    <p:extLst>
      <p:ext uri="{BB962C8B-B14F-4D97-AF65-F5344CB8AC3E}">
        <p14:creationId xmlns:p14="http://schemas.microsoft.com/office/powerpoint/2010/main" val="4087861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çerik Yer Tutucusu 2"/>
          <p:cNvSpPr txBox="1">
            <a:spLocks/>
          </p:cNvSpPr>
          <p:nvPr/>
        </p:nvSpPr>
        <p:spPr>
          <a:xfrm>
            <a:off x="2002971" y="1640114"/>
            <a:ext cx="98842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dirty="0"/>
              <a:t>We can start by considering the JFLAP implementation again. When a code written with a TM is loaded into JFLAP,</a:t>
            </a:r>
            <a:endParaRPr lang="tr-TR" sz="2800" dirty="0"/>
          </a:p>
          <a:p>
            <a:pPr marL="0" indent="0">
              <a:buNone/>
            </a:pPr>
            <a:endParaRPr lang="tr-TR" sz="2800" dirty="0"/>
          </a:p>
          <a:p>
            <a:r>
              <a:rPr lang="en-US" sz="2800" dirty="0"/>
              <a:t>Can JFLAP detect that the code has an infinite-loop? </a:t>
            </a:r>
            <a:endParaRPr lang="tr-TR" sz="2800" dirty="0"/>
          </a:p>
          <a:p>
            <a:r>
              <a:rPr lang="en-US" sz="2800" dirty="0"/>
              <a:t>Can JFLAP </a:t>
            </a:r>
            <a:r>
              <a:rPr lang="en-US" sz="2800" b="1" dirty="0">
                <a:solidFill>
                  <a:srgbClr val="FF0000"/>
                </a:solidFill>
              </a:rPr>
              <a:t>guarantee terminating</a:t>
            </a:r>
            <a:r>
              <a:rPr lang="en-US" sz="2800" dirty="0"/>
              <a:t> on every TM code?</a:t>
            </a:r>
            <a:endParaRPr lang="en-US" altLang="tr-TR" sz="2800" dirty="0"/>
          </a:p>
        </p:txBody>
      </p:sp>
      <p:sp>
        <p:nvSpPr>
          <p:cNvPr id="6" name="Unvan 3"/>
          <p:cNvSpPr txBox="1">
            <a:spLocks/>
          </p:cNvSpPr>
          <p:nvPr/>
        </p:nvSpPr>
        <p:spPr>
          <a:xfrm>
            <a:off x="2054083" y="624110"/>
            <a:ext cx="9720822"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tr-TR" b="1" dirty="0"/>
              <a:t>A</a:t>
            </a:r>
            <a:r>
              <a:rPr lang="en-US" b="1" baseline="-25000" dirty="0"/>
              <a:t>TM </a:t>
            </a:r>
            <a:r>
              <a:rPr lang="en-US" b="1" dirty="0"/>
              <a:t>Language with TM</a:t>
            </a:r>
          </a:p>
        </p:txBody>
      </p:sp>
    </p:spTree>
    <p:extLst>
      <p:ext uri="{BB962C8B-B14F-4D97-AF65-F5344CB8AC3E}">
        <p14:creationId xmlns:p14="http://schemas.microsoft.com/office/powerpoint/2010/main" val="2089884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Yuvarlatılmış Dikdörtgen 8"/>
          <p:cNvSpPr/>
          <p:nvPr/>
        </p:nvSpPr>
        <p:spPr>
          <a:xfrm>
            <a:off x="6785811" y="4957011"/>
            <a:ext cx="4379494" cy="1852863"/>
          </a:xfrm>
          <a:prstGeom prst="roundRect">
            <a:avLst/>
          </a:prstGeom>
          <a:ln w="38100">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dirty="0"/>
          </a:p>
          <a:p>
            <a:pPr algn="ctr"/>
            <a:endParaRPr lang="tr-TR" dirty="0"/>
          </a:p>
          <a:p>
            <a:pPr algn="ctr"/>
            <a:endParaRPr lang="tr-TR" dirty="0"/>
          </a:p>
          <a:p>
            <a:pPr algn="ctr"/>
            <a:endParaRPr lang="tr-TR" dirty="0"/>
          </a:p>
          <a:p>
            <a:pPr algn="ctr"/>
            <a:r>
              <a:rPr lang="tr-TR" sz="2800" b="1" dirty="0">
                <a:solidFill>
                  <a:srgbClr val="C00000"/>
                </a:solidFill>
              </a:rPr>
              <a:t>H</a:t>
            </a:r>
            <a:r>
              <a:rPr lang="tr-TR" dirty="0"/>
              <a:t>                                                       .</a:t>
            </a:r>
            <a:endParaRPr lang="en-US" dirty="0"/>
          </a:p>
        </p:txBody>
      </p:sp>
      <p:sp>
        <p:nvSpPr>
          <p:cNvPr id="5" name="İçerik Yer Tutucusu 2"/>
          <p:cNvSpPr txBox="1">
            <a:spLocks/>
          </p:cNvSpPr>
          <p:nvPr/>
        </p:nvSpPr>
        <p:spPr>
          <a:xfrm>
            <a:off x="2002971" y="1640114"/>
            <a:ext cx="98842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dirty="0"/>
              <a:t>We assume that </a:t>
            </a:r>
            <a:r>
              <a:rPr lang="tr-TR" sz="2800" dirty="0"/>
              <a:t>A</a:t>
            </a:r>
            <a:r>
              <a:rPr lang="en-US" sz="2800" baseline="-25000" dirty="0"/>
              <a:t>TM</a:t>
            </a:r>
            <a:r>
              <a:rPr lang="en-US" sz="2800" dirty="0"/>
              <a:t> is decidable. Then there exists a Turing machine H that has the following property. For every input string </a:t>
            </a:r>
            <a:r>
              <a:rPr lang="tr-TR" sz="2800" dirty="0"/>
              <a:t>&lt;</a:t>
            </a:r>
            <a:r>
              <a:rPr lang="en-US" sz="2800" dirty="0"/>
              <a:t>M, w</a:t>
            </a:r>
            <a:r>
              <a:rPr lang="tr-TR" sz="2800" dirty="0"/>
              <a:t>&gt;</a:t>
            </a:r>
            <a:r>
              <a:rPr lang="en-US" sz="2800" dirty="0"/>
              <a:t> for H:</a:t>
            </a:r>
            <a:endParaRPr lang="tr-TR" sz="2800" dirty="0"/>
          </a:p>
          <a:p>
            <a:r>
              <a:rPr lang="en-US" sz="2800" dirty="0"/>
              <a:t>If </a:t>
            </a:r>
            <a:r>
              <a:rPr lang="tr-TR" sz="2800" dirty="0" err="1"/>
              <a:t>&lt;</a:t>
            </a:r>
            <a:r>
              <a:rPr lang="en-US" sz="2800" dirty="0"/>
              <a:t>M, w</a:t>
            </a:r>
            <a:r>
              <a:rPr lang="tr-TR" sz="2800" dirty="0"/>
              <a:t>&gt;</a:t>
            </a:r>
            <a:r>
              <a:rPr lang="en-US" sz="2800" dirty="0"/>
              <a:t> ∈ </a:t>
            </a:r>
            <a:r>
              <a:rPr lang="tr-TR" sz="2800" dirty="0"/>
              <a:t>A</a:t>
            </a:r>
            <a:r>
              <a:rPr lang="en-US" sz="2800" baseline="-25000" dirty="0"/>
              <a:t>TM</a:t>
            </a:r>
            <a:r>
              <a:rPr lang="en-US" sz="2800" dirty="0"/>
              <a:t> (i.e., M accepts w), then H terminates in its accept state.</a:t>
            </a:r>
            <a:endParaRPr lang="tr-TR" sz="2800" dirty="0"/>
          </a:p>
          <a:p>
            <a:r>
              <a:rPr lang="en-US" sz="2800" dirty="0"/>
              <a:t>If </a:t>
            </a:r>
            <a:r>
              <a:rPr lang="tr-TR" sz="2800" dirty="0" err="1"/>
              <a:t>&lt;</a:t>
            </a:r>
            <a:r>
              <a:rPr lang="en-US" sz="2800" dirty="0"/>
              <a:t>M, w</a:t>
            </a:r>
            <a:r>
              <a:rPr lang="tr-TR" sz="2800" dirty="0"/>
              <a:t>&gt;</a:t>
            </a:r>
            <a:r>
              <a:rPr lang="en-US" sz="2800" dirty="0"/>
              <a:t> </a:t>
            </a:r>
            <a:r>
              <a:rPr lang="tr-TR" sz="2800" dirty="0"/>
              <a:t>∉</a:t>
            </a:r>
            <a:r>
              <a:rPr lang="en-US" sz="2800" dirty="0"/>
              <a:t> </a:t>
            </a:r>
            <a:r>
              <a:rPr lang="tr-TR" sz="2800" dirty="0"/>
              <a:t>A</a:t>
            </a:r>
            <a:r>
              <a:rPr lang="en-US" sz="2800" baseline="-25000" dirty="0"/>
              <a:t>TM</a:t>
            </a:r>
            <a:r>
              <a:rPr lang="en-US" sz="2800" dirty="0"/>
              <a:t> (i.e., M rejects w or M does not terminate on input w), then H terminates in its reject state.</a:t>
            </a:r>
            <a:endParaRPr lang="en-US" altLang="tr-TR" sz="2800" dirty="0"/>
          </a:p>
        </p:txBody>
      </p:sp>
      <p:sp>
        <p:nvSpPr>
          <p:cNvPr id="6" name="Unvan 3"/>
          <p:cNvSpPr txBox="1">
            <a:spLocks/>
          </p:cNvSpPr>
          <p:nvPr/>
        </p:nvSpPr>
        <p:spPr>
          <a:xfrm>
            <a:off x="2054083" y="624110"/>
            <a:ext cx="9720822"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tr-TR" b="1" dirty="0"/>
              <a:t>A</a:t>
            </a:r>
            <a:r>
              <a:rPr lang="en-US" b="1" baseline="-25000" dirty="0"/>
              <a:t>TM</a:t>
            </a:r>
            <a:r>
              <a:rPr lang="en-US" b="1" dirty="0"/>
              <a:t> Language with TM</a:t>
            </a:r>
          </a:p>
        </p:txBody>
      </p:sp>
      <p:pic>
        <p:nvPicPr>
          <p:cNvPr id="8" name="Resim 7"/>
          <p:cNvPicPr>
            <a:picLocks noChangeAspect="1"/>
          </p:cNvPicPr>
          <p:nvPr/>
        </p:nvPicPr>
        <p:blipFill>
          <a:blip r:embed="rId3">
            <a:clrChange>
              <a:clrFrom>
                <a:srgbClr val="FFFFFF"/>
              </a:clrFrom>
              <a:clrTo>
                <a:srgbClr val="FFFFFF">
                  <a:alpha val="0"/>
                </a:srgbClr>
              </a:clrTo>
            </a:clrChange>
          </a:blip>
          <a:stretch>
            <a:fillRect/>
          </a:stretch>
        </p:blipFill>
        <p:spPr>
          <a:xfrm>
            <a:off x="7451549" y="5102777"/>
            <a:ext cx="3705742" cy="1657581"/>
          </a:xfrm>
          <a:prstGeom prst="rect">
            <a:avLst/>
          </a:prstGeom>
        </p:spPr>
      </p:pic>
    </p:spTree>
    <p:extLst>
      <p:ext uri="{BB962C8B-B14F-4D97-AF65-F5344CB8AC3E}">
        <p14:creationId xmlns:p14="http://schemas.microsoft.com/office/powerpoint/2010/main" val="382080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çerik Yer Tutucusu 2"/>
          <p:cNvSpPr txBox="1">
            <a:spLocks/>
          </p:cNvSpPr>
          <p:nvPr/>
        </p:nvSpPr>
        <p:spPr>
          <a:xfrm>
            <a:off x="2002971" y="1640114"/>
            <a:ext cx="98842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dirty="0"/>
              <a:t>We create a new Turing machine D to run on &lt;M&gt;. You can think of D as a compiler and M is just another TM code to run on D. The D compiler is executed as follows:</a:t>
            </a:r>
            <a:endParaRPr lang="tr-TR" sz="2800" dirty="0"/>
          </a:p>
          <a:p>
            <a:r>
              <a:rPr lang="en-US" sz="2800" dirty="0"/>
              <a:t>Run the Turing machine H on the input </a:t>
            </a:r>
            <a:r>
              <a:rPr lang="tr-TR" sz="2800" dirty="0"/>
              <a:t>&lt;</a:t>
            </a:r>
            <a:r>
              <a:rPr lang="en-US" sz="2800" dirty="0"/>
              <a:t>M,</a:t>
            </a:r>
            <a:r>
              <a:rPr lang="tr-TR" sz="2800" dirty="0"/>
              <a:t>&lt;</a:t>
            </a:r>
            <a:r>
              <a:rPr lang="en-US" sz="2800" dirty="0"/>
              <a:t>M</a:t>
            </a:r>
            <a:r>
              <a:rPr lang="tr-TR" sz="2800" dirty="0"/>
              <a:t>&gt;&gt;</a:t>
            </a:r>
            <a:r>
              <a:rPr lang="en-US" sz="2800" dirty="0"/>
              <a:t>.</a:t>
            </a:r>
            <a:endParaRPr lang="tr-TR" sz="2800" dirty="0"/>
          </a:p>
          <a:p>
            <a:r>
              <a:rPr lang="en-US" sz="2800" dirty="0"/>
              <a:t>If H terminates in its accept state, then D terminates in its reject state.</a:t>
            </a:r>
            <a:endParaRPr lang="tr-TR" sz="2800" dirty="0"/>
          </a:p>
          <a:p>
            <a:r>
              <a:rPr lang="en-US" sz="2800" dirty="0"/>
              <a:t>If H terminates in its reject state, then D terminates in its accept state.</a:t>
            </a:r>
            <a:endParaRPr lang="en-US" altLang="tr-TR" sz="2800" dirty="0"/>
          </a:p>
        </p:txBody>
      </p:sp>
      <p:sp>
        <p:nvSpPr>
          <p:cNvPr id="6" name="Unvan 3"/>
          <p:cNvSpPr txBox="1">
            <a:spLocks/>
          </p:cNvSpPr>
          <p:nvPr/>
        </p:nvSpPr>
        <p:spPr>
          <a:xfrm>
            <a:off x="2054083" y="624110"/>
            <a:ext cx="9720822"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tr-TR" b="1" dirty="0"/>
              <a:t>A</a:t>
            </a:r>
            <a:r>
              <a:rPr lang="en-US" b="1" baseline="-25000" dirty="0"/>
              <a:t>TM</a:t>
            </a:r>
            <a:r>
              <a:rPr lang="en-US" b="1" dirty="0"/>
              <a:t> Language with TM</a:t>
            </a:r>
          </a:p>
        </p:txBody>
      </p:sp>
    </p:spTree>
    <p:extLst>
      <p:ext uri="{BB962C8B-B14F-4D97-AF65-F5344CB8AC3E}">
        <p14:creationId xmlns:p14="http://schemas.microsoft.com/office/powerpoint/2010/main" val="1853665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çerik Yer Tutucusu 2"/>
          <p:cNvSpPr txBox="1">
            <a:spLocks/>
          </p:cNvSpPr>
          <p:nvPr/>
        </p:nvSpPr>
        <p:spPr>
          <a:xfrm>
            <a:off x="2002971" y="1640114"/>
            <a:ext cx="98842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dirty="0"/>
              <a:t>Assume that we load D itself as code into the D compiler again. The D compiler was already testing the loaded code by sending its own codes as strings via H. So there is a </a:t>
            </a:r>
            <a:r>
              <a:rPr lang="en-US" sz="2800" b="1" dirty="0"/>
              <a:t>contradiction</a:t>
            </a:r>
            <a:r>
              <a:rPr lang="en-US" sz="2800" dirty="0"/>
              <a:t> here.</a:t>
            </a:r>
            <a:endParaRPr lang="tr-TR" sz="2800" dirty="0"/>
          </a:p>
          <a:p>
            <a:pPr marL="0" indent="0">
              <a:buNone/>
            </a:pPr>
            <a:endParaRPr lang="en-US" sz="2800" dirty="0"/>
          </a:p>
          <a:p>
            <a:r>
              <a:rPr lang="en-US" sz="2800" dirty="0">
                <a:solidFill>
                  <a:srgbClr val="C00000"/>
                </a:solidFill>
              </a:rPr>
              <a:t>If D accepts &lt;D&gt;</a:t>
            </a:r>
            <a:r>
              <a:rPr lang="en-US" sz="2800" dirty="0"/>
              <a:t>, then H terminates in its accept state, </a:t>
            </a:r>
            <a:r>
              <a:rPr lang="en-US" sz="2800" dirty="0">
                <a:solidFill>
                  <a:srgbClr val="C00000"/>
                </a:solidFill>
              </a:rPr>
              <a:t>thus D rejects &lt;D&gt;</a:t>
            </a:r>
            <a:r>
              <a:rPr lang="en-US" sz="2800" dirty="0"/>
              <a:t>.</a:t>
            </a:r>
          </a:p>
          <a:p>
            <a:r>
              <a:rPr lang="en-US" sz="2800" dirty="0">
                <a:solidFill>
                  <a:srgbClr val="0070C0"/>
                </a:solidFill>
              </a:rPr>
              <a:t>If D rejects &lt;D&gt;</a:t>
            </a:r>
            <a:r>
              <a:rPr lang="en-US" sz="2800" dirty="0"/>
              <a:t> or does not terminate, then H terminates in its reject state, </a:t>
            </a:r>
            <a:r>
              <a:rPr lang="en-US" sz="2800" dirty="0">
                <a:solidFill>
                  <a:srgbClr val="0070C0"/>
                </a:solidFill>
              </a:rPr>
              <a:t>thus D accepts &lt;D&gt;</a:t>
            </a:r>
            <a:r>
              <a:rPr lang="en-US" sz="2800" dirty="0"/>
              <a:t>.</a:t>
            </a:r>
            <a:endParaRPr lang="en-US" altLang="tr-TR" sz="2800" dirty="0"/>
          </a:p>
        </p:txBody>
      </p:sp>
      <p:sp>
        <p:nvSpPr>
          <p:cNvPr id="6" name="Unvan 3"/>
          <p:cNvSpPr txBox="1">
            <a:spLocks/>
          </p:cNvSpPr>
          <p:nvPr/>
        </p:nvSpPr>
        <p:spPr>
          <a:xfrm>
            <a:off x="2054083" y="624110"/>
            <a:ext cx="9720822"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tr-TR" b="1" dirty="0"/>
              <a:t>A</a:t>
            </a:r>
            <a:r>
              <a:rPr lang="en-US" b="1" baseline="-25000" dirty="0"/>
              <a:t>TM</a:t>
            </a:r>
            <a:r>
              <a:rPr lang="en-US" b="1" dirty="0"/>
              <a:t> Language with TM</a:t>
            </a:r>
          </a:p>
        </p:txBody>
      </p:sp>
    </p:spTree>
    <p:extLst>
      <p:ext uri="{BB962C8B-B14F-4D97-AF65-F5344CB8AC3E}">
        <p14:creationId xmlns:p14="http://schemas.microsoft.com/office/powerpoint/2010/main" val="2021831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Unvan 3"/>
          <p:cNvSpPr txBox="1">
            <a:spLocks/>
          </p:cNvSpPr>
          <p:nvPr/>
        </p:nvSpPr>
        <p:spPr>
          <a:xfrm>
            <a:off x="2054083" y="624110"/>
            <a:ext cx="9720822"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tr-TR" b="1" dirty="0"/>
              <a:t>A</a:t>
            </a:r>
            <a:r>
              <a:rPr lang="en-US" b="1" baseline="-25000" dirty="0"/>
              <a:t>TM</a:t>
            </a:r>
            <a:r>
              <a:rPr lang="en-US" b="1" dirty="0"/>
              <a:t> Language with TM</a:t>
            </a:r>
          </a:p>
        </p:txBody>
      </p:sp>
      <p:sp>
        <p:nvSpPr>
          <p:cNvPr id="4" name="Yuvarlatılmış Dikdörtgen 8">
            <a:extLst>
              <a:ext uri="{FF2B5EF4-FFF2-40B4-BE49-F238E27FC236}">
                <a16:creationId xmlns:a16="http://schemas.microsoft.com/office/drawing/2014/main" id="{B0B1A930-E0BD-616B-BA6E-9E6ECC0467BC}"/>
              </a:ext>
            </a:extLst>
          </p:cNvPr>
          <p:cNvSpPr/>
          <p:nvPr/>
        </p:nvSpPr>
        <p:spPr>
          <a:xfrm>
            <a:off x="4554600" y="1823538"/>
            <a:ext cx="5411580" cy="3229723"/>
          </a:xfrm>
          <a:prstGeom prst="roundRect">
            <a:avLst/>
          </a:prstGeom>
          <a:ln w="38100">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dirty="0"/>
          </a:p>
          <a:p>
            <a:pPr algn="ctr"/>
            <a:endParaRPr lang="tr-TR" dirty="0"/>
          </a:p>
          <a:p>
            <a:pPr algn="ctr"/>
            <a:endParaRPr lang="tr-TR" dirty="0"/>
          </a:p>
          <a:p>
            <a:pPr algn="ctr"/>
            <a:endParaRPr lang="tr-TR" dirty="0"/>
          </a:p>
          <a:p>
            <a:pPr algn="ctr"/>
            <a:endParaRPr lang="tr-TR" sz="2800" b="1" dirty="0">
              <a:solidFill>
                <a:srgbClr val="C00000"/>
              </a:solidFill>
            </a:endParaRPr>
          </a:p>
          <a:p>
            <a:pPr algn="ctr"/>
            <a:endParaRPr lang="tr-TR" sz="2800" b="1" dirty="0">
              <a:solidFill>
                <a:srgbClr val="C00000"/>
              </a:solidFill>
            </a:endParaRPr>
          </a:p>
          <a:p>
            <a:pPr algn="ctr"/>
            <a:endParaRPr lang="tr-TR" sz="2800" b="1" dirty="0">
              <a:solidFill>
                <a:srgbClr val="C00000"/>
              </a:solidFill>
            </a:endParaRPr>
          </a:p>
          <a:p>
            <a:pPr algn="ctr"/>
            <a:r>
              <a:rPr lang="tr-TR" sz="2800" b="1" dirty="0">
                <a:solidFill>
                  <a:srgbClr val="C00000"/>
                </a:solidFill>
              </a:rPr>
              <a:t>D</a:t>
            </a:r>
            <a:r>
              <a:rPr lang="tr-TR" dirty="0"/>
              <a:t>                                                       .</a:t>
            </a:r>
            <a:endParaRPr lang="en-US" dirty="0"/>
          </a:p>
        </p:txBody>
      </p:sp>
      <p:sp>
        <p:nvSpPr>
          <p:cNvPr id="2" name="Yuvarlatılmış Dikdörtgen 8">
            <a:extLst>
              <a:ext uri="{FF2B5EF4-FFF2-40B4-BE49-F238E27FC236}">
                <a16:creationId xmlns:a16="http://schemas.microsoft.com/office/drawing/2014/main" id="{EA8DEA64-2417-803B-0BAE-2C0838F1DBD3}"/>
              </a:ext>
            </a:extLst>
          </p:cNvPr>
          <p:cNvSpPr/>
          <p:nvPr/>
        </p:nvSpPr>
        <p:spPr>
          <a:xfrm>
            <a:off x="5417126" y="1954516"/>
            <a:ext cx="4379494" cy="1852863"/>
          </a:xfrm>
          <a:prstGeom prst="roundRect">
            <a:avLst/>
          </a:prstGeom>
          <a:ln w="38100">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dirty="0"/>
          </a:p>
          <a:p>
            <a:pPr algn="ctr"/>
            <a:endParaRPr lang="tr-TR" dirty="0"/>
          </a:p>
          <a:p>
            <a:pPr algn="ctr"/>
            <a:endParaRPr lang="tr-TR" dirty="0"/>
          </a:p>
          <a:p>
            <a:pPr algn="ctr"/>
            <a:r>
              <a:rPr lang="tr-TR" sz="2800" b="1" dirty="0">
                <a:solidFill>
                  <a:srgbClr val="C00000"/>
                </a:solidFill>
              </a:rPr>
              <a:t>H</a:t>
            </a:r>
            <a:r>
              <a:rPr lang="tr-TR" dirty="0"/>
              <a:t>                                                       .</a:t>
            </a:r>
            <a:endParaRPr lang="en-US" dirty="0"/>
          </a:p>
        </p:txBody>
      </p:sp>
      <p:sp>
        <p:nvSpPr>
          <p:cNvPr id="7" name="Yuvarlatılmış Dikdörtgen 8">
            <a:extLst>
              <a:ext uri="{FF2B5EF4-FFF2-40B4-BE49-F238E27FC236}">
                <a16:creationId xmlns:a16="http://schemas.microsoft.com/office/drawing/2014/main" id="{2C339DDF-EEEC-7746-8F6E-B9937A388631}"/>
              </a:ext>
            </a:extLst>
          </p:cNvPr>
          <p:cNvSpPr/>
          <p:nvPr/>
        </p:nvSpPr>
        <p:spPr>
          <a:xfrm>
            <a:off x="7950199" y="2180142"/>
            <a:ext cx="1628597" cy="865992"/>
          </a:xfrm>
          <a:prstGeom prst="roundRect">
            <a:avLst/>
          </a:prstGeom>
          <a:ln w="38100">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dirty="0"/>
          </a:p>
          <a:p>
            <a:pPr algn="ctr"/>
            <a:endParaRPr lang="tr-TR" dirty="0"/>
          </a:p>
          <a:p>
            <a:pPr algn="ctr"/>
            <a:r>
              <a:rPr lang="tr-TR" sz="2800" b="1" dirty="0">
                <a:solidFill>
                  <a:srgbClr val="C00000"/>
                </a:solidFill>
              </a:rPr>
              <a:t>D</a:t>
            </a:r>
            <a:r>
              <a:rPr lang="tr-TR" dirty="0"/>
              <a:t>                                                       .</a:t>
            </a:r>
            <a:endParaRPr lang="en-US" dirty="0"/>
          </a:p>
        </p:txBody>
      </p:sp>
      <p:cxnSp>
        <p:nvCxnSpPr>
          <p:cNvPr id="9" name="Straight Arrow Connector 8">
            <a:extLst>
              <a:ext uri="{FF2B5EF4-FFF2-40B4-BE49-F238E27FC236}">
                <a16:creationId xmlns:a16="http://schemas.microsoft.com/office/drawing/2014/main" id="{865B22DD-08AD-9D3D-00F1-96D0548F2B07}"/>
              </a:ext>
            </a:extLst>
          </p:cNvPr>
          <p:cNvCxnSpPr/>
          <p:nvPr/>
        </p:nvCxnSpPr>
        <p:spPr>
          <a:xfrm>
            <a:off x="6755984" y="2613138"/>
            <a:ext cx="10863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9C33751-578E-22A3-ABCB-E4DA06CC6459}"/>
              </a:ext>
            </a:extLst>
          </p:cNvPr>
          <p:cNvSpPr txBox="1"/>
          <p:nvPr/>
        </p:nvSpPr>
        <p:spPr>
          <a:xfrm>
            <a:off x="6177405" y="2428472"/>
            <a:ext cx="674557" cy="369332"/>
          </a:xfrm>
          <a:prstGeom prst="rect">
            <a:avLst/>
          </a:prstGeom>
          <a:noFill/>
        </p:spPr>
        <p:txBody>
          <a:bodyPr wrap="square" rtlCol="0">
            <a:spAutoFit/>
          </a:bodyPr>
          <a:lstStyle/>
          <a:p>
            <a:r>
              <a:rPr lang="tr-TR" dirty="0"/>
              <a:t>&lt;D&gt;</a:t>
            </a:r>
          </a:p>
        </p:txBody>
      </p:sp>
      <p:sp>
        <p:nvSpPr>
          <p:cNvPr id="5" name="TextBox 4">
            <a:extLst>
              <a:ext uri="{FF2B5EF4-FFF2-40B4-BE49-F238E27FC236}">
                <a16:creationId xmlns:a16="http://schemas.microsoft.com/office/drawing/2014/main" id="{8C00456E-142D-5461-BBB3-88B4E091333F}"/>
              </a:ext>
            </a:extLst>
          </p:cNvPr>
          <p:cNvSpPr txBox="1"/>
          <p:nvPr/>
        </p:nvSpPr>
        <p:spPr>
          <a:xfrm>
            <a:off x="1193800" y="5163317"/>
            <a:ext cx="10731500" cy="923330"/>
          </a:xfrm>
          <a:prstGeom prst="rect">
            <a:avLst/>
          </a:prstGeom>
          <a:noFill/>
        </p:spPr>
        <p:txBody>
          <a:bodyPr wrap="square">
            <a:spAutoFit/>
          </a:bodyPr>
          <a:lstStyle/>
          <a:p>
            <a:pPr marL="0" indent="0">
              <a:buNone/>
            </a:pPr>
            <a:endParaRPr lang="en-US" sz="1800" dirty="0"/>
          </a:p>
          <a:p>
            <a:r>
              <a:rPr lang="en-US" sz="1800" dirty="0">
                <a:solidFill>
                  <a:srgbClr val="C00000"/>
                </a:solidFill>
              </a:rPr>
              <a:t>If D accepts &lt;D&gt;</a:t>
            </a:r>
            <a:r>
              <a:rPr lang="en-US" sz="1800" dirty="0"/>
              <a:t>, then H terminates in its accept state, </a:t>
            </a:r>
            <a:r>
              <a:rPr lang="en-US" sz="1800" dirty="0">
                <a:solidFill>
                  <a:srgbClr val="C00000"/>
                </a:solidFill>
              </a:rPr>
              <a:t>thus D rejects &lt;D&gt;</a:t>
            </a:r>
            <a:r>
              <a:rPr lang="en-US" sz="1800" dirty="0"/>
              <a:t>.</a:t>
            </a:r>
          </a:p>
          <a:p>
            <a:r>
              <a:rPr lang="en-US" sz="1800" dirty="0">
                <a:solidFill>
                  <a:srgbClr val="0070C0"/>
                </a:solidFill>
              </a:rPr>
              <a:t>If D rejects &lt;D&gt;</a:t>
            </a:r>
            <a:r>
              <a:rPr lang="en-US" sz="1800" dirty="0"/>
              <a:t> or does not terminate, then H terminates in its reject state, </a:t>
            </a:r>
            <a:r>
              <a:rPr lang="en-US" sz="1800" dirty="0">
                <a:solidFill>
                  <a:srgbClr val="0070C0"/>
                </a:solidFill>
              </a:rPr>
              <a:t>thus D accepts &lt;D&gt;</a:t>
            </a:r>
            <a:r>
              <a:rPr lang="en-US" sz="1800" dirty="0"/>
              <a:t>.</a:t>
            </a:r>
            <a:endParaRPr lang="en-US" altLang="tr-TR" sz="1800" dirty="0"/>
          </a:p>
        </p:txBody>
      </p:sp>
      <p:cxnSp>
        <p:nvCxnSpPr>
          <p:cNvPr id="8" name="Straight Arrow Connector 7">
            <a:extLst>
              <a:ext uri="{FF2B5EF4-FFF2-40B4-BE49-F238E27FC236}">
                <a16:creationId xmlns:a16="http://schemas.microsoft.com/office/drawing/2014/main" id="{2F8B95A0-ABC3-5AD8-70C5-7D639C7D2E63}"/>
              </a:ext>
            </a:extLst>
          </p:cNvPr>
          <p:cNvCxnSpPr/>
          <p:nvPr/>
        </p:nvCxnSpPr>
        <p:spPr>
          <a:xfrm>
            <a:off x="3324454" y="3429000"/>
            <a:ext cx="10863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5EAA0FD-A01A-C1F3-4985-2D5197D0CD53}"/>
              </a:ext>
            </a:extLst>
          </p:cNvPr>
          <p:cNvSpPr txBox="1"/>
          <p:nvPr/>
        </p:nvSpPr>
        <p:spPr>
          <a:xfrm>
            <a:off x="2540001" y="3244334"/>
            <a:ext cx="880432" cy="461665"/>
          </a:xfrm>
          <a:prstGeom prst="rect">
            <a:avLst/>
          </a:prstGeom>
          <a:noFill/>
        </p:spPr>
        <p:txBody>
          <a:bodyPr wrap="square" rtlCol="0">
            <a:spAutoFit/>
          </a:bodyPr>
          <a:lstStyle/>
          <a:p>
            <a:r>
              <a:rPr lang="tr-TR" sz="2400" dirty="0">
                <a:solidFill>
                  <a:srgbClr val="C00000"/>
                </a:solidFill>
              </a:rPr>
              <a:t>&lt;D&gt;</a:t>
            </a:r>
          </a:p>
        </p:txBody>
      </p:sp>
    </p:spTree>
    <p:extLst>
      <p:ext uri="{BB962C8B-B14F-4D97-AF65-F5344CB8AC3E}">
        <p14:creationId xmlns:p14="http://schemas.microsoft.com/office/powerpoint/2010/main" val="3191466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çerik Yer Tutucusu 2"/>
          <p:cNvSpPr txBox="1">
            <a:spLocks/>
          </p:cNvSpPr>
          <p:nvPr/>
        </p:nvSpPr>
        <p:spPr>
          <a:xfrm>
            <a:off x="2002971" y="1640114"/>
            <a:ext cx="98842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dirty="0"/>
              <a:t>Based on the Church</a:t>
            </a:r>
            <a:r>
              <a:rPr lang="tr-TR" sz="2800" dirty="0"/>
              <a:t>-</a:t>
            </a:r>
            <a:r>
              <a:rPr lang="en-US" sz="2800" dirty="0"/>
              <a:t>Turing thesis, we can say that the same problem can occur in a Java program. We define the following language: </a:t>
            </a:r>
            <a:endParaRPr lang="tr-TR" sz="2800" dirty="0"/>
          </a:p>
          <a:p>
            <a:pPr marL="0" indent="0">
              <a:buNone/>
            </a:pPr>
            <a:endParaRPr lang="tr-TR" sz="2800" dirty="0"/>
          </a:p>
          <a:p>
            <a:r>
              <a:rPr lang="en-US" sz="2800" dirty="0"/>
              <a:t>Halt = {</a:t>
            </a:r>
            <a:r>
              <a:rPr lang="tr-TR" sz="2800" dirty="0"/>
              <a:t>&lt;</a:t>
            </a:r>
            <a:r>
              <a:rPr lang="en-US" sz="2800" dirty="0"/>
              <a:t>P, w</a:t>
            </a:r>
            <a:r>
              <a:rPr lang="tr-TR" sz="2800" dirty="0"/>
              <a:t>&gt;</a:t>
            </a:r>
            <a:r>
              <a:rPr lang="en-US" sz="2800" dirty="0"/>
              <a:t>: P is a Java program that terminates on the input string w}. </a:t>
            </a:r>
            <a:endParaRPr lang="en-US" altLang="tr-TR" sz="2800" dirty="0"/>
          </a:p>
        </p:txBody>
      </p:sp>
      <p:sp>
        <p:nvSpPr>
          <p:cNvPr id="6" name="Unvan 3"/>
          <p:cNvSpPr txBox="1">
            <a:spLocks/>
          </p:cNvSpPr>
          <p:nvPr/>
        </p:nvSpPr>
        <p:spPr>
          <a:xfrm>
            <a:off x="2054083" y="624110"/>
            <a:ext cx="9720822"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t>Halting Problem</a:t>
            </a:r>
          </a:p>
        </p:txBody>
      </p:sp>
    </p:spTree>
    <p:extLst>
      <p:ext uri="{BB962C8B-B14F-4D97-AF65-F5344CB8AC3E}">
        <p14:creationId xmlns:p14="http://schemas.microsoft.com/office/powerpoint/2010/main" val="3815042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çerik Yer Tutucusu 2"/>
          <p:cNvSpPr txBox="1">
            <a:spLocks/>
          </p:cNvSpPr>
          <p:nvPr/>
        </p:nvSpPr>
        <p:spPr>
          <a:xfrm>
            <a:off x="2002971" y="1640114"/>
            <a:ext cx="98842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dirty="0"/>
              <a:t>Let the H and Q programs below be prepared with the same logic as in the previous example.</a:t>
            </a:r>
            <a:endParaRPr lang="en-US" altLang="tr-TR" sz="2800" dirty="0"/>
          </a:p>
        </p:txBody>
      </p:sp>
      <p:sp>
        <p:nvSpPr>
          <p:cNvPr id="6" name="Unvan 3"/>
          <p:cNvSpPr txBox="1">
            <a:spLocks/>
          </p:cNvSpPr>
          <p:nvPr/>
        </p:nvSpPr>
        <p:spPr>
          <a:xfrm>
            <a:off x="2054083" y="624110"/>
            <a:ext cx="9720822"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t>Halting Problem</a:t>
            </a:r>
          </a:p>
        </p:txBody>
      </p:sp>
      <p:pic>
        <p:nvPicPr>
          <p:cNvPr id="2" name="Resim 1"/>
          <p:cNvPicPr>
            <a:picLocks noChangeAspect="1"/>
          </p:cNvPicPr>
          <p:nvPr/>
        </p:nvPicPr>
        <p:blipFill>
          <a:blip r:embed="rId3"/>
          <a:stretch>
            <a:fillRect/>
          </a:stretch>
        </p:blipFill>
        <p:spPr>
          <a:xfrm>
            <a:off x="6111238" y="2921004"/>
            <a:ext cx="6080762" cy="961185"/>
          </a:xfrm>
          <a:prstGeom prst="rect">
            <a:avLst/>
          </a:prstGeom>
        </p:spPr>
      </p:pic>
      <p:pic>
        <p:nvPicPr>
          <p:cNvPr id="3" name="Resim 2"/>
          <p:cNvPicPr>
            <a:picLocks noChangeAspect="1"/>
          </p:cNvPicPr>
          <p:nvPr/>
        </p:nvPicPr>
        <p:blipFill>
          <a:blip r:embed="rId4">
            <a:clrChange>
              <a:clrFrom>
                <a:srgbClr val="FFFFFF"/>
              </a:clrFrom>
              <a:clrTo>
                <a:srgbClr val="FFFFFF">
                  <a:alpha val="0"/>
                </a:srgbClr>
              </a:clrTo>
            </a:clrChange>
          </a:blip>
          <a:stretch>
            <a:fillRect/>
          </a:stretch>
        </p:blipFill>
        <p:spPr>
          <a:xfrm>
            <a:off x="2054083" y="3202228"/>
            <a:ext cx="4374792" cy="1892128"/>
          </a:xfrm>
          <a:prstGeom prst="rect">
            <a:avLst/>
          </a:prstGeom>
        </p:spPr>
      </p:pic>
    </p:spTree>
    <p:extLst>
      <p:ext uri="{BB962C8B-B14F-4D97-AF65-F5344CB8AC3E}">
        <p14:creationId xmlns:p14="http://schemas.microsoft.com/office/powerpoint/2010/main" val="39069036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rotWithShape="1">
          <a:blip r:embed="rId3"/>
          <a:srcRect b="42406"/>
          <a:stretch/>
        </p:blipFill>
        <p:spPr>
          <a:xfrm>
            <a:off x="547938" y="2049378"/>
            <a:ext cx="8561608" cy="4799361"/>
          </a:xfrm>
          <a:prstGeom prst="rect">
            <a:avLst/>
          </a:prstGeom>
        </p:spPr>
      </p:pic>
      <p:sp>
        <p:nvSpPr>
          <p:cNvPr id="7" name="Unvan 3"/>
          <p:cNvSpPr txBox="1">
            <a:spLocks/>
          </p:cNvSpPr>
          <p:nvPr/>
        </p:nvSpPr>
        <p:spPr>
          <a:xfrm>
            <a:off x="2054083"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t>A</a:t>
            </a:r>
            <a:r>
              <a:rPr lang="en-US" b="1" baseline="-25000" dirty="0"/>
              <a:t>TM</a:t>
            </a:r>
            <a:r>
              <a:rPr lang="en-US" b="1" dirty="0"/>
              <a:t> and Halting are Enumerable</a:t>
            </a:r>
          </a:p>
        </p:txBody>
      </p:sp>
      <p:sp>
        <p:nvSpPr>
          <p:cNvPr id="6" name="İçerik Yer Tutucusu 2"/>
          <p:cNvSpPr txBox="1">
            <a:spLocks/>
          </p:cNvSpPr>
          <p:nvPr/>
        </p:nvSpPr>
        <p:spPr>
          <a:xfrm>
            <a:off x="6224338" y="1852863"/>
            <a:ext cx="6128084" cy="1896168"/>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dirty="0"/>
              <a:t>A</a:t>
            </a:r>
            <a:r>
              <a:rPr lang="en-US" sz="2800" baseline="-25000" dirty="0"/>
              <a:t>TM</a:t>
            </a:r>
            <a:r>
              <a:rPr lang="en-US" sz="2800" dirty="0"/>
              <a:t> </a:t>
            </a:r>
          </a:p>
          <a:p>
            <a:pPr marL="0" indent="0">
              <a:buNone/>
            </a:pPr>
            <a:r>
              <a:rPr lang="en-US" sz="2800" dirty="0"/>
              <a:t>               Halting</a:t>
            </a:r>
          </a:p>
          <a:p>
            <a:pPr marL="0" indent="0">
              <a:buNone/>
            </a:pPr>
            <a:endParaRPr lang="en-US" sz="2800" dirty="0"/>
          </a:p>
          <a:p>
            <a:pPr marL="0" indent="0">
              <a:buNone/>
            </a:pPr>
            <a:r>
              <a:rPr lang="en-US" sz="2800" dirty="0"/>
              <a:t>                 </a:t>
            </a:r>
          </a:p>
        </p:txBody>
      </p:sp>
      <p:cxnSp>
        <p:nvCxnSpPr>
          <p:cNvPr id="3" name="Düz Ok Bağlayıcısı 2"/>
          <p:cNvCxnSpPr/>
          <p:nvPr/>
        </p:nvCxnSpPr>
        <p:spPr>
          <a:xfrm flipV="1">
            <a:off x="6019800" y="2295840"/>
            <a:ext cx="445918" cy="110508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Düz Ok Bağlayıcısı 7"/>
          <p:cNvCxnSpPr/>
          <p:nvPr/>
        </p:nvCxnSpPr>
        <p:spPr>
          <a:xfrm flipV="1">
            <a:off x="6478598" y="2866647"/>
            <a:ext cx="1451851" cy="83857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 name="Dikdörtgen 3"/>
          <p:cNvSpPr/>
          <p:nvPr/>
        </p:nvSpPr>
        <p:spPr>
          <a:xfrm>
            <a:off x="5812826" y="3292460"/>
            <a:ext cx="314510" cy="369332"/>
          </a:xfrm>
          <a:prstGeom prst="rect">
            <a:avLst/>
          </a:prstGeom>
        </p:spPr>
        <p:txBody>
          <a:bodyPr wrap="none">
            <a:spAutoFit/>
          </a:bodyPr>
          <a:lstStyle/>
          <a:p>
            <a:r>
              <a:rPr lang="tr-TR" b="1" dirty="0">
                <a:solidFill>
                  <a:srgbClr val="C00000"/>
                </a:solidFill>
              </a:rPr>
              <a:t>x</a:t>
            </a:r>
            <a:endParaRPr lang="en-US" b="1" dirty="0">
              <a:solidFill>
                <a:srgbClr val="C00000"/>
              </a:solidFill>
            </a:endParaRPr>
          </a:p>
        </p:txBody>
      </p:sp>
      <p:sp>
        <p:nvSpPr>
          <p:cNvPr id="15" name="Dikdörtgen 14"/>
          <p:cNvSpPr/>
          <p:nvPr/>
        </p:nvSpPr>
        <p:spPr>
          <a:xfrm>
            <a:off x="6211458" y="3564365"/>
            <a:ext cx="314510" cy="369332"/>
          </a:xfrm>
          <a:prstGeom prst="rect">
            <a:avLst/>
          </a:prstGeom>
        </p:spPr>
        <p:txBody>
          <a:bodyPr wrap="none">
            <a:spAutoFit/>
          </a:bodyPr>
          <a:lstStyle/>
          <a:p>
            <a:r>
              <a:rPr lang="tr-TR" b="1" dirty="0">
                <a:solidFill>
                  <a:srgbClr val="C00000"/>
                </a:solidFill>
              </a:rPr>
              <a:t>x</a:t>
            </a:r>
            <a:endParaRPr lang="en-US" b="1" dirty="0">
              <a:solidFill>
                <a:srgbClr val="C00000"/>
              </a:solidFill>
            </a:endParaRPr>
          </a:p>
        </p:txBody>
      </p:sp>
    </p:spTree>
    <p:extLst>
      <p:ext uri="{BB962C8B-B14F-4D97-AF65-F5344CB8AC3E}">
        <p14:creationId xmlns:p14="http://schemas.microsoft.com/office/powerpoint/2010/main" val="535074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çerik Yer Tutucusu 2"/>
          <p:cNvSpPr txBox="1">
            <a:spLocks/>
          </p:cNvSpPr>
          <p:nvPr/>
        </p:nvSpPr>
        <p:spPr>
          <a:xfrm>
            <a:off x="1803401" y="1640114"/>
            <a:ext cx="10083800"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dirty="0"/>
              <a:t>If you are in doubt about a problem, you can comment using the rules below.</a:t>
            </a:r>
            <a:endParaRPr lang="tr-TR" sz="2800" dirty="0"/>
          </a:p>
          <a:p>
            <a:pPr marL="449263" indent="-449263">
              <a:buNone/>
              <a:tabLst>
                <a:tab pos="449263" algn="l"/>
              </a:tabLst>
            </a:pPr>
            <a:r>
              <a:rPr lang="tr-TR" sz="2800" dirty="0"/>
              <a:t>1.	</a:t>
            </a:r>
            <a:r>
              <a:rPr lang="en-US" sz="2800" dirty="0"/>
              <a:t>P is Decidable, if and only if ~P is Decidable. </a:t>
            </a:r>
            <a:endParaRPr lang="tr-TR" sz="2800" dirty="0"/>
          </a:p>
          <a:p>
            <a:r>
              <a:rPr lang="en-US" sz="2800" dirty="0"/>
              <a:t>(P ∈ D) ↔ (~P ∈ D)</a:t>
            </a:r>
            <a:endParaRPr lang="en-US" sz="800" baseline="-25000" dirty="0"/>
          </a:p>
          <a:p>
            <a:pPr marL="449263" indent="-449263">
              <a:buNone/>
              <a:tabLst>
                <a:tab pos="449263" algn="l"/>
              </a:tabLst>
            </a:pPr>
            <a:r>
              <a:rPr lang="tr-TR" sz="2800" dirty="0"/>
              <a:t>2.	</a:t>
            </a:r>
            <a:r>
              <a:rPr lang="en-US" sz="2800" dirty="0"/>
              <a:t>P is Decidable, if and only if P and ~P are Enumerable.</a:t>
            </a:r>
            <a:endParaRPr lang="tr-TR" sz="2800" dirty="0"/>
          </a:p>
          <a:p>
            <a:r>
              <a:rPr lang="en-US" sz="2800" dirty="0"/>
              <a:t>(P ∈ D) ↔ (~P ∈ E) and (P ∈ E)</a:t>
            </a:r>
            <a:endParaRPr lang="en-US" sz="2800" baseline="-25000" dirty="0"/>
          </a:p>
          <a:p>
            <a:pPr marL="449263" indent="-449263">
              <a:buNone/>
              <a:tabLst>
                <a:tab pos="449263" algn="l"/>
              </a:tabLst>
            </a:pPr>
            <a:r>
              <a:rPr lang="tr-TR" sz="2800" dirty="0"/>
              <a:t>3.	</a:t>
            </a:r>
            <a:r>
              <a:rPr lang="en-US" sz="2800" dirty="0"/>
              <a:t>If P is Decidable, then P is Enumerable.</a:t>
            </a:r>
          </a:p>
          <a:p>
            <a:r>
              <a:rPr lang="en-US" sz="2800" dirty="0"/>
              <a:t>(P ∈ D) → (P ∈ E)</a:t>
            </a:r>
            <a:endParaRPr lang="en-US" sz="2800" baseline="-25000" dirty="0"/>
          </a:p>
        </p:txBody>
      </p:sp>
      <p:sp>
        <p:nvSpPr>
          <p:cNvPr id="6" name="Unvan 3"/>
          <p:cNvSpPr txBox="1">
            <a:spLocks/>
          </p:cNvSpPr>
          <p:nvPr/>
        </p:nvSpPr>
        <p:spPr>
          <a:xfrm>
            <a:off x="2054083" y="624110"/>
            <a:ext cx="9720822"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t>Decidability vs</a:t>
            </a:r>
            <a:r>
              <a:rPr lang="tr-TR" b="1" dirty="0"/>
              <a:t>. </a:t>
            </a:r>
            <a:r>
              <a:rPr lang="en-US" b="1" dirty="0"/>
              <a:t>Enumerability</a:t>
            </a:r>
          </a:p>
        </p:txBody>
      </p:sp>
    </p:spTree>
    <p:extLst>
      <p:ext uri="{BB962C8B-B14F-4D97-AF65-F5344CB8AC3E}">
        <p14:creationId xmlns:p14="http://schemas.microsoft.com/office/powerpoint/2010/main" val="41114289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normAutofit/>
          </a:bodyPr>
          <a:lstStyle/>
          <a:p>
            <a:endParaRPr lang="en-US" sz="2800"/>
          </a:p>
          <a:p>
            <a:r>
              <a:rPr lang="en-US" sz="2800"/>
              <a:t>That’s all.</a:t>
            </a:r>
          </a:p>
          <a:p>
            <a:endParaRPr lang="en-US" sz="2800"/>
          </a:p>
          <a:p>
            <a:r>
              <a:rPr lang="en-US" altLang="tr-TR" sz="2800"/>
              <a:t>Thanks for listening.</a:t>
            </a:r>
          </a:p>
        </p:txBody>
      </p:sp>
    </p:spTree>
    <p:extLst>
      <p:ext uri="{BB962C8B-B14F-4D97-AF65-F5344CB8AC3E}">
        <p14:creationId xmlns:p14="http://schemas.microsoft.com/office/powerpoint/2010/main" val="999634771"/>
      </p:ext>
    </p:extLst>
  </p:cSld>
  <p:clrMapOvr>
    <a:masterClrMapping/>
  </p:clrMapOvr>
</p:sld>
</file>

<file path=ppt/theme/theme1.xml><?xml version="1.0" encoding="utf-8"?>
<a:theme xmlns:a="http://schemas.openxmlformats.org/drawingml/2006/main" name="Duman">
  <a:themeElements>
    <a:clrScheme name="Turuncu Kırmızı">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Duma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uma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3824</TotalTime>
  <Words>2471</Words>
  <Application>Microsoft Macintosh PowerPoint</Application>
  <PresentationFormat>Geniş ekran</PresentationFormat>
  <Paragraphs>199</Paragraphs>
  <Slides>19</Slides>
  <Notes>19</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19</vt:i4>
      </vt:variant>
    </vt:vector>
  </HeadingPairs>
  <TitlesOfParts>
    <vt:vector size="24" baseType="lpstr">
      <vt:lpstr>Arial</vt:lpstr>
      <vt:lpstr>Calibri</vt:lpstr>
      <vt:lpstr>Century Gothic</vt:lpstr>
      <vt:lpstr>Wingdings 3</vt:lpstr>
      <vt:lpstr>Duman</vt:lpstr>
      <vt:lpstr> Theory of Computation  Lesson 11</vt:lpstr>
      <vt:lpstr>PowerPoint Sunusu</vt:lpstr>
      <vt:lpstr>PowerPoint Sunusu</vt:lpstr>
      <vt:lpstr>Decidable Languages</vt:lpstr>
      <vt:lpstr>Enumerable (Recognizable) Languages</vt:lpstr>
      <vt:lpstr>Undecidable Languages</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Theory of Computation</dc:title>
  <dc:creator>Prof.Dr. Umut ORHAN</dc:creator>
  <cp:lastModifiedBy>Prof.Dr. Umut ORHAN</cp:lastModifiedBy>
  <cp:revision>280</cp:revision>
  <dcterms:created xsi:type="dcterms:W3CDTF">2022-09-29T06:50:07Z</dcterms:created>
  <dcterms:modified xsi:type="dcterms:W3CDTF">2025-11-21T06:57:38Z</dcterms:modified>
</cp:coreProperties>
</file>