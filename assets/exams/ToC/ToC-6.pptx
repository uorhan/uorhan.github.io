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6"/>
  </p:notesMasterIdLst>
  <p:sldIdLst>
    <p:sldId id="290" r:id="rId2"/>
    <p:sldId id="300" r:id="rId3"/>
    <p:sldId id="305" r:id="rId4"/>
    <p:sldId id="306" r:id="rId5"/>
    <p:sldId id="307" r:id="rId6"/>
    <p:sldId id="308" r:id="rId7"/>
    <p:sldId id="309" r:id="rId8"/>
    <p:sldId id="310" r:id="rId9"/>
    <p:sldId id="311" r:id="rId10"/>
    <p:sldId id="312" r:id="rId11"/>
    <p:sldId id="302" r:id="rId12"/>
    <p:sldId id="303" r:id="rId13"/>
    <p:sldId id="304" r:id="rId14"/>
    <p:sldId id="313" r:id="rId15"/>
  </p:sldIdLst>
  <p:sldSz cx="12192000" cy="6858000"/>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893" autoAdjust="0"/>
  </p:normalViewPr>
  <p:slideViewPr>
    <p:cSldViewPr snapToGrid="0">
      <p:cViewPr varScale="1">
        <p:scale>
          <a:sx n="86" d="100"/>
          <a:sy n="86" d="100"/>
        </p:scale>
        <p:origin x="2040" y="200"/>
      </p:cViewPr>
      <p:guideLst/>
    </p:cSldViewPr>
  </p:slideViewPr>
  <p:outlineViewPr>
    <p:cViewPr>
      <p:scale>
        <a:sx n="33" d="100"/>
        <a:sy n="33" d="100"/>
      </p:scale>
      <p:origin x="0" y="-5464"/>
    </p:cViewPr>
  </p:outlin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It’s the </a:t>
            </a:r>
            <a:r>
              <a:rPr lang="tr-TR" err="1"/>
              <a:t>sixth</a:t>
            </a:r>
            <a:r>
              <a:rPr lang="en-US"/>
              <a:t> lesson of Theory of Computation. We will go on the Regular Language chapter with conversion </a:t>
            </a:r>
            <a:r>
              <a:rPr lang="tr-TR"/>
              <a:t>of </a:t>
            </a:r>
            <a:r>
              <a:rPr lang="en-US"/>
              <a:t>DFA's into Regular Expressions.</a:t>
            </a:r>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2892103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a:t>In this transformation approach unlike the other</a:t>
            </a:r>
            <a:r>
              <a:rPr lang="tr-TR" sz="1200"/>
              <a:t>s</a:t>
            </a:r>
            <a:r>
              <a:rPr lang="en-US" sz="1200"/>
              <a:t> outgoing transitions of each state are modeled. Finally the aim is to reach a reduced expression for the start state.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3072551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a:t>In the example below let's just focus on the Q3 state. When modeling the state for </a:t>
            </a:r>
            <a:r>
              <a:rPr lang="en-US" sz="1200" err="1"/>
              <a:t>RegEx </a:t>
            </a:r>
            <a:r>
              <a:rPr lang="en-US" sz="1200"/>
              <a:t>an expression is written for each outgoing as symbol concatenation target state. On the right there are two rules. If the state to process is not an accept state then the first rule is used otherwise the second.</a:t>
            </a:r>
          </a:p>
        </p:txBody>
      </p:sp>
      <p:sp>
        <p:nvSpPr>
          <p:cNvPr id="4" name="Slayt Numarası Yer Tutucusu 3"/>
          <p:cNvSpPr>
            <a:spLocks noGrp="1"/>
          </p:cNvSpPr>
          <p:nvPr>
            <p:ph type="sldNum" sz="quarter" idx="5"/>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4036589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a:t>Since state q3 is not an accept state we will use the first rule. In this example to model the q3 state we write L</a:t>
            </a:r>
            <a:r>
              <a:rPr lang="tr-TR" sz="1200" baseline="0"/>
              <a:t> </a:t>
            </a:r>
            <a:r>
              <a:rPr lang="en-US" sz="1200"/>
              <a:t>q3 variable as that.</a:t>
            </a:r>
          </a:p>
        </p:txBody>
      </p:sp>
      <p:sp>
        <p:nvSpPr>
          <p:cNvPr id="4" name="Slayt Numarası Yer Tutucusu 3"/>
          <p:cNvSpPr>
            <a:spLocks noGrp="1"/>
          </p:cNvSpPr>
          <p:nvPr>
            <p:ph type="sldNum" sz="quarter" idx="5"/>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2259817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30000"/>
              </a:lnSpc>
              <a:buNone/>
            </a:pPr>
            <a:r>
              <a:rPr lang="en-US" sz="1200"/>
              <a:t>But there is a problem here. If we continue with this approach it will create a lot of recursion. That's why we need a solution for recursive expressions.</a:t>
            </a:r>
            <a:endParaRPr lang="tr-TR" sz="1200"/>
          </a:p>
          <a:p>
            <a:pPr marL="0" indent="0">
              <a:lnSpc>
                <a:spcPct val="130000"/>
              </a:lnSpc>
              <a:buNone/>
            </a:pPr>
            <a:endParaRPr lang="tr-TR" sz="1200"/>
          </a:p>
          <a:p>
            <a:pPr marL="0" indent="0">
              <a:lnSpc>
                <a:spcPct val="130000"/>
              </a:lnSpc>
              <a:buNone/>
            </a:pPr>
            <a:r>
              <a:rPr lang="en-US" sz="1200"/>
              <a:t>The transformation indicated by the arrow is the solution that will save us from recursive expressions. Therefore the expressions after modeling are reduced and made suitable for this transformation.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3442591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a:t>Let's transform the DFA transition diagram on the right into a regular expression.</a:t>
            </a:r>
          </a:p>
          <a:p>
            <a:pPr marL="0" indent="0">
              <a:buNone/>
            </a:pPr>
            <a:endParaRPr lang="en-US"/>
          </a:p>
          <a:p>
            <a:pPr marL="0" indent="0">
              <a:buNone/>
            </a:pPr>
            <a:r>
              <a:rPr lang="en-US"/>
              <a:t>We must first start by modeling the expression of each state.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1227350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a:t>Our final goal is to write the reduced expression of the start state. However, when we look at the expression of the q0 state, we see a different state on the right. That is, we need to clean up the unwanted ones on the right. Now is the time to make some magic.</a:t>
            </a:r>
          </a:p>
        </p:txBody>
      </p:sp>
      <p:sp>
        <p:nvSpPr>
          <p:cNvPr id="4" name="Slayt Numarası Yer Tutucusu 3"/>
          <p:cNvSpPr>
            <a:spLocks noGrp="1"/>
          </p:cNvSpPr>
          <p:nvPr>
            <p:ph type="sldNum" sz="quarter" idx="5"/>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1095638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a:t>When we use our solution to clean up the recursions, these two expressions will turn into expressions indicated by arrows.</a:t>
            </a:r>
            <a:r>
              <a:rPr lang="tr-TR"/>
              <a:t> </a:t>
            </a:r>
            <a:r>
              <a:rPr lang="en-US"/>
              <a:t>But since we cannot convert L</a:t>
            </a:r>
            <a:r>
              <a:rPr lang="tr-TR"/>
              <a:t> </a:t>
            </a:r>
            <a:r>
              <a:rPr lang="en-US"/>
              <a:t>q2 to a simple expression, we focus on it at first.</a:t>
            </a:r>
            <a:r>
              <a:rPr lang="tr-TR"/>
              <a:t> </a:t>
            </a:r>
            <a:endParaRPr lang="en-US"/>
          </a:p>
        </p:txBody>
      </p:sp>
      <p:sp>
        <p:nvSpPr>
          <p:cNvPr id="4" name="Slayt Numarası Yer Tutucusu 3"/>
          <p:cNvSpPr>
            <a:spLocks noGrp="1"/>
          </p:cNvSpPr>
          <p:nvPr>
            <p:ph type="sldNum" sz="quarter" idx="5"/>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3367405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a:t>When we write the expression of the q2 state instead of the variable L</a:t>
            </a:r>
            <a:r>
              <a:rPr lang="tr-TR"/>
              <a:t> </a:t>
            </a:r>
            <a:r>
              <a:rPr lang="en-US"/>
              <a:t>q2 on the right hand side of the start state expression, we see the expression L</a:t>
            </a:r>
            <a:r>
              <a:rPr lang="tr-TR"/>
              <a:t> </a:t>
            </a:r>
            <a:r>
              <a:rPr lang="en-US"/>
              <a:t>q1 on the right this time.</a:t>
            </a:r>
          </a:p>
        </p:txBody>
      </p:sp>
      <p:sp>
        <p:nvSpPr>
          <p:cNvPr id="4" name="Slayt Numarası Yer Tutucusu 3"/>
          <p:cNvSpPr>
            <a:spLocks noGrp="1"/>
          </p:cNvSpPr>
          <p:nvPr>
            <p:ph type="sldNum" sz="quarter" idx="5"/>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3673157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a:t>After arranging the equation we have in common brackets, we will understand that we should get rid of the </a:t>
            </a:r>
            <a:r>
              <a:rPr lang="en-US" sz="1200"/>
              <a:t>unwanted</a:t>
            </a:r>
            <a:r>
              <a:rPr lang="tr-TR" sz="1200"/>
              <a:t> </a:t>
            </a:r>
            <a:r>
              <a:rPr lang="en-US"/>
              <a:t>variable L</a:t>
            </a:r>
            <a:r>
              <a:rPr lang="tr-TR"/>
              <a:t> </a:t>
            </a:r>
            <a:r>
              <a:rPr lang="en-US"/>
              <a:t>q1. Otherwise, we cannot implement our recursive solution.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981460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1200"/>
              <a:t>Fortunately the L</a:t>
            </a:r>
            <a:r>
              <a:rPr lang="tr-TR" sz="1200"/>
              <a:t> </a:t>
            </a:r>
            <a:r>
              <a:rPr lang="en-US" sz="1200"/>
              <a:t>q1 expression fits our recursive solution. Not only that but the obtained expression depends only on L</a:t>
            </a:r>
            <a:r>
              <a:rPr lang="tr-TR" sz="1200"/>
              <a:t> </a:t>
            </a:r>
            <a:r>
              <a:rPr lang="en-US" sz="1200"/>
              <a:t>q0. This made our work easier.</a:t>
            </a:r>
            <a:endParaRPr lang="en-US"/>
          </a:p>
        </p:txBody>
      </p:sp>
      <p:sp>
        <p:nvSpPr>
          <p:cNvPr id="4" name="Slayt Numarası Yer Tutucusu 3"/>
          <p:cNvSpPr>
            <a:spLocks noGrp="1"/>
          </p:cNvSpPr>
          <p:nvPr>
            <p:ph type="sldNum" sz="quarter" idx="5"/>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4081085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The simplified expression we have is dependent only on L</a:t>
            </a:r>
            <a:r>
              <a:rPr lang="tr-TR"/>
              <a:t> </a:t>
            </a:r>
            <a:r>
              <a:rPr lang="en-US"/>
              <a:t>q0. Now we can get rid of all our unwanted variables by doing the recursive solution.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4053262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Finally, we obtained the regular expression of the DFA transition diagram on the right.</a:t>
            </a:r>
          </a:p>
        </p:txBody>
      </p:sp>
      <p:sp>
        <p:nvSpPr>
          <p:cNvPr id="4" name="Slayt Numarası Yer Tutucusu 3"/>
          <p:cNvSpPr>
            <a:spLocks noGrp="1"/>
          </p:cNvSpPr>
          <p:nvPr>
            <p:ph type="sldNum" sz="quarter" idx="5"/>
          </p:nvPr>
        </p:nvSpPr>
        <p:spPr/>
        <p:txBody>
          <a:bodyPr/>
          <a:lstStyle/>
          <a:p>
            <a:fld id="{6049F921-94E2-2146-8BC6-089D7989E1CD}" type="slidenum">
              <a:rPr lang="tr-TR" smtClean="0"/>
              <a:t>13</a:t>
            </a:fld>
            <a:endParaRPr lang="tr-TR"/>
          </a:p>
        </p:txBody>
      </p:sp>
    </p:spTree>
    <p:extLst>
      <p:ext uri="{BB962C8B-B14F-4D97-AF65-F5344CB8AC3E}">
        <p14:creationId xmlns:p14="http://schemas.microsoft.com/office/powerpoint/2010/main" val="577231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14</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a:p>
        </p:txBody>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a:p>
          </p:txBody>
        </p:sp>
        <p:sp>
          <p:nvSpPr>
            <p:cNvPr id="25" name="Freeform 12"/>
            <p:cNvSpPr/>
            <p:nvPr/>
          </p:nvSpPr>
          <p:spPr bwMode="auto">
            <a:xfrm>
              <a:off x="2597151" y="2779713"/>
              <a:ext cx="550863" cy="1978025"/>
            </a:xfrm>
            <a:custGeom>
              <a:avLst/>
              <a:gdLst/>
              <a:ahLst/>
              <a:cxnLst/>
              <a:rect l="0" t="0" r="r" b="b"/>
              <a:pathLst>
                <a:path w="140" h="503">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a:p>
          </p:txBody>
        </p:sp>
        <p:sp>
          <p:nvSpPr>
            <p:cNvPr id="31" name="Freeform 18"/>
            <p:cNvSpPr/>
            <p:nvPr/>
          </p:nvSpPr>
          <p:spPr bwMode="auto">
            <a:xfrm>
              <a:off x="3143251" y="4757738"/>
              <a:ext cx="161925" cy="873125"/>
            </a:xfrm>
            <a:custGeom>
              <a:avLst/>
              <a:gdLst/>
              <a:ahLst/>
              <a:cxnLst/>
              <a:rect l="0" t="0" r="r" b="b"/>
              <a:pathLst>
                <a:path w="41" h="22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a:p>
          </p:txBody>
        </p:sp>
        <p:sp>
          <p:nvSpPr>
            <p:cNvPr id="13" name="Freeform 29"/>
            <p:cNvSpPr/>
            <p:nvPr/>
          </p:nvSpPr>
          <p:spPr bwMode="auto">
            <a:xfrm>
              <a:off x="7439026" y="5053013"/>
              <a:ext cx="357188" cy="820738"/>
            </a:xfrm>
            <a:custGeom>
              <a:avLst/>
              <a:gdLst/>
              <a:ahLst/>
              <a:cxnLst/>
              <a:rect l="0" t="0" r="r" b="b"/>
              <a:pathLst>
                <a:path w="90" h="206">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a:p>
          </p:txBody>
        </p:sp>
        <p:sp>
          <p:nvSpPr>
            <p:cNvPr id="19" name="Freeform 35"/>
            <p:cNvSpPr/>
            <p:nvPr/>
          </p:nvSpPr>
          <p:spPr bwMode="auto">
            <a:xfrm>
              <a:off x="7494588" y="5664200"/>
              <a:ext cx="100013" cy="209550"/>
            </a:xfrm>
            <a:custGeom>
              <a:avLst/>
              <a:gdLst/>
              <a:ahLst/>
              <a:cxnLst/>
              <a:rect l="0" t="0" r="r" b="b"/>
              <a:pathLst>
                <a:path w="25" h="52">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a:p>
          </p:txBody>
        </p:sp>
        <p:sp>
          <p:nvSpPr>
            <p:cNvPr id="20" name="Freeform 36"/>
            <p:cNvSpPr/>
            <p:nvPr/>
          </p:nvSpPr>
          <p:spPr bwMode="auto">
            <a:xfrm>
              <a:off x="7412038" y="5081588"/>
              <a:ext cx="114300" cy="558800"/>
            </a:xfrm>
            <a:custGeom>
              <a:avLst/>
              <a:gdLst/>
              <a:ahLst/>
              <a:cxnLst/>
              <a:rect l="0" t="0" r="r" b="b"/>
              <a:pathLst>
                <a:path w="28"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a:p>
          </p:txBody>
        </p:sp>
        <p:sp>
          <p:nvSpPr>
            <p:cNvPr id="22" name="Freeform 38"/>
            <p:cNvSpPr/>
            <p:nvPr/>
          </p:nvSpPr>
          <p:spPr bwMode="auto">
            <a:xfrm>
              <a:off x="7439026" y="5434013"/>
              <a:ext cx="174625" cy="439738"/>
            </a:xfrm>
            <a:custGeom>
              <a:avLst/>
              <a:gdLst/>
              <a:ahLst/>
              <a:cxnLst/>
              <a:rect l="0" t="0" r="r" b="b"/>
              <a:pathLst>
                <a:path w="44" h="11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ransition/>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a:br>
            <a:r>
              <a:rPr lang="en-US"/>
              <a:t>Theory of Computation </a:t>
            </a:r>
            <a:br>
              <a:rPr lang="tr-TR"/>
            </a:br>
            <a:r>
              <a:rPr lang="en-US" sz="3600"/>
              <a:t>Lesson </a:t>
            </a:r>
            <a:r>
              <a:rPr lang="tr-TR" sz="3600"/>
              <a:t>6</a:t>
            </a:r>
            <a:endParaRPr lang="en-US" sz="3600"/>
          </a:p>
        </p:txBody>
      </p:sp>
      <p:sp>
        <p:nvSpPr>
          <p:cNvPr id="3" name="Alt Başlık 2"/>
          <p:cNvSpPr>
            <a:spLocks noGrp="1"/>
          </p:cNvSpPr>
          <p:nvPr>
            <p:ph type="subTitle" idx="1"/>
          </p:nvPr>
        </p:nvSpPr>
        <p:spPr/>
        <p:txBody>
          <a:bodyPr anchor="b">
            <a:normAutofit/>
          </a:bodyPr>
          <a:lstStyle/>
          <a:p>
            <a:r>
              <a:rPr lang="en-US" sz="2800">
                <a:solidFill>
                  <a:srgbClr val="FF0000"/>
                </a:solidFill>
              </a:rPr>
              <a:t>Converting DFA to RegEx</a:t>
            </a:r>
          </a:p>
        </p:txBody>
      </p:sp>
      <p:pic>
        <p:nvPicPr>
          <p:cNvPr id="1026" name="Picture 2" descr="How to convert DFA to Regular expression? -Solved Example - YouTube"/>
          <p:cNvPicPr>
            <a:picLocks noChangeAspect="1" noChangeArrowheads="1"/>
          </p:cNvPicPr>
          <p:nvPr/>
        </p:nvPicPr>
        <p:blipFill>
          <a:blip r:embed="rId3">
            <a:clrChange>
              <a:clrFrom>
                <a:srgbClr val="FCFCFC"/>
              </a:clrFrom>
              <a:clrTo>
                <a:srgbClr val="FCFCFC">
                  <a:alpha val="0"/>
                </a:srgbClr>
              </a:clrTo>
            </a:clrChange>
            <a:extLst>
              <a:ext uri="{28A0092B-C50C-407E-A947-70E740481C1C}">
                <a14:useLocalDpi xmlns:a14="http://schemas.microsoft.com/office/drawing/2010/main" val="0"/>
              </a:ext>
            </a:extLst>
          </a:blip>
          <a:stretch>
            <a:fillRect/>
          </a:stretch>
        </p:blipFill>
        <p:spPr bwMode="auto">
          <a:xfrm>
            <a:off x="2726871" y="538843"/>
            <a:ext cx="3037115" cy="256358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ow to convert DFA to Regular expression? -Solved Example - YouTube"/>
          <p:cNvPicPr>
            <a:picLocks noChangeAspect="1" noChangeArrowheads="1"/>
          </p:cNvPicPr>
          <p:nvPr/>
        </p:nvPicPr>
        <p:blipFill>
          <a:blip r:embed="rId4">
            <a:clrChange>
              <a:clrFrom>
                <a:srgbClr val="FCFCFC"/>
              </a:clrFrom>
              <a:clrTo>
                <a:srgbClr val="FCFCFC">
                  <a:alpha val="0"/>
                </a:srgbClr>
              </a:clrTo>
            </a:clrChange>
            <a:extLst>
              <a:ext uri="{28A0092B-C50C-407E-A947-70E740481C1C}">
                <a14:useLocalDpi xmlns:a14="http://schemas.microsoft.com/office/drawing/2010/main" val="0"/>
              </a:ext>
            </a:extLst>
          </a:blip>
          <a:stretch>
            <a:fillRect/>
          </a:stretch>
        </p:blipFill>
        <p:spPr bwMode="auto">
          <a:xfrm>
            <a:off x="6536644" y="1228001"/>
            <a:ext cx="2977243" cy="762724"/>
          </a:xfrm>
          <a:prstGeom prst="rect">
            <a:avLst/>
          </a:prstGeom>
          <a:noFill/>
          <a:extLst>
            <a:ext uri="{909E8E84-426E-40DD-AFC4-6F175D3DCCD1}">
              <a14:hiddenFill xmlns:a14="http://schemas.microsoft.com/office/drawing/2010/main">
                <a:solidFill>
                  <a:srgbClr val="FFFFFF"/>
                </a:solidFill>
              </a14:hiddenFill>
            </a:ext>
          </a:extLst>
        </p:spPr>
      </p:pic>
      <p:sp>
        <p:nvSpPr>
          <p:cNvPr id="6" name="Sağ Ok 5"/>
          <p:cNvSpPr/>
          <p:nvPr/>
        </p:nvSpPr>
        <p:spPr>
          <a:xfrm>
            <a:off x="5195321" y="1419225"/>
            <a:ext cx="1081655" cy="571500"/>
          </a:xfrm>
          <a:prstGeom prst="rightArrow">
            <a:avLst/>
          </a:prstGeom>
          <a:solidFill>
            <a:srgbClr val="4F7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24809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idx="1"/>
          </p:nvPr>
        </p:nvSpPr>
        <p:spPr>
          <a:xfrm>
            <a:off x="2589212" y="1170209"/>
            <a:ext cx="8915400" cy="3777622"/>
          </a:xfrm>
        </p:spPr>
        <p:txBody>
          <a:bodyPr>
            <a:normAutofit/>
          </a:bodyPr>
          <a:lstStyle/>
          <a:p>
            <a:pPr marL="0" indent="0">
              <a:lnSpc>
                <a:spcPct val="150000"/>
              </a:lnSpc>
              <a:buNone/>
            </a:pPr>
            <a:r>
              <a:rPr lang="en-US" sz="2800"/>
              <a:t>In this transformation approach, unlike the other</a:t>
            </a:r>
            <a:r>
              <a:rPr lang="tr-TR" sz="2800"/>
              <a:t>s</a:t>
            </a:r>
            <a:r>
              <a:rPr lang="en-US" sz="2800"/>
              <a:t>, outgoing transitions of each state are modeled. Finally, the aim is to reach a reduced expression for the start state.</a:t>
            </a:r>
          </a:p>
        </p:txBody>
      </p:sp>
      <p:sp>
        <p:nvSpPr>
          <p:cNvPr id="4" name="Unvan 3"/>
          <p:cNvSpPr>
            <a:spLocks noGrp="1"/>
          </p:cNvSpPr>
          <p:nvPr>
            <p:ph type="title"/>
          </p:nvPr>
        </p:nvSpPr>
        <p:spPr/>
        <p:txBody>
          <a:bodyPr/>
          <a:lstStyle/>
          <a:p>
            <a:r>
              <a:rPr lang="en-US"/>
              <a:t>DFA to RegEx</a:t>
            </a:r>
          </a:p>
        </p:txBody>
      </p:sp>
      <p:grpSp>
        <p:nvGrpSpPr>
          <p:cNvPr id="6" name="Grup 5">
            <a:extLst>
              <a:ext uri="{FF2B5EF4-FFF2-40B4-BE49-F238E27FC236}">
                <a16:creationId xmlns:a16="http://schemas.microsoft.com/office/drawing/2014/main" id="{DC2361C1-C882-47A5-AA89-5DFF157091A2}"/>
              </a:ext>
            </a:extLst>
          </p:cNvPr>
          <p:cNvGrpSpPr/>
          <p:nvPr/>
        </p:nvGrpSpPr>
        <p:grpSpPr>
          <a:xfrm>
            <a:off x="2589212" y="3904844"/>
            <a:ext cx="3257789" cy="2598137"/>
            <a:chOff x="6096000" y="3180456"/>
            <a:chExt cx="3257789" cy="2598137"/>
          </a:xfrm>
        </p:grpSpPr>
        <p:sp>
          <p:nvSpPr>
            <p:cNvPr id="9" name="Oval 8">
              <a:extLst>
                <a:ext uri="{FF2B5EF4-FFF2-40B4-BE49-F238E27FC236}">
                  <a16:creationId xmlns:a16="http://schemas.microsoft.com/office/drawing/2014/main" id="{05DFB056-6F34-5B13-85E5-1D85530BD57A}"/>
                </a:ext>
              </a:extLst>
            </p:cNvPr>
            <p:cNvSpPr/>
            <p:nvPr/>
          </p:nvSpPr>
          <p:spPr>
            <a:xfrm>
              <a:off x="6096000" y="3180456"/>
              <a:ext cx="867906" cy="852407"/>
            </a:xfrm>
            <a:prstGeom prst="ellipse">
              <a:avLst/>
            </a:prstGeom>
            <a:solidFill>
              <a:srgbClr val="00B050"/>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3</a:t>
              </a:r>
            </a:p>
          </p:txBody>
        </p:sp>
        <p:sp>
          <p:nvSpPr>
            <p:cNvPr id="10" name="Oval 9">
              <a:extLst>
                <a:ext uri="{FF2B5EF4-FFF2-40B4-BE49-F238E27FC236}">
                  <a16:creationId xmlns:a16="http://schemas.microsoft.com/office/drawing/2014/main" id="{75803E37-9609-06D7-18A6-E9EF7CFDC06F}"/>
                </a:ext>
              </a:extLst>
            </p:cNvPr>
            <p:cNvSpPr/>
            <p:nvPr/>
          </p:nvSpPr>
          <p:spPr>
            <a:xfrm>
              <a:off x="8485883" y="318045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4</a:t>
              </a:r>
            </a:p>
          </p:txBody>
        </p:sp>
        <p:sp>
          <p:nvSpPr>
            <p:cNvPr id="11" name="Oval 10">
              <a:extLst>
                <a:ext uri="{FF2B5EF4-FFF2-40B4-BE49-F238E27FC236}">
                  <a16:creationId xmlns:a16="http://schemas.microsoft.com/office/drawing/2014/main" id="{22DF4D98-1E73-92B9-27C3-FF865DB93DBA}"/>
                </a:ext>
              </a:extLst>
            </p:cNvPr>
            <p:cNvSpPr/>
            <p:nvPr/>
          </p:nvSpPr>
          <p:spPr>
            <a:xfrm>
              <a:off x="7711658" y="492618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5</a:t>
              </a:r>
            </a:p>
          </p:txBody>
        </p:sp>
        <p:cxnSp>
          <p:nvCxnSpPr>
            <p:cNvPr id="15" name="Düz Ok Bağlayıcısı 14">
              <a:extLst>
                <a:ext uri="{FF2B5EF4-FFF2-40B4-BE49-F238E27FC236}">
                  <a16:creationId xmlns:a16="http://schemas.microsoft.com/office/drawing/2014/main" id="{9854C9EA-0ED3-5F36-D21C-01C645EA4FFA}"/>
                </a:ext>
              </a:extLst>
            </p:cNvPr>
            <p:cNvCxnSpPr/>
            <p:nvPr/>
          </p:nvCxnSpPr>
          <p:spPr>
            <a:xfrm>
              <a:off x="6973363" y="3606659"/>
              <a:ext cx="1449091" cy="0"/>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Düz Ok Bağlayıcısı 15">
              <a:extLst>
                <a:ext uri="{FF2B5EF4-FFF2-40B4-BE49-F238E27FC236}">
                  <a16:creationId xmlns:a16="http://schemas.microsoft.com/office/drawing/2014/main" id="{ED1B7212-270E-A387-04F9-5396DF304165}"/>
                </a:ext>
              </a:extLst>
            </p:cNvPr>
            <p:cNvCxnSpPr/>
            <p:nvPr/>
          </p:nvCxnSpPr>
          <p:spPr>
            <a:xfrm>
              <a:off x="6825486" y="3934997"/>
              <a:ext cx="1015022" cy="1104019"/>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Metin kutusu 48">
              <a:extLst>
                <a:ext uri="{FF2B5EF4-FFF2-40B4-BE49-F238E27FC236}">
                  <a16:creationId xmlns:a16="http://schemas.microsoft.com/office/drawing/2014/main" id="{F959BA4D-E643-7C0A-5F82-B576650CED0A}"/>
                </a:ext>
              </a:extLst>
            </p:cNvPr>
            <p:cNvSpPr txBox="1"/>
            <p:nvPr/>
          </p:nvSpPr>
          <p:spPr>
            <a:xfrm>
              <a:off x="7505931" y="3180456"/>
              <a:ext cx="8382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1</a:t>
              </a:r>
            </a:p>
          </p:txBody>
        </p:sp>
        <p:sp>
          <p:nvSpPr>
            <p:cNvPr id="20" name="Metin kutusu 49">
              <a:extLst>
                <a:ext uri="{FF2B5EF4-FFF2-40B4-BE49-F238E27FC236}">
                  <a16:creationId xmlns:a16="http://schemas.microsoft.com/office/drawing/2014/main" id="{92D16FA7-FC95-036D-2517-5C0E717574EB}"/>
                </a:ext>
              </a:extLst>
            </p:cNvPr>
            <p:cNvSpPr txBox="1"/>
            <p:nvPr/>
          </p:nvSpPr>
          <p:spPr>
            <a:xfrm>
              <a:off x="7247280" y="4088476"/>
              <a:ext cx="8382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0</a:t>
              </a:r>
            </a:p>
          </p:txBody>
        </p:sp>
      </p:grpSp>
      <p:pic>
        <p:nvPicPr>
          <p:cNvPr id="26" name="Resim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7643" y="3640754"/>
            <a:ext cx="4863911" cy="1151979"/>
          </a:xfrm>
          <a:prstGeom prst="rect">
            <a:avLst/>
          </a:prstGeom>
        </p:spPr>
      </p:pic>
      <p:pic>
        <p:nvPicPr>
          <p:cNvPr id="27" name="Resim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9067" y="5097091"/>
            <a:ext cx="5659003" cy="1340383"/>
          </a:xfrm>
          <a:prstGeom prst="rect">
            <a:avLst/>
          </a:prstGeom>
        </p:spPr>
      </p:pic>
    </p:spTree>
    <p:extLst>
      <p:ext uri="{BB962C8B-B14F-4D97-AF65-F5344CB8AC3E}">
        <p14:creationId xmlns:p14="http://schemas.microsoft.com/office/powerpoint/2010/main" val="413017954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idx="1"/>
          </p:nvPr>
        </p:nvSpPr>
        <p:spPr>
          <a:xfrm>
            <a:off x="2589212" y="1170209"/>
            <a:ext cx="8915400" cy="3777622"/>
          </a:xfrm>
        </p:spPr>
        <p:txBody>
          <a:bodyPr>
            <a:normAutofit/>
          </a:bodyPr>
          <a:lstStyle/>
          <a:p>
            <a:pPr marL="0" indent="0">
              <a:lnSpc>
                <a:spcPct val="150000"/>
              </a:lnSpc>
              <a:buNone/>
            </a:pPr>
            <a:r>
              <a:rPr lang="en-US" sz="2800"/>
              <a:t>In the example below, let's just focus on the </a:t>
            </a:r>
            <a:r>
              <a:rPr lang="tr-TR" sz="2800"/>
              <a:t>q</a:t>
            </a:r>
            <a:r>
              <a:rPr lang="tr-TR"/>
              <a:t>3</a:t>
            </a:r>
            <a:r>
              <a:rPr lang="en-US" sz="2800"/>
              <a:t> state. When modeling the state for RegEx, an expression is written for each outgoing as </a:t>
            </a:r>
            <a:r>
              <a:rPr lang="tr-TR" sz="2800"/>
              <a:t>     </a:t>
            </a:r>
            <a:r>
              <a:rPr lang="en-US" sz="2800"/>
              <a:t>"</a:t>
            </a:r>
            <a:r>
              <a:rPr lang="en-US" sz="2800" b="1"/>
              <a:t>Symbol</a:t>
            </a:r>
            <a:r>
              <a:rPr lang="en-US" sz="2800"/>
              <a:t> concatenation </a:t>
            </a:r>
            <a:r>
              <a:rPr lang="en-US" sz="2800" b="1"/>
              <a:t>Target State</a:t>
            </a:r>
            <a:r>
              <a:rPr lang="en-US" sz="2800"/>
              <a:t>". </a:t>
            </a:r>
          </a:p>
        </p:txBody>
      </p:sp>
      <p:sp>
        <p:nvSpPr>
          <p:cNvPr id="4" name="Unvan 3"/>
          <p:cNvSpPr>
            <a:spLocks noGrp="1"/>
          </p:cNvSpPr>
          <p:nvPr>
            <p:ph type="title"/>
          </p:nvPr>
        </p:nvSpPr>
        <p:spPr/>
        <p:txBody>
          <a:bodyPr/>
          <a:lstStyle/>
          <a:p>
            <a:r>
              <a:rPr lang="en-US"/>
              <a:t>DFA to RegEx</a:t>
            </a:r>
          </a:p>
        </p:txBody>
      </p:sp>
      <p:grpSp>
        <p:nvGrpSpPr>
          <p:cNvPr id="6" name="Grup 5">
            <a:extLst>
              <a:ext uri="{FF2B5EF4-FFF2-40B4-BE49-F238E27FC236}">
                <a16:creationId xmlns:a16="http://schemas.microsoft.com/office/drawing/2014/main" id="{DC2361C1-C882-47A5-AA89-5DFF157091A2}"/>
              </a:ext>
            </a:extLst>
          </p:cNvPr>
          <p:cNvGrpSpPr/>
          <p:nvPr/>
        </p:nvGrpSpPr>
        <p:grpSpPr>
          <a:xfrm>
            <a:off x="2589212" y="3904844"/>
            <a:ext cx="3257789" cy="2598137"/>
            <a:chOff x="6096000" y="3180456"/>
            <a:chExt cx="3257789" cy="2598137"/>
          </a:xfrm>
        </p:grpSpPr>
        <p:sp>
          <p:nvSpPr>
            <p:cNvPr id="9" name="Oval 8">
              <a:extLst>
                <a:ext uri="{FF2B5EF4-FFF2-40B4-BE49-F238E27FC236}">
                  <a16:creationId xmlns:a16="http://schemas.microsoft.com/office/drawing/2014/main" id="{05DFB056-6F34-5B13-85E5-1D85530BD57A}"/>
                </a:ext>
              </a:extLst>
            </p:cNvPr>
            <p:cNvSpPr/>
            <p:nvPr/>
          </p:nvSpPr>
          <p:spPr>
            <a:xfrm>
              <a:off x="6096000" y="3180456"/>
              <a:ext cx="867906" cy="852407"/>
            </a:xfrm>
            <a:prstGeom prst="ellipse">
              <a:avLst/>
            </a:prstGeom>
            <a:solidFill>
              <a:srgbClr val="00B050"/>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3</a:t>
              </a:r>
            </a:p>
          </p:txBody>
        </p:sp>
        <p:sp>
          <p:nvSpPr>
            <p:cNvPr id="10" name="Oval 9">
              <a:extLst>
                <a:ext uri="{FF2B5EF4-FFF2-40B4-BE49-F238E27FC236}">
                  <a16:creationId xmlns:a16="http://schemas.microsoft.com/office/drawing/2014/main" id="{75803E37-9609-06D7-18A6-E9EF7CFDC06F}"/>
                </a:ext>
              </a:extLst>
            </p:cNvPr>
            <p:cNvSpPr/>
            <p:nvPr/>
          </p:nvSpPr>
          <p:spPr>
            <a:xfrm>
              <a:off x="8485883" y="318045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4</a:t>
              </a:r>
            </a:p>
          </p:txBody>
        </p:sp>
        <p:sp>
          <p:nvSpPr>
            <p:cNvPr id="11" name="Oval 10">
              <a:extLst>
                <a:ext uri="{FF2B5EF4-FFF2-40B4-BE49-F238E27FC236}">
                  <a16:creationId xmlns:a16="http://schemas.microsoft.com/office/drawing/2014/main" id="{22DF4D98-1E73-92B9-27C3-FF865DB93DBA}"/>
                </a:ext>
              </a:extLst>
            </p:cNvPr>
            <p:cNvSpPr/>
            <p:nvPr/>
          </p:nvSpPr>
          <p:spPr>
            <a:xfrm>
              <a:off x="7711658" y="492618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5</a:t>
              </a:r>
            </a:p>
          </p:txBody>
        </p:sp>
        <p:cxnSp>
          <p:nvCxnSpPr>
            <p:cNvPr id="15" name="Düz Ok Bağlayıcısı 14">
              <a:extLst>
                <a:ext uri="{FF2B5EF4-FFF2-40B4-BE49-F238E27FC236}">
                  <a16:creationId xmlns:a16="http://schemas.microsoft.com/office/drawing/2014/main" id="{9854C9EA-0ED3-5F36-D21C-01C645EA4FFA}"/>
                </a:ext>
              </a:extLst>
            </p:cNvPr>
            <p:cNvCxnSpPr/>
            <p:nvPr/>
          </p:nvCxnSpPr>
          <p:spPr>
            <a:xfrm>
              <a:off x="6973363" y="3606659"/>
              <a:ext cx="1449091" cy="0"/>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Düz Ok Bağlayıcısı 15">
              <a:extLst>
                <a:ext uri="{FF2B5EF4-FFF2-40B4-BE49-F238E27FC236}">
                  <a16:creationId xmlns:a16="http://schemas.microsoft.com/office/drawing/2014/main" id="{ED1B7212-270E-A387-04F9-5396DF304165}"/>
                </a:ext>
              </a:extLst>
            </p:cNvPr>
            <p:cNvCxnSpPr/>
            <p:nvPr/>
          </p:nvCxnSpPr>
          <p:spPr>
            <a:xfrm>
              <a:off x="6825486" y="3934997"/>
              <a:ext cx="1015022" cy="1104019"/>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Metin kutusu 48">
              <a:extLst>
                <a:ext uri="{FF2B5EF4-FFF2-40B4-BE49-F238E27FC236}">
                  <a16:creationId xmlns:a16="http://schemas.microsoft.com/office/drawing/2014/main" id="{F959BA4D-E643-7C0A-5F82-B576650CED0A}"/>
                </a:ext>
              </a:extLst>
            </p:cNvPr>
            <p:cNvSpPr txBox="1"/>
            <p:nvPr/>
          </p:nvSpPr>
          <p:spPr>
            <a:xfrm>
              <a:off x="7505931" y="3180456"/>
              <a:ext cx="8382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1</a:t>
              </a:r>
            </a:p>
          </p:txBody>
        </p:sp>
        <p:sp>
          <p:nvSpPr>
            <p:cNvPr id="20" name="Metin kutusu 49">
              <a:extLst>
                <a:ext uri="{FF2B5EF4-FFF2-40B4-BE49-F238E27FC236}">
                  <a16:creationId xmlns:a16="http://schemas.microsoft.com/office/drawing/2014/main" id="{92D16FA7-FC95-036D-2517-5C0E717574EB}"/>
                </a:ext>
              </a:extLst>
            </p:cNvPr>
            <p:cNvSpPr txBox="1"/>
            <p:nvPr/>
          </p:nvSpPr>
          <p:spPr>
            <a:xfrm>
              <a:off x="7247280" y="4088476"/>
              <a:ext cx="8382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0</a:t>
              </a:r>
            </a:p>
          </p:txBody>
        </p:sp>
      </p:grpSp>
      <p:pic>
        <p:nvPicPr>
          <p:cNvPr id="26" name="Resim 25"/>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37643" y="3755054"/>
            <a:ext cx="4863911" cy="1151979"/>
          </a:xfrm>
          <a:prstGeom prst="rect">
            <a:avLst/>
          </a:prstGeom>
        </p:spPr>
      </p:pic>
      <p:pic>
        <p:nvPicPr>
          <p:cNvPr id="27" name="Resim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9067" y="5097091"/>
            <a:ext cx="5659003" cy="1340383"/>
          </a:xfrm>
          <a:prstGeom prst="rect">
            <a:avLst/>
          </a:prstGeom>
        </p:spPr>
      </p:pic>
    </p:spTree>
    <p:extLst>
      <p:ext uri="{BB962C8B-B14F-4D97-AF65-F5344CB8AC3E}">
        <p14:creationId xmlns:p14="http://schemas.microsoft.com/office/powerpoint/2010/main" val="168992528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Yuvarlatılmış Dikdörtgen 6"/>
          <p:cNvSpPr/>
          <p:nvPr/>
        </p:nvSpPr>
        <p:spPr>
          <a:xfrm>
            <a:off x="6482093" y="5293944"/>
            <a:ext cx="3223124" cy="5836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Unvan 3"/>
          <p:cNvSpPr>
            <a:spLocks noGrp="1"/>
          </p:cNvSpPr>
          <p:nvPr>
            <p:ph type="title"/>
          </p:nvPr>
        </p:nvSpPr>
        <p:spPr/>
        <p:txBody>
          <a:bodyPr/>
          <a:lstStyle/>
          <a:p>
            <a:r>
              <a:rPr lang="en-US"/>
              <a:t>DFA to RegEx</a:t>
            </a:r>
          </a:p>
        </p:txBody>
      </p:sp>
      <p:grpSp>
        <p:nvGrpSpPr>
          <p:cNvPr id="6" name="Grup 5">
            <a:extLst>
              <a:ext uri="{FF2B5EF4-FFF2-40B4-BE49-F238E27FC236}">
                <a16:creationId xmlns:a16="http://schemas.microsoft.com/office/drawing/2014/main" id="{DC2361C1-C882-47A5-AA89-5DFF157091A2}"/>
              </a:ext>
            </a:extLst>
          </p:cNvPr>
          <p:cNvGrpSpPr/>
          <p:nvPr/>
        </p:nvGrpSpPr>
        <p:grpSpPr>
          <a:xfrm>
            <a:off x="2589212" y="3904844"/>
            <a:ext cx="3257789" cy="2598137"/>
            <a:chOff x="6096000" y="3180456"/>
            <a:chExt cx="3257789" cy="2598137"/>
          </a:xfrm>
        </p:grpSpPr>
        <p:sp>
          <p:nvSpPr>
            <p:cNvPr id="9" name="Oval 8">
              <a:extLst>
                <a:ext uri="{FF2B5EF4-FFF2-40B4-BE49-F238E27FC236}">
                  <a16:creationId xmlns:a16="http://schemas.microsoft.com/office/drawing/2014/main" id="{05DFB056-6F34-5B13-85E5-1D85530BD57A}"/>
                </a:ext>
              </a:extLst>
            </p:cNvPr>
            <p:cNvSpPr/>
            <p:nvPr/>
          </p:nvSpPr>
          <p:spPr>
            <a:xfrm>
              <a:off x="6096000" y="3180456"/>
              <a:ext cx="867906" cy="852407"/>
            </a:xfrm>
            <a:prstGeom prst="ellipse">
              <a:avLst/>
            </a:prstGeom>
            <a:solidFill>
              <a:srgbClr val="00B050"/>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3</a:t>
              </a:r>
            </a:p>
          </p:txBody>
        </p:sp>
        <p:sp>
          <p:nvSpPr>
            <p:cNvPr id="10" name="Oval 9">
              <a:extLst>
                <a:ext uri="{FF2B5EF4-FFF2-40B4-BE49-F238E27FC236}">
                  <a16:creationId xmlns:a16="http://schemas.microsoft.com/office/drawing/2014/main" id="{75803E37-9609-06D7-18A6-E9EF7CFDC06F}"/>
                </a:ext>
              </a:extLst>
            </p:cNvPr>
            <p:cNvSpPr/>
            <p:nvPr/>
          </p:nvSpPr>
          <p:spPr>
            <a:xfrm>
              <a:off x="8485883" y="318045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4</a:t>
              </a:r>
            </a:p>
          </p:txBody>
        </p:sp>
        <p:sp>
          <p:nvSpPr>
            <p:cNvPr id="11" name="Oval 10">
              <a:extLst>
                <a:ext uri="{FF2B5EF4-FFF2-40B4-BE49-F238E27FC236}">
                  <a16:creationId xmlns:a16="http://schemas.microsoft.com/office/drawing/2014/main" id="{22DF4D98-1E73-92B9-27C3-FF865DB93DBA}"/>
                </a:ext>
              </a:extLst>
            </p:cNvPr>
            <p:cNvSpPr/>
            <p:nvPr/>
          </p:nvSpPr>
          <p:spPr>
            <a:xfrm>
              <a:off x="7711658" y="4926186"/>
              <a:ext cx="867906" cy="852407"/>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2800"/>
                <a:t>q</a:t>
              </a:r>
              <a:r>
                <a:rPr lang="en-US" sz="2800" baseline="-25000"/>
                <a:t>5</a:t>
              </a:r>
            </a:p>
          </p:txBody>
        </p:sp>
        <p:cxnSp>
          <p:nvCxnSpPr>
            <p:cNvPr id="15" name="Düz Ok Bağlayıcısı 14">
              <a:extLst>
                <a:ext uri="{FF2B5EF4-FFF2-40B4-BE49-F238E27FC236}">
                  <a16:creationId xmlns:a16="http://schemas.microsoft.com/office/drawing/2014/main" id="{9854C9EA-0ED3-5F36-D21C-01C645EA4FFA}"/>
                </a:ext>
              </a:extLst>
            </p:cNvPr>
            <p:cNvCxnSpPr/>
            <p:nvPr/>
          </p:nvCxnSpPr>
          <p:spPr>
            <a:xfrm>
              <a:off x="6973363" y="3606659"/>
              <a:ext cx="1449091" cy="0"/>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Düz Ok Bağlayıcısı 15">
              <a:extLst>
                <a:ext uri="{FF2B5EF4-FFF2-40B4-BE49-F238E27FC236}">
                  <a16:creationId xmlns:a16="http://schemas.microsoft.com/office/drawing/2014/main" id="{ED1B7212-270E-A387-04F9-5396DF304165}"/>
                </a:ext>
              </a:extLst>
            </p:cNvPr>
            <p:cNvCxnSpPr/>
            <p:nvPr/>
          </p:nvCxnSpPr>
          <p:spPr>
            <a:xfrm>
              <a:off x="6825486" y="3934997"/>
              <a:ext cx="1015022" cy="1104019"/>
            </a:xfrm>
            <a:prstGeom prst="straightConnector1">
              <a:avLst/>
            </a:prstGeom>
            <a:ln w="381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Metin kutusu 48">
              <a:extLst>
                <a:ext uri="{FF2B5EF4-FFF2-40B4-BE49-F238E27FC236}">
                  <a16:creationId xmlns:a16="http://schemas.microsoft.com/office/drawing/2014/main" id="{F959BA4D-E643-7C0A-5F82-B576650CED0A}"/>
                </a:ext>
              </a:extLst>
            </p:cNvPr>
            <p:cNvSpPr txBox="1"/>
            <p:nvPr/>
          </p:nvSpPr>
          <p:spPr>
            <a:xfrm>
              <a:off x="7505931" y="3180456"/>
              <a:ext cx="8382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1</a:t>
              </a:r>
            </a:p>
          </p:txBody>
        </p:sp>
        <p:sp>
          <p:nvSpPr>
            <p:cNvPr id="20" name="Metin kutusu 49">
              <a:extLst>
                <a:ext uri="{FF2B5EF4-FFF2-40B4-BE49-F238E27FC236}">
                  <a16:creationId xmlns:a16="http://schemas.microsoft.com/office/drawing/2014/main" id="{92D16FA7-FC95-036D-2517-5C0E717574EB}"/>
                </a:ext>
              </a:extLst>
            </p:cNvPr>
            <p:cNvSpPr txBox="1"/>
            <p:nvPr/>
          </p:nvSpPr>
          <p:spPr>
            <a:xfrm>
              <a:off x="7247280" y="4088476"/>
              <a:ext cx="8382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0</a:t>
              </a:r>
            </a:p>
          </p:txBody>
        </p:sp>
      </p:grpSp>
      <p:pic>
        <p:nvPicPr>
          <p:cNvPr id="21" name="Resim 20"/>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37643" y="3755054"/>
            <a:ext cx="4863911" cy="1151979"/>
          </a:xfrm>
          <a:prstGeom prst="rect">
            <a:avLst/>
          </a:prstGeom>
        </p:spPr>
      </p:pic>
      <p:sp>
        <p:nvSpPr>
          <p:cNvPr id="22" name="İçerik Yer Tutucusu 4"/>
          <p:cNvSpPr>
            <a:spLocks noGrp="1"/>
          </p:cNvSpPr>
          <p:nvPr>
            <p:ph idx="1"/>
          </p:nvPr>
        </p:nvSpPr>
        <p:spPr>
          <a:xfrm>
            <a:off x="2589212" y="1464126"/>
            <a:ext cx="8915400" cy="4659087"/>
          </a:xfrm>
        </p:spPr>
        <p:txBody>
          <a:bodyPr>
            <a:normAutofit/>
          </a:bodyPr>
          <a:lstStyle/>
          <a:p>
            <a:pPr marL="0" indent="0">
              <a:lnSpc>
                <a:spcPct val="150000"/>
              </a:lnSpc>
              <a:buNone/>
            </a:pPr>
            <a:r>
              <a:rPr lang="en-US" sz="2800"/>
              <a:t>Since state q</a:t>
            </a:r>
            <a:r>
              <a:rPr lang="en-US" sz="1600"/>
              <a:t>3</a:t>
            </a:r>
            <a:r>
              <a:rPr lang="en-US" sz="2800"/>
              <a:t> is not an accept state, we will use the first rule.</a:t>
            </a:r>
            <a:endParaRPr lang="tr-TR" sz="2800"/>
          </a:p>
          <a:p>
            <a:pPr marL="0" indent="0">
              <a:lnSpc>
                <a:spcPct val="150000"/>
              </a:lnSpc>
              <a:buNone/>
            </a:pPr>
            <a:endParaRPr lang="tr-TR" sz="2800"/>
          </a:p>
          <a:p>
            <a:pPr marL="0" indent="0">
              <a:lnSpc>
                <a:spcPct val="150000"/>
              </a:lnSpc>
              <a:buNone/>
            </a:pPr>
            <a:endParaRPr lang="tr-TR" sz="2800"/>
          </a:p>
          <a:p>
            <a:pPr marL="0" indent="0">
              <a:lnSpc>
                <a:spcPct val="150000"/>
              </a:lnSpc>
              <a:buNone/>
            </a:pPr>
            <a:endParaRPr lang="tr-TR" sz="2800"/>
          </a:p>
          <a:p>
            <a:pPr marL="0" indent="0">
              <a:lnSpc>
                <a:spcPct val="150000"/>
              </a:lnSpc>
              <a:buNone/>
            </a:pPr>
            <a:r>
              <a:rPr lang="tr-TR" sz="2800"/>
              <a:t>								</a:t>
            </a:r>
            <a:r>
              <a:rPr lang="tr-TR" sz="2800">
                <a:latin typeface="Times New Roman" panose="02020603050405020304" pitchFamily="18" charset="0"/>
                <a:cs typeface="Times New Roman" panose="02020603050405020304" pitchFamily="18" charset="0"/>
              </a:rPr>
              <a:t>  </a:t>
            </a:r>
            <a:r>
              <a:rPr lang="tr-TR" sz="2800" b="1" i="1">
                <a:solidFill>
                  <a:schemeClr val="bg1"/>
                </a:solidFill>
                <a:latin typeface="Times New Roman" panose="02020603050405020304" pitchFamily="18" charset="0"/>
                <a:cs typeface="Times New Roman" panose="02020603050405020304" pitchFamily="18" charset="0"/>
              </a:rPr>
              <a:t>L</a:t>
            </a:r>
            <a:r>
              <a:rPr lang="tr-TR" sz="2000" b="1">
                <a:solidFill>
                  <a:schemeClr val="bg1"/>
                </a:solidFill>
                <a:latin typeface="Times New Roman" panose="02020603050405020304" pitchFamily="18" charset="0"/>
                <a:cs typeface="Times New Roman" panose="02020603050405020304" pitchFamily="18" charset="0"/>
              </a:rPr>
              <a:t>q</a:t>
            </a:r>
            <a:r>
              <a:rPr lang="tr-TR" sz="1200" b="1">
                <a:solidFill>
                  <a:schemeClr val="bg1"/>
                </a:solidFill>
                <a:latin typeface="Times New Roman" panose="02020603050405020304" pitchFamily="18" charset="0"/>
                <a:cs typeface="Times New Roman" panose="02020603050405020304" pitchFamily="18" charset="0"/>
              </a:rPr>
              <a:t>3</a:t>
            </a:r>
            <a:r>
              <a:rPr lang="tr-TR" sz="2800" b="1">
                <a:solidFill>
                  <a:schemeClr val="bg1"/>
                </a:solidFill>
                <a:latin typeface="Times New Roman" panose="02020603050405020304" pitchFamily="18" charset="0"/>
                <a:cs typeface="Times New Roman" panose="02020603050405020304" pitchFamily="18" charset="0"/>
              </a:rPr>
              <a:t> = 1 ∙ </a:t>
            </a:r>
            <a:r>
              <a:rPr lang="tr-TR" sz="2800" b="1" i="1">
                <a:solidFill>
                  <a:schemeClr val="bg1"/>
                </a:solidFill>
                <a:latin typeface="Times New Roman" panose="02020603050405020304" pitchFamily="18" charset="0"/>
                <a:cs typeface="Times New Roman" panose="02020603050405020304" pitchFamily="18" charset="0"/>
              </a:rPr>
              <a:t>L</a:t>
            </a:r>
            <a:r>
              <a:rPr lang="tr-TR" sz="2000" b="1">
                <a:solidFill>
                  <a:schemeClr val="bg1"/>
                </a:solidFill>
                <a:latin typeface="Times New Roman" panose="02020603050405020304" pitchFamily="18" charset="0"/>
                <a:cs typeface="Times New Roman" panose="02020603050405020304" pitchFamily="18" charset="0"/>
              </a:rPr>
              <a:t>q</a:t>
            </a:r>
            <a:r>
              <a:rPr lang="tr-TR" sz="1200" b="1">
                <a:solidFill>
                  <a:schemeClr val="bg1"/>
                </a:solidFill>
                <a:latin typeface="Times New Roman" panose="02020603050405020304" pitchFamily="18" charset="0"/>
                <a:cs typeface="Times New Roman" panose="02020603050405020304" pitchFamily="18" charset="0"/>
              </a:rPr>
              <a:t>4</a:t>
            </a:r>
            <a:r>
              <a:rPr lang="tr-TR" sz="2800" b="1">
                <a:solidFill>
                  <a:schemeClr val="bg1"/>
                </a:solidFill>
                <a:latin typeface="Times New Roman" panose="02020603050405020304" pitchFamily="18" charset="0"/>
                <a:cs typeface="Times New Roman" panose="02020603050405020304" pitchFamily="18" charset="0"/>
              </a:rPr>
              <a:t>  </a:t>
            </a:r>
            <a:r>
              <a:rPr lang="tr-TR" sz="2800" b="1">
                <a:solidFill>
                  <a:schemeClr val="bg1"/>
                </a:solidFill>
              </a:rPr>
              <a:t>U</a:t>
            </a:r>
            <a:r>
              <a:rPr lang="tr-TR" sz="2800" b="1">
                <a:solidFill>
                  <a:schemeClr val="bg1"/>
                </a:solidFill>
                <a:latin typeface="Times New Roman" panose="02020603050405020304" pitchFamily="18" charset="0"/>
                <a:cs typeface="Times New Roman" panose="02020603050405020304" pitchFamily="18" charset="0"/>
              </a:rPr>
              <a:t>  0 ∙ </a:t>
            </a:r>
            <a:r>
              <a:rPr lang="tr-TR" sz="2800" b="1" i="1">
                <a:solidFill>
                  <a:schemeClr val="bg1"/>
                </a:solidFill>
                <a:latin typeface="Times New Roman" panose="02020603050405020304" pitchFamily="18" charset="0"/>
                <a:cs typeface="Times New Roman" panose="02020603050405020304" pitchFamily="18" charset="0"/>
              </a:rPr>
              <a:t>L</a:t>
            </a:r>
            <a:r>
              <a:rPr lang="tr-TR" sz="2000" b="1">
                <a:solidFill>
                  <a:schemeClr val="bg1"/>
                </a:solidFill>
                <a:latin typeface="Times New Roman" panose="02020603050405020304" pitchFamily="18" charset="0"/>
                <a:cs typeface="Times New Roman" panose="02020603050405020304" pitchFamily="18" charset="0"/>
              </a:rPr>
              <a:t>q</a:t>
            </a:r>
            <a:r>
              <a:rPr lang="tr-TR" sz="1200" b="1">
                <a:solidFill>
                  <a:schemeClr val="bg1"/>
                </a:solidFill>
                <a:latin typeface="Times New Roman" panose="02020603050405020304" pitchFamily="18" charset="0"/>
                <a:cs typeface="Times New Roman" panose="02020603050405020304" pitchFamily="18" charset="0"/>
              </a:rPr>
              <a:t>5</a:t>
            </a:r>
            <a:endParaRPr lang="en-US" sz="2800" b="1">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181051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idx="1"/>
          </p:nvPr>
        </p:nvSpPr>
        <p:spPr>
          <a:xfrm>
            <a:off x="2589212" y="1660066"/>
            <a:ext cx="8915400" cy="4569283"/>
          </a:xfrm>
        </p:spPr>
        <p:txBody>
          <a:bodyPr>
            <a:noAutofit/>
          </a:bodyPr>
          <a:lstStyle/>
          <a:p>
            <a:pPr marL="0" indent="0">
              <a:lnSpc>
                <a:spcPct val="130000"/>
              </a:lnSpc>
              <a:buNone/>
            </a:pPr>
            <a:r>
              <a:rPr lang="en-US" sz="2800"/>
              <a:t>But there is a problem here. If we continue with this approach, it will create a lot of recursion. That's why we need a solution for recursive expressions.</a:t>
            </a:r>
            <a:endParaRPr lang="tr-TR" sz="2800"/>
          </a:p>
          <a:p>
            <a:pPr marL="0" indent="0">
              <a:lnSpc>
                <a:spcPct val="130000"/>
              </a:lnSpc>
              <a:buNone/>
            </a:pPr>
            <a:r>
              <a:rPr lang="tr-TR" sz="2800"/>
              <a:t>					</a:t>
            </a:r>
            <a:r>
              <a:rPr lang="tr-TR" sz="3600" i="1">
                <a:latin typeface="Times New Roman" panose="02020603050405020304" pitchFamily="18" charset="0"/>
                <a:cs typeface="Times New Roman" panose="02020603050405020304" pitchFamily="18" charset="0"/>
              </a:rPr>
              <a:t>L = B ∙ L  </a:t>
            </a:r>
            <a:r>
              <a:rPr lang="tr-TR" sz="3600">
                <a:latin typeface="+mj-lt"/>
                <a:cs typeface="Times New Roman" panose="02020603050405020304" pitchFamily="18" charset="0"/>
              </a:rPr>
              <a:t>U</a:t>
            </a:r>
            <a:r>
              <a:rPr lang="tr-TR" sz="3600">
                <a:latin typeface="Times New Roman" panose="02020603050405020304" pitchFamily="18" charset="0"/>
                <a:cs typeface="Times New Roman" panose="02020603050405020304" pitchFamily="18" charset="0"/>
              </a:rPr>
              <a:t>  C</a:t>
            </a:r>
          </a:p>
          <a:p>
            <a:pPr marL="0" indent="0">
              <a:lnSpc>
                <a:spcPct val="130000"/>
              </a:lnSpc>
              <a:buNone/>
            </a:pPr>
            <a:endParaRPr lang="tr-TR">
              <a:latin typeface="Times New Roman" panose="02020603050405020304" pitchFamily="18" charset="0"/>
              <a:cs typeface="Times New Roman" panose="02020603050405020304" pitchFamily="18" charset="0"/>
            </a:endParaRPr>
          </a:p>
          <a:p>
            <a:pPr marL="0" indent="0">
              <a:lnSpc>
                <a:spcPct val="130000"/>
              </a:lnSpc>
              <a:buNone/>
            </a:pPr>
            <a:r>
              <a:rPr lang="tr-TR" sz="3600">
                <a:latin typeface="Times New Roman" panose="02020603050405020304" pitchFamily="18" charset="0"/>
                <a:cs typeface="Times New Roman" panose="02020603050405020304" pitchFamily="18" charset="0"/>
              </a:rPr>
              <a:t>					</a:t>
            </a:r>
            <a:r>
              <a:rPr lang="tr-TR" sz="3600" i="1">
                <a:latin typeface="Times New Roman" panose="02020603050405020304" pitchFamily="18" charset="0"/>
                <a:cs typeface="Times New Roman" panose="02020603050405020304" pitchFamily="18" charset="0"/>
              </a:rPr>
              <a:t>L = B* C</a:t>
            </a:r>
            <a:endParaRPr lang="en-US" sz="3600" i="1">
              <a:latin typeface="Times New Roman" panose="02020603050405020304" pitchFamily="18" charset="0"/>
              <a:cs typeface="Times New Roman" panose="02020603050405020304" pitchFamily="18" charset="0"/>
            </a:endParaRPr>
          </a:p>
        </p:txBody>
      </p:sp>
      <p:sp>
        <p:nvSpPr>
          <p:cNvPr id="4" name="Unvan 3"/>
          <p:cNvSpPr>
            <a:spLocks noGrp="1"/>
          </p:cNvSpPr>
          <p:nvPr>
            <p:ph type="title"/>
          </p:nvPr>
        </p:nvSpPr>
        <p:spPr/>
        <p:txBody>
          <a:bodyPr/>
          <a:lstStyle/>
          <a:p>
            <a:r>
              <a:rPr lang="en-US"/>
              <a:t>DFA to RegEx</a:t>
            </a:r>
          </a:p>
        </p:txBody>
      </p:sp>
      <p:sp>
        <p:nvSpPr>
          <p:cNvPr id="7" name="Aşağı Ok 6"/>
          <p:cNvSpPr/>
          <p:nvPr/>
        </p:nvSpPr>
        <p:spPr>
          <a:xfrm>
            <a:off x="5867401" y="4853277"/>
            <a:ext cx="431800" cy="4699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89716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9" y="1493157"/>
            <a:ext cx="6276912" cy="3777622"/>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Let's transform the DFA transition diagram on the right into a regular expression.</a:t>
            </a:r>
          </a:p>
          <a:p>
            <a:pPr marL="0" indent="0">
              <a:lnSpc>
                <a:spcPct val="150000"/>
              </a:lnSpc>
              <a:buNone/>
            </a:pPr>
            <a:endParaRPr lang="en-US" sz="2800"/>
          </a:p>
          <a:p>
            <a:pPr marL="0" indent="0">
              <a:lnSpc>
                <a:spcPct val="150000"/>
              </a:lnSpc>
              <a:buNone/>
            </a:pPr>
            <a:r>
              <a:rPr lang="en-US" sz="2800"/>
              <a:t>We must first start by modeling the expression of each state.</a:t>
            </a:r>
          </a:p>
        </p:txBody>
      </p:sp>
      <p:pic>
        <p:nvPicPr>
          <p:cNvPr id="2" name="Resi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spTree>
    <p:extLst>
      <p:ext uri="{BB962C8B-B14F-4D97-AF65-F5344CB8AC3E}">
        <p14:creationId xmlns:p14="http://schemas.microsoft.com/office/powerpoint/2010/main" val="309070573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Our final goal is to write the reduced expression of the start state.</a:t>
            </a:r>
          </a:p>
        </p:txBody>
      </p:sp>
      <p:pic>
        <p:nvPicPr>
          <p:cNvPr id="2" name="Resi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pic>
        <p:nvPicPr>
          <p:cNvPr id="4" name="Resim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3459" y="3758289"/>
            <a:ext cx="5124841" cy="1632357"/>
          </a:xfrm>
          <a:prstGeom prst="rect">
            <a:avLst/>
          </a:prstGeom>
        </p:spPr>
      </p:pic>
      <p:sp>
        <p:nvSpPr>
          <p:cNvPr id="5" name="Yuvarlatılmış Dikdörtgen 4"/>
          <p:cNvSpPr/>
          <p:nvPr/>
        </p:nvSpPr>
        <p:spPr>
          <a:xfrm>
            <a:off x="1466850" y="3758289"/>
            <a:ext cx="4800600" cy="556536"/>
          </a:xfrm>
          <a:prstGeom prst="round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Oval 5"/>
          <p:cNvSpPr/>
          <p:nvPr/>
        </p:nvSpPr>
        <p:spPr>
          <a:xfrm>
            <a:off x="1593459" y="3758288"/>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366946" y="3758287"/>
            <a:ext cx="702066" cy="556537"/>
          </a:xfrm>
          <a:prstGeom prst="ellipse">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804846" y="3758287"/>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472383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When we use our solution to clean up the recursions, these two expressions will turn into:</a:t>
            </a:r>
          </a:p>
        </p:txBody>
      </p:sp>
      <p:pic>
        <p:nvPicPr>
          <p:cNvPr id="2" name="Resi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pic>
        <p:nvPicPr>
          <p:cNvPr id="4" name="Resim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3459" y="3758289"/>
            <a:ext cx="5124841" cy="1632357"/>
          </a:xfrm>
          <a:prstGeom prst="rect">
            <a:avLst/>
          </a:prstGeom>
        </p:spPr>
      </p:pic>
      <p:sp>
        <p:nvSpPr>
          <p:cNvPr id="6" name="Oval 5"/>
          <p:cNvSpPr/>
          <p:nvPr/>
        </p:nvSpPr>
        <p:spPr>
          <a:xfrm>
            <a:off x="1593459" y="3758288"/>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935983" y="3709300"/>
            <a:ext cx="702066" cy="556537"/>
          </a:xfrm>
          <a:prstGeom prst="ellipse">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ağ Ok 14"/>
          <p:cNvSpPr/>
          <p:nvPr/>
        </p:nvSpPr>
        <p:spPr>
          <a:xfrm>
            <a:off x="6433457" y="3802057"/>
            <a:ext cx="525479" cy="382137"/>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ikdörtgen 15"/>
          <p:cNvSpPr/>
          <p:nvPr/>
        </p:nvSpPr>
        <p:spPr>
          <a:xfrm>
            <a:off x="7180763" y="3513076"/>
            <a:ext cx="1483098" cy="737318"/>
          </a:xfrm>
          <a:prstGeom prst="rect">
            <a:avLst/>
          </a:prstGeom>
        </p:spPr>
        <p:txBody>
          <a:bodyPr wrap="none">
            <a:spAutoFit/>
          </a:bodyPr>
          <a:lstStyle/>
          <a:p>
            <a:pPr>
              <a:lnSpc>
                <a:spcPct val="150000"/>
              </a:lnSpc>
            </a:pPr>
            <a:r>
              <a:rPr lang="tr-TR" sz="3200"/>
              <a:t>a*bL</a:t>
            </a:r>
            <a:r>
              <a:rPr lang="tr-TR" sz="2800"/>
              <a:t>q</a:t>
            </a:r>
            <a:r>
              <a:rPr lang="tr-TR"/>
              <a:t>2</a:t>
            </a:r>
            <a:endParaRPr lang="en-US" sz="3200"/>
          </a:p>
        </p:txBody>
      </p:sp>
      <p:sp>
        <p:nvSpPr>
          <p:cNvPr id="18" name="Oval 17"/>
          <p:cNvSpPr/>
          <p:nvPr/>
        </p:nvSpPr>
        <p:spPr>
          <a:xfrm>
            <a:off x="3804846" y="3758287"/>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kdörtgen 18"/>
          <p:cNvSpPr/>
          <p:nvPr/>
        </p:nvSpPr>
        <p:spPr>
          <a:xfrm rot="21140292">
            <a:off x="6073789" y="3256419"/>
            <a:ext cx="1587294" cy="413639"/>
          </a:xfrm>
          <a:prstGeom prst="rect">
            <a:avLst/>
          </a:prstGeom>
          <a:solidFill>
            <a:srgbClr val="FFFF00"/>
          </a:solidFill>
        </p:spPr>
        <p:style>
          <a:lnRef idx="2">
            <a:schemeClr val="dk1"/>
          </a:lnRef>
          <a:fillRef idx="1">
            <a:schemeClr val="lt1"/>
          </a:fillRef>
          <a:effectRef idx="0">
            <a:schemeClr val="dk1"/>
          </a:effectRef>
          <a:fontRef idx="minor">
            <a:schemeClr val="dk1"/>
          </a:fontRef>
        </p:style>
        <p:txBody>
          <a:bodyPr wrap="none">
            <a:spAutoFit/>
          </a:bodyPr>
          <a:lstStyle/>
          <a:p>
            <a:pPr>
              <a:lnSpc>
                <a:spcPct val="130000"/>
              </a:lnSpc>
            </a:pPr>
            <a:r>
              <a:rPr lang="tr-TR" i="1">
                <a:latin typeface="Times New Roman" panose="02020603050405020304" pitchFamily="18" charset="0"/>
                <a:cs typeface="Times New Roman" panose="02020603050405020304" pitchFamily="18" charset="0"/>
              </a:rPr>
              <a:t>L = B ∙ L  </a:t>
            </a:r>
            <a:r>
              <a:rPr lang="tr-TR">
                <a:latin typeface="Arial" panose="020B0604020202020204" pitchFamily="34" charset="0"/>
                <a:cs typeface="Arial" panose="020B0604020202020204" pitchFamily="34" charset="0"/>
              </a:rPr>
              <a:t>U</a:t>
            </a:r>
            <a:r>
              <a:rPr lang="tr-TR" i="1">
                <a:latin typeface="Times New Roman" panose="02020603050405020304" pitchFamily="18" charset="0"/>
                <a:cs typeface="Times New Roman" panose="02020603050405020304" pitchFamily="18" charset="0"/>
              </a:rPr>
              <a:t>  C</a:t>
            </a:r>
          </a:p>
        </p:txBody>
      </p:sp>
    </p:spTree>
    <p:extLst>
      <p:ext uri="{BB962C8B-B14F-4D97-AF65-F5344CB8AC3E}">
        <p14:creationId xmlns:p14="http://schemas.microsoft.com/office/powerpoint/2010/main" val="21070375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8" y="1493156"/>
            <a:ext cx="7588642" cy="457744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When we write the expression of </a:t>
            </a:r>
            <a:r>
              <a:rPr lang="tr-TR" sz="2800"/>
              <a:t>             </a:t>
            </a:r>
            <a:r>
              <a:rPr lang="en-US" sz="2800"/>
              <a:t>the q</a:t>
            </a:r>
            <a:r>
              <a:rPr lang="en-US"/>
              <a:t>2</a:t>
            </a:r>
            <a:r>
              <a:rPr lang="en-US" sz="2800"/>
              <a:t> state instead of the variable </a:t>
            </a:r>
            <a:r>
              <a:rPr lang="tr-TR" sz="2800"/>
              <a:t>          </a:t>
            </a:r>
            <a:r>
              <a:rPr lang="en-US" sz="2800"/>
              <a:t>L</a:t>
            </a:r>
            <a:r>
              <a:rPr lang="en-US" sz="2000"/>
              <a:t>q</a:t>
            </a:r>
            <a:r>
              <a:rPr lang="en-US" sz="1400"/>
              <a:t>2</a:t>
            </a:r>
            <a:r>
              <a:rPr lang="en-US" sz="2800"/>
              <a:t> on the right hand side of the start state expression, we see the expression L</a:t>
            </a:r>
            <a:r>
              <a:rPr lang="en-US" sz="2000"/>
              <a:t>q</a:t>
            </a:r>
            <a:r>
              <a:rPr lang="en-US" sz="1400"/>
              <a:t>1</a:t>
            </a:r>
            <a:r>
              <a:rPr lang="en-US" sz="2800"/>
              <a:t> on the right this time.</a:t>
            </a:r>
            <a:endParaRPr lang="tr-TR" sz="2800"/>
          </a:p>
        </p:txBody>
      </p:sp>
      <p:pic>
        <p:nvPicPr>
          <p:cNvPr id="2" name="Resim 1"/>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pic>
        <p:nvPicPr>
          <p:cNvPr id="14" name="Resim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0888" y="5418755"/>
            <a:ext cx="7273781" cy="620677"/>
          </a:xfrm>
          <a:prstGeom prst="rect">
            <a:avLst/>
          </a:prstGeom>
        </p:spPr>
      </p:pic>
      <p:sp>
        <p:nvSpPr>
          <p:cNvPr id="8" name="Oval 7"/>
          <p:cNvSpPr/>
          <p:nvPr/>
        </p:nvSpPr>
        <p:spPr>
          <a:xfrm>
            <a:off x="6615183" y="5482895"/>
            <a:ext cx="702066" cy="556537"/>
          </a:xfrm>
          <a:prstGeom prst="ellipse">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Resim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7778" y="4275945"/>
            <a:ext cx="2998355" cy="955032"/>
          </a:xfrm>
          <a:prstGeom prst="rect">
            <a:avLst/>
          </a:prstGeom>
        </p:spPr>
      </p:pic>
      <p:sp>
        <p:nvSpPr>
          <p:cNvPr id="10" name="Oval 9"/>
          <p:cNvSpPr/>
          <p:nvPr/>
        </p:nvSpPr>
        <p:spPr>
          <a:xfrm>
            <a:off x="6299984" y="4883727"/>
            <a:ext cx="2230951" cy="34725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623030" y="4275579"/>
            <a:ext cx="366099" cy="34725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Eğri Bağlayıcı 4"/>
          <p:cNvCxnSpPr>
            <a:stCxn id="11" idx="7"/>
            <a:endCxn id="10" idx="6"/>
          </p:cNvCxnSpPr>
          <p:nvPr/>
        </p:nvCxnSpPr>
        <p:spPr>
          <a:xfrm rot="16200000" flipH="1">
            <a:off x="7867765" y="4394182"/>
            <a:ext cx="730919" cy="595420"/>
          </a:xfrm>
          <a:prstGeom prst="curvedConnector4">
            <a:avLst>
              <a:gd name="adj1" fmla="val -38233"/>
              <a:gd name="adj2" fmla="val 138393"/>
            </a:avLst>
          </a:prstGeom>
          <a:ln w="2222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98174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8" y="1493156"/>
            <a:ext cx="6242442" cy="457744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After arranging the equation we have in common brackets, we will understand that we should get rid of the unwanted</a:t>
            </a:r>
            <a:r>
              <a:rPr lang="tr-TR" sz="2800"/>
              <a:t> </a:t>
            </a:r>
            <a:r>
              <a:rPr lang="en-US" sz="2800"/>
              <a:t>variable L</a:t>
            </a:r>
            <a:r>
              <a:rPr lang="en-US" sz="2000"/>
              <a:t>q</a:t>
            </a:r>
            <a:r>
              <a:rPr lang="en-US" sz="1400"/>
              <a:t>1</a:t>
            </a:r>
            <a:r>
              <a:rPr lang="tr-TR" sz="2800"/>
              <a:t>.</a:t>
            </a:r>
          </a:p>
        </p:txBody>
      </p:sp>
      <p:pic>
        <p:nvPicPr>
          <p:cNvPr id="2" name="Resim 1"/>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pic>
        <p:nvPicPr>
          <p:cNvPr id="3" name="Resim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1619" y="4525816"/>
            <a:ext cx="7273781" cy="1342089"/>
          </a:xfrm>
          <a:prstGeom prst="rect">
            <a:avLst/>
          </a:prstGeom>
        </p:spPr>
      </p:pic>
      <p:sp>
        <p:nvSpPr>
          <p:cNvPr id="9" name="Oval 8"/>
          <p:cNvSpPr/>
          <p:nvPr/>
        </p:nvSpPr>
        <p:spPr>
          <a:xfrm>
            <a:off x="6543531" y="5256254"/>
            <a:ext cx="702066" cy="556537"/>
          </a:xfrm>
          <a:prstGeom prst="ellipse">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641618" y="4640323"/>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813920" y="5256255"/>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828054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7" y="1493156"/>
            <a:ext cx="6734113" cy="457744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Fortunately, the L</a:t>
            </a:r>
            <a:r>
              <a:rPr lang="en-US" sz="2000"/>
              <a:t>q</a:t>
            </a:r>
            <a:r>
              <a:rPr lang="en-US" sz="1400"/>
              <a:t>1</a:t>
            </a:r>
            <a:r>
              <a:rPr lang="en-US" sz="2800"/>
              <a:t> expression fits </a:t>
            </a:r>
            <a:r>
              <a:rPr lang="tr-TR" sz="2800"/>
              <a:t>   </a:t>
            </a:r>
            <a:r>
              <a:rPr lang="en-US" sz="2800"/>
              <a:t>our recursive solution. Not only that, but the obtained expression depends only on L</a:t>
            </a:r>
            <a:r>
              <a:rPr lang="en-US" sz="2000" err="1"/>
              <a:t>q</a:t>
            </a:r>
            <a:r>
              <a:rPr lang="tr-TR" sz="1400"/>
              <a:t>0</a:t>
            </a:r>
            <a:r>
              <a:rPr lang="en-US" sz="2800"/>
              <a:t>. This made our work easier</a:t>
            </a:r>
            <a:r>
              <a:rPr lang="tr-TR" sz="2800"/>
              <a:t>.</a:t>
            </a:r>
          </a:p>
        </p:txBody>
      </p:sp>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1619" y="4525816"/>
            <a:ext cx="7273781" cy="1342089"/>
          </a:xfrm>
          <a:prstGeom prst="rect">
            <a:avLst/>
          </a:prstGeom>
        </p:spPr>
      </p:pic>
      <p:sp>
        <p:nvSpPr>
          <p:cNvPr id="9" name="Oval 8"/>
          <p:cNvSpPr/>
          <p:nvPr/>
        </p:nvSpPr>
        <p:spPr>
          <a:xfrm>
            <a:off x="6543531" y="5256256"/>
            <a:ext cx="702066" cy="556537"/>
          </a:xfrm>
          <a:prstGeom prst="ellipse">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641618" y="4640323"/>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Resim 10"/>
          <p:cNvPicPr>
            <a:picLocks noChangeAspect="1"/>
          </p:cNvPicPr>
          <p:nvPr/>
        </p:nvPicPr>
        <p:blipFill>
          <a:blip r:embed="rId4">
            <a:extLst>
              <a:ext uri="{28A0092B-C50C-407E-A947-70E740481C1C}">
                <a14:useLocalDpi xmlns:a14="http://schemas.microsoft.com/office/drawing/2010/main" val="0"/>
              </a:ext>
            </a:extLst>
          </a:blip>
          <a:srcRect t="33844" b="34146"/>
          <a:stretch>
            <a:fillRect/>
          </a:stretch>
        </p:blipFill>
        <p:spPr>
          <a:xfrm>
            <a:off x="1593459" y="6204857"/>
            <a:ext cx="5124841" cy="522514"/>
          </a:xfrm>
          <a:prstGeom prst="rect">
            <a:avLst/>
          </a:prstGeom>
        </p:spPr>
      </p:pic>
      <p:sp>
        <p:nvSpPr>
          <p:cNvPr id="15" name="Oval 14"/>
          <p:cNvSpPr/>
          <p:nvPr/>
        </p:nvSpPr>
        <p:spPr>
          <a:xfrm>
            <a:off x="5349039" y="6190317"/>
            <a:ext cx="702066" cy="556537"/>
          </a:xfrm>
          <a:prstGeom prst="ellipse">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593459" y="6190317"/>
            <a:ext cx="702066" cy="556537"/>
          </a:xfrm>
          <a:prstGeom prst="ellipse">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ağ Ok 17"/>
          <p:cNvSpPr/>
          <p:nvPr/>
        </p:nvSpPr>
        <p:spPr>
          <a:xfrm>
            <a:off x="6433457" y="6284002"/>
            <a:ext cx="525479" cy="382137"/>
          </a:xfrm>
          <a:prstGeom prst="rightArrow">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kdörtgen 22"/>
          <p:cNvSpPr/>
          <p:nvPr/>
        </p:nvSpPr>
        <p:spPr>
          <a:xfrm rot="21140292">
            <a:off x="6207391" y="5798502"/>
            <a:ext cx="1587294" cy="413639"/>
          </a:xfrm>
          <a:prstGeom prst="rect">
            <a:avLst/>
          </a:prstGeom>
          <a:solidFill>
            <a:srgbClr val="FFFF00"/>
          </a:solidFill>
        </p:spPr>
        <p:style>
          <a:lnRef idx="2">
            <a:schemeClr val="dk1"/>
          </a:lnRef>
          <a:fillRef idx="1">
            <a:schemeClr val="lt1"/>
          </a:fillRef>
          <a:effectRef idx="0">
            <a:schemeClr val="dk1"/>
          </a:effectRef>
          <a:fontRef idx="minor">
            <a:schemeClr val="dk1"/>
          </a:fontRef>
        </p:style>
        <p:txBody>
          <a:bodyPr wrap="none">
            <a:spAutoFit/>
          </a:bodyPr>
          <a:lstStyle/>
          <a:p>
            <a:pPr>
              <a:lnSpc>
                <a:spcPct val="130000"/>
              </a:lnSpc>
            </a:pPr>
            <a:r>
              <a:rPr lang="tr-TR" i="1">
                <a:latin typeface="Times New Roman" panose="02020603050405020304" pitchFamily="18" charset="0"/>
                <a:cs typeface="Times New Roman" panose="02020603050405020304" pitchFamily="18" charset="0"/>
              </a:rPr>
              <a:t>L = B ∙ L  </a:t>
            </a:r>
            <a:r>
              <a:rPr lang="tr-TR">
                <a:latin typeface="Arial" panose="020B0604020202020204" pitchFamily="34" charset="0"/>
                <a:cs typeface="Arial" panose="020B0604020202020204" pitchFamily="34" charset="0"/>
              </a:rPr>
              <a:t>U</a:t>
            </a:r>
            <a:r>
              <a:rPr lang="tr-TR" i="1">
                <a:latin typeface="Times New Roman" panose="02020603050405020304" pitchFamily="18" charset="0"/>
                <a:cs typeface="Times New Roman" panose="02020603050405020304" pitchFamily="18" charset="0"/>
              </a:rPr>
              <a:t>  C</a:t>
            </a:r>
          </a:p>
        </p:txBody>
      </p:sp>
      <p:pic>
        <p:nvPicPr>
          <p:cNvPr id="6" name="Resim 5"/>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28366" y="6142265"/>
            <a:ext cx="1486013" cy="665610"/>
          </a:xfrm>
          <a:prstGeom prst="rect">
            <a:avLst/>
          </a:prstGeom>
        </p:spPr>
      </p:pic>
      <p:sp>
        <p:nvSpPr>
          <p:cNvPr id="16" name="Oval 15"/>
          <p:cNvSpPr/>
          <p:nvPr/>
        </p:nvSpPr>
        <p:spPr>
          <a:xfrm>
            <a:off x="4813920" y="5256255"/>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Resim 18"/>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spTree>
    <p:extLst>
      <p:ext uri="{BB962C8B-B14F-4D97-AF65-F5344CB8AC3E}">
        <p14:creationId xmlns:p14="http://schemas.microsoft.com/office/powerpoint/2010/main" val="321241443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3"/>
          <a:stretch>
            <a:fillRect/>
          </a:stretch>
        </p:blipFill>
        <p:spPr>
          <a:xfrm>
            <a:off x="1698366" y="5884625"/>
            <a:ext cx="6668240" cy="510759"/>
          </a:xfrm>
          <a:prstGeom prst="rect">
            <a:avLst/>
          </a:prstGeom>
        </p:spPr>
      </p:pic>
      <p:pic>
        <p:nvPicPr>
          <p:cNvPr id="6" name="Resim 5"/>
          <p:cNvPicPr>
            <a:picLocks noChangeAspect="1"/>
          </p:cNvPicPr>
          <p:nvPr/>
        </p:nvPicPr>
        <p:blipFill>
          <a:blip r:embed="rId4"/>
          <a:stretch>
            <a:fillRect/>
          </a:stretch>
        </p:blipFill>
        <p:spPr>
          <a:xfrm>
            <a:off x="1641618" y="4632481"/>
            <a:ext cx="6781736" cy="1092455"/>
          </a:xfrm>
          <a:prstGeom prst="rect">
            <a:avLst/>
          </a:prstGeom>
        </p:spPr>
      </p:pic>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7" y="1493156"/>
            <a:ext cx="6734113" cy="457744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The simplified expression we have is dependent only on L</a:t>
            </a:r>
            <a:r>
              <a:rPr lang="en-US" sz="2000" err="1"/>
              <a:t>q</a:t>
            </a:r>
            <a:r>
              <a:rPr lang="tr-TR" sz="1400"/>
              <a:t>0</a:t>
            </a:r>
            <a:r>
              <a:rPr lang="en-US" sz="2800"/>
              <a:t>. Now we can get rid of all our unwanted variables by doing the recursive solution.</a:t>
            </a:r>
            <a:endParaRPr lang="tr-TR" sz="2800"/>
          </a:p>
        </p:txBody>
      </p:sp>
      <p:pic>
        <p:nvPicPr>
          <p:cNvPr id="2" name="Resim 1"/>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sp>
        <p:nvSpPr>
          <p:cNvPr id="9" name="Oval 8"/>
          <p:cNvSpPr/>
          <p:nvPr/>
        </p:nvSpPr>
        <p:spPr>
          <a:xfrm>
            <a:off x="6153150" y="5861735"/>
            <a:ext cx="1571625" cy="556537"/>
          </a:xfrm>
          <a:prstGeom prst="ellipse">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186025" y="5225353"/>
            <a:ext cx="702066" cy="556537"/>
          </a:xfrm>
          <a:prstGeom prst="ellipse">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805784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Resim 15"/>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98366" y="3814774"/>
            <a:ext cx="6385761" cy="1138721"/>
          </a:xfrm>
          <a:prstGeom prst="rect">
            <a:avLst/>
          </a:prstGeom>
        </p:spPr>
      </p:pic>
      <p:sp>
        <p:nvSpPr>
          <p:cNvPr id="7" name="Unvan 5"/>
          <p:cNvSpPr txBox="1"/>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 first example</a:t>
            </a:r>
          </a:p>
        </p:txBody>
      </p:sp>
      <p:sp>
        <p:nvSpPr>
          <p:cNvPr id="13" name="İçerik Yer Tutucusu 4"/>
          <p:cNvSpPr txBox="1"/>
          <p:nvPr/>
        </p:nvSpPr>
        <p:spPr>
          <a:xfrm>
            <a:off x="1593457" y="1493156"/>
            <a:ext cx="6734113" cy="457744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ct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ct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ct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ct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a:t>Finally, we obtained the regular expression of the DFA transition diagram on the right.</a:t>
            </a:r>
            <a:endParaRPr lang="tr-TR" sz="2800"/>
          </a:p>
        </p:txBody>
      </p:sp>
      <p:pic>
        <p:nvPicPr>
          <p:cNvPr id="2" name="Resim 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23031" y="999667"/>
            <a:ext cx="4568969" cy="5517245"/>
          </a:xfrm>
          <a:prstGeom prst="rect">
            <a:avLst/>
          </a:prstGeom>
        </p:spPr>
      </p:pic>
      <p:sp>
        <p:nvSpPr>
          <p:cNvPr id="11" name="Oval 10"/>
          <p:cNvSpPr/>
          <p:nvPr/>
        </p:nvSpPr>
        <p:spPr>
          <a:xfrm>
            <a:off x="1641618" y="3828394"/>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522481" y="4341249"/>
            <a:ext cx="702066" cy="556537"/>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Resim 17"/>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63297" y="5888906"/>
            <a:ext cx="2951018" cy="446809"/>
          </a:xfrm>
          <a:prstGeom prst="rect">
            <a:avLst/>
          </a:prstGeom>
        </p:spPr>
      </p:pic>
      <p:sp>
        <p:nvSpPr>
          <p:cNvPr id="20" name="Dikdörtgen 19"/>
          <p:cNvSpPr/>
          <p:nvPr/>
        </p:nvSpPr>
        <p:spPr>
          <a:xfrm>
            <a:off x="3152135" y="5046036"/>
            <a:ext cx="2340577" cy="596125"/>
          </a:xfrm>
          <a:prstGeom prst="rect">
            <a:avLst/>
          </a:prstGeom>
          <a:noFill/>
        </p:spPr>
        <p:style>
          <a:lnRef idx="2">
            <a:schemeClr val="dk1"/>
          </a:lnRef>
          <a:fillRef idx="1">
            <a:schemeClr val="lt1"/>
          </a:fillRef>
          <a:effectRef idx="0">
            <a:schemeClr val="dk1"/>
          </a:effectRef>
          <a:fontRef idx="minor">
            <a:schemeClr val="dk1"/>
          </a:fontRef>
        </p:style>
        <p:txBody>
          <a:bodyPr wrap="none">
            <a:spAutoFit/>
          </a:bodyPr>
          <a:lstStyle/>
          <a:p>
            <a:pPr>
              <a:lnSpc>
                <a:spcPct val="130000"/>
              </a:lnSpc>
            </a:pPr>
            <a:r>
              <a:rPr lang="tr-TR" sz="2800" i="1">
                <a:latin typeface="Times New Roman" panose="02020603050405020304" pitchFamily="18" charset="0"/>
                <a:cs typeface="Times New Roman" panose="02020603050405020304" pitchFamily="18" charset="0"/>
              </a:rPr>
              <a:t>L = B ∙ L  </a:t>
            </a:r>
            <a:r>
              <a:rPr lang="tr-TR" sz="2800">
                <a:latin typeface="Arial" panose="020B0604020202020204" pitchFamily="34" charset="0"/>
                <a:cs typeface="Arial" panose="020B0604020202020204" pitchFamily="34" charset="0"/>
              </a:rPr>
              <a:t>U</a:t>
            </a:r>
            <a:r>
              <a:rPr lang="tr-TR" sz="2800" i="1">
                <a:latin typeface="Times New Roman" panose="02020603050405020304" pitchFamily="18" charset="0"/>
                <a:cs typeface="Times New Roman" panose="02020603050405020304" pitchFamily="18" charset="0"/>
              </a:rPr>
              <a:t>  C</a:t>
            </a:r>
          </a:p>
        </p:txBody>
      </p:sp>
      <p:sp>
        <p:nvSpPr>
          <p:cNvPr id="21" name="Oval 20"/>
          <p:cNvSpPr/>
          <p:nvPr/>
        </p:nvSpPr>
        <p:spPr>
          <a:xfrm>
            <a:off x="2498271" y="5868506"/>
            <a:ext cx="4212771" cy="556537"/>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kdörtgen 21"/>
          <p:cNvSpPr/>
          <p:nvPr/>
        </p:nvSpPr>
        <p:spPr>
          <a:xfrm>
            <a:off x="5492712" y="5204002"/>
            <a:ext cx="3868367" cy="369332"/>
          </a:xfrm>
          <a:prstGeom prst="rect">
            <a:avLst/>
          </a:prstGeom>
        </p:spPr>
        <p:txBody>
          <a:bodyPr wrap="none">
            <a:spAutoFit/>
          </a:bodyPr>
          <a:lstStyle/>
          <a:p>
            <a:r>
              <a:rPr lang="en-US"/>
              <a:t>Remember our solution template</a:t>
            </a:r>
          </a:p>
        </p:txBody>
      </p:sp>
      <p:sp>
        <p:nvSpPr>
          <p:cNvPr id="23" name="Oval 22"/>
          <p:cNvSpPr/>
          <p:nvPr/>
        </p:nvSpPr>
        <p:spPr>
          <a:xfrm>
            <a:off x="4241795" y="5179840"/>
            <a:ext cx="375925" cy="44395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159755" y="5179840"/>
            <a:ext cx="375925" cy="44395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Yuvarlatılmış Dikdörtgen 27"/>
          <p:cNvSpPr/>
          <p:nvPr/>
        </p:nvSpPr>
        <p:spPr>
          <a:xfrm>
            <a:off x="3152135" y="4384931"/>
            <a:ext cx="2440945" cy="512855"/>
          </a:xfrm>
          <a:prstGeom prst="roundRect">
            <a:avLst/>
          </a:prstGeom>
          <a:solidFill>
            <a:srgbClr val="7030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Yuvarlatılmış Dikdörtgen 28"/>
          <p:cNvSpPr/>
          <p:nvPr/>
        </p:nvSpPr>
        <p:spPr>
          <a:xfrm>
            <a:off x="3789891" y="5109424"/>
            <a:ext cx="363009" cy="512855"/>
          </a:xfrm>
          <a:prstGeom prst="roundRect">
            <a:avLst/>
          </a:prstGeom>
          <a:solidFill>
            <a:srgbClr val="7030A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Yuvarlatılmış Dikdörtgen 29"/>
          <p:cNvSpPr/>
          <p:nvPr/>
        </p:nvSpPr>
        <p:spPr>
          <a:xfrm>
            <a:off x="6467559" y="4380633"/>
            <a:ext cx="363009" cy="512855"/>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Yuvarlatılmış Dikdörtgen 30"/>
          <p:cNvSpPr/>
          <p:nvPr/>
        </p:nvSpPr>
        <p:spPr>
          <a:xfrm>
            <a:off x="5088902" y="5112515"/>
            <a:ext cx="363009" cy="512855"/>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027678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3.1.32"/>
  <p:tag name="AS_OS" val="Microsoft Windows NT 10.0.19045.0"/>
  <p:tag name="AS_RELEASE_DATE" val="2023.09.14"/>
  <p:tag name="AS_TITLE" val="Aspose.Slides for .NET Standard 2.0"/>
  <p:tag name="AS_VERSION" val="23.9"/>
</p:tagLst>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Century Gothic" panose="020B0502020202020204"/>
        <a:cs typeface="Arial"/>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Century Gothic" panose="020B0502020202020204"/>
        <a:cs typeface="Arial"/>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928</TotalTime>
  <Words>944</Words>
  <Application>Microsoft Macintosh PowerPoint</Application>
  <PresentationFormat>Geniş ekran</PresentationFormat>
  <Paragraphs>93</Paragraphs>
  <Slides>14</Slides>
  <Notes>14</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14</vt:i4>
      </vt:variant>
    </vt:vector>
  </HeadingPairs>
  <TitlesOfParts>
    <vt:vector size="20" baseType="lpstr">
      <vt:lpstr>Arial</vt:lpstr>
      <vt:lpstr>Calibri</vt:lpstr>
      <vt:lpstr>Century Gothic</vt:lpstr>
      <vt:lpstr>Times New Roman</vt:lpstr>
      <vt:lpstr>Wingdings 3</vt:lpstr>
      <vt:lpstr>Duman</vt:lpstr>
      <vt:lpstr> Theory of Computation  Lesson 6</vt:lpstr>
      <vt:lpstr>DFA to RegEx</vt:lpstr>
      <vt:lpstr>DFA to RegEx</vt:lpstr>
      <vt:lpstr>DFA to RegEx</vt:lpstr>
      <vt:lpstr>DFA to RegEx</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59</cp:revision>
  <dcterms:created xsi:type="dcterms:W3CDTF">2022-09-29T06:50:07Z</dcterms:created>
  <dcterms:modified xsi:type="dcterms:W3CDTF">2025-11-21T06:45:08Z</dcterms:modified>
</cp:coreProperties>
</file>