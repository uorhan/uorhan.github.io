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17"/>
  </p:notesMasterIdLst>
  <p:sldIdLst>
    <p:sldId id="284" r:id="rId2"/>
    <p:sldId id="257" r:id="rId3"/>
    <p:sldId id="268" r:id="rId4"/>
    <p:sldId id="270" r:id="rId5"/>
    <p:sldId id="271" r:id="rId6"/>
    <p:sldId id="285" r:id="rId7"/>
    <p:sldId id="286" r:id="rId8"/>
    <p:sldId id="287" r:id="rId9"/>
    <p:sldId id="288" r:id="rId10"/>
    <p:sldId id="289" r:id="rId11"/>
    <p:sldId id="290" r:id="rId12"/>
    <p:sldId id="291" r:id="rId13"/>
    <p:sldId id="292" r:id="rId14"/>
    <p:sldId id="29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8" autoAdjust="0"/>
    <p:restoredTop sz="95801" autoAdjust="0"/>
  </p:normalViewPr>
  <p:slideViewPr>
    <p:cSldViewPr snapToGrid="0">
      <p:cViewPr varScale="1">
        <p:scale>
          <a:sx n="102" d="100"/>
          <a:sy n="102" d="100"/>
        </p:scale>
        <p:origin x="1416" y="1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This is the third lesson of Theory of Computation. Today we will learn how an NFA can be converted to a DFA. Let's start.</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2892103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Equivalence of DFA's and NFA's</a:t>
            </a:r>
          </a:p>
          <a:p>
            <a:r>
              <a:rPr lang="en-US" dirty="0"/>
              <a:t>You may have the impression that nondeterministic finite automata are more powerful than deterministic one. </a:t>
            </a:r>
          </a:p>
          <a:p>
            <a:r>
              <a:rPr lang="en-US" dirty="0"/>
              <a:t>In this section, we will show that this is not the case. At first, we should know that a language can be accepted by a DFA if and only if it can be accepted by an NFA.</a:t>
            </a:r>
          </a:p>
          <a:p>
            <a:r>
              <a:rPr lang="en-US" dirty="0"/>
              <a:t>What about converting a DFA to an NFA? Well, there is nothing to do, because a DFA is also an NFA.</a:t>
            </a:r>
          </a:p>
          <a:p>
            <a:endParaRPr lang="en-US"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3013543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Let N = (Capital Q, Capital sigma, delta, lowercase q, and capital F) be a nondeterministic finite automaton. There exists a deterministic finite automaton M, such that Language M = Language N.</a:t>
            </a:r>
          </a:p>
          <a:p>
            <a:endParaRPr lang="en-US" dirty="0"/>
          </a:p>
          <a:p>
            <a:r>
              <a:rPr lang="en-US" dirty="0"/>
              <a:t>Let the DFA M be defined as M = (Capital Q prime, Capital sigma, Delta prime, lowercase q prime, and Capital F prime), where the set Capital Q prime of states is found by Power set of Capital Q</a:t>
            </a:r>
          </a:p>
          <a:p>
            <a:r>
              <a:rPr lang="en-US" dirty="0"/>
              <a:t>the start state lowercase q prime is determined by considering epsilon transitions of lowercase q</a:t>
            </a:r>
          </a:p>
          <a:p>
            <a:r>
              <a:rPr lang="en-US" dirty="0"/>
              <a:t>all the elements of the set Capital Q prime that intersects with the set Capital F are assigned as the elements of the set Capital F prime.</a:t>
            </a:r>
          </a:p>
          <a:p>
            <a:r>
              <a:rPr lang="en-US" dirty="0"/>
              <a:t>But perhaps the most important and difficult one is the definition of the Delta prime transition function. We will learn it in detail on the example.</a:t>
            </a:r>
            <a:endParaRPr lang="tr-TR"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520687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In this example, we will convert the NFA problem for which both the transition diagram and the table of the Delta function are given to DFA. Notice that there is one epsilon transition, two missing transitions, and one extra transition in the question.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246469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First, set of states capital Q prime is easily determined by using power set of capital Q. Because of all subsets of capital Q, the number of elements in capital Q prime will be 8.</a:t>
            </a:r>
          </a:p>
          <a:p>
            <a:endParaRPr lang="en-US" dirty="0"/>
          </a:p>
          <a:p>
            <a:r>
              <a:rPr lang="en-US" dirty="0"/>
              <a:t>Writing the start state lowercase q prime is also simple. When we look at the first row of the table, we see an epsilon transition. It means that, lowercase q is the state one, but when we start the automaton, it can arbitrarily pass and start at the state two.</a:t>
            </a:r>
          </a:p>
          <a:p>
            <a:endParaRPr lang="en-US" dirty="0"/>
          </a:p>
          <a:p>
            <a:r>
              <a:rPr lang="en-US" dirty="0"/>
              <a:t>The third one is to find new accept states. Here we can again look at the table. We know that the state two is the only accept state in NFA. Therefore, in the set capital Q prime, we mark all new elements which contain 2 as the accept state.</a:t>
            </a:r>
          </a:p>
        </p:txBody>
      </p:sp>
      <p:sp>
        <p:nvSpPr>
          <p:cNvPr id="4" name="Slayt Numarası Yer Tutucusu 3"/>
          <p:cNvSpPr>
            <a:spLocks noGrp="1"/>
          </p:cNvSpPr>
          <p:nvPr>
            <p:ph type="sldNum" sz="quarter" idx="10"/>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1626531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Now, it is time to define delta prime. However, many of my former students in this course said me that the method used in our lecture notes was not easy. Since they suggest using the table method, we will learn it now.</a:t>
            </a:r>
          </a:p>
        </p:txBody>
      </p:sp>
      <p:sp>
        <p:nvSpPr>
          <p:cNvPr id="4" name="Slayt Numarası Yer Tutucusu 3"/>
          <p:cNvSpPr>
            <a:spLocks noGrp="1"/>
          </p:cNvSpPr>
          <p:nvPr>
            <p:ph type="sldNum" sz="quarter" idx="10"/>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3423606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First, write all the elements of the capital Q prime as the label of rows and input symbols as the label of columns.</a:t>
            </a:r>
          </a:p>
        </p:txBody>
      </p:sp>
      <p:sp>
        <p:nvSpPr>
          <p:cNvPr id="4" name="Slayt Numarası Yer Tutucusu 3"/>
          <p:cNvSpPr>
            <a:spLocks noGrp="1"/>
          </p:cNvSpPr>
          <p:nvPr>
            <p:ph type="sldNum" sz="quarter" idx="10"/>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2028355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The first row in the table should be filled with empty sets.</a:t>
            </a:r>
            <a:r>
              <a:rPr lang="tr-TR" dirty="0"/>
              <a:t> </a:t>
            </a:r>
            <a:r>
              <a:rPr lang="en-US" dirty="0"/>
              <a:t>It will be our black hole reject state. When you go there, never </a:t>
            </a:r>
            <a:r>
              <a:rPr lang="en-US" dirty="0" err="1"/>
              <a:t>gonna</a:t>
            </a:r>
            <a:r>
              <a:rPr lang="en-US" dirty="0"/>
              <a:t> escape.</a:t>
            </a:r>
          </a:p>
        </p:txBody>
      </p:sp>
      <p:sp>
        <p:nvSpPr>
          <p:cNvPr id="4" name="Slayt Numarası Yer Tutucusu 3"/>
          <p:cNvSpPr>
            <a:spLocks noGrp="1"/>
          </p:cNvSpPr>
          <p:nvPr>
            <p:ph type="sldNum" sz="quarter" idx="10"/>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2538461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Then import the partition matching the NFA into the table exactly.</a:t>
            </a:r>
            <a:r>
              <a:rPr lang="tr-TR" dirty="0"/>
              <a:t> </a:t>
            </a:r>
            <a:r>
              <a:rPr lang="en-US" dirty="0"/>
              <a:t>Ignore the epsilon column in this section.</a:t>
            </a:r>
          </a:p>
        </p:txBody>
      </p:sp>
      <p:sp>
        <p:nvSpPr>
          <p:cNvPr id="4" name="Slayt Numarası Yer Tutucusu 3"/>
          <p:cNvSpPr>
            <a:spLocks noGrp="1"/>
          </p:cNvSpPr>
          <p:nvPr>
            <p:ph type="sldNum" sz="quarter" idx="10"/>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1100600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Now, use the epsilon column and update the section you just filled out. Here, since there is a epsilon transition to state 2 from state 1, add 2 wherever you see 1 in the table on the right.</a:t>
            </a:r>
          </a:p>
        </p:txBody>
      </p:sp>
      <p:sp>
        <p:nvSpPr>
          <p:cNvPr id="4" name="Slayt Numarası Yer Tutucusu 3"/>
          <p:cNvSpPr>
            <a:spLocks noGrp="1"/>
          </p:cNvSpPr>
          <p:nvPr>
            <p:ph type="sldNum" sz="quarter" idx="10"/>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504042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Last, fill the empty elements by using union operation among the filled elements.</a:t>
            </a:r>
          </a:p>
        </p:txBody>
      </p:sp>
      <p:sp>
        <p:nvSpPr>
          <p:cNvPr id="4" name="Slayt Numarası Yer Tutucusu 3"/>
          <p:cNvSpPr>
            <a:spLocks noGrp="1"/>
          </p:cNvSpPr>
          <p:nvPr>
            <p:ph type="sldNum" sz="quarter" idx="10"/>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3060265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Now our DFA solution is ready. However, this may also include some unnecessary states. We can make an optimization so that we can delete unnecessary states. Starting from the initial state q', all possible states are marked. Unmarked ones are deleted.</a:t>
            </a:r>
          </a:p>
        </p:txBody>
      </p:sp>
      <p:sp>
        <p:nvSpPr>
          <p:cNvPr id="4" name="Slayt Numarası Yer Tutucusu 3"/>
          <p:cNvSpPr>
            <a:spLocks noGrp="1"/>
          </p:cNvSpPr>
          <p:nvPr>
            <p:ph type="sldNum" sz="quarter" idx="10"/>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1333158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Finally, we found a DFA with only four states. Now we can draw its transition diagram.</a:t>
            </a:r>
          </a:p>
        </p:txBody>
      </p:sp>
      <p:sp>
        <p:nvSpPr>
          <p:cNvPr id="4" name="Slayt Numarası Yer Tutucusu 3"/>
          <p:cNvSpPr>
            <a:spLocks noGrp="1"/>
          </p:cNvSpPr>
          <p:nvPr>
            <p:ph type="sldNum" sz="quarter" idx="10"/>
          </p:nvPr>
        </p:nvSpPr>
        <p:spPr/>
        <p:txBody>
          <a:bodyPr/>
          <a:lstStyle/>
          <a:p>
            <a:fld id="{6049F921-94E2-2146-8BC6-089D7989E1CD}" type="slidenum">
              <a:rPr lang="tr-TR" smtClean="0"/>
              <a:t>13</a:t>
            </a:fld>
            <a:endParaRPr lang="tr-TR"/>
          </a:p>
        </p:txBody>
      </p:sp>
    </p:spTree>
    <p:extLst>
      <p:ext uri="{BB962C8B-B14F-4D97-AF65-F5344CB8AC3E}">
        <p14:creationId xmlns:p14="http://schemas.microsoft.com/office/powerpoint/2010/main" val="3675476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Here, we have both the table and the transition diagram of the DFA solution.</a:t>
            </a:r>
          </a:p>
        </p:txBody>
      </p:sp>
      <p:sp>
        <p:nvSpPr>
          <p:cNvPr id="4" name="Slayt Numarası Yer Tutucusu 3"/>
          <p:cNvSpPr>
            <a:spLocks noGrp="1"/>
          </p:cNvSpPr>
          <p:nvPr>
            <p:ph type="sldNum" sz="quarter" idx="10"/>
          </p:nvPr>
        </p:nvSpPr>
        <p:spPr/>
        <p:txBody>
          <a:bodyPr/>
          <a:lstStyle/>
          <a:p>
            <a:fld id="{6049F921-94E2-2146-8BC6-089D7989E1CD}" type="slidenum">
              <a:rPr lang="tr-TR" smtClean="0"/>
              <a:t>14</a:t>
            </a:fld>
            <a:endParaRPr lang="tr-TR"/>
          </a:p>
        </p:txBody>
      </p:sp>
    </p:spTree>
    <p:extLst>
      <p:ext uri="{BB962C8B-B14F-4D97-AF65-F5344CB8AC3E}">
        <p14:creationId xmlns:p14="http://schemas.microsoft.com/office/powerpoint/2010/main" val="770089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15</a:t>
            </a:fld>
            <a:endParaRPr lang="tr-TR"/>
          </a:p>
        </p:txBody>
      </p:sp>
    </p:spTree>
    <p:extLst>
      <p:ext uri="{BB962C8B-B14F-4D97-AF65-F5344CB8AC3E}">
        <p14:creationId xmlns:p14="http://schemas.microsoft.com/office/powerpoint/2010/main" val="257865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dirty="0"/>
            </a:br>
            <a:r>
              <a:rPr lang="en-US" dirty="0"/>
              <a:t>Theory of Computation </a:t>
            </a:r>
            <a:br>
              <a:rPr lang="en-US" dirty="0"/>
            </a:br>
            <a:r>
              <a:rPr lang="en-US" sz="3600" dirty="0"/>
              <a:t>Lesson </a:t>
            </a:r>
            <a:r>
              <a:rPr lang="tr-TR" sz="3600" dirty="0"/>
              <a:t>3</a:t>
            </a:r>
            <a:endParaRPr lang="en-US" dirty="0"/>
          </a:p>
        </p:txBody>
      </p:sp>
      <p:sp>
        <p:nvSpPr>
          <p:cNvPr id="3" name="Alt Başlık 2"/>
          <p:cNvSpPr>
            <a:spLocks noGrp="1"/>
          </p:cNvSpPr>
          <p:nvPr>
            <p:ph type="subTitle" idx="1"/>
          </p:nvPr>
        </p:nvSpPr>
        <p:spPr/>
        <p:txBody>
          <a:bodyPr>
            <a:normAutofit/>
          </a:bodyPr>
          <a:lstStyle/>
          <a:p>
            <a:endParaRPr lang="tr-TR" sz="2800" dirty="0">
              <a:solidFill>
                <a:srgbClr val="FF0000"/>
              </a:solidFill>
            </a:endParaRPr>
          </a:p>
          <a:p>
            <a:r>
              <a:rPr lang="en-US" sz="2800" dirty="0">
                <a:solidFill>
                  <a:srgbClr val="FF0000"/>
                </a:solidFill>
              </a:rPr>
              <a:t>Converting</a:t>
            </a:r>
            <a:r>
              <a:rPr lang="tr-TR" sz="2800" dirty="0">
                <a:solidFill>
                  <a:srgbClr val="FF0000"/>
                </a:solidFill>
              </a:rPr>
              <a:t> a </a:t>
            </a:r>
            <a:r>
              <a:rPr lang="en-US" sz="2800" dirty="0">
                <a:solidFill>
                  <a:srgbClr val="FF0000"/>
                </a:solidFill>
              </a:rPr>
              <a:t>NFA to </a:t>
            </a:r>
            <a:r>
              <a:rPr lang="tr-TR" sz="2800" dirty="0">
                <a:solidFill>
                  <a:srgbClr val="FF0000"/>
                </a:solidFill>
              </a:rPr>
              <a:t>a </a:t>
            </a:r>
            <a:r>
              <a:rPr lang="en-US" sz="2800" dirty="0">
                <a:solidFill>
                  <a:srgbClr val="FF0000"/>
                </a:solidFill>
              </a:rPr>
              <a:t>DFA</a:t>
            </a:r>
          </a:p>
        </p:txBody>
      </p:sp>
      <p:pic>
        <p:nvPicPr>
          <p:cNvPr id="1026" name="Picture 2" descr="How does the epsilon conversion work for NFA to DFA conversion? - Stack  Overflow"/>
          <p:cNvPicPr>
            <a:picLocks noChangeAspect="1" noChangeArrowheads="1"/>
          </p:cNvPicPr>
          <p:nvPr/>
        </p:nvPicPr>
        <p:blipFill rotWithShape="1">
          <a:blip r:embed="rId3" cstate="email">
            <a:extLst>
              <a:ext uri="{28A0092B-C50C-407E-A947-70E740481C1C}">
                <a14:useLocalDpi xmlns:a14="http://schemas.microsoft.com/office/drawing/2010/main"/>
              </a:ext>
            </a:extLst>
          </a:blip>
          <a:stretch/>
        </p:blipFill>
        <p:spPr bwMode="auto">
          <a:xfrm>
            <a:off x="4578350" y="445590"/>
            <a:ext cx="3035300" cy="2133600"/>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57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88DE54-AC7F-ADCB-5473-D9FDA4977FFD}"/>
              </a:ext>
            </a:extLst>
          </p:cNvPr>
          <p:cNvSpPr>
            <a:spLocks noGrp="1"/>
          </p:cNvSpPr>
          <p:nvPr>
            <p:ph type="title"/>
          </p:nvPr>
        </p:nvSpPr>
        <p:spPr/>
        <p:txBody>
          <a:bodyPr/>
          <a:lstStyle/>
          <a:p>
            <a:r>
              <a:rPr lang="en-US" dirty="0"/>
              <a:t>Equivalence of DFAs and NFAs</a:t>
            </a:r>
          </a:p>
        </p:txBody>
      </p:sp>
      <p:sp>
        <p:nvSpPr>
          <p:cNvPr id="5" name="İçerik Yer Tutucusu 4"/>
          <p:cNvSpPr>
            <a:spLocks noGrp="1"/>
          </p:cNvSpPr>
          <p:nvPr>
            <p:ph idx="1"/>
          </p:nvPr>
        </p:nvSpPr>
        <p:spPr/>
        <p:txBody>
          <a:bodyPr>
            <a:normAutofit/>
          </a:bodyPr>
          <a:lstStyle/>
          <a:p>
            <a:r>
              <a:rPr lang="en-US" sz="2400" dirty="0"/>
              <a:t>You may have the impression that nondeterministic finite automata are more powerful than deterministic finite automata. </a:t>
            </a:r>
          </a:p>
          <a:p>
            <a:r>
              <a:rPr lang="en-US" sz="2400" dirty="0"/>
              <a:t>In this section, we will show that this is not the case. That is, we should know that a language can be accepted by a DFA if and only if it can be accepted by an NFA.</a:t>
            </a:r>
          </a:p>
          <a:p>
            <a:r>
              <a:rPr lang="en-US" sz="2400" dirty="0"/>
              <a:t>What about converting a DFA to an NFA? Well, there is nothing to do, because a DFA is also an NFA.</a:t>
            </a:r>
          </a:p>
        </p:txBody>
      </p:sp>
    </p:spTree>
    <p:extLst>
      <p:ext uri="{BB962C8B-B14F-4D97-AF65-F5344CB8AC3E}">
        <p14:creationId xmlns:p14="http://schemas.microsoft.com/office/powerpoint/2010/main" val="3323692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1582834" y="624110"/>
            <a:ext cx="8911687" cy="1280890"/>
          </a:xfrm>
        </p:spPr>
        <p:txBody>
          <a:bodyPr/>
          <a:lstStyle/>
          <a:p>
            <a:r>
              <a:rPr lang="en-US" dirty="0"/>
              <a:t>Converting a NFA to a DFA</a:t>
            </a:r>
          </a:p>
        </p:txBody>
      </p:sp>
      <p:pic>
        <p:nvPicPr>
          <p:cNvPr id="5" name="Resim 4"/>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2834" y="1352550"/>
            <a:ext cx="8801100" cy="1104900"/>
          </a:xfrm>
          <a:prstGeom prst="rect">
            <a:avLst/>
          </a:prstGeom>
        </p:spPr>
      </p:pic>
      <p:pic>
        <p:nvPicPr>
          <p:cNvPr id="7" name="Resim 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474595" y="2885831"/>
            <a:ext cx="7616536" cy="3972169"/>
          </a:xfrm>
          <a:prstGeom prst="rect">
            <a:avLst/>
          </a:prstGeom>
        </p:spPr>
      </p:pic>
      <p:pic>
        <p:nvPicPr>
          <p:cNvPr id="9" name="Resim 8"/>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747231" y="2553322"/>
            <a:ext cx="7128163" cy="332509"/>
          </a:xfrm>
          <a:prstGeom prst="rect">
            <a:avLst/>
          </a:prstGeom>
        </p:spPr>
      </p:pic>
    </p:spTree>
    <p:extLst>
      <p:ext uri="{BB962C8B-B14F-4D97-AF65-F5344CB8AC3E}">
        <p14:creationId xmlns:p14="http://schemas.microsoft.com/office/powerpoint/2010/main" val="130063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4" name="Resim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054657" y="2450748"/>
            <a:ext cx="3450489" cy="1880322"/>
          </a:xfrm>
          <a:prstGeom prst="rect">
            <a:avLst/>
          </a:prstGeom>
        </p:spPr>
      </p:pic>
      <p:pic>
        <p:nvPicPr>
          <p:cNvPr id="5" name="Resim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754167" y="1621054"/>
            <a:ext cx="4062979" cy="4424516"/>
          </a:xfrm>
          <a:prstGeom prst="rect">
            <a:avLst/>
          </a:prstGeom>
        </p:spPr>
      </p:pic>
    </p:spTree>
    <p:extLst>
      <p:ext uri="{BB962C8B-B14F-4D97-AF65-F5344CB8AC3E}">
        <p14:creationId xmlns:p14="http://schemas.microsoft.com/office/powerpoint/2010/main" val="2439083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First, set of states Q’ is easily determined by using power set of Q.</a:t>
            </a:r>
          </a:p>
          <a:p>
            <a:pPr marL="0" indent="0">
              <a:buNone/>
            </a:pPr>
            <a:endParaRPr lang="tr-TR" sz="2400" dirty="0"/>
          </a:p>
          <a:p>
            <a:pPr marL="0" indent="0">
              <a:buNone/>
            </a:pPr>
            <a:endParaRPr lang="en-US" sz="2400" dirty="0"/>
          </a:p>
          <a:p>
            <a:pPr marL="0" indent="0">
              <a:buNone/>
            </a:pPr>
            <a:r>
              <a:rPr lang="en-US" sz="2400" dirty="0"/>
              <a:t>Writing the start state q’ is also simple.</a:t>
            </a:r>
            <a:endParaRPr lang="tr-TR" sz="2400" dirty="0"/>
          </a:p>
          <a:p>
            <a:pPr marL="0" indent="0">
              <a:buNone/>
            </a:pPr>
            <a:endParaRPr lang="tr-TR" sz="2400" dirty="0"/>
          </a:p>
          <a:p>
            <a:pPr marL="0" indent="0">
              <a:buNone/>
            </a:pPr>
            <a:endParaRPr lang="tr-TR" sz="2400" dirty="0"/>
          </a:p>
          <a:p>
            <a:pPr marL="0" indent="0">
              <a:buNone/>
            </a:pPr>
            <a:r>
              <a:rPr lang="en-US" sz="2400" dirty="0"/>
              <a:t>The third one, to find new accept states.</a:t>
            </a:r>
          </a:p>
          <a:p>
            <a:pPr marL="0" indent="0">
              <a:buNone/>
            </a:pPr>
            <a:endParaRPr lang="tr-TR" sz="2400" dirty="0"/>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4" name="Resim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276520" y="2007033"/>
            <a:ext cx="5958349" cy="556556"/>
          </a:xfrm>
          <a:prstGeom prst="rect">
            <a:avLst/>
          </a:prstGeom>
        </p:spPr>
      </p:pic>
      <p:pic>
        <p:nvPicPr>
          <p:cNvPr id="7" name="Resim 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270554" y="3497546"/>
            <a:ext cx="3778748" cy="538843"/>
          </a:xfrm>
          <a:prstGeom prst="rect">
            <a:avLst/>
          </a:prstGeom>
        </p:spPr>
      </p:pic>
      <p:pic>
        <p:nvPicPr>
          <p:cNvPr id="8" name="Resim 7"/>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276520" y="4980212"/>
            <a:ext cx="3857652" cy="604157"/>
          </a:xfrm>
          <a:prstGeom prst="rect">
            <a:avLst/>
          </a:prstGeom>
        </p:spPr>
      </p:pic>
      <p:pic>
        <p:nvPicPr>
          <p:cNvPr id="9" name="Resim 8"/>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8678377" y="2502445"/>
            <a:ext cx="3450489" cy="1880322"/>
          </a:xfrm>
          <a:prstGeom prst="rect">
            <a:avLst/>
          </a:prstGeom>
        </p:spPr>
      </p:pic>
    </p:spTree>
    <p:extLst>
      <p:ext uri="{BB962C8B-B14F-4D97-AF65-F5344CB8AC3E}">
        <p14:creationId xmlns:p14="http://schemas.microsoft.com/office/powerpoint/2010/main" val="2810475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Now, it is time to define </a:t>
            </a:r>
            <a:r>
              <a:rPr lang="el-GR" sz="2400" dirty="0"/>
              <a:t>δ</a:t>
            </a:r>
            <a:r>
              <a:rPr lang="tr-TR" sz="2400" dirty="0"/>
              <a:t>’</a:t>
            </a:r>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2" name="Resim 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664074" y="2207429"/>
            <a:ext cx="5545394" cy="3156155"/>
          </a:xfrm>
          <a:prstGeom prst="rect">
            <a:avLst/>
          </a:prstGeom>
        </p:spPr>
      </p:pic>
    </p:spTree>
    <p:extLst>
      <p:ext uri="{BB962C8B-B14F-4D97-AF65-F5344CB8AC3E}">
        <p14:creationId xmlns:p14="http://schemas.microsoft.com/office/powerpoint/2010/main" val="4248446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r>
              <a:rPr lang="en-US" sz="2400" dirty="0"/>
              <a:t>First, write all the elements of the Q</a:t>
            </a:r>
            <a:r>
              <a:rPr lang="tr-TR" sz="2400" dirty="0"/>
              <a:t>’</a:t>
            </a:r>
            <a:r>
              <a:rPr lang="en-US" sz="2400" dirty="0"/>
              <a:t> as the label</a:t>
            </a:r>
            <a:r>
              <a:rPr lang="tr-TR" sz="2400" dirty="0"/>
              <a:t>s</a:t>
            </a:r>
            <a:r>
              <a:rPr lang="en-US" sz="2400" dirty="0"/>
              <a:t> of rows and </a:t>
            </a:r>
            <a:r>
              <a:rPr lang="el-GR" sz="2400" dirty="0"/>
              <a:t>Σ</a:t>
            </a:r>
            <a:r>
              <a:rPr lang="tr-TR" sz="2400" dirty="0"/>
              <a:t> </a:t>
            </a:r>
            <a:r>
              <a:rPr lang="en-US" sz="2400" dirty="0"/>
              <a:t>as the label of columns.</a:t>
            </a:r>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9" name="Resim 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93459" y="2600780"/>
            <a:ext cx="3450489" cy="1880322"/>
          </a:xfrm>
          <a:prstGeom prst="rect">
            <a:avLst/>
          </a:prstGeom>
        </p:spPr>
      </p:pic>
      <p:graphicFrame>
        <p:nvGraphicFramePr>
          <p:cNvPr id="2" name="Tablo 1"/>
          <p:cNvGraphicFramePr>
            <a:graphicFrameLocks noGrp="1"/>
          </p:cNvGraphicFramePr>
          <p:nvPr>
            <p:extLst>
              <p:ext uri="{D42A27DB-BD31-4B8C-83A1-F6EECF244321}">
                <p14:modId xmlns:p14="http://schemas.microsoft.com/office/powerpoint/2010/main" val="1504713635"/>
              </p:ext>
            </p:extLst>
          </p:nvPr>
        </p:nvGraphicFramePr>
        <p:xfrm>
          <a:off x="6937136" y="2116726"/>
          <a:ext cx="3458529" cy="41148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a:t>
                      </a:r>
                      <a:endParaRPr lang="en-US" sz="2400" b="1"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42226640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{2}</a:t>
                      </a:r>
                      <a:endParaRPr lang="en-US" sz="2400" b="1"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276703521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{3}</a:t>
                      </a:r>
                      <a:endParaRPr lang="en-US" sz="2400" b="1"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2203242962"/>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25987680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761736566"/>
                  </a:ext>
                </a:extLst>
              </a:tr>
              <a:tr h="370840">
                <a:tc>
                  <a:txBody>
                    <a:bodyPr/>
                    <a:lstStyle/>
                    <a:p>
                      <a:pPr algn="ctr"/>
                      <a:r>
                        <a:rPr lang="tr-TR" sz="2400" b="1" dirty="0"/>
                        <a:t>{2,3}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3686717110"/>
                  </a:ext>
                </a:extLst>
              </a:tr>
            </a:tbl>
          </a:graphicData>
        </a:graphic>
      </p:graphicFrame>
    </p:spTree>
    <p:extLst>
      <p:ext uri="{BB962C8B-B14F-4D97-AF65-F5344CB8AC3E}">
        <p14:creationId xmlns:p14="http://schemas.microsoft.com/office/powerpoint/2010/main" val="2775097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The first row in the table should be filled with empty sets. It will be our black hole reject state.</a:t>
            </a:r>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9" name="Resim 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93459" y="2600780"/>
            <a:ext cx="3450489" cy="1880322"/>
          </a:xfrm>
          <a:prstGeom prst="rect">
            <a:avLst/>
          </a:prstGeom>
        </p:spPr>
      </p:pic>
      <p:graphicFrame>
        <p:nvGraphicFramePr>
          <p:cNvPr id="2" name="Tablo 1"/>
          <p:cNvGraphicFramePr>
            <a:graphicFrameLocks noGrp="1"/>
          </p:cNvGraphicFramePr>
          <p:nvPr>
            <p:extLst>
              <p:ext uri="{D42A27DB-BD31-4B8C-83A1-F6EECF244321}">
                <p14:modId xmlns:p14="http://schemas.microsoft.com/office/powerpoint/2010/main" val="2976377864"/>
              </p:ext>
            </p:extLst>
          </p:nvPr>
        </p:nvGraphicFramePr>
        <p:xfrm>
          <a:off x="6937136" y="2116726"/>
          <a:ext cx="3458529" cy="41148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a:t>
                      </a:r>
                      <a:endParaRPr lang="en-US" sz="2400" b="1"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42226640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{2}</a:t>
                      </a:r>
                      <a:endParaRPr lang="en-US" sz="2400" b="1"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276703521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{3}</a:t>
                      </a:r>
                      <a:endParaRPr lang="en-US" sz="2400" b="1" dirty="0"/>
                    </a:p>
                  </a:txBody>
                  <a:tcPr/>
                </a:tc>
                <a:tc>
                  <a:txBody>
                    <a:bodyPr/>
                    <a:lstStyle/>
                    <a:p>
                      <a:pPr algn="ctr"/>
                      <a:endParaRPr lang="en-US" sz="2400" dirty="0"/>
                    </a:p>
                  </a:txBody>
                  <a:tcPr/>
                </a:tc>
                <a:tc>
                  <a:txBody>
                    <a:bodyPr/>
                    <a:lstStyle/>
                    <a:p>
                      <a:pPr algn="ctr"/>
                      <a:endParaRPr lang="en-US" sz="2400" dirty="0"/>
                    </a:p>
                  </a:txBody>
                  <a:tcPr/>
                </a:tc>
                <a:extLst>
                  <a:ext uri="{0D108BD9-81ED-4DB2-BD59-A6C34878D82A}">
                    <a16:rowId xmlns:a16="http://schemas.microsoft.com/office/drawing/2014/main" val="2203242962"/>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25987680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761736566"/>
                  </a:ext>
                </a:extLst>
              </a:tr>
              <a:tr h="370840">
                <a:tc>
                  <a:txBody>
                    <a:bodyPr/>
                    <a:lstStyle/>
                    <a:p>
                      <a:pPr algn="ctr"/>
                      <a:r>
                        <a:rPr lang="tr-TR" sz="2400" b="1" dirty="0"/>
                        <a:t>{2,3}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3686717110"/>
                  </a:ext>
                </a:extLst>
              </a:tr>
            </a:tbl>
          </a:graphicData>
        </a:graphic>
      </p:graphicFrame>
    </p:spTree>
    <p:extLst>
      <p:ext uri="{BB962C8B-B14F-4D97-AF65-F5344CB8AC3E}">
        <p14:creationId xmlns:p14="http://schemas.microsoft.com/office/powerpoint/2010/main" val="342157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Then import the partition matching the NFA into the table exactly.</a:t>
            </a:r>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9" name="Resim 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93459" y="2600780"/>
            <a:ext cx="3450489" cy="1880322"/>
          </a:xfrm>
          <a:prstGeom prst="rect">
            <a:avLst/>
          </a:prstGeom>
        </p:spPr>
      </p:pic>
      <p:graphicFrame>
        <p:nvGraphicFramePr>
          <p:cNvPr id="2" name="Tablo 1"/>
          <p:cNvGraphicFramePr>
            <a:graphicFrameLocks noGrp="1"/>
          </p:cNvGraphicFramePr>
          <p:nvPr>
            <p:extLst>
              <p:ext uri="{D42A27DB-BD31-4B8C-83A1-F6EECF244321}">
                <p14:modId xmlns:p14="http://schemas.microsoft.com/office/powerpoint/2010/main" val="2320146282"/>
              </p:ext>
            </p:extLst>
          </p:nvPr>
        </p:nvGraphicFramePr>
        <p:xfrm>
          <a:off x="6937136" y="2116726"/>
          <a:ext cx="3458529" cy="41148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a:t>
                      </a:r>
                      <a:endParaRPr lang="en-US" sz="2400" b="1" dirty="0"/>
                    </a:p>
                  </a:txBody>
                  <a:tcPr/>
                </a:tc>
                <a:tc>
                  <a:txBody>
                    <a:bodyPr/>
                    <a:lstStyle/>
                    <a:p>
                      <a:pPr algn="ctr"/>
                      <a:r>
                        <a:rPr lang="tr-TR" sz="2400" dirty="0"/>
                        <a:t>{3}</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42226640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{2}</a:t>
                      </a:r>
                      <a:endParaRPr lang="en-US" sz="2400" b="1" dirty="0"/>
                    </a:p>
                  </a:txBody>
                  <a:tcPr/>
                </a:tc>
                <a:tc>
                  <a:txBody>
                    <a:bodyPr/>
                    <a:lstStyle/>
                    <a:p>
                      <a:pPr algn="ctr"/>
                      <a:r>
                        <a:rPr lang="tr-TR" sz="2400" dirty="0"/>
                        <a:t>{1}</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276703521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{3}</a:t>
                      </a:r>
                      <a:endParaRPr lang="en-US" sz="2400" b="1" dirty="0"/>
                    </a:p>
                  </a:txBody>
                  <a:tcPr/>
                </a:tc>
                <a:tc>
                  <a:txBody>
                    <a:bodyPr/>
                    <a:lstStyle/>
                    <a:p>
                      <a:pPr algn="ctr"/>
                      <a:r>
                        <a:rPr lang="tr-TR" sz="2400" dirty="0"/>
                        <a:t>{2}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2203242962"/>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25987680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761736566"/>
                  </a:ext>
                </a:extLst>
              </a:tr>
              <a:tr h="370840">
                <a:tc>
                  <a:txBody>
                    <a:bodyPr/>
                    <a:lstStyle/>
                    <a:p>
                      <a:pPr algn="ctr"/>
                      <a:r>
                        <a:rPr lang="tr-TR" sz="2400" b="1" dirty="0"/>
                        <a:t>{2,3}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3686717110"/>
                  </a:ext>
                </a:extLst>
              </a:tr>
            </a:tbl>
          </a:graphicData>
        </a:graphic>
      </p:graphicFrame>
      <p:sp>
        <p:nvSpPr>
          <p:cNvPr id="4" name="Oval 3"/>
          <p:cNvSpPr/>
          <p:nvPr/>
        </p:nvSpPr>
        <p:spPr>
          <a:xfrm>
            <a:off x="1413054" y="2334986"/>
            <a:ext cx="2935597" cy="2481944"/>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Oval 7"/>
          <p:cNvSpPr/>
          <p:nvPr/>
        </p:nvSpPr>
        <p:spPr>
          <a:xfrm>
            <a:off x="6498770" y="2922816"/>
            <a:ext cx="4751615" cy="1607273"/>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Sağ Ok 4"/>
          <p:cNvSpPr/>
          <p:nvPr/>
        </p:nvSpPr>
        <p:spPr>
          <a:xfrm>
            <a:off x="5404757" y="3412671"/>
            <a:ext cx="816429" cy="37555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7914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Now, use the </a:t>
            </a:r>
            <a:r>
              <a:rPr lang="el-GR" sz="2400" dirty="0"/>
              <a:t>ε</a:t>
            </a:r>
            <a:r>
              <a:rPr lang="en-US" sz="2400" dirty="0"/>
              <a:t> column and update the section you just filled out.</a:t>
            </a:r>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9" name="Resim 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93459" y="2600780"/>
            <a:ext cx="3450489" cy="1880322"/>
          </a:xfrm>
          <a:prstGeom prst="rect">
            <a:avLst/>
          </a:prstGeom>
        </p:spPr>
      </p:pic>
      <p:graphicFrame>
        <p:nvGraphicFramePr>
          <p:cNvPr id="2" name="Tablo 1"/>
          <p:cNvGraphicFramePr>
            <a:graphicFrameLocks noGrp="1"/>
          </p:cNvGraphicFramePr>
          <p:nvPr>
            <p:extLst>
              <p:ext uri="{D42A27DB-BD31-4B8C-83A1-F6EECF244321}">
                <p14:modId xmlns:p14="http://schemas.microsoft.com/office/powerpoint/2010/main" val="1986386454"/>
              </p:ext>
            </p:extLst>
          </p:nvPr>
        </p:nvGraphicFramePr>
        <p:xfrm>
          <a:off x="6937136" y="2116726"/>
          <a:ext cx="3458529" cy="41148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a:t>
                      </a:r>
                      <a:endParaRPr lang="en-US" sz="2400" b="1" dirty="0"/>
                    </a:p>
                  </a:txBody>
                  <a:tcPr/>
                </a:tc>
                <a:tc>
                  <a:txBody>
                    <a:bodyPr/>
                    <a:lstStyle/>
                    <a:p>
                      <a:pPr algn="ctr"/>
                      <a:r>
                        <a:rPr lang="tr-TR" sz="2400" dirty="0"/>
                        <a:t>{3}</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42226640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{2}</a:t>
                      </a:r>
                      <a:endParaRPr lang="en-US" sz="2400" b="1" dirty="0"/>
                    </a:p>
                  </a:txBody>
                  <a:tcPr/>
                </a:tc>
                <a:tc>
                  <a:txBody>
                    <a:bodyPr/>
                    <a:lstStyle/>
                    <a:p>
                      <a:pPr algn="ctr"/>
                      <a:r>
                        <a:rPr lang="tr-TR" sz="2400" dirty="0"/>
                        <a:t>{1,2}</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276703521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{3}</a:t>
                      </a:r>
                      <a:endParaRPr lang="en-US" sz="2400" b="1" dirty="0"/>
                    </a:p>
                  </a:txBody>
                  <a:tcPr/>
                </a:tc>
                <a:tc>
                  <a:txBody>
                    <a:bodyPr/>
                    <a:lstStyle/>
                    <a:p>
                      <a:pPr algn="ctr"/>
                      <a:r>
                        <a:rPr lang="tr-TR" sz="2400" dirty="0"/>
                        <a:t>{2}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2203242962"/>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25987680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2761736566"/>
                  </a:ext>
                </a:extLst>
              </a:tr>
              <a:tr h="370840">
                <a:tc>
                  <a:txBody>
                    <a:bodyPr/>
                    <a:lstStyle/>
                    <a:p>
                      <a:pPr algn="ctr"/>
                      <a:r>
                        <a:rPr lang="tr-TR" sz="2400" b="1" dirty="0"/>
                        <a:t>{2,3}</a:t>
                      </a:r>
                      <a:endParaRPr lang="en-US" sz="2400" b="1" dirty="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3686717110"/>
                  </a:ext>
                </a:extLst>
              </a:tr>
            </a:tbl>
          </a:graphicData>
        </a:graphic>
      </p:graphicFrame>
      <p:sp>
        <p:nvSpPr>
          <p:cNvPr id="4" name="Oval 3"/>
          <p:cNvSpPr/>
          <p:nvPr/>
        </p:nvSpPr>
        <p:spPr>
          <a:xfrm>
            <a:off x="4000498" y="2359478"/>
            <a:ext cx="1206732" cy="2481944"/>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Oval 7"/>
          <p:cNvSpPr/>
          <p:nvPr/>
        </p:nvSpPr>
        <p:spPr>
          <a:xfrm>
            <a:off x="6498770" y="2922816"/>
            <a:ext cx="4751615" cy="1607273"/>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Sağ Ok 4"/>
          <p:cNvSpPr/>
          <p:nvPr/>
        </p:nvSpPr>
        <p:spPr>
          <a:xfrm>
            <a:off x="5404757" y="3412671"/>
            <a:ext cx="816429" cy="37555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9857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Last, fill the empty elements by using union operation among the filled elements.</a:t>
            </a:r>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pic>
        <p:nvPicPr>
          <p:cNvPr id="9" name="Resim 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93459" y="2600780"/>
            <a:ext cx="3450489" cy="1880322"/>
          </a:xfrm>
          <a:prstGeom prst="rect">
            <a:avLst/>
          </a:prstGeom>
        </p:spPr>
      </p:pic>
      <p:graphicFrame>
        <p:nvGraphicFramePr>
          <p:cNvPr id="2" name="Tablo 1"/>
          <p:cNvGraphicFramePr>
            <a:graphicFrameLocks noGrp="1"/>
          </p:cNvGraphicFramePr>
          <p:nvPr>
            <p:extLst>
              <p:ext uri="{D42A27DB-BD31-4B8C-83A1-F6EECF244321}">
                <p14:modId xmlns:p14="http://schemas.microsoft.com/office/powerpoint/2010/main" val="2531533159"/>
              </p:ext>
            </p:extLst>
          </p:nvPr>
        </p:nvGraphicFramePr>
        <p:xfrm>
          <a:off x="6937136" y="2116726"/>
          <a:ext cx="3458529" cy="41148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a:t>
                      </a:r>
                      <a:endParaRPr lang="en-US" sz="2400" b="1" dirty="0"/>
                    </a:p>
                  </a:txBody>
                  <a:tcPr/>
                </a:tc>
                <a:tc>
                  <a:txBody>
                    <a:bodyPr/>
                    <a:lstStyle/>
                    <a:p>
                      <a:pPr algn="ctr"/>
                      <a:r>
                        <a:rPr lang="tr-TR" sz="2400" dirty="0"/>
                        <a:t>{3}</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42226640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{2}</a:t>
                      </a:r>
                      <a:endParaRPr lang="en-US" sz="2400" b="1" dirty="0"/>
                    </a:p>
                  </a:txBody>
                  <a:tcPr/>
                </a:tc>
                <a:tc>
                  <a:txBody>
                    <a:bodyPr/>
                    <a:lstStyle/>
                    <a:p>
                      <a:pPr algn="ctr"/>
                      <a:r>
                        <a:rPr lang="tr-TR" sz="2400" dirty="0"/>
                        <a:t>{1,2}</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276703521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{3}</a:t>
                      </a:r>
                      <a:endParaRPr lang="en-US" sz="2400" b="1" dirty="0"/>
                    </a:p>
                  </a:txBody>
                  <a:tcPr/>
                </a:tc>
                <a:tc>
                  <a:txBody>
                    <a:bodyPr/>
                    <a:lstStyle/>
                    <a:p>
                      <a:pPr algn="ctr"/>
                      <a:r>
                        <a:rPr lang="tr-TR" sz="2400" dirty="0"/>
                        <a:t>{2}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2203242962"/>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225987680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{1,3}</a:t>
                      </a:r>
                      <a:endParaRPr lang="en-US" sz="2400" b="1" dirty="0"/>
                    </a:p>
                  </a:txBody>
                  <a:tcPr/>
                </a:tc>
                <a:tc>
                  <a:txBody>
                    <a:bodyPr/>
                    <a:lstStyle/>
                    <a:p>
                      <a:pPr algn="ctr"/>
                      <a:r>
                        <a:rPr lang="tr-TR" sz="2400" dirty="0"/>
                        <a:t>{2,3}</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2761736566"/>
                  </a:ext>
                </a:extLst>
              </a:tr>
              <a:tr h="370840">
                <a:tc>
                  <a:txBody>
                    <a:bodyPr/>
                    <a:lstStyle/>
                    <a:p>
                      <a:pPr algn="ctr"/>
                      <a:r>
                        <a:rPr lang="tr-TR" sz="2400" b="1" dirty="0"/>
                        <a:t>{2,3}</a:t>
                      </a:r>
                      <a:endParaRPr lang="en-US" sz="2400" b="1" dirty="0"/>
                    </a:p>
                  </a:txBody>
                  <a:tcPr/>
                </a:tc>
                <a:tc>
                  <a:txBody>
                    <a:bodyPr/>
                    <a:lstStyle/>
                    <a:p>
                      <a:pPr algn="ctr"/>
                      <a:r>
                        <a:rPr lang="tr-TR" sz="2400" dirty="0"/>
                        <a:t>{1,2}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{2,3}</a:t>
                      </a:r>
                      <a:endParaRPr lang="en-US" sz="2400" dirty="0"/>
                    </a:p>
                  </a:txBody>
                  <a:tcPr/>
                </a:tc>
                <a:extLst>
                  <a:ext uri="{0D108BD9-81ED-4DB2-BD59-A6C34878D82A}">
                    <a16:rowId xmlns:a16="http://schemas.microsoft.com/office/drawing/2014/main" val="3686717110"/>
                  </a:ext>
                </a:extLst>
              </a:tr>
            </a:tbl>
          </a:graphicData>
        </a:graphic>
      </p:graphicFrame>
      <p:sp>
        <p:nvSpPr>
          <p:cNvPr id="8" name="Oval 7"/>
          <p:cNvSpPr/>
          <p:nvPr/>
        </p:nvSpPr>
        <p:spPr>
          <a:xfrm>
            <a:off x="6498770" y="3004457"/>
            <a:ext cx="4751615" cy="1476646"/>
          </a:xfrm>
          <a:prstGeom prst="ellipse">
            <a:avLst/>
          </a:prstGeom>
          <a:noFill/>
          <a:ln w="38100">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Sağa Bükülü Ok 6"/>
          <p:cNvSpPr/>
          <p:nvPr/>
        </p:nvSpPr>
        <p:spPr>
          <a:xfrm>
            <a:off x="5482314" y="3951514"/>
            <a:ext cx="996043" cy="1502229"/>
          </a:xfrm>
          <a:prstGeom prst="curved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11"/>
          <p:cNvSpPr/>
          <p:nvPr/>
        </p:nvSpPr>
        <p:spPr>
          <a:xfrm>
            <a:off x="6522615" y="4343400"/>
            <a:ext cx="4751615" cy="2128703"/>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0921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Now our DFA solution is ready. However, this may also include some unnecessary states. We can make an optimization so that we can delete unnecessary states.</a:t>
            </a:r>
            <a:endParaRPr lang="tr-TR" sz="2400" dirty="0"/>
          </a:p>
          <a:p>
            <a:pPr marL="0" indent="0">
              <a:buNone/>
            </a:pPr>
            <a:endParaRPr lang="tr-TR" sz="2400" dirty="0"/>
          </a:p>
          <a:p>
            <a:pPr marL="0" indent="0">
              <a:buNone/>
            </a:pPr>
            <a:endParaRPr lang="tr-TR" sz="2000" dirty="0"/>
          </a:p>
          <a:p>
            <a:pPr marL="0" indent="0">
              <a:buNone/>
            </a:pPr>
            <a:endParaRPr lang="tr-TR" sz="2000" dirty="0"/>
          </a:p>
          <a:p>
            <a:pPr marL="0" indent="0">
              <a:buNone/>
            </a:pPr>
            <a:endParaRPr lang="tr-TR" sz="2000" dirty="0"/>
          </a:p>
          <a:p>
            <a:pPr marL="0" indent="0">
              <a:buNone/>
            </a:pPr>
            <a:r>
              <a:rPr lang="tr-TR" sz="2400" dirty="0"/>
              <a:t>q'={1,2}</a:t>
            </a:r>
            <a:endParaRPr lang="en-US" sz="2400" dirty="0"/>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graphicFrame>
        <p:nvGraphicFramePr>
          <p:cNvPr id="2" name="Tablo 1"/>
          <p:cNvGraphicFramePr>
            <a:graphicFrameLocks noGrp="1"/>
          </p:cNvGraphicFramePr>
          <p:nvPr>
            <p:extLst>
              <p:ext uri="{D42A27DB-BD31-4B8C-83A1-F6EECF244321}">
                <p14:modId xmlns:p14="http://schemas.microsoft.com/office/powerpoint/2010/main" val="2455105635"/>
              </p:ext>
            </p:extLst>
          </p:nvPr>
        </p:nvGraphicFramePr>
        <p:xfrm>
          <a:off x="6937136" y="2116726"/>
          <a:ext cx="3458529" cy="41148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a:t>
                      </a:r>
                      <a:endParaRPr lang="en-US" sz="2400" b="1" dirty="0"/>
                    </a:p>
                  </a:txBody>
                  <a:tcPr/>
                </a:tc>
                <a:tc>
                  <a:txBody>
                    <a:bodyPr/>
                    <a:lstStyle/>
                    <a:p>
                      <a:pPr algn="ctr"/>
                      <a:r>
                        <a:rPr lang="tr-TR" sz="2400" dirty="0"/>
                        <a:t>{3}</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42226640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{2}</a:t>
                      </a:r>
                      <a:endParaRPr lang="en-US" sz="2400" b="1" dirty="0"/>
                    </a:p>
                  </a:txBody>
                  <a:tcPr/>
                </a:tc>
                <a:tc>
                  <a:txBody>
                    <a:bodyPr/>
                    <a:lstStyle/>
                    <a:p>
                      <a:pPr algn="ctr"/>
                      <a:r>
                        <a:rPr lang="tr-TR" sz="2400" dirty="0"/>
                        <a:t>{1,2}</a:t>
                      </a:r>
                      <a:endParaRPr lang="en-US" sz="2400" dirty="0"/>
                    </a:p>
                  </a:txBody>
                  <a:tcPr/>
                </a:tc>
                <a:tc>
                  <a:txBody>
                    <a:bodyPr/>
                    <a:lstStyle/>
                    <a:p>
                      <a:pPr algn="ctr"/>
                      <a:r>
                        <a:rPr lang="en-US" sz="2400" dirty="0"/>
                        <a:t>Ø</a:t>
                      </a:r>
                    </a:p>
                  </a:txBody>
                  <a:tcPr/>
                </a:tc>
                <a:extLst>
                  <a:ext uri="{0D108BD9-81ED-4DB2-BD59-A6C34878D82A}">
                    <a16:rowId xmlns:a16="http://schemas.microsoft.com/office/drawing/2014/main" val="276703521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{3}</a:t>
                      </a:r>
                      <a:endParaRPr lang="en-US" sz="2400" b="1" dirty="0"/>
                    </a:p>
                  </a:txBody>
                  <a:tcPr/>
                </a:tc>
                <a:tc>
                  <a:txBody>
                    <a:bodyPr/>
                    <a:lstStyle/>
                    <a:p>
                      <a:pPr algn="ctr"/>
                      <a:r>
                        <a:rPr lang="tr-TR" sz="2400" dirty="0"/>
                        <a:t>{2}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2203242962"/>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225987680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{1,3}</a:t>
                      </a:r>
                      <a:endParaRPr lang="en-US" sz="2400" b="1" dirty="0"/>
                    </a:p>
                  </a:txBody>
                  <a:tcPr/>
                </a:tc>
                <a:tc>
                  <a:txBody>
                    <a:bodyPr/>
                    <a:lstStyle/>
                    <a:p>
                      <a:pPr algn="ctr"/>
                      <a:r>
                        <a:rPr lang="tr-TR" sz="2400" dirty="0"/>
                        <a:t>{2,3}</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2761736566"/>
                  </a:ext>
                </a:extLst>
              </a:tr>
              <a:tr h="370840">
                <a:tc>
                  <a:txBody>
                    <a:bodyPr/>
                    <a:lstStyle/>
                    <a:p>
                      <a:pPr algn="ctr"/>
                      <a:r>
                        <a:rPr lang="tr-TR" sz="2400" b="1" dirty="0"/>
                        <a:t>{2,3}</a:t>
                      </a:r>
                      <a:endParaRPr lang="en-US" sz="2400" b="1" dirty="0"/>
                    </a:p>
                  </a:txBody>
                  <a:tcPr/>
                </a:tc>
                <a:tc>
                  <a:txBody>
                    <a:bodyPr/>
                    <a:lstStyle/>
                    <a:p>
                      <a:pPr algn="ctr"/>
                      <a:r>
                        <a:rPr lang="tr-TR" sz="2400" dirty="0"/>
                        <a:t>{1,2}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{2,3}</a:t>
                      </a:r>
                      <a:endParaRPr lang="en-US" sz="2400" dirty="0"/>
                    </a:p>
                  </a:txBody>
                  <a:tcPr/>
                </a:tc>
                <a:extLst>
                  <a:ext uri="{0D108BD9-81ED-4DB2-BD59-A6C34878D82A}">
                    <a16:rowId xmlns:a16="http://schemas.microsoft.com/office/drawing/2014/main" val="3686717110"/>
                  </a:ext>
                </a:extLst>
              </a:tr>
            </a:tbl>
          </a:graphicData>
        </a:graphic>
      </p:graphicFrame>
      <p:sp>
        <p:nvSpPr>
          <p:cNvPr id="11" name="Sağ Ok 10"/>
          <p:cNvSpPr/>
          <p:nvPr/>
        </p:nvSpPr>
        <p:spPr>
          <a:xfrm>
            <a:off x="3071826" y="4419058"/>
            <a:ext cx="3751472" cy="37555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6937136" y="4419058"/>
            <a:ext cx="1145508" cy="402230"/>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59036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9858312" cy="4301671"/>
          </a:xfrm>
        </p:spPr>
        <p:txBody>
          <a:bodyPr anchor="t">
            <a:noAutofit/>
          </a:bodyPr>
          <a:lstStyle/>
          <a:p>
            <a:pPr marL="0" indent="0">
              <a:buNone/>
            </a:pPr>
            <a:r>
              <a:rPr lang="en-US" sz="2400" dirty="0"/>
              <a:t>Finally, we found a DFA with only four states. Now we can draw its transition diagram.</a:t>
            </a:r>
            <a:endParaRPr lang="tr-TR" sz="2400" dirty="0"/>
          </a:p>
          <a:p>
            <a:pPr marL="0" indent="0">
              <a:buNone/>
            </a:pPr>
            <a:endParaRPr lang="tr-TR" sz="2000" dirty="0"/>
          </a:p>
          <a:p>
            <a:pPr marL="0" indent="0">
              <a:buNone/>
            </a:pPr>
            <a:endParaRPr lang="tr-TR" sz="2000" dirty="0"/>
          </a:p>
          <a:p>
            <a:pPr marL="0" indent="0">
              <a:buNone/>
            </a:pPr>
            <a:endParaRPr lang="tr-TR" sz="2000" dirty="0"/>
          </a:p>
          <a:p>
            <a:pPr marL="0" indent="0">
              <a:buNone/>
            </a:pPr>
            <a:endParaRPr lang="tr-TR" sz="2000" dirty="0"/>
          </a:p>
          <a:p>
            <a:pPr marL="0" indent="0">
              <a:buNone/>
            </a:pPr>
            <a:endParaRPr lang="tr-TR" sz="2000" dirty="0"/>
          </a:p>
          <a:p>
            <a:pPr marL="0" indent="0">
              <a:buNone/>
            </a:pPr>
            <a:r>
              <a:rPr lang="tr-TR" sz="2400" dirty="0"/>
              <a:t>q'={1,2}</a:t>
            </a:r>
          </a:p>
          <a:p>
            <a:pPr marL="0" indent="0">
              <a:buNone/>
            </a:pPr>
            <a:endParaRPr lang="tr-TR" sz="2400" dirty="0"/>
          </a:p>
          <a:p>
            <a:pPr marL="0" indent="0">
              <a:buNone/>
            </a:pPr>
            <a:r>
              <a:rPr lang="tr-TR" sz="2400" dirty="0"/>
              <a:t>F'=[</a:t>
            </a:r>
            <a:r>
              <a:rPr lang="tr-TR" sz="2400" strike="sngStrike" dirty="0">
                <a:solidFill>
                  <a:srgbClr val="FF0000"/>
                </a:solidFill>
              </a:rPr>
              <a:t>{2},</a:t>
            </a:r>
            <a:r>
              <a:rPr lang="tr-TR" sz="2400" dirty="0"/>
              <a:t>{1,2},{2,3},{1,2,3}]</a:t>
            </a:r>
            <a:endParaRPr lang="en-US" sz="2400" dirty="0"/>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graphicFrame>
        <p:nvGraphicFramePr>
          <p:cNvPr id="2" name="Tablo 1"/>
          <p:cNvGraphicFramePr>
            <a:graphicFrameLocks noGrp="1"/>
          </p:cNvGraphicFramePr>
          <p:nvPr>
            <p:extLst>
              <p:ext uri="{D42A27DB-BD31-4B8C-83A1-F6EECF244321}">
                <p14:modId xmlns:p14="http://schemas.microsoft.com/office/powerpoint/2010/main" val="692701455"/>
              </p:ext>
            </p:extLst>
          </p:nvPr>
        </p:nvGraphicFramePr>
        <p:xfrm>
          <a:off x="6937136" y="2116726"/>
          <a:ext cx="3458529" cy="41148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strike="sngStrike" dirty="0">
                          <a:solidFill>
                            <a:srgbClr val="FF0000"/>
                          </a:solidFill>
                        </a:rPr>
                        <a:t>{1}</a:t>
                      </a:r>
                      <a:endParaRPr lang="en-US" sz="2400" b="1" strike="sngStrike" dirty="0">
                        <a:solidFill>
                          <a:srgbClr val="FF0000"/>
                        </a:solidFill>
                      </a:endParaRPr>
                    </a:p>
                  </a:txBody>
                  <a:tcPr/>
                </a:tc>
                <a:tc>
                  <a:txBody>
                    <a:bodyPr/>
                    <a:lstStyle/>
                    <a:p>
                      <a:pPr algn="ctr"/>
                      <a:r>
                        <a:rPr lang="tr-TR" sz="2400" strike="sngStrike" dirty="0">
                          <a:solidFill>
                            <a:srgbClr val="FF0000"/>
                          </a:solidFill>
                        </a:rPr>
                        <a:t>{3}</a:t>
                      </a:r>
                      <a:endParaRPr lang="en-US" sz="2400" strike="sngStrike" dirty="0">
                        <a:solidFill>
                          <a:srgbClr val="FF0000"/>
                        </a:solidFill>
                      </a:endParaRPr>
                    </a:p>
                  </a:txBody>
                  <a:tcPr/>
                </a:tc>
                <a:tc>
                  <a:txBody>
                    <a:bodyPr/>
                    <a:lstStyle/>
                    <a:p>
                      <a:pPr algn="ctr"/>
                      <a:r>
                        <a:rPr lang="en-US" sz="2400" strike="sngStrike" dirty="0">
                          <a:solidFill>
                            <a:srgbClr val="FF0000"/>
                          </a:solidFill>
                        </a:rPr>
                        <a:t>Ø</a:t>
                      </a:r>
                    </a:p>
                  </a:txBody>
                  <a:tcPr/>
                </a:tc>
                <a:extLst>
                  <a:ext uri="{0D108BD9-81ED-4DB2-BD59-A6C34878D82A}">
                    <a16:rowId xmlns:a16="http://schemas.microsoft.com/office/drawing/2014/main" val="42226640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strike="sngStrike" dirty="0">
                          <a:solidFill>
                            <a:srgbClr val="FF0000"/>
                          </a:solidFill>
                        </a:rPr>
                        <a:t>{2}</a:t>
                      </a:r>
                      <a:endParaRPr lang="en-US" sz="2400" b="1" strike="sngStrike" dirty="0">
                        <a:solidFill>
                          <a:srgbClr val="FF0000"/>
                        </a:solidFill>
                      </a:endParaRPr>
                    </a:p>
                  </a:txBody>
                  <a:tcPr/>
                </a:tc>
                <a:tc>
                  <a:txBody>
                    <a:bodyPr/>
                    <a:lstStyle/>
                    <a:p>
                      <a:pPr algn="ctr"/>
                      <a:r>
                        <a:rPr lang="tr-TR" sz="2400" strike="sngStrike" dirty="0">
                          <a:solidFill>
                            <a:srgbClr val="FF0000"/>
                          </a:solidFill>
                        </a:rPr>
                        <a:t>{1,2}</a:t>
                      </a:r>
                      <a:endParaRPr lang="en-US" sz="2400" strike="sngStrike" dirty="0">
                        <a:solidFill>
                          <a:srgbClr val="FF0000"/>
                        </a:solidFill>
                      </a:endParaRPr>
                    </a:p>
                  </a:txBody>
                  <a:tcPr/>
                </a:tc>
                <a:tc>
                  <a:txBody>
                    <a:bodyPr/>
                    <a:lstStyle/>
                    <a:p>
                      <a:pPr algn="ctr"/>
                      <a:r>
                        <a:rPr lang="en-US" sz="2400" strike="sngStrike" dirty="0">
                          <a:solidFill>
                            <a:srgbClr val="FF0000"/>
                          </a:solidFill>
                        </a:rPr>
                        <a:t>Ø</a:t>
                      </a:r>
                    </a:p>
                  </a:txBody>
                  <a:tcPr/>
                </a:tc>
                <a:extLst>
                  <a:ext uri="{0D108BD9-81ED-4DB2-BD59-A6C34878D82A}">
                    <a16:rowId xmlns:a16="http://schemas.microsoft.com/office/drawing/2014/main" val="276703521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strike="sngStrike" dirty="0">
                          <a:solidFill>
                            <a:srgbClr val="FF0000"/>
                          </a:solidFill>
                        </a:rPr>
                        <a:t>{3}</a:t>
                      </a:r>
                      <a:endParaRPr lang="en-US" sz="2400" b="1" strike="sngStrike" dirty="0">
                        <a:solidFill>
                          <a:srgbClr val="FF0000"/>
                        </a:solidFill>
                      </a:endParaRPr>
                    </a:p>
                  </a:txBody>
                  <a:tcPr/>
                </a:tc>
                <a:tc>
                  <a:txBody>
                    <a:bodyPr/>
                    <a:lstStyle/>
                    <a:p>
                      <a:pPr algn="ctr"/>
                      <a:r>
                        <a:rPr lang="tr-TR" sz="2400" strike="sngStrike" dirty="0">
                          <a:solidFill>
                            <a:srgbClr val="FF0000"/>
                          </a:solidFill>
                        </a:rPr>
                        <a:t>{2}</a:t>
                      </a:r>
                      <a:endParaRPr lang="en-US" sz="2400" strike="sngStrike" dirty="0">
                        <a:solidFill>
                          <a:srgbClr val="FF0000"/>
                        </a:solidFill>
                      </a:endParaRPr>
                    </a:p>
                  </a:txBody>
                  <a:tcPr/>
                </a:tc>
                <a:tc>
                  <a:txBody>
                    <a:bodyPr/>
                    <a:lstStyle/>
                    <a:p>
                      <a:pPr algn="ctr"/>
                      <a:r>
                        <a:rPr lang="tr-TR" sz="2400" strike="sngStrike" dirty="0">
                          <a:solidFill>
                            <a:srgbClr val="FF0000"/>
                          </a:solidFill>
                        </a:rPr>
                        <a:t>{2,3}</a:t>
                      </a:r>
                      <a:endParaRPr lang="en-US" sz="2400" strike="sngStrike" dirty="0">
                        <a:solidFill>
                          <a:srgbClr val="FF0000"/>
                        </a:solidFill>
                      </a:endParaRPr>
                    </a:p>
                  </a:txBody>
                  <a:tcPr/>
                </a:tc>
                <a:extLst>
                  <a:ext uri="{0D108BD9-81ED-4DB2-BD59-A6C34878D82A}">
                    <a16:rowId xmlns:a16="http://schemas.microsoft.com/office/drawing/2014/main" val="2203242962"/>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225987680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strike="sngStrike" dirty="0">
                          <a:solidFill>
                            <a:srgbClr val="FF0000"/>
                          </a:solidFill>
                        </a:rPr>
                        <a:t>{1,3}</a:t>
                      </a:r>
                      <a:endParaRPr lang="en-US" sz="2400" b="1" strike="sngStrike" dirty="0">
                        <a:solidFill>
                          <a:srgbClr val="FF0000"/>
                        </a:solidFill>
                      </a:endParaRPr>
                    </a:p>
                  </a:txBody>
                  <a:tcPr/>
                </a:tc>
                <a:tc>
                  <a:txBody>
                    <a:bodyPr/>
                    <a:lstStyle/>
                    <a:p>
                      <a:pPr algn="ctr"/>
                      <a:r>
                        <a:rPr lang="tr-TR" sz="2400" strike="sngStrike" dirty="0">
                          <a:solidFill>
                            <a:srgbClr val="FF0000"/>
                          </a:solidFill>
                        </a:rPr>
                        <a:t>{2,3}</a:t>
                      </a:r>
                      <a:endParaRPr lang="en-US" sz="2400" strike="sngStrike" dirty="0">
                        <a:solidFill>
                          <a:srgbClr val="FF0000"/>
                        </a:solidFill>
                      </a:endParaRPr>
                    </a:p>
                  </a:txBody>
                  <a:tcPr/>
                </a:tc>
                <a:tc>
                  <a:txBody>
                    <a:bodyPr/>
                    <a:lstStyle/>
                    <a:p>
                      <a:pPr algn="ctr"/>
                      <a:r>
                        <a:rPr lang="tr-TR" sz="2400" strike="sngStrike" dirty="0">
                          <a:solidFill>
                            <a:srgbClr val="FF0000"/>
                          </a:solidFill>
                        </a:rPr>
                        <a:t>{2,3}</a:t>
                      </a:r>
                      <a:endParaRPr lang="en-US" sz="2400" strike="sngStrike" dirty="0">
                        <a:solidFill>
                          <a:srgbClr val="FF0000"/>
                        </a:solidFill>
                      </a:endParaRPr>
                    </a:p>
                  </a:txBody>
                  <a:tcPr/>
                </a:tc>
                <a:extLst>
                  <a:ext uri="{0D108BD9-81ED-4DB2-BD59-A6C34878D82A}">
                    <a16:rowId xmlns:a16="http://schemas.microsoft.com/office/drawing/2014/main" val="2761736566"/>
                  </a:ext>
                </a:extLst>
              </a:tr>
              <a:tr h="370840">
                <a:tc>
                  <a:txBody>
                    <a:bodyPr/>
                    <a:lstStyle/>
                    <a:p>
                      <a:pPr algn="ctr"/>
                      <a:r>
                        <a:rPr lang="tr-TR" sz="2400" b="1" dirty="0"/>
                        <a:t>{2,3}</a:t>
                      </a:r>
                      <a:endParaRPr lang="en-US" sz="2400" b="1" dirty="0"/>
                    </a:p>
                  </a:txBody>
                  <a:tcPr/>
                </a:tc>
                <a:tc>
                  <a:txBody>
                    <a:bodyPr/>
                    <a:lstStyle/>
                    <a:p>
                      <a:pPr algn="ctr"/>
                      <a:r>
                        <a:rPr lang="tr-TR" sz="2400" dirty="0"/>
                        <a:t>{1,2}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{2,3}</a:t>
                      </a:r>
                      <a:endParaRPr lang="en-US" sz="2400" dirty="0"/>
                    </a:p>
                  </a:txBody>
                  <a:tcPr/>
                </a:tc>
                <a:extLst>
                  <a:ext uri="{0D108BD9-81ED-4DB2-BD59-A6C34878D82A}">
                    <a16:rowId xmlns:a16="http://schemas.microsoft.com/office/drawing/2014/main" val="3686717110"/>
                  </a:ext>
                </a:extLst>
              </a:tr>
            </a:tbl>
          </a:graphicData>
        </a:graphic>
      </p:graphicFrame>
      <p:sp>
        <p:nvSpPr>
          <p:cNvPr id="4" name="Sağ Ok 3">
            <a:extLst>
              <a:ext uri="{FF2B5EF4-FFF2-40B4-BE49-F238E27FC236}">
                <a16:creationId xmlns:a16="http://schemas.microsoft.com/office/drawing/2014/main" id="{0B425934-FA2B-45E9-5BAC-1C6C37FB8201}"/>
              </a:ext>
            </a:extLst>
          </p:cNvPr>
          <p:cNvSpPr/>
          <p:nvPr/>
        </p:nvSpPr>
        <p:spPr>
          <a:xfrm>
            <a:off x="3071826" y="4419058"/>
            <a:ext cx="3751472" cy="37555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kdörtgen 6">
            <a:extLst>
              <a:ext uri="{FF2B5EF4-FFF2-40B4-BE49-F238E27FC236}">
                <a16:creationId xmlns:a16="http://schemas.microsoft.com/office/drawing/2014/main" id="{D74AB8A9-FA72-F280-21AB-E79EFCE54A49}"/>
              </a:ext>
            </a:extLst>
          </p:cNvPr>
          <p:cNvSpPr/>
          <p:nvPr/>
        </p:nvSpPr>
        <p:spPr>
          <a:xfrm>
            <a:off x="6765893" y="2607512"/>
            <a:ext cx="352982" cy="461665"/>
          </a:xfrm>
          <a:prstGeom prst="rect">
            <a:avLst/>
          </a:prstGeom>
        </p:spPr>
        <p:txBody>
          <a:bodyPr wrap="none">
            <a:spAutoFit/>
          </a:bodyPr>
          <a:lstStyle/>
          <a:p>
            <a:r>
              <a:rPr lang="en-US" sz="2400" b="1" dirty="0">
                <a:solidFill>
                  <a:srgbClr val="FF0000"/>
                </a:solidFill>
              </a:rPr>
              <a:t>√</a:t>
            </a:r>
          </a:p>
        </p:txBody>
      </p:sp>
      <p:sp>
        <p:nvSpPr>
          <p:cNvPr id="11" name="Dikdörtgen 10">
            <a:extLst>
              <a:ext uri="{FF2B5EF4-FFF2-40B4-BE49-F238E27FC236}">
                <a16:creationId xmlns:a16="http://schemas.microsoft.com/office/drawing/2014/main" id="{C89FCB15-0495-F566-9A5E-03E61B3707A1}"/>
              </a:ext>
            </a:extLst>
          </p:cNvPr>
          <p:cNvSpPr/>
          <p:nvPr/>
        </p:nvSpPr>
        <p:spPr>
          <a:xfrm>
            <a:off x="6771335" y="5780699"/>
            <a:ext cx="352982" cy="461665"/>
          </a:xfrm>
          <a:prstGeom prst="rect">
            <a:avLst/>
          </a:prstGeom>
        </p:spPr>
        <p:txBody>
          <a:bodyPr wrap="none">
            <a:spAutoFit/>
          </a:bodyPr>
          <a:lstStyle/>
          <a:p>
            <a:r>
              <a:rPr lang="en-US" sz="2400" b="1" dirty="0">
                <a:solidFill>
                  <a:srgbClr val="FF0000"/>
                </a:solidFill>
              </a:rPr>
              <a:t>√</a:t>
            </a:r>
          </a:p>
        </p:txBody>
      </p:sp>
      <p:sp>
        <p:nvSpPr>
          <p:cNvPr id="13" name="Dikdörtgen 12">
            <a:extLst>
              <a:ext uri="{FF2B5EF4-FFF2-40B4-BE49-F238E27FC236}">
                <a16:creationId xmlns:a16="http://schemas.microsoft.com/office/drawing/2014/main" id="{7E91A732-BCA0-71BE-AE51-66FACBE0F17E}"/>
              </a:ext>
            </a:extLst>
          </p:cNvPr>
          <p:cNvSpPr/>
          <p:nvPr/>
        </p:nvSpPr>
        <p:spPr>
          <a:xfrm>
            <a:off x="6765893" y="5367047"/>
            <a:ext cx="352982" cy="461665"/>
          </a:xfrm>
          <a:prstGeom prst="rect">
            <a:avLst/>
          </a:prstGeom>
        </p:spPr>
        <p:txBody>
          <a:bodyPr wrap="none">
            <a:spAutoFit/>
          </a:bodyPr>
          <a:lstStyle/>
          <a:p>
            <a:r>
              <a:rPr lang="en-US" sz="2400" b="1" dirty="0">
                <a:solidFill>
                  <a:srgbClr val="FF0000"/>
                </a:solidFill>
              </a:rPr>
              <a:t>√</a:t>
            </a:r>
          </a:p>
        </p:txBody>
      </p:sp>
      <p:sp>
        <p:nvSpPr>
          <p:cNvPr id="14" name="Dikdörtgen 13">
            <a:extLst>
              <a:ext uri="{FF2B5EF4-FFF2-40B4-BE49-F238E27FC236}">
                <a16:creationId xmlns:a16="http://schemas.microsoft.com/office/drawing/2014/main" id="{A82EE6D5-3A63-A1D0-55F6-B1269A3FA1CA}"/>
              </a:ext>
            </a:extLst>
          </p:cNvPr>
          <p:cNvSpPr/>
          <p:nvPr/>
        </p:nvSpPr>
        <p:spPr>
          <a:xfrm>
            <a:off x="6765893" y="4419989"/>
            <a:ext cx="352982" cy="461665"/>
          </a:xfrm>
          <a:prstGeom prst="rect">
            <a:avLst/>
          </a:prstGeom>
        </p:spPr>
        <p:txBody>
          <a:bodyPr wrap="none">
            <a:spAutoFit/>
          </a:bodyPr>
          <a:lstStyle/>
          <a:p>
            <a:r>
              <a:rPr lang="en-US" sz="2400" b="1" dirty="0">
                <a:solidFill>
                  <a:srgbClr val="FF0000"/>
                </a:solidFill>
              </a:rPr>
              <a:t>√</a:t>
            </a:r>
          </a:p>
        </p:txBody>
      </p:sp>
      <p:sp>
        <p:nvSpPr>
          <p:cNvPr id="15" name="Sağa Bükülü Ok 14">
            <a:extLst>
              <a:ext uri="{FF2B5EF4-FFF2-40B4-BE49-F238E27FC236}">
                <a16:creationId xmlns:a16="http://schemas.microsoft.com/office/drawing/2014/main" id="{76B8AD1F-CCB5-7445-15DA-AB058E89C83E}"/>
              </a:ext>
            </a:extLst>
          </p:cNvPr>
          <p:cNvSpPr/>
          <p:nvPr/>
        </p:nvSpPr>
        <p:spPr>
          <a:xfrm rot="10800000" flipV="1">
            <a:off x="10431290" y="5523324"/>
            <a:ext cx="612761" cy="370701"/>
          </a:xfrm>
          <a:prstGeom prst="curvedRightArrow">
            <a:avLst>
              <a:gd name="adj1" fmla="val 25000"/>
              <a:gd name="adj2" fmla="val 0"/>
              <a:gd name="adj3" fmla="val 0"/>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Sağa Bükülü Ok 15">
            <a:extLst>
              <a:ext uri="{FF2B5EF4-FFF2-40B4-BE49-F238E27FC236}">
                <a16:creationId xmlns:a16="http://schemas.microsoft.com/office/drawing/2014/main" id="{FB3080C5-CBB2-B08D-6932-83C7B7FA1FC5}"/>
              </a:ext>
            </a:extLst>
          </p:cNvPr>
          <p:cNvSpPr/>
          <p:nvPr/>
        </p:nvSpPr>
        <p:spPr>
          <a:xfrm>
            <a:off x="5696476" y="2742881"/>
            <a:ext cx="1069417" cy="1822375"/>
          </a:xfrm>
          <a:prstGeom prst="curvedRightArrow">
            <a:avLst>
              <a:gd name="adj1" fmla="val 25000"/>
              <a:gd name="adj2" fmla="val 0"/>
              <a:gd name="adj3" fmla="val 0"/>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Sağa Bükülü Ok 16">
            <a:extLst>
              <a:ext uri="{FF2B5EF4-FFF2-40B4-BE49-F238E27FC236}">
                <a16:creationId xmlns:a16="http://schemas.microsoft.com/office/drawing/2014/main" id="{896153A6-8221-0AB9-71B6-4112D4142364}"/>
              </a:ext>
            </a:extLst>
          </p:cNvPr>
          <p:cNvSpPr/>
          <p:nvPr/>
        </p:nvSpPr>
        <p:spPr>
          <a:xfrm>
            <a:off x="5653665" y="4565257"/>
            <a:ext cx="1169633" cy="1427330"/>
          </a:xfrm>
          <a:prstGeom prst="curvedRightArrow">
            <a:avLst>
              <a:gd name="adj1" fmla="val 25000"/>
              <a:gd name="adj2" fmla="val 0"/>
              <a:gd name="adj3" fmla="val 0"/>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34930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7EF9DA7-94C2-20B4-778F-CAB8DD21F247}"/>
              </a:ext>
            </a:extLst>
          </p:cNvPr>
          <p:cNvSpPr>
            <a:spLocks noGrp="1"/>
          </p:cNvSpPr>
          <p:nvPr>
            <p:ph idx="1"/>
          </p:nvPr>
        </p:nvSpPr>
        <p:spPr>
          <a:xfrm>
            <a:off x="1593459" y="1364342"/>
            <a:ext cx="7436241" cy="4301671"/>
          </a:xfrm>
        </p:spPr>
        <p:txBody>
          <a:bodyPr anchor="t">
            <a:noAutofit/>
          </a:bodyPr>
          <a:lstStyle/>
          <a:p>
            <a:pPr marL="0" indent="0">
              <a:buNone/>
            </a:pPr>
            <a:r>
              <a:rPr lang="en-US" sz="2400" dirty="0"/>
              <a:t>Here, we have both the table and the transition diagram of the DFA solution.</a:t>
            </a:r>
            <a:endParaRPr lang="tr-TR" sz="2400" dirty="0"/>
          </a:p>
          <a:p>
            <a:pPr marL="0" indent="0">
              <a:buNone/>
            </a:pPr>
            <a:r>
              <a:rPr lang="tr-TR" sz="2400" dirty="0"/>
              <a:t>q'={1,2}</a:t>
            </a:r>
          </a:p>
          <a:p>
            <a:pPr marL="0" indent="0">
              <a:buNone/>
            </a:pPr>
            <a:r>
              <a:rPr lang="tr-TR" sz="2400" dirty="0"/>
              <a:t>F'=[{1,2},{2,3},{1,2,3}]</a:t>
            </a:r>
            <a:endParaRPr lang="en-US" sz="2400" dirty="0"/>
          </a:p>
        </p:txBody>
      </p:sp>
      <p:sp>
        <p:nvSpPr>
          <p:cNvPr id="10" name="Unvan 5"/>
          <p:cNvSpPr txBox="1">
            <a:spLocks/>
          </p:cNvSpPr>
          <p:nvPr/>
        </p:nvSpPr>
        <p:spPr>
          <a:xfrm>
            <a:off x="1593459" y="62411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NFA to DFA example</a:t>
            </a:r>
          </a:p>
        </p:txBody>
      </p:sp>
      <p:graphicFrame>
        <p:nvGraphicFramePr>
          <p:cNvPr id="2" name="Tablo 1"/>
          <p:cNvGraphicFramePr>
            <a:graphicFrameLocks noGrp="1"/>
          </p:cNvGraphicFramePr>
          <p:nvPr>
            <p:extLst>
              <p:ext uri="{D42A27DB-BD31-4B8C-83A1-F6EECF244321}">
                <p14:modId xmlns:p14="http://schemas.microsoft.com/office/powerpoint/2010/main" val="62761382"/>
              </p:ext>
            </p:extLst>
          </p:nvPr>
        </p:nvGraphicFramePr>
        <p:xfrm>
          <a:off x="1593459" y="3515177"/>
          <a:ext cx="3458529" cy="2286000"/>
        </p:xfrm>
        <a:graphic>
          <a:graphicData uri="http://schemas.openxmlformats.org/drawingml/2006/table">
            <a:tbl>
              <a:tblPr firstRow="1" bandRow="1">
                <a:tableStyleId>{5C22544A-7EE6-4342-B048-85BDC9FD1C3A}</a:tableStyleId>
              </a:tblPr>
              <a:tblGrid>
                <a:gridCol w="1152843">
                  <a:extLst>
                    <a:ext uri="{9D8B030D-6E8A-4147-A177-3AD203B41FA5}">
                      <a16:colId xmlns:a16="http://schemas.microsoft.com/office/drawing/2014/main" val="1453927639"/>
                    </a:ext>
                  </a:extLst>
                </a:gridCol>
                <a:gridCol w="1152843">
                  <a:extLst>
                    <a:ext uri="{9D8B030D-6E8A-4147-A177-3AD203B41FA5}">
                      <a16:colId xmlns:a16="http://schemas.microsoft.com/office/drawing/2014/main" val="4025330608"/>
                    </a:ext>
                  </a:extLst>
                </a:gridCol>
                <a:gridCol w="1152843">
                  <a:extLst>
                    <a:ext uri="{9D8B030D-6E8A-4147-A177-3AD203B41FA5}">
                      <a16:colId xmlns:a16="http://schemas.microsoft.com/office/drawing/2014/main" val="989054692"/>
                    </a:ext>
                  </a:extLst>
                </a:gridCol>
              </a:tblGrid>
              <a:tr h="370840">
                <a:tc>
                  <a:txBody>
                    <a:bodyPr/>
                    <a:lstStyle/>
                    <a:p>
                      <a:pPr algn="ctr"/>
                      <a:endParaRPr lang="en-US" sz="2400" dirty="0"/>
                    </a:p>
                  </a:txBody>
                  <a:tcPr/>
                </a:tc>
                <a:tc>
                  <a:txBody>
                    <a:bodyPr/>
                    <a:lstStyle/>
                    <a:p>
                      <a:pPr algn="ctr"/>
                      <a:r>
                        <a:rPr lang="tr-TR" sz="2400" dirty="0"/>
                        <a:t>a</a:t>
                      </a:r>
                      <a:endParaRPr lang="en-US" sz="2400" dirty="0"/>
                    </a:p>
                  </a:txBody>
                  <a:tcPr/>
                </a:tc>
                <a:tc>
                  <a:txBody>
                    <a:bodyPr/>
                    <a:lstStyle/>
                    <a:p>
                      <a:pPr algn="ctr"/>
                      <a:r>
                        <a:rPr lang="tr-TR" sz="2400" dirty="0"/>
                        <a:t>b</a:t>
                      </a:r>
                      <a:endParaRPr lang="en-US" sz="2400" dirty="0"/>
                    </a:p>
                  </a:txBody>
                  <a:tcPr/>
                </a:tc>
                <a:extLst>
                  <a:ext uri="{0D108BD9-81ED-4DB2-BD59-A6C34878D82A}">
                    <a16:rowId xmlns:a16="http://schemas.microsoft.com/office/drawing/2014/main" val="1544064654"/>
                  </a:ext>
                </a:extLst>
              </a:tr>
              <a:tr h="370840">
                <a:tc>
                  <a:txBody>
                    <a:bodyPr/>
                    <a:lstStyle/>
                    <a:p>
                      <a:pPr algn="ctr"/>
                      <a:r>
                        <a:rPr lang="en-US" sz="2400" b="1"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426664599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b="1" dirty="0"/>
                        <a:t>{1,2}</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t>Ø</a:t>
                      </a:r>
                    </a:p>
                  </a:txBody>
                  <a:tcPr/>
                </a:tc>
                <a:extLst>
                  <a:ext uri="{0D108BD9-81ED-4DB2-BD59-A6C34878D82A}">
                    <a16:rowId xmlns:a16="http://schemas.microsoft.com/office/drawing/2014/main" val="2259876800"/>
                  </a:ext>
                </a:extLst>
              </a:tr>
              <a:tr h="370840">
                <a:tc>
                  <a:txBody>
                    <a:bodyPr/>
                    <a:lstStyle/>
                    <a:p>
                      <a:pPr algn="ctr"/>
                      <a:r>
                        <a:rPr lang="tr-TR" sz="2400" b="1" dirty="0"/>
                        <a:t>{2,3}</a:t>
                      </a:r>
                      <a:endParaRPr lang="en-US" sz="2400" b="1" dirty="0"/>
                    </a:p>
                  </a:txBody>
                  <a:tcPr/>
                </a:tc>
                <a:tc>
                  <a:txBody>
                    <a:bodyPr/>
                    <a:lstStyle/>
                    <a:p>
                      <a:pPr algn="ctr"/>
                      <a:r>
                        <a:rPr lang="tr-TR" sz="2400" dirty="0"/>
                        <a:t>{1,2}</a:t>
                      </a:r>
                      <a:endParaRPr lang="en-US" sz="2400" dirty="0"/>
                    </a:p>
                  </a:txBody>
                  <a:tcPr/>
                </a:tc>
                <a:tc>
                  <a:txBody>
                    <a:bodyPr/>
                    <a:lstStyle/>
                    <a:p>
                      <a:pPr algn="ctr"/>
                      <a:r>
                        <a:rPr lang="tr-TR" sz="2400" dirty="0"/>
                        <a:t>{2,3}</a:t>
                      </a:r>
                      <a:endParaRPr lang="en-US" sz="2400" dirty="0"/>
                    </a:p>
                  </a:txBody>
                  <a:tcPr/>
                </a:tc>
                <a:extLst>
                  <a:ext uri="{0D108BD9-81ED-4DB2-BD59-A6C34878D82A}">
                    <a16:rowId xmlns:a16="http://schemas.microsoft.com/office/drawing/2014/main" val="86313659"/>
                  </a:ext>
                </a:extLst>
              </a:tr>
              <a:tr h="370840">
                <a:tc>
                  <a:txBody>
                    <a:bodyPr/>
                    <a:lstStyle/>
                    <a:p>
                      <a:pPr algn="ctr"/>
                      <a:r>
                        <a:rPr lang="tr-TR" sz="2400" b="1" dirty="0"/>
                        <a:t>{1,2,3}</a:t>
                      </a:r>
                      <a:endParaRPr lang="en-US" sz="2400" b="1"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{1,2,3}</a:t>
                      </a:r>
                      <a:endParaRPr lang="en-US" sz="2400"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tr-TR" sz="2400" dirty="0"/>
                        <a:t>{2,3}</a:t>
                      </a:r>
                      <a:endParaRPr lang="en-US" sz="2400" dirty="0"/>
                    </a:p>
                  </a:txBody>
                  <a:tcPr/>
                </a:tc>
                <a:extLst>
                  <a:ext uri="{0D108BD9-81ED-4DB2-BD59-A6C34878D82A}">
                    <a16:rowId xmlns:a16="http://schemas.microsoft.com/office/drawing/2014/main" val="3686717110"/>
                  </a:ext>
                </a:extLst>
              </a:tr>
            </a:tbl>
          </a:graphicData>
        </a:graphic>
      </p:graphicFrame>
      <p:pic>
        <p:nvPicPr>
          <p:cNvPr id="4" name="Resim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490858" y="383458"/>
            <a:ext cx="3366846" cy="6490304"/>
          </a:xfrm>
          <a:prstGeom prst="rect">
            <a:avLst/>
          </a:prstGeom>
        </p:spPr>
      </p:pic>
    </p:spTree>
    <p:extLst>
      <p:ext uri="{BB962C8B-B14F-4D97-AF65-F5344CB8AC3E}">
        <p14:creationId xmlns:p14="http://schemas.microsoft.com/office/powerpoint/2010/main" val="3012909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2692347392"/>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1040</TotalTime>
  <Words>1494</Words>
  <Application>Microsoft Macintosh PowerPoint</Application>
  <PresentationFormat>Geniş ekran</PresentationFormat>
  <Paragraphs>252</Paragraphs>
  <Slides>15</Slides>
  <Notes>15</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15</vt:i4>
      </vt:variant>
    </vt:vector>
  </HeadingPairs>
  <TitlesOfParts>
    <vt:vector size="20" baseType="lpstr">
      <vt:lpstr>Arial</vt:lpstr>
      <vt:lpstr>Calibri</vt:lpstr>
      <vt:lpstr>Century Gothic</vt:lpstr>
      <vt:lpstr>Wingdings 3</vt:lpstr>
      <vt:lpstr>Duman</vt:lpstr>
      <vt:lpstr> Theory of Computation  Lesson 3</vt:lpstr>
      <vt:lpstr>Equivalence of DFAs and NFAs</vt:lpstr>
      <vt:lpstr>Converting a NFA to a DFA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54</cp:revision>
  <dcterms:created xsi:type="dcterms:W3CDTF">2022-09-29T06:50:07Z</dcterms:created>
  <dcterms:modified xsi:type="dcterms:W3CDTF">2025-11-21T06:53:15Z</dcterms:modified>
</cp:coreProperties>
</file>