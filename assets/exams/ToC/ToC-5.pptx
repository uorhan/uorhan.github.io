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12"/>
  </p:notesMasterIdLst>
  <p:sldIdLst>
    <p:sldId id="308" r:id="rId2"/>
    <p:sldId id="257" r:id="rId3"/>
    <p:sldId id="285" r:id="rId4"/>
    <p:sldId id="286" r:id="rId5"/>
    <p:sldId id="287" r:id="rId6"/>
    <p:sldId id="270" r:id="rId7"/>
    <p:sldId id="288" r:id="rId8"/>
    <p:sldId id="289" r:id="rId9"/>
    <p:sldId id="290" r:id="rId10"/>
    <p:sldId id="31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75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0" autoAdjust="0"/>
    <p:restoredTop sz="94364" autoAdjust="0"/>
  </p:normalViewPr>
  <p:slideViewPr>
    <p:cSldViewPr snapToGrid="0">
      <p:cViewPr varScale="1">
        <p:scale>
          <a:sx n="107" d="100"/>
          <a:sy n="107" d="100"/>
        </p:scale>
        <p:origin x="1120" y="160"/>
      </p:cViewPr>
      <p:guideLst/>
    </p:cSldViewPr>
  </p:slideViewPr>
  <p:outlineViewPr>
    <p:cViewPr>
      <p:scale>
        <a:sx n="33" d="100"/>
        <a:sy n="33" d="100"/>
      </p:scale>
      <p:origin x="0" y="-54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21.11.2025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a:t>It’s the </a:t>
            </a:r>
            <a:r>
              <a:rPr lang="tr-TR" err="1"/>
              <a:t>fifth</a:t>
            </a:r>
            <a:r>
              <a:rPr lang="en-US"/>
              <a:t> lesson of Theory of Computation. We will go on the Regular Language chapter with another conversion approach. We are gonna learn to convert Regular Expressions into NFA’s</a:t>
            </a:r>
            <a:r>
              <a:rPr lang="tr-TR"/>
              <a:t>.</a:t>
            </a:r>
            <a:endParaRPr lang="en-US"/>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1797843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Since there are three types of operations in Regular Language, we need to define a transformation for each.</a:t>
            </a:r>
          </a:p>
          <a:p>
            <a:pPr>
              <a:lnSpc>
                <a:spcPct val="150000"/>
              </a:lnSpc>
            </a:pPr>
            <a:r>
              <a:rPr lang="en-US" sz="1200" dirty="0"/>
              <a:t>Union</a:t>
            </a:r>
          </a:p>
          <a:p>
            <a:pPr>
              <a:lnSpc>
                <a:spcPct val="150000"/>
              </a:lnSpc>
            </a:pPr>
            <a:r>
              <a:rPr lang="en-US" sz="1200" dirty="0"/>
              <a:t>Concatenation</a:t>
            </a:r>
          </a:p>
          <a:p>
            <a:pPr>
              <a:lnSpc>
                <a:spcPct val="150000"/>
              </a:lnSpc>
            </a:pPr>
            <a:r>
              <a:rPr lang="en-US" sz="1200" dirty="0"/>
              <a:t>Star</a:t>
            </a:r>
          </a:p>
        </p:txBody>
      </p:sp>
      <p:sp>
        <p:nvSpPr>
          <p:cNvPr id="4" name="Slayt Numarası Yer Tutucusu 3"/>
          <p:cNvSpPr>
            <a:spLocks noGrp="1"/>
          </p:cNvSpPr>
          <p:nvPr>
            <p:ph type="sldNum" sz="quarter" idx="5"/>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3013543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Any regular expression can be converted to an NFA using these epsilon transitions. Here, we add a new start state and then connect it in parallel with epsilons to two old start states.</a:t>
            </a:r>
          </a:p>
        </p:txBody>
      </p:sp>
      <p:sp>
        <p:nvSpPr>
          <p:cNvPr id="4" name="Slayt Numarası Yer Tutucusu 3"/>
          <p:cNvSpPr>
            <a:spLocks noGrp="1"/>
          </p:cNvSpPr>
          <p:nvPr>
            <p:ph type="sldNum" sz="quarter" idx="5"/>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1096034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Concatenation is also performed with a similar manner. But we don't need a new start state here. Only the acceptance states of the first language are connected with epsilons to the start state of the second language.</a:t>
            </a:r>
            <a:endParaRPr lang="en-US" sz="1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2423764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In the Star operation, two kind of </a:t>
            </a:r>
            <a:r>
              <a:rPr lang="en-US" dirty="0" err="1"/>
              <a:t>connectios</a:t>
            </a:r>
            <a:r>
              <a:rPr lang="en-US" dirty="0"/>
              <a:t> are performed: both a new start state is added and returned to the old start state, and the accept states are connected to the old start state. All connections are again made with epsilon. Note that the new start state added here must be an accept state.</a:t>
            </a:r>
            <a:endParaRPr lang="en-US" sz="1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1832007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a b union a. star</a:t>
            </a:r>
          </a:p>
          <a:p>
            <a:pPr marL="0" indent="0">
              <a:buNone/>
            </a:pPr>
            <a:r>
              <a:rPr lang="en-US" dirty="0"/>
              <a:t>We can start to define input symbols as follow</a:t>
            </a:r>
          </a:p>
          <a:p>
            <a:pPr marL="0" indent="0">
              <a:buNone/>
            </a:pPr>
            <a:r>
              <a:rPr lang="en-US" dirty="0"/>
              <a:t>The first one represents symbol a</a:t>
            </a:r>
          </a:p>
          <a:p>
            <a:pPr marL="0" indent="0">
              <a:buNone/>
            </a:pPr>
            <a:r>
              <a:rPr lang="en-US" dirty="0"/>
              <a:t>And the second one is symbol b</a:t>
            </a:r>
          </a:p>
          <a:p>
            <a:pPr marL="0" indent="0">
              <a:buNone/>
            </a:pPr>
            <a:endParaRPr lang="en-US" dirty="0"/>
          </a:p>
        </p:txBody>
      </p:sp>
      <p:sp>
        <p:nvSpPr>
          <p:cNvPr id="4" name="Slayt Numarası Yer Tutucusu 3"/>
          <p:cNvSpPr>
            <a:spLocks noGrp="1"/>
          </p:cNvSpPr>
          <p:nvPr>
            <p:ph type="sldNum" sz="quarter" idx="5"/>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2464690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Then we can combine both symbols to get concatenation of a and b.</a:t>
            </a:r>
          </a:p>
        </p:txBody>
      </p:sp>
      <p:sp>
        <p:nvSpPr>
          <p:cNvPr id="4" name="Slayt Numarası Yer Tutucusu 3"/>
          <p:cNvSpPr>
            <a:spLocks noGrp="1"/>
          </p:cNvSpPr>
          <p:nvPr>
            <p:ph type="sldNum" sz="quarter" idx="5"/>
          </p:nvPr>
        </p:nvSpPr>
        <p:spPr/>
        <p:txBody>
          <a:bodyPr/>
          <a:lstStyle/>
          <a:p>
            <a:fld id="{6049F921-94E2-2146-8BC6-089D7989E1CD}" type="slidenum">
              <a:rPr lang="tr-TR" smtClean="0"/>
              <a:t>7</a:t>
            </a:fld>
            <a:endParaRPr lang="tr-TR"/>
          </a:p>
        </p:txBody>
      </p:sp>
    </p:spTree>
    <p:extLst>
      <p:ext uri="{BB962C8B-B14F-4D97-AF65-F5344CB8AC3E}">
        <p14:creationId xmlns:p14="http://schemas.microsoft.com/office/powerpoint/2010/main" val="4222473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After that, we should use parallel epsilon transitions to get union operation.</a:t>
            </a:r>
          </a:p>
        </p:txBody>
      </p:sp>
      <p:sp>
        <p:nvSpPr>
          <p:cNvPr id="4" name="Slayt Numarası Yer Tutucusu 3"/>
          <p:cNvSpPr>
            <a:spLocks noGrp="1"/>
          </p:cNvSpPr>
          <p:nvPr>
            <p:ph type="sldNum" sz="quarter" idx="5"/>
          </p:nvPr>
        </p:nvSpPr>
        <p:spPr/>
        <p:txBody>
          <a:bodyPr/>
          <a:lstStyle/>
          <a:p>
            <a:fld id="{6049F921-94E2-2146-8BC6-089D7989E1CD}" type="slidenum">
              <a:rPr lang="tr-TR" smtClean="0"/>
              <a:t>8</a:t>
            </a:fld>
            <a:endParaRPr lang="tr-TR"/>
          </a:p>
        </p:txBody>
      </p:sp>
    </p:spTree>
    <p:extLst>
      <p:ext uri="{BB962C8B-B14F-4D97-AF65-F5344CB8AC3E}">
        <p14:creationId xmlns:p14="http://schemas.microsoft.com/office/powerpoint/2010/main" val="141827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And finally, we apply a transformation for the star operation.</a:t>
            </a:r>
          </a:p>
        </p:txBody>
      </p:sp>
      <p:sp>
        <p:nvSpPr>
          <p:cNvPr id="4" name="Slayt Numarası Yer Tutucusu 3"/>
          <p:cNvSpPr>
            <a:spLocks noGrp="1"/>
          </p:cNvSpPr>
          <p:nvPr>
            <p:ph type="sldNum" sz="quarter" idx="5"/>
          </p:nvPr>
        </p:nvSpPr>
        <p:spPr/>
        <p:txBody>
          <a:bodyPr/>
          <a:lstStyle/>
          <a:p>
            <a:fld id="{6049F921-94E2-2146-8BC6-089D7989E1CD}" type="slidenum">
              <a:rPr lang="tr-TR" smtClean="0"/>
              <a:t>9</a:t>
            </a:fld>
            <a:endParaRPr lang="tr-TR"/>
          </a:p>
        </p:txBody>
      </p:sp>
    </p:spTree>
    <p:extLst>
      <p:ext uri="{BB962C8B-B14F-4D97-AF65-F5344CB8AC3E}">
        <p14:creationId xmlns:p14="http://schemas.microsoft.com/office/powerpoint/2010/main" val="973229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That’s all.</a:t>
            </a:r>
          </a:p>
          <a:p>
            <a:endParaRPr lang="en-US" sz="1200"/>
          </a:p>
          <a:p>
            <a:r>
              <a:rPr lang="en-US" altLang="tr-TR" sz="120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10</a:t>
            </a:fld>
            <a:endParaRPr lang="tr-TR"/>
          </a:p>
        </p:txBody>
      </p:sp>
    </p:spTree>
    <p:extLst>
      <p:ext uri="{BB962C8B-B14F-4D97-AF65-F5344CB8AC3E}">
        <p14:creationId xmlns:p14="http://schemas.microsoft.com/office/powerpoint/2010/main" val="613840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F36C430-287F-DD4C-AA12-0A938495B580}" type="datetimeFigureOut">
              <a:rPr lang="tr-TR" smtClean="0"/>
              <a:t>21.11.2025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AF36C430-287F-DD4C-AA12-0A938495B580}" type="datetimeFigureOut">
              <a:rPr lang="tr-TR" smtClean="0"/>
              <a:t>21.11.2025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21.11.2025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21.11.2025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normAutofit fontScale="90000"/>
          </a:bodyPr>
          <a:lstStyle/>
          <a:p>
            <a:br>
              <a:rPr lang="en-US"/>
            </a:br>
            <a:r>
              <a:rPr lang="en-US"/>
              <a:t>Theory of Computation </a:t>
            </a:r>
            <a:br>
              <a:rPr lang="tr-TR"/>
            </a:br>
            <a:r>
              <a:rPr lang="en-US" sz="3600"/>
              <a:t>Lesson </a:t>
            </a:r>
            <a:r>
              <a:rPr lang="tr-TR" sz="3600"/>
              <a:t>5</a:t>
            </a:r>
            <a:endParaRPr lang="en-US" sz="3600"/>
          </a:p>
        </p:txBody>
      </p:sp>
      <p:sp>
        <p:nvSpPr>
          <p:cNvPr id="3" name="Alt Başlık 2"/>
          <p:cNvSpPr>
            <a:spLocks noGrp="1"/>
          </p:cNvSpPr>
          <p:nvPr>
            <p:ph type="subTitle" idx="1"/>
          </p:nvPr>
        </p:nvSpPr>
        <p:spPr/>
        <p:txBody>
          <a:bodyPr anchor="b">
            <a:normAutofit/>
          </a:bodyPr>
          <a:lstStyle/>
          <a:p>
            <a:r>
              <a:rPr lang="en-US" sz="2800">
                <a:solidFill>
                  <a:srgbClr val="FF0000"/>
                </a:solidFill>
              </a:rPr>
              <a:t>Converting </a:t>
            </a:r>
            <a:r>
              <a:rPr lang="en-US" sz="2800" err="1">
                <a:solidFill>
                  <a:srgbClr val="FF0000"/>
                </a:solidFill>
              </a:rPr>
              <a:t>RegEx</a:t>
            </a:r>
            <a:r>
              <a:rPr lang="tr-TR" sz="2800">
                <a:solidFill>
                  <a:srgbClr val="FF0000"/>
                </a:solidFill>
              </a:rPr>
              <a:t> to NFA</a:t>
            </a:r>
            <a:endParaRPr lang="en-US" sz="2800">
              <a:solidFill>
                <a:srgbClr val="FF0000"/>
              </a:solidFill>
            </a:endParaRPr>
          </a:p>
        </p:txBody>
      </p:sp>
      <p:pic>
        <p:nvPicPr>
          <p:cNvPr id="1026" name="Picture 2" descr="How to convert DFA to Regular expression? -Solved Example - YouTube"/>
          <p:cNvPicPr>
            <a:picLocks noChangeAspect="1" noChangeArrowheads="1"/>
          </p:cNvPicPr>
          <p:nvPr/>
        </p:nvPicPr>
        <p:blipFill>
          <a:blip r:embed="rId3">
            <a:clrChange>
              <a:clrFrom>
                <a:srgbClr val="FCFCFC"/>
              </a:clrFrom>
              <a:clrTo>
                <a:srgbClr val="FCFCFC">
                  <a:alpha val="0"/>
                </a:srgbClr>
              </a:clrTo>
            </a:clrChange>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6339607" y="348351"/>
            <a:ext cx="3037115" cy="256358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ow to convert DFA to Regular expression? -Solved Example - YouTube"/>
          <p:cNvPicPr>
            <a:picLocks noChangeAspect="1" noChangeArrowheads="1"/>
          </p:cNvPicPr>
          <p:nvPr/>
        </p:nvPicPr>
        <p:blipFill>
          <a:blip r:embed="rId4">
            <a:clrChange>
              <a:clrFrom>
                <a:srgbClr val="FCFCFC"/>
              </a:clrFrom>
              <a:clrTo>
                <a:srgbClr val="FCFCFC">
                  <a:alpha val="0"/>
                </a:srgbClr>
              </a:clrTo>
            </a:clrChange>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2006207" y="1323613"/>
            <a:ext cx="2977243" cy="762724"/>
          </a:xfrm>
          <a:prstGeom prst="rect">
            <a:avLst/>
          </a:prstGeom>
          <a:noFill/>
          <a:extLst>
            <a:ext uri="{909E8E84-426E-40DD-AFC4-6F175D3DCCD1}">
              <a14:hiddenFill xmlns:a14="http://schemas.microsoft.com/office/drawing/2010/main">
                <a:solidFill>
                  <a:srgbClr val="FFFFFF"/>
                </a:solidFill>
              </a14:hiddenFill>
            </a:ext>
          </a:extLst>
        </p:spPr>
      </p:pic>
      <p:sp>
        <p:nvSpPr>
          <p:cNvPr id="6" name="Sağ Ok 5"/>
          <p:cNvSpPr/>
          <p:nvPr/>
        </p:nvSpPr>
        <p:spPr>
          <a:xfrm>
            <a:off x="5195321" y="1419225"/>
            <a:ext cx="1081655" cy="571500"/>
          </a:xfrm>
          <a:prstGeom prst="rightArrow">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314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4"/>
          <p:cNvSpPr>
            <a:spLocks noGrp="1"/>
          </p:cNvSpPr>
          <p:nvPr>
            <p:ph idx="1"/>
          </p:nvPr>
        </p:nvSpPr>
        <p:spPr/>
        <p:txBody>
          <a:bodyPr>
            <a:normAutofit fontScale="92500" lnSpcReduction="10000"/>
          </a:bodyPr>
          <a:lstStyle/>
          <a:p>
            <a:pPr marL="0" indent="0">
              <a:lnSpc>
                <a:spcPct val="150000"/>
              </a:lnSpc>
              <a:buNone/>
            </a:pPr>
            <a:r>
              <a:rPr lang="en-US" sz="2800" dirty="0"/>
              <a:t>Since there are three types of operations in Regular Language, we need to define a transformation for each.</a:t>
            </a:r>
          </a:p>
          <a:p>
            <a:pPr>
              <a:lnSpc>
                <a:spcPct val="150000"/>
              </a:lnSpc>
            </a:pPr>
            <a:r>
              <a:rPr lang="en-US" sz="2800" dirty="0"/>
              <a:t>Union</a:t>
            </a:r>
          </a:p>
          <a:p>
            <a:pPr>
              <a:lnSpc>
                <a:spcPct val="150000"/>
              </a:lnSpc>
            </a:pPr>
            <a:r>
              <a:rPr lang="en-US" sz="2800" dirty="0"/>
              <a:t>Concatenation</a:t>
            </a:r>
          </a:p>
          <a:p>
            <a:pPr>
              <a:lnSpc>
                <a:spcPct val="150000"/>
              </a:lnSpc>
            </a:pPr>
            <a:r>
              <a:rPr lang="en-US" sz="2800" dirty="0"/>
              <a:t>Star</a:t>
            </a:r>
          </a:p>
        </p:txBody>
      </p:sp>
      <p:sp>
        <p:nvSpPr>
          <p:cNvPr id="4" name="Unvan 3"/>
          <p:cNvSpPr>
            <a:spLocks noGrp="1"/>
          </p:cNvSpPr>
          <p:nvPr>
            <p:ph type="title"/>
          </p:nvPr>
        </p:nvSpPr>
        <p:spPr/>
        <p:txBody>
          <a:bodyPr/>
          <a:lstStyle/>
          <a:p>
            <a:r>
              <a:rPr lang="en-US" dirty="0" err="1"/>
              <a:t>RegEx</a:t>
            </a:r>
            <a:r>
              <a:rPr lang="en-US" dirty="0"/>
              <a:t> to NFA</a:t>
            </a:r>
          </a:p>
        </p:txBody>
      </p:sp>
    </p:spTree>
    <p:extLst>
      <p:ext uri="{BB962C8B-B14F-4D97-AF65-F5344CB8AC3E}">
        <p14:creationId xmlns:p14="http://schemas.microsoft.com/office/powerpoint/2010/main" val="3323692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Union</a:t>
            </a:r>
          </a:p>
        </p:txBody>
      </p:sp>
      <p:pic>
        <p:nvPicPr>
          <p:cNvPr id="2" name="Resim 1"/>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470400" y="624110"/>
            <a:ext cx="7285703" cy="6159261"/>
          </a:xfrm>
          <a:prstGeom prst="rect">
            <a:avLst/>
          </a:prstGeom>
        </p:spPr>
      </p:pic>
      <p:sp>
        <p:nvSpPr>
          <p:cNvPr id="6" name="İçerik Yer Tutucusu 4"/>
          <p:cNvSpPr>
            <a:spLocks noGrp="1"/>
          </p:cNvSpPr>
          <p:nvPr>
            <p:ph idx="1"/>
          </p:nvPr>
        </p:nvSpPr>
        <p:spPr>
          <a:xfrm>
            <a:off x="2589212" y="2133600"/>
            <a:ext cx="2058988" cy="3777622"/>
          </a:xfrm>
        </p:spPr>
        <p:txBody>
          <a:bodyPr>
            <a:normAutofit/>
          </a:bodyPr>
          <a:lstStyle/>
          <a:p>
            <a:pPr marL="0" indent="0" algn="ctr">
              <a:buNone/>
            </a:pPr>
            <a:r>
              <a:rPr lang="tr-TR" sz="2800" dirty="0" err="1"/>
              <a:t>RegEx</a:t>
            </a:r>
            <a:endParaRPr lang="tr-TR" sz="2800" dirty="0"/>
          </a:p>
          <a:p>
            <a:pPr marL="0" indent="0" algn="ctr">
              <a:buNone/>
            </a:pPr>
            <a:r>
              <a:rPr lang="tr-TR" sz="2800" dirty="0"/>
              <a:t>(M</a:t>
            </a:r>
            <a:r>
              <a:rPr lang="tr-TR" sz="2800" baseline="-25000" dirty="0"/>
              <a:t>1</a:t>
            </a:r>
            <a:r>
              <a:rPr lang="tr-TR" sz="2800" dirty="0"/>
              <a:t> U M</a:t>
            </a:r>
            <a:r>
              <a:rPr lang="tr-TR" sz="2800" baseline="-25000" dirty="0"/>
              <a:t>2</a:t>
            </a:r>
            <a:r>
              <a:rPr lang="tr-TR" sz="2800" dirty="0"/>
              <a:t>)</a:t>
            </a:r>
            <a:endParaRPr lang="tr-TR" sz="2800" baseline="-25000" dirty="0"/>
          </a:p>
        </p:txBody>
      </p:sp>
      <p:sp>
        <p:nvSpPr>
          <p:cNvPr id="7" name="İçerik Yer Tutucusu 4"/>
          <p:cNvSpPr txBox="1">
            <a:spLocks/>
          </p:cNvSpPr>
          <p:nvPr/>
        </p:nvSpPr>
        <p:spPr>
          <a:xfrm>
            <a:off x="8793367" y="90710"/>
            <a:ext cx="2058988" cy="533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tr-TR" sz="2800"/>
              <a:t>M</a:t>
            </a:r>
            <a:r>
              <a:rPr lang="tr-TR" sz="2800" baseline="-25000"/>
              <a:t>1</a:t>
            </a:r>
            <a:r>
              <a:rPr lang="tr-TR" sz="2800"/>
              <a:t> U M</a:t>
            </a:r>
            <a:r>
              <a:rPr lang="tr-TR" sz="2800" baseline="-25000"/>
              <a:t>2</a:t>
            </a:r>
            <a:endParaRPr lang="tr-TR" sz="2800" dirty="0"/>
          </a:p>
        </p:txBody>
      </p:sp>
    </p:spTree>
    <p:extLst>
      <p:ext uri="{BB962C8B-B14F-4D97-AF65-F5344CB8AC3E}">
        <p14:creationId xmlns:p14="http://schemas.microsoft.com/office/powerpoint/2010/main" val="1143300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Concatenation</a:t>
            </a:r>
          </a:p>
        </p:txBody>
      </p:sp>
      <p:pic>
        <p:nvPicPr>
          <p:cNvPr id="6" name="Resim 5"/>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6115050" y="624110"/>
            <a:ext cx="5905500" cy="5867400"/>
          </a:xfrm>
          <a:prstGeom prst="rect">
            <a:avLst/>
          </a:prstGeom>
        </p:spPr>
      </p:pic>
      <p:sp>
        <p:nvSpPr>
          <p:cNvPr id="7" name="İçerik Yer Tutucusu 4"/>
          <p:cNvSpPr>
            <a:spLocks noGrp="1"/>
          </p:cNvSpPr>
          <p:nvPr>
            <p:ph idx="1"/>
          </p:nvPr>
        </p:nvSpPr>
        <p:spPr>
          <a:xfrm>
            <a:off x="2589212" y="2133600"/>
            <a:ext cx="2058988" cy="3777622"/>
          </a:xfrm>
        </p:spPr>
        <p:txBody>
          <a:bodyPr>
            <a:normAutofit/>
          </a:bodyPr>
          <a:lstStyle/>
          <a:p>
            <a:pPr marL="0" indent="0" algn="ctr">
              <a:buNone/>
            </a:pPr>
            <a:r>
              <a:rPr lang="tr-TR" sz="2800" dirty="0" err="1"/>
              <a:t>RegEx</a:t>
            </a:r>
            <a:endParaRPr lang="tr-TR" sz="2800" dirty="0"/>
          </a:p>
          <a:p>
            <a:pPr marL="0" indent="0" algn="ctr">
              <a:buNone/>
            </a:pPr>
            <a:r>
              <a:rPr lang="tr-TR" sz="2800" dirty="0"/>
              <a:t>M</a:t>
            </a:r>
            <a:r>
              <a:rPr lang="tr-TR" sz="2800" baseline="-25000" dirty="0"/>
              <a:t>1</a:t>
            </a:r>
            <a:r>
              <a:rPr lang="tr-TR" sz="2800" dirty="0"/>
              <a:t> M</a:t>
            </a:r>
            <a:r>
              <a:rPr lang="tr-TR" sz="2800" baseline="-25000" dirty="0"/>
              <a:t>2</a:t>
            </a:r>
          </a:p>
        </p:txBody>
      </p:sp>
      <p:sp>
        <p:nvSpPr>
          <p:cNvPr id="8" name="İçerik Yer Tutucusu 4"/>
          <p:cNvSpPr txBox="1">
            <a:spLocks/>
          </p:cNvSpPr>
          <p:nvPr/>
        </p:nvSpPr>
        <p:spPr>
          <a:xfrm>
            <a:off x="8374267" y="128810"/>
            <a:ext cx="2058988" cy="533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tr-TR" sz="2800" dirty="0"/>
              <a:t>M</a:t>
            </a:r>
            <a:r>
              <a:rPr lang="tr-TR" sz="2800" baseline="-25000" dirty="0"/>
              <a:t>1</a:t>
            </a:r>
            <a:r>
              <a:rPr lang="tr-TR" sz="2800" dirty="0"/>
              <a:t> M</a:t>
            </a:r>
            <a:r>
              <a:rPr lang="tr-TR" sz="2800" baseline="-25000" dirty="0"/>
              <a:t>2</a:t>
            </a:r>
            <a:endParaRPr lang="tr-TR" sz="2800" dirty="0"/>
          </a:p>
        </p:txBody>
      </p:sp>
    </p:spTree>
    <p:extLst>
      <p:ext uri="{BB962C8B-B14F-4D97-AF65-F5344CB8AC3E}">
        <p14:creationId xmlns:p14="http://schemas.microsoft.com/office/powerpoint/2010/main" val="171903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Star</a:t>
            </a:r>
          </a:p>
        </p:txBody>
      </p:sp>
      <p:pic>
        <p:nvPicPr>
          <p:cNvPr id="6" name="Resim 5"/>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819650" y="1905000"/>
            <a:ext cx="6991350" cy="3009900"/>
          </a:xfrm>
          <a:prstGeom prst="rect">
            <a:avLst/>
          </a:prstGeom>
        </p:spPr>
      </p:pic>
      <p:sp>
        <p:nvSpPr>
          <p:cNvPr id="7" name="İçerik Yer Tutucusu 4"/>
          <p:cNvSpPr>
            <a:spLocks noGrp="1"/>
          </p:cNvSpPr>
          <p:nvPr>
            <p:ph idx="1"/>
          </p:nvPr>
        </p:nvSpPr>
        <p:spPr>
          <a:xfrm>
            <a:off x="2589212" y="2133600"/>
            <a:ext cx="2058988" cy="3777622"/>
          </a:xfrm>
        </p:spPr>
        <p:txBody>
          <a:bodyPr>
            <a:normAutofit/>
          </a:bodyPr>
          <a:lstStyle/>
          <a:p>
            <a:pPr marL="0" indent="0" algn="ctr">
              <a:buNone/>
            </a:pPr>
            <a:r>
              <a:rPr lang="tr-TR" sz="2800" dirty="0" err="1"/>
              <a:t>RegEx</a:t>
            </a:r>
            <a:endParaRPr lang="tr-TR" sz="2800" dirty="0"/>
          </a:p>
          <a:p>
            <a:pPr marL="0" indent="0" algn="ctr">
              <a:buNone/>
            </a:pPr>
            <a:r>
              <a:rPr lang="tr-TR" sz="2800" dirty="0"/>
              <a:t>N*</a:t>
            </a:r>
            <a:endParaRPr lang="tr-TR" sz="2800" baseline="-25000" dirty="0"/>
          </a:p>
        </p:txBody>
      </p:sp>
      <p:sp>
        <p:nvSpPr>
          <p:cNvPr id="8" name="İçerik Yer Tutucusu 4"/>
          <p:cNvSpPr txBox="1">
            <a:spLocks/>
          </p:cNvSpPr>
          <p:nvPr/>
        </p:nvSpPr>
        <p:spPr>
          <a:xfrm>
            <a:off x="9598818" y="1264555"/>
            <a:ext cx="2058988" cy="533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tr-TR" sz="2800" dirty="0"/>
              <a:t>N*</a:t>
            </a:r>
          </a:p>
        </p:txBody>
      </p:sp>
    </p:spTree>
    <p:extLst>
      <p:ext uri="{BB962C8B-B14F-4D97-AF65-F5344CB8AC3E}">
        <p14:creationId xmlns:p14="http://schemas.microsoft.com/office/powerpoint/2010/main" val="4266064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p>
        </p:txBody>
      </p:sp>
      <p:pic>
        <p:nvPicPr>
          <p:cNvPr id="4" name="Resim 3"/>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147458" y="5127288"/>
            <a:ext cx="4871356" cy="1502554"/>
          </a:xfrm>
          <a:prstGeom prst="rect">
            <a:avLst/>
          </a:prstGeom>
        </p:spPr>
      </p:pic>
      <p:pic>
        <p:nvPicPr>
          <p:cNvPr id="11" name="Resim 10"/>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245429" y="3777459"/>
            <a:ext cx="4773385" cy="1349829"/>
          </a:xfrm>
          <a:prstGeom prst="rect">
            <a:avLst/>
          </a:prstGeom>
        </p:spPr>
      </p:pic>
      <p:sp>
        <p:nvSpPr>
          <p:cNvPr id="13" name="İçerik Yer Tutucusu 4"/>
          <p:cNvSpPr txBox="1">
            <a:spLocks/>
          </p:cNvSpPr>
          <p:nvPr/>
        </p:nvSpPr>
        <p:spPr>
          <a:xfrm>
            <a:off x="2589212" y="1219200"/>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50000"/>
              </a:lnSpc>
              <a:buFont typeface="Wingdings 3" charset="2"/>
              <a:buNone/>
            </a:pPr>
            <a:r>
              <a:rPr lang="en-US" sz="3800" b="1" dirty="0"/>
              <a:t>(</a:t>
            </a:r>
            <a:r>
              <a:rPr lang="en-US" sz="3800" b="1" dirty="0">
                <a:solidFill>
                  <a:srgbClr val="FF0000"/>
                </a:solidFill>
              </a:rPr>
              <a:t>a</a:t>
            </a:r>
            <a:r>
              <a:rPr lang="en-US" sz="3800" b="1" dirty="0">
                <a:solidFill>
                  <a:srgbClr val="00B050"/>
                </a:solidFill>
              </a:rPr>
              <a:t>b</a:t>
            </a:r>
            <a:r>
              <a:rPr lang="en-US" sz="3800" b="1" dirty="0"/>
              <a:t> U a)*</a:t>
            </a:r>
          </a:p>
          <a:p>
            <a:pPr marL="0" indent="0" algn="ctr">
              <a:lnSpc>
                <a:spcPct val="150000"/>
              </a:lnSpc>
              <a:buNone/>
            </a:pPr>
            <a:r>
              <a:rPr lang="en-US" sz="2800" dirty="0"/>
              <a:t>We can start to define input symbols as follow</a:t>
            </a:r>
          </a:p>
        </p:txBody>
      </p:sp>
      <p:sp>
        <p:nvSpPr>
          <p:cNvPr id="18" name="Serbest Form 17"/>
          <p:cNvSpPr/>
          <p:nvPr/>
        </p:nvSpPr>
        <p:spPr>
          <a:xfrm>
            <a:off x="6645729" y="963386"/>
            <a:ext cx="4855191" cy="4898571"/>
          </a:xfrm>
          <a:custGeom>
            <a:avLst/>
            <a:gdLst>
              <a:gd name="connsiteX0" fmla="*/ 0 w 4855191"/>
              <a:gd name="connsiteY0" fmla="*/ 670171 h 5078885"/>
              <a:gd name="connsiteX1" fmla="*/ 4229100 w 4855191"/>
              <a:gd name="connsiteY1" fmla="*/ 229299 h 5078885"/>
              <a:gd name="connsiteX2" fmla="*/ 4637314 w 4855191"/>
              <a:gd name="connsiteY2" fmla="*/ 3837914 h 5078885"/>
              <a:gd name="connsiteX3" fmla="*/ 2302328 w 4855191"/>
              <a:gd name="connsiteY3" fmla="*/ 5078885 h 5078885"/>
            </a:gdLst>
            <a:ahLst/>
            <a:cxnLst>
              <a:cxn ang="0">
                <a:pos x="connsiteX0" y="connsiteY0"/>
              </a:cxn>
              <a:cxn ang="0">
                <a:pos x="connsiteX1" y="connsiteY1"/>
              </a:cxn>
              <a:cxn ang="0">
                <a:pos x="connsiteX2" y="connsiteY2"/>
              </a:cxn>
              <a:cxn ang="0">
                <a:pos x="connsiteX3" y="connsiteY3"/>
              </a:cxn>
            </a:cxnLst>
            <a:rect l="l" t="t" r="r" b="b"/>
            <a:pathLst>
              <a:path w="4855191" h="5078885">
                <a:moveTo>
                  <a:pt x="0" y="670171"/>
                </a:moveTo>
                <a:cubicBezTo>
                  <a:pt x="1728107" y="185756"/>
                  <a:pt x="3456214" y="-298658"/>
                  <a:pt x="4229100" y="229299"/>
                </a:cubicBezTo>
                <a:cubicBezTo>
                  <a:pt x="5001986" y="757256"/>
                  <a:pt x="4958443" y="3029650"/>
                  <a:pt x="4637314" y="3837914"/>
                </a:cubicBezTo>
                <a:cubicBezTo>
                  <a:pt x="4316185" y="4646178"/>
                  <a:pt x="3309256" y="4862531"/>
                  <a:pt x="2302328" y="5078885"/>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erbest Form 18"/>
          <p:cNvSpPr/>
          <p:nvPr/>
        </p:nvSpPr>
        <p:spPr>
          <a:xfrm>
            <a:off x="1731936" y="1338943"/>
            <a:ext cx="4423935" cy="2988128"/>
          </a:xfrm>
          <a:custGeom>
            <a:avLst/>
            <a:gdLst>
              <a:gd name="connsiteX0" fmla="*/ 4423935 w 4423935"/>
              <a:gd name="connsiteY0" fmla="*/ 466178 h 3225706"/>
              <a:gd name="connsiteX1" fmla="*/ 554064 w 4423935"/>
              <a:gd name="connsiteY1" fmla="*/ 139606 h 3225706"/>
              <a:gd name="connsiteX2" fmla="*/ 194835 w 4423935"/>
              <a:gd name="connsiteY2" fmla="*/ 2474592 h 3225706"/>
              <a:gd name="connsiteX3" fmla="*/ 2186921 w 4423935"/>
              <a:gd name="connsiteY3" fmla="*/ 3225706 h 3225706"/>
            </a:gdLst>
            <a:ahLst/>
            <a:cxnLst>
              <a:cxn ang="0">
                <a:pos x="connsiteX0" y="connsiteY0"/>
              </a:cxn>
              <a:cxn ang="0">
                <a:pos x="connsiteX1" y="connsiteY1"/>
              </a:cxn>
              <a:cxn ang="0">
                <a:pos x="connsiteX2" y="connsiteY2"/>
              </a:cxn>
              <a:cxn ang="0">
                <a:pos x="connsiteX3" y="connsiteY3"/>
              </a:cxn>
            </a:cxnLst>
            <a:rect l="l" t="t" r="r" b="b"/>
            <a:pathLst>
              <a:path w="4423935" h="3225706">
                <a:moveTo>
                  <a:pt x="4423935" y="466178"/>
                </a:moveTo>
                <a:cubicBezTo>
                  <a:pt x="2841424" y="135524"/>
                  <a:pt x="1258914" y="-195130"/>
                  <a:pt x="554064" y="139606"/>
                </a:cubicBezTo>
                <a:cubicBezTo>
                  <a:pt x="-150786" y="474342"/>
                  <a:pt x="-77308" y="1960242"/>
                  <a:pt x="194835" y="2474592"/>
                </a:cubicBezTo>
                <a:cubicBezTo>
                  <a:pt x="466978" y="2988942"/>
                  <a:pt x="1876678" y="3198492"/>
                  <a:pt x="2186921" y="3225706"/>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9083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p>
        </p:txBody>
      </p:sp>
      <p:sp>
        <p:nvSpPr>
          <p:cNvPr id="10" name="İçerik Yer Tutucusu 4"/>
          <p:cNvSpPr>
            <a:spLocks noGrp="1"/>
          </p:cNvSpPr>
          <p:nvPr>
            <p:ph idx="1"/>
          </p:nvPr>
        </p:nvSpPr>
        <p:spPr>
          <a:xfrm>
            <a:off x="2589212" y="1219200"/>
            <a:ext cx="8915400" cy="3777622"/>
          </a:xfrm>
        </p:spPr>
        <p:txBody>
          <a:bodyPr>
            <a:normAutofit/>
          </a:bodyPr>
          <a:lstStyle/>
          <a:p>
            <a:pPr marL="0" indent="0" algn="ctr">
              <a:lnSpc>
                <a:spcPct val="150000"/>
              </a:lnSpc>
              <a:buNone/>
            </a:pPr>
            <a:r>
              <a:rPr lang="en-US" sz="3800" b="1" dirty="0"/>
              <a:t>(</a:t>
            </a:r>
            <a:r>
              <a:rPr lang="en-US" sz="3800" b="1" dirty="0">
                <a:solidFill>
                  <a:srgbClr val="FF0000"/>
                </a:solidFill>
              </a:rPr>
              <a:t>ab</a:t>
            </a:r>
            <a:r>
              <a:rPr lang="en-US" sz="3800" b="1" dirty="0"/>
              <a:t> U </a:t>
            </a:r>
            <a:r>
              <a:rPr lang="en-US" sz="3800" b="1" dirty="0">
                <a:solidFill>
                  <a:srgbClr val="00B050"/>
                </a:solidFill>
              </a:rPr>
              <a:t>a</a:t>
            </a:r>
            <a:r>
              <a:rPr lang="en-US" sz="3800" b="1" dirty="0"/>
              <a:t>)*</a:t>
            </a:r>
          </a:p>
          <a:p>
            <a:pPr marL="0" indent="0">
              <a:lnSpc>
                <a:spcPct val="150000"/>
              </a:lnSpc>
              <a:buNone/>
            </a:pPr>
            <a:r>
              <a:rPr lang="en-US" sz="2800" dirty="0"/>
              <a:t>Then we can combine both symbols to get concatenation of a and b.</a:t>
            </a:r>
          </a:p>
        </p:txBody>
      </p:sp>
      <p:pic>
        <p:nvPicPr>
          <p:cNvPr id="8" name="Resim 7"/>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589212" y="4103420"/>
            <a:ext cx="8470770" cy="1786803"/>
          </a:xfrm>
          <a:prstGeom prst="rect">
            <a:avLst/>
          </a:prstGeom>
        </p:spPr>
      </p:pic>
      <p:pic>
        <p:nvPicPr>
          <p:cNvPr id="9" name="Resim 8"/>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465615" y="5508171"/>
            <a:ext cx="4773385" cy="1349829"/>
          </a:xfrm>
          <a:prstGeom prst="rect">
            <a:avLst/>
          </a:prstGeom>
        </p:spPr>
      </p:pic>
      <p:sp>
        <p:nvSpPr>
          <p:cNvPr id="14" name="Serbest Form 13"/>
          <p:cNvSpPr/>
          <p:nvPr/>
        </p:nvSpPr>
        <p:spPr>
          <a:xfrm>
            <a:off x="996045" y="1175656"/>
            <a:ext cx="5159828" cy="3657879"/>
          </a:xfrm>
          <a:custGeom>
            <a:avLst/>
            <a:gdLst>
              <a:gd name="connsiteX0" fmla="*/ 4423935 w 4423935"/>
              <a:gd name="connsiteY0" fmla="*/ 466178 h 3225706"/>
              <a:gd name="connsiteX1" fmla="*/ 554064 w 4423935"/>
              <a:gd name="connsiteY1" fmla="*/ 139606 h 3225706"/>
              <a:gd name="connsiteX2" fmla="*/ 194835 w 4423935"/>
              <a:gd name="connsiteY2" fmla="*/ 2474592 h 3225706"/>
              <a:gd name="connsiteX3" fmla="*/ 2186921 w 4423935"/>
              <a:gd name="connsiteY3" fmla="*/ 3225706 h 3225706"/>
            </a:gdLst>
            <a:ahLst/>
            <a:cxnLst>
              <a:cxn ang="0">
                <a:pos x="connsiteX0" y="connsiteY0"/>
              </a:cxn>
              <a:cxn ang="0">
                <a:pos x="connsiteX1" y="connsiteY1"/>
              </a:cxn>
              <a:cxn ang="0">
                <a:pos x="connsiteX2" y="connsiteY2"/>
              </a:cxn>
              <a:cxn ang="0">
                <a:pos x="connsiteX3" y="connsiteY3"/>
              </a:cxn>
            </a:cxnLst>
            <a:rect l="l" t="t" r="r" b="b"/>
            <a:pathLst>
              <a:path w="4423935" h="3225706">
                <a:moveTo>
                  <a:pt x="4423935" y="466178"/>
                </a:moveTo>
                <a:cubicBezTo>
                  <a:pt x="2841424" y="135524"/>
                  <a:pt x="1258914" y="-195130"/>
                  <a:pt x="554064" y="139606"/>
                </a:cubicBezTo>
                <a:cubicBezTo>
                  <a:pt x="-150786" y="474342"/>
                  <a:pt x="-77308" y="1960242"/>
                  <a:pt x="194835" y="2474592"/>
                </a:cubicBezTo>
                <a:cubicBezTo>
                  <a:pt x="466978" y="2988942"/>
                  <a:pt x="1876678" y="3198492"/>
                  <a:pt x="2186921" y="3225706"/>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rbest Form 2"/>
          <p:cNvSpPr/>
          <p:nvPr/>
        </p:nvSpPr>
        <p:spPr>
          <a:xfrm>
            <a:off x="7168243" y="567358"/>
            <a:ext cx="4914907" cy="5953345"/>
          </a:xfrm>
          <a:custGeom>
            <a:avLst/>
            <a:gdLst>
              <a:gd name="connsiteX0" fmla="*/ 424543 w 4914907"/>
              <a:gd name="connsiteY0" fmla="*/ 1000185 h 5953345"/>
              <a:gd name="connsiteX1" fmla="*/ 4408714 w 4914907"/>
              <a:gd name="connsiteY1" fmla="*/ 298056 h 5953345"/>
              <a:gd name="connsiteX2" fmla="*/ 4376057 w 4914907"/>
              <a:gd name="connsiteY2" fmla="*/ 5294599 h 5953345"/>
              <a:gd name="connsiteX3" fmla="*/ 0 w 4914907"/>
              <a:gd name="connsiteY3" fmla="*/ 5751799 h 5953345"/>
            </a:gdLst>
            <a:ahLst/>
            <a:cxnLst>
              <a:cxn ang="0">
                <a:pos x="connsiteX0" y="connsiteY0"/>
              </a:cxn>
              <a:cxn ang="0">
                <a:pos x="connsiteX1" y="connsiteY1"/>
              </a:cxn>
              <a:cxn ang="0">
                <a:pos x="connsiteX2" y="connsiteY2"/>
              </a:cxn>
              <a:cxn ang="0">
                <a:pos x="connsiteX3" y="connsiteY3"/>
              </a:cxn>
            </a:cxnLst>
            <a:rect l="l" t="t" r="r" b="b"/>
            <a:pathLst>
              <a:path w="4914907" h="5953345">
                <a:moveTo>
                  <a:pt x="424543" y="1000185"/>
                </a:moveTo>
                <a:cubicBezTo>
                  <a:pt x="2087335" y="291252"/>
                  <a:pt x="3750128" y="-417680"/>
                  <a:pt x="4408714" y="298056"/>
                </a:cubicBezTo>
                <a:cubicBezTo>
                  <a:pt x="5067300" y="1013792"/>
                  <a:pt x="5110843" y="4385642"/>
                  <a:pt x="4376057" y="5294599"/>
                </a:cubicBezTo>
                <a:cubicBezTo>
                  <a:pt x="3641271" y="6203556"/>
                  <a:pt x="1820635" y="5977677"/>
                  <a:pt x="0" y="575179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0511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p>
        </p:txBody>
      </p:sp>
      <p:sp>
        <p:nvSpPr>
          <p:cNvPr id="10" name="İçerik Yer Tutucusu 4"/>
          <p:cNvSpPr>
            <a:spLocks noGrp="1"/>
          </p:cNvSpPr>
          <p:nvPr>
            <p:ph idx="1"/>
          </p:nvPr>
        </p:nvSpPr>
        <p:spPr>
          <a:xfrm>
            <a:off x="2589212" y="1219200"/>
            <a:ext cx="8915400" cy="3777622"/>
          </a:xfrm>
        </p:spPr>
        <p:txBody>
          <a:bodyPr>
            <a:normAutofit/>
          </a:bodyPr>
          <a:lstStyle/>
          <a:p>
            <a:pPr marL="0" indent="0" algn="ctr">
              <a:lnSpc>
                <a:spcPct val="150000"/>
              </a:lnSpc>
              <a:buNone/>
            </a:pPr>
            <a:r>
              <a:rPr lang="en-US" sz="3800" b="1" dirty="0"/>
              <a:t>(</a:t>
            </a:r>
            <a:r>
              <a:rPr lang="en-US" sz="3800" b="1" dirty="0">
                <a:solidFill>
                  <a:srgbClr val="FF0000"/>
                </a:solidFill>
              </a:rPr>
              <a:t>ab U a</a:t>
            </a:r>
            <a:r>
              <a:rPr lang="en-US" sz="3800" b="1" dirty="0"/>
              <a:t>)*</a:t>
            </a:r>
          </a:p>
          <a:p>
            <a:pPr marL="0" indent="0">
              <a:lnSpc>
                <a:spcPct val="150000"/>
              </a:lnSpc>
              <a:buNone/>
            </a:pPr>
            <a:r>
              <a:rPr lang="en-US" sz="2800" dirty="0"/>
              <a:t>After that, we should use parallel epsilon transitions to get union operation.</a:t>
            </a:r>
          </a:p>
        </p:txBody>
      </p:sp>
      <p:pic>
        <p:nvPicPr>
          <p:cNvPr id="11" name="Resim 10"/>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
          <a:stretch/>
        </p:blipFill>
        <p:spPr>
          <a:xfrm>
            <a:off x="2233736" y="3701143"/>
            <a:ext cx="9755064" cy="3135086"/>
          </a:xfrm>
          <a:prstGeom prst="rect">
            <a:avLst/>
          </a:prstGeom>
        </p:spPr>
      </p:pic>
    </p:spTree>
    <p:extLst>
      <p:ext uri="{BB962C8B-B14F-4D97-AF65-F5344CB8AC3E}">
        <p14:creationId xmlns:p14="http://schemas.microsoft.com/office/powerpoint/2010/main" val="3722408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p>
        </p:txBody>
      </p:sp>
      <p:sp>
        <p:nvSpPr>
          <p:cNvPr id="10" name="İçerik Yer Tutucusu 4"/>
          <p:cNvSpPr>
            <a:spLocks noGrp="1"/>
          </p:cNvSpPr>
          <p:nvPr>
            <p:ph idx="1"/>
          </p:nvPr>
        </p:nvSpPr>
        <p:spPr>
          <a:xfrm>
            <a:off x="2589212" y="1219200"/>
            <a:ext cx="8915400" cy="3777622"/>
          </a:xfrm>
        </p:spPr>
        <p:txBody>
          <a:bodyPr>
            <a:normAutofit/>
          </a:bodyPr>
          <a:lstStyle/>
          <a:p>
            <a:pPr marL="0" indent="0" algn="ctr">
              <a:lnSpc>
                <a:spcPct val="150000"/>
              </a:lnSpc>
              <a:buNone/>
            </a:pPr>
            <a:r>
              <a:rPr lang="en-US" sz="3800" b="1" dirty="0">
                <a:solidFill>
                  <a:srgbClr val="FF0000"/>
                </a:solidFill>
              </a:rPr>
              <a:t>(ab U a)*</a:t>
            </a:r>
          </a:p>
          <a:p>
            <a:pPr marL="0" indent="0">
              <a:lnSpc>
                <a:spcPct val="150000"/>
              </a:lnSpc>
              <a:buNone/>
            </a:pPr>
            <a:r>
              <a:rPr lang="en-US" sz="2800" dirty="0"/>
              <a:t>And finally, we apply a transformation for the star operation.</a:t>
            </a:r>
          </a:p>
        </p:txBody>
      </p:sp>
      <p:pic>
        <p:nvPicPr>
          <p:cNvPr id="4" name="Resim 3"/>
          <p:cNvPicPr>
            <a:picLocks noChangeAspect="1"/>
          </p:cNvPicPr>
          <p:nvPr/>
        </p:nvPicPr>
        <p:blipFill rotWithShape="1">
          <a:blip r:embed="rId3">
            <a:clrChange>
              <a:clrFrom>
                <a:srgbClr val="FFFFFF"/>
              </a:clrFrom>
              <a:clrTo>
                <a:srgbClr val="FFFFFF">
                  <a:alpha val="0"/>
                </a:srgbClr>
              </a:clrTo>
            </a:clrChange>
          </a:blip>
          <a:srcRect l="23889" t="26967" r="34682" b="38183"/>
          <a:stretch/>
        </p:blipFill>
        <p:spPr>
          <a:xfrm>
            <a:off x="2409372" y="2668599"/>
            <a:ext cx="8853714" cy="4189401"/>
          </a:xfrm>
          <a:prstGeom prst="rect">
            <a:avLst/>
          </a:prstGeom>
        </p:spPr>
      </p:pic>
    </p:spTree>
    <p:extLst>
      <p:ext uri="{BB962C8B-B14F-4D97-AF65-F5344CB8AC3E}">
        <p14:creationId xmlns:p14="http://schemas.microsoft.com/office/powerpoint/2010/main" val="1005012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a:p>
          <a:p>
            <a:r>
              <a:rPr lang="en-US" sz="2800"/>
              <a:t>That’s all.</a:t>
            </a:r>
          </a:p>
          <a:p>
            <a:endParaRPr lang="en-US" sz="2800"/>
          </a:p>
          <a:p>
            <a:r>
              <a:rPr lang="en-US" altLang="tr-TR" sz="2800"/>
              <a:t>Thanks for listening.</a:t>
            </a:r>
          </a:p>
        </p:txBody>
      </p:sp>
    </p:spTree>
    <p:extLst>
      <p:ext uri="{BB962C8B-B14F-4D97-AF65-F5344CB8AC3E}">
        <p14:creationId xmlns:p14="http://schemas.microsoft.com/office/powerpoint/2010/main" val="999634771"/>
      </p:ext>
    </p:extLst>
  </p:cSld>
  <p:clrMapOvr>
    <a:masterClrMapping/>
  </p:clrMapOvr>
</p:sld>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1389</TotalTime>
  <Words>425</Words>
  <Application>Microsoft Macintosh PowerPoint</Application>
  <PresentationFormat>Geniş ekran</PresentationFormat>
  <Paragraphs>63</Paragraphs>
  <Slides>10</Slides>
  <Notes>10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10</vt:i4>
      </vt:variant>
    </vt:vector>
  </HeadingPairs>
  <TitlesOfParts>
    <vt:vector size="15" baseType="lpstr">
      <vt:lpstr>Arial</vt:lpstr>
      <vt:lpstr>Calibri</vt:lpstr>
      <vt:lpstr>Century Gothic</vt:lpstr>
      <vt:lpstr>Wingdings 3</vt:lpstr>
      <vt:lpstr>Duman</vt:lpstr>
      <vt:lpstr> Theory of Computation  Lesson 5</vt:lpstr>
      <vt:lpstr>RegEx to NFA</vt:lpstr>
      <vt:lpstr>Union</vt:lpstr>
      <vt:lpstr>Concatenation</vt:lpstr>
      <vt:lpstr>Star</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99</cp:revision>
  <dcterms:created xsi:type="dcterms:W3CDTF">2022-09-29T06:50:07Z</dcterms:created>
  <dcterms:modified xsi:type="dcterms:W3CDTF">2025-11-21T06:55:20Z</dcterms:modified>
</cp:coreProperties>
</file>