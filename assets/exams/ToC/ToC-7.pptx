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7"/>
  </p:notesMasterIdLst>
  <p:sldIdLst>
    <p:sldId id="330" r:id="rId2"/>
    <p:sldId id="306" r:id="rId3"/>
    <p:sldId id="307" r:id="rId4"/>
    <p:sldId id="308" r:id="rId5"/>
    <p:sldId id="257" r:id="rId6"/>
    <p:sldId id="309" r:id="rId7"/>
    <p:sldId id="310" r:id="rId8"/>
    <p:sldId id="311" r:id="rId9"/>
    <p:sldId id="285" r:id="rId10"/>
    <p:sldId id="313" r:id="rId11"/>
    <p:sldId id="286" r:id="rId12"/>
    <p:sldId id="312" r:id="rId13"/>
    <p:sldId id="331" r:id="rId14"/>
    <p:sldId id="314" r:id="rId15"/>
    <p:sldId id="315" r:id="rId16"/>
    <p:sldId id="316" r:id="rId17"/>
    <p:sldId id="317" r:id="rId18"/>
    <p:sldId id="318" r:id="rId19"/>
    <p:sldId id="319" r:id="rId20"/>
    <p:sldId id="321" r:id="rId21"/>
    <p:sldId id="322" r:id="rId22"/>
    <p:sldId id="320" r:id="rId23"/>
    <p:sldId id="323" r:id="rId24"/>
    <p:sldId id="324" r:id="rId25"/>
    <p:sldId id="33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414" autoAdjust="0"/>
    <p:restoredTop sz="94364" autoAdjust="0"/>
  </p:normalViewPr>
  <p:slideViewPr>
    <p:cSldViewPr snapToGrid="0">
      <p:cViewPr varScale="1">
        <p:scale>
          <a:sx n="107" d="100"/>
          <a:sy n="107" d="100"/>
        </p:scale>
        <p:origin x="1384" y="160"/>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tr-TR" err="1"/>
              <a:t>It is seventh</a:t>
            </a:r>
            <a:r>
              <a:rPr lang="en-US"/>
              <a:t> </a:t>
            </a:r>
            <a:r>
              <a:rPr lang="tr-TR" err="1"/>
              <a:t>lesson and </a:t>
            </a:r>
            <a:r>
              <a:rPr lang="en-US"/>
              <a:t>we will start a new chapter: Context Free Languages. In this context, we will </a:t>
            </a:r>
            <a:r>
              <a:rPr lang="tr-TR"/>
              <a:t>start with </a:t>
            </a:r>
            <a:r>
              <a:rPr lang="en-US"/>
              <a:t>Context Free Grammar.</a:t>
            </a:r>
          </a:p>
          <a:p>
            <a:pPr marL="0" marR="0" lvl="0" indent="0" algn="l" defTabSz="914400" rtl="0" eaLnBrk="1" fontAlgn="auto" latinLnBrk="0" hangingPunct="1">
              <a:lnSpc>
                <a:spcPct val="100000"/>
              </a:lnSpc>
              <a:spcBef>
                <a:spcPct val="0"/>
              </a:spcBef>
              <a:spcAft>
                <a:spcPct val="0"/>
              </a:spcAft>
              <a:buClrTx/>
              <a:buSzTx/>
              <a:buFontTx/>
              <a:buNone/>
              <a:defRPr/>
            </a:pPr>
            <a:endParaRPr lang="en-US"/>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116115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This is one of the important words of the American linguist and cognitive scientist Noam Chomsky.</a:t>
            </a:r>
            <a:endParaRPr lang="tr-TR" dirty="0"/>
          </a:p>
          <a:p>
            <a:endParaRPr lang="tr-TR" dirty="0"/>
          </a:p>
          <a:p>
            <a:r>
              <a:rPr lang="en-US" dirty="0"/>
              <a:t>Language is a process of free creation; its laws and principles are fixed, but the manner in which the principles of generation are used is free and infinitely varied. Even the interpretation and use of words involves a process of free creation.</a:t>
            </a:r>
          </a:p>
        </p:txBody>
      </p:sp>
      <p:sp>
        <p:nvSpPr>
          <p:cNvPr id="4" name="Slayt Numarası Yer Tutucusu 3"/>
          <p:cNvSpPr>
            <a:spLocks noGrp="1"/>
          </p:cNvSpPr>
          <p:nvPr>
            <p:ph type="sldNum" sz="quarter" idx="10"/>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4014691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According to Chomsky Hierarchy defined by Noam Chomsky in 1956, depending on restrictions and complexity present in the grammar, languages find a place in the hierarchy of formal languages. </a:t>
            </a:r>
          </a:p>
          <a:p>
            <a:endParaRPr lang="en-US" dirty="0"/>
          </a:p>
          <a:p>
            <a:r>
              <a:rPr lang="en-US" dirty="0"/>
              <a:t>In the previous chapter, we saw the regular language called Type-3. Now we will learn the Context Free Language title, which he calls Type-2. Within the scope of this course, we will also see Turing machines at the Type-0 level. There is not only a Type-1 level context-sensitive topic in our lecture notes.</a:t>
            </a:r>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2589314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From the point of view of natural language processing, Context free grammar aims to formulate sentences people make up. For example, if we say that a sentence consists of two parts as noun-phrase (NP) and verb-phrase (VP), the different expansion states of NP and VP can be modeled as follows. After all, any sentence in natural language can be constructed or confirmed with the help of this grammar.</a:t>
            </a:r>
          </a:p>
        </p:txBody>
      </p:sp>
      <p:sp>
        <p:nvSpPr>
          <p:cNvPr id="4" name="Slayt Numarası Yer Tutucusu 3"/>
          <p:cNvSpPr>
            <a:spLocks noGrp="1"/>
          </p:cNvSpPr>
          <p:nvPr>
            <p:ph type="sldNum" sz="quarter" idx="10"/>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1573210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We can think of the context free grammar structure as follows. How can we generate a zero to the power of n one to the power of n word or sentence with memoryless tools just like in regular language? It may seem difficult at first glance. But there is actually a simple method.</a:t>
            </a:r>
          </a:p>
        </p:txBody>
      </p:sp>
      <p:sp>
        <p:nvSpPr>
          <p:cNvPr id="4" name="Slayt Numarası Yer Tutucusu 3"/>
          <p:cNvSpPr>
            <a:spLocks noGrp="1"/>
          </p:cNvSpPr>
          <p:nvPr>
            <p:ph type="sldNum" sz="quarter" idx="5"/>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3013543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This is also a method that people with a weak memory can use: getting the job done on time.</a:t>
            </a:r>
            <a:endParaRPr lang="tr-TR" sz="1200" dirty="0"/>
          </a:p>
          <a:p>
            <a:pPr marL="0" indent="0">
              <a:lnSpc>
                <a:spcPct val="150000"/>
              </a:lnSpc>
              <a:buNone/>
            </a:pPr>
            <a:endParaRPr lang="en-US" sz="1200" dirty="0"/>
          </a:p>
          <a:p>
            <a:pPr marL="0" indent="0">
              <a:lnSpc>
                <a:spcPct val="150000"/>
              </a:lnSpc>
              <a:buNone/>
            </a:pPr>
            <a:r>
              <a:rPr lang="en-US" sz="1200" dirty="0"/>
              <a:t>If we generate a 0 every time we generate a 1, then we don't have to worry about whether the two symbols are equal in number.</a:t>
            </a:r>
          </a:p>
        </p:txBody>
      </p:sp>
      <p:sp>
        <p:nvSpPr>
          <p:cNvPr id="4" name="Slayt Numarası Yer Tutucusu 3"/>
          <p:cNvSpPr>
            <a:spLocks noGrp="1"/>
          </p:cNvSpPr>
          <p:nvPr>
            <p:ph type="sldNum" sz="quarter" idx="5"/>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621826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It's also very easy to design as a grammar. We can create a recursion with one rule. Thus, we can expand our sentence as much as we want by adding the symbol 0 to both its left and 1 to its right at the same time. But just as every recursion operation has a stopping criterion, here too we need a termination rule.</a:t>
            </a:r>
          </a:p>
        </p:txBody>
      </p:sp>
      <p:sp>
        <p:nvSpPr>
          <p:cNvPr id="4" name="Slayt Numarası Yer Tutucusu 3"/>
          <p:cNvSpPr>
            <a:spLocks noGrp="1"/>
          </p:cNvSpPr>
          <p:nvPr>
            <p:ph type="sldNum" sz="quarter" idx="5"/>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270667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The termination rule here could be epsilon. We can use pipeline which means OR to write rules side by side.</a:t>
            </a:r>
          </a:p>
        </p:txBody>
      </p:sp>
      <p:sp>
        <p:nvSpPr>
          <p:cNvPr id="4" name="Slayt Numarası Yer Tutucusu 3"/>
          <p:cNvSpPr>
            <a:spLocks noGrp="1"/>
          </p:cNvSpPr>
          <p:nvPr>
            <p:ph type="sldNum" sz="quarter" idx="5"/>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3312043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Formal Definition</a:t>
            </a:r>
          </a:p>
          <a:p>
            <a:r>
              <a:rPr lang="en-US" sz="1200" b="0" i="0" u="none" strike="noStrike" kern="1200" baseline="0" dirty="0">
                <a:solidFill>
                  <a:schemeClr val="tx1"/>
                </a:solidFill>
                <a:latin typeface="+mn-lt"/>
                <a:ea typeface="+mn-ea"/>
                <a:cs typeface="+mn-cs"/>
              </a:rPr>
              <a:t>A context-free grammar is a 4-tuple </a:t>
            </a:r>
          </a:p>
          <a:p>
            <a:r>
              <a:rPr lang="en-US" sz="1200" b="0" i="0" u="none" strike="noStrike" kern="1200" baseline="0" dirty="0">
                <a:solidFill>
                  <a:schemeClr val="tx1"/>
                </a:solidFill>
                <a:latin typeface="+mn-lt"/>
                <a:ea typeface="+mn-ea"/>
                <a:cs typeface="+mn-cs"/>
              </a:rPr>
              <a:t>G = capital V, capital sigma, capital R, and capital S where</a:t>
            </a:r>
          </a:p>
          <a:p>
            <a:r>
              <a:rPr lang="en-US" sz="1200" b="0" i="0" u="none" strike="noStrike" kern="1200" baseline="0" dirty="0">
                <a:solidFill>
                  <a:schemeClr val="tx1"/>
                </a:solidFill>
                <a:latin typeface="+mn-lt"/>
                <a:ea typeface="+mn-ea"/>
                <a:cs typeface="+mn-cs"/>
              </a:rPr>
              <a:t>Capital V is a finite set, whose elements are called variables,</a:t>
            </a:r>
          </a:p>
          <a:p>
            <a:r>
              <a:rPr lang="en-US" sz="1200" b="0" i="0" u="none" strike="noStrike" kern="1200" baseline="0" dirty="0">
                <a:solidFill>
                  <a:schemeClr val="tx1"/>
                </a:solidFill>
                <a:latin typeface="+mn-lt"/>
                <a:ea typeface="+mn-ea"/>
                <a:cs typeface="+mn-cs"/>
              </a:rPr>
              <a:t>Capital sigma is a finite set, whose elements are called terminals,</a:t>
            </a:r>
          </a:p>
          <a:p>
            <a:r>
              <a:rPr lang="en-US" sz="1200" b="0" i="0" u="none" strike="noStrike" kern="1200" baseline="0" dirty="0">
                <a:solidFill>
                  <a:schemeClr val="tx1"/>
                </a:solidFill>
                <a:latin typeface="+mn-lt"/>
                <a:ea typeface="+mn-ea"/>
                <a:cs typeface="+mn-cs"/>
              </a:rPr>
              <a:t>For this lecture note, intersection of Capital V and capital sigma must be empty set. Don't be surprised to see that it's not mandatory in other notes.</a:t>
            </a:r>
          </a:p>
          <a:p>
            <a:r>
              <a:rPr lang="en-US" sz="1200" b="0" i="0" u="none" strike="noStrike" kern="1200" baseline="0" dirty="0">
                <a:solidFill>
                  <a:schemeClr val="tx1"/>
                </a:solidFill>
                <a:latin typeface="+mn-lt"/>
                <a:ea typeface="+mn-ea"/>
                <a:cs typeface="+mn-cs"/>
              </a:rPr>
              <a:t>Capital S is an element of V ; it is called the start variable,</a:t>
            </a:r>
          </a:p>
          <a:p>
            <a:r>
              <a:rPr lang="en-US" sz="1200" b="0" i="0" u="none" strike="noStrike" kern="1200" baseline="0" dirty="0">
                <a:solidFill>
                  <a:schemeClr val="tx1"/>
                </a:solidFill>
                <a:latin typeface="+mn-lt"/>
                <a:ea typeface="+mn-ea"/>
                <a:cs typeface="+mn-cs"/>
              </a:rPr>
              <a:t>Capital R is a finite set, whose elements are called rules. Each rule has the form capital A goes to w, where A is element of capital V and w is element of capital V union capital sigma star.</a:t>
            </a:r>
          </a:p>
          <a:p>
            <a:endParaRPr lang="en-US" sz="1200" b="0" i="0" u="none" strike="noStrike" kern="1200" baseline="0" dirty="0">
              <a:solidFill>
                <a:schemeClr val="tx1"/>
              </a:solidFill>
              <a:latin typeface="+mn-lt"/>
              <a:ea typeface="+mn-ea"/>
              <a:cs typeface="+mn-cs"/>
            </a:endParaRPr>
          </a:p>
        </p:txBody>
      </p:sp>
      <p:sp>
        <p:nvSpPr>
          <p:cNvPr id="4" name="Slayt Numarası Yer Tutucusu 3"/>
          <p:cNvSpPr>
            <a:spLocks noGrp="1"/>
          </p:cNvSpPr>
          <p:nvPr>
            <p:ph type="sldNum" sz="quarter" idx="5"/>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1096034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Now, we will learn to derivate any string by using grammar rules. Here, our example is a to the power of 4 b to the power of 2. First, we should label the grammar rules as 1, 2, 3 so on. Then </a:t>
            </a:r>
            <a:r>
              <a:rPr lang="en-US" sz="1200" dirty="0" err="1"/>
              <a:t>begining</a:t>
            </a:r>
            <a:r>
              <a:rPr lang="en-US" sz="1200" dirty="0"/>
              <a:t> from start variable, and we must expand all variables we hold.</a:t>
            </a:r>
          </a:p>
        </p:txBody>
      </p:sp>
      <p:sp>
        <p:nvSpPr>
          <p:cNvPr id="4" name="Slayt Numarası Yer Tutucusu 3"/>
          <p:cNvSpPr>
            <a:spLocks noGrp="1"/>
          </p:cNvSpPr>
          <p:nvPr>
            <p:ph type="sldNum" sz="quarter" idx="5"/>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3558821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On the right are the variables we hold. In the first line, both variables capital A and capital B are waiting to be expanded. We must find the best derivative, but we must not forget that there is no single absolute solution.</a:t>
            </a:r>
          </a:p>
          <a:p>
            <a:r>
              <a:rPr lang="en-US" sz="1200" dirty="0"/>
              <a:t>In this example, we choose to expand variable A in the first row using the third rule.</a:t>
            </a:r>
          </a:p>
        </p:txBody>
      </p:sp>
      <p:sp>
        <p:nvSpPr>
          <p:cNvPr id="4" name="Slayt Numarası Yer Tutucusu 3"/>
          <p:cNvSpPr>
            <a:spLocks noGrp="1"/>
          </p:cNvSpPr>
          <p:nvPr>
            <p:ph type="sldNum" sz="quarter" idx="5"/>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2423764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The derivation solution is up to you. You can show that the word is an element of this grammar by going a different way.</a:t>
            </a:r>
            <a:endParaRPr lang="tr-TR" sz="1200" dirty="0"/>
          </a:p>
          <a:p>
            <a:r>
              <a:rPr lang="en-US" sz="1200" dirty="0"/>
              <a:t>Here, the red circles show the variables chosen to expand in the next step in derivation.</a:t>
            </a:r>
            <a:endParaRPr lang="tr-TR" sz="1200" dirty="0"/>
          </a:p>
          <a:p>
            <a:r>
              <a:rPr lang="en-US" sz="1200" dirty="0"/>
              <a:t>For easy understanding, you can follow the derivation steps on the right parse tree.</a:t>
            </a:r>
          </a:p>
        </p:txBody>
      </p:sp>
      <p:sp>
        <p:nvSpPr>
          <p:cNvPr id="4" name="Slayt Numarası Yer Tutucusu 3"/>
          <p:cNvSpPr>
            <a:spLocks noGrp="1"/>
          </p:cNvSpPr>
          <p:nvPr>
            <p:ph type="sldNum" sz="quarter" idx="5"/>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2838914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It is your turn</a:t>
            </a:r>
            <a:endParaRPr lang="tr-TR" dirty="0"/>
          </a:p>
          <a:p>
            <a:r>
              <a:rPr lang="en-US" dirty="0"/>
              <a:t>Solve it if you can...</a:t>
            </a:r>
            <a:endParaRPr lang="tr-TR" dirty="0"/>
          </a:p>
          <a:p>
            <a:pPr marL="0" indent="0">
              <a:buNone/>
            </a:pPr>
            <a:r>
              <a:rPr lang="en-US" altLang="tr-TR" sz="1200" dirty="0"/>
              <a:t>Can we derivate ‘1010101’</a:t>
            </a:r>
          </a:p>
          <a:p>
            <a:pPr marL="0" indent="0">
              <a:buNone/>
            </a:pPr>
            <a:r>
              <a:rPr lang="en-US" altLang="tr-TR" sz="1200" dirty="0"/>
              <a:t>using the grammar S goes</a:t>
            </a:r>
            <a:r>
              <a:rPr lang="tr-TR" altLang="tr-TR" sz="1200" dirty="0"/>
              <a:t> </a:t>
            </a:r>
            <a:r>
              <a:rPr lang="en-US" altLang="tr-TR" sz="1200" dirty="0"/>
              <a:t>1S1 or 0S0  </a:t>
            </a:r>
            <a:r>
              <a:rPr lang="tr-TR" altLang="tr-TR" sz="1200" dirty="0" err="1"/>
              <a:t>or</a:t>
            </a:r>
            <a:r>
              <a:rPr lang="en-US" altLang="tr-TR" sz="1200" dirty="0"/>
              <a:t> ε</a:t>
            </a:r>
          </a:p>
          <a:p>
            <a:endParaRPr lang="en-US"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13</a:t>
            </a:fld>
            <a:endParaRPr lang="tr-TR"/>
          </a:p>
        </p:txBody>
      </p:sp>
    </p:spTree>
    <p:extLst>
      <p:ext uri="{BB962C8B-B14F-4D97-AF65-F5344CB8AC3E}">
        <p14:creationId xmlns:p14="http://schemas.microsoft.com/office/powerpoint/2010/main" val="734913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In this first example, we will model the spelling of parenthetical symbols used in mathematics. You know, when a left parenthesis is used, it has to match a right parenthesis typed later. Otherwise, there will be a typo in the use of parentheses. In this problem, we use symbol-a instead of left parenthesis and symbol-b for right parenthesis.</a:t>
            </a:r>
          </a:p>
        </p:txBody>
      </p:sp>
      <p:sp>
        <p:nvSpPr>
          <p:cNvPr id="4" name="Slayt Numarası Yer Tutucusu 3"/>
          <p:cNvSpPr>
            <a:spLocks noGrp="1"/>
          </p:cNvSpPr>
          <p:nvPr>
            <p:ph type="sldNum" sz="quarter" idx="5"/>
          </p:nvPr>
        </p:nvSpPr>
        <p:spPr/>
        <p:txBody>
          <a:bodyPr/>
          <a:lstStyle/>
          <a:p>
            <a:fld id="{6049F921-94E2-2146-8BC6-089D7989E1CD}" type="slidenum">
              <a:rPr lang="tr-TR" smtClean="0"/>
              <a:t>14</a:t>
            </a:fld>
            <a:endParaRPr lang="tr-TR"/>
          </a:p>
        </p:txBody>
      </p:sp>
    </p:spTree>
    <p:extLst>
      <p:ext uri="{BB962C8B-B14F-4D97-AF65-F5344CB8AC3E}">
        <p14:creationId xmlns:p14="http://schemas.microsoft.com/office/powerpoint/2010/main" val="926949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There are three critical details that need to be modeled here:</a:t>
            </a:r>
          </a:p>
          <a:p>
            <a:pPr marL="0" indent="0">
              <a:buNone/>
            </a:pPr>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15</a:t>
            </a:fld>
            <a:endParaRPr lang="tr-TR"/>
          </a:p>
        </p:txBody>
      </p:sp>
    </p:spTree>
    <p:extLst>
      <p:ext uri="{BB962C8B-B14F-4D97-AF65-F5344CB8AC3E}">
        <p14:creationId xmlns:p14="http://schemas.microsoft.com/office/powerpoint/2010/main" val="714106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The first one is the nested parentheses. We need a rule to model this kind of parentheses. Capital S goes a-capital S-b rule represent the nested parentheses.</a:t>
            </a:r>
          </a:p>
          <a:p>
            <a:pPr marL="0" indent="0">
              <a:buNone/>
            </a:pPr>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16</a:t>
            </a:fld>
            <a:endParaRPr lang="tr-TR"/>
          </a:p>
        </p:txBody>
      </p:sp>
    </p:spTree>
    <p:extLst>
      <p:ext uri="{BB962C8B-B14F-4D97-AF65-F5344CB8AC3E}">
        <p14:creationId xmlns:p14="http://schemas.microsoft.com/office/powerpoint/2010/main" val="1230866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The second one is side-by-side parentheses. We know that the parentheses can be used in the same level. Capital S goes double capital S rule solves this situation.</a:t>
            </a:r>
          </a:p>
        </p:txBody>
      </p:sp>
      <p:sp>
        <p:nvSpPr>
          <p:cNvPr id="4" name="Slayt Numarası Yer Tutucusu 3"/>
          <p:cNvSpPr>
            <a:spLocks noGrp="1"/>
          </p:cNvSpPr>
          <p:nvPr>
            <p:ph type="sldNum" sz="quarter" idx="5"/>
          </p:nvPr>
        </p:nvSpPr>
        <p:spPr/>
        <p:txBody>
          <a:bodyPr/>
          <a:lstStyle/>
          <a:p>
            <a:fld id="{6049F921-94E2-2146-8BC6-089D7989E1CD}" type="slidenum">
              <a:rPr lang="tr-TR" smtClean="0"/>
              <a:t>17</a:t>
            </a:fld>
            <a:endParaRPr lang="tr-TR"/>
          </a:p>
        </p:txBody>
      </p:sp>
    </p:spTree>
    <p:extLst>
      <p:ext uri="{BB962C8B-B14F-4D97-AF65-F5344CB8AC3E}">
        <p14:creationId xmlns:p14="http://schemas.microsoft.com/office/powerpoint/2010/main" val="1290968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The last one is termination of recursive steps. Since first two rules contain recursions, we know we must stop them with another rule. Capital S goes epsilon will make this.</a:t>
            </a:r>
          </a:p>
          <a:p>
            <a:pPr marL="0" indent="0">
              <a:buNone/>
            </a:pPr>
            <a:endParaRPr lang="en-US" dirty="0"/>
          </a:p>
        </p:txBody>
      </p:sp>
      <p:sp>
        <p:nvSpPr>
          <p:cNvPr id="4" name="Slayt Numarası Yer Tutucusu 3"/>
          <p:cNvSpPr>
            <a:spLocks noGrp="1"/>
          </p:cNvSpPr>
          <p:nvPr>
            <p:ph type="sldNum" sz="quarter" idx="5"/>
          </p:nvPr>
        </p:nvSpPr>
        <p:spPr/>
        <p:txBody>
          <a:bodyPr/>
          <a:lstStyle/>
          <a:p>
            <a:fld id="{6049F921-94E2-2146-8BC6-089D7989E1CD}" type="slidenum">
              <a:rPr lang="tr-TR" smtClean="0"/>
              <a:t>18</a:t>
            </a:fld>
            <a:endParaRPr lang="tr-TR"/>
          </a:p>
        </p:txBody>
      </p:sp>
    </p:spTree>
    <p:extLst>
      <p:ext uri="{BB962C8B-B14F-4D97-AF65-F5344CB8AC3E}">
        <p14:creationId xmlns:p14="http://schemas.microsoft.com/office/powerpoint/2010/main" val="23938474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This is the second example in context free grammar. Consider the language capital L = a to the power of n b to the power of m c to the power of n + m so that n and m are greater than or equal to 0.</a:t>
            </a:r>
          </a:p>
          <a:p>
            <a:pPr marL="0" indent="0">
              <a:lnSpc>
                <a:spcPct val="150000"/>
              </a:lnSpc>
              <a:buNone/>
            </a:pPr>
            <a:r>
              <a:rPr lang="en-US" sz="1200" dirty="0"/>
              <a:t>As an example, the word a to the power of 3 b to the power of 2 c to the power of 5 is an element of the L language used in this problem.</a:t>
            </a: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19</a:t>
            </a:fld>
            <a:endParaRPr lang="tr-TR"/>
          </a:p>
        </p:txBody>
      </p:sp>
    </p:spTree>
    <p:extLst>
      <p:ext uri="{BB962C8B-B14F-4D97-AF65-F5344CB8AC3E}">
        <p14:creationId xmlns:p14="http://schemas.microsoft.com/office/powerpoint/2010/main" val="157065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If we paint all the a symbols on the right and the same number of c symbols with blue and the remaining symbols green, we may immediately think of writing the following rules.</a:t>
            </a:r>
            <a:endParaRPr lang="tr-TR" sz="1200" dirty="0"/>
          </a:p>
          <a:p>
            <a:pPr marL="0" indent="0">
              <a:lnSpc>
                <a:spcPct val="150000"/>
              </a:lnSpc>
              <a:buNone/>
            </a:pP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20</a:t>
            </a:fld>
            <a:endParaRPr lang="tr-TR"/>
          </a:p>
        </p:txBody>
      </p:sp>
    </p:spTree>
    <p:extLst>
      <p:ext uri="{BB962C8B-B14F-4D97-AF65-F5344CB8AC3E}">
        <p14:creationId xmlns:p14="http://schemas.microsoft.com/office/powerpoint/2010/main" val="229289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If the rules are written without proper planning, some incorrect words may be produced.</a:t>
            </a:r>
            <a:r>
              <a:rPr lang="tr-TR" sz="1200" dirty="0"/>
              <a:t> </a:t>
            </a:r>
            <a:r>
              <a:rPr lang="en-US" sz="1200" dirty="0"/>
              <a:t>Here, we must</a:t>
            </a:r>
            <a:r>
              <a:rPr lang="tr-TR" sz="1200" dirty="0"/>
              <a:t> </a:t>
            </a:r>
            <a:r>
              <a:rPr lang="en-US" sz="1200" dirty="0"/>
              <a:t>start to write our algorithm at first.</a:t>
            </a: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21</a:t>
            </a:fld>
            <a:endParaRPr lang="tr-TR"/>
          </a:p>
        </p:txBody>
      </p:sp>
    </p:spTree>
    <p:extLst>
      <p:ext uri="{BB962C8B-B14F-4D97-AF65-F5344CB8AC3E}">
        <p14:creationId xmlns:p14="http://schemas.microsoft.com/office/powerpoint/2010/main" val="1309033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Since the definition of the language</a:t>
            </a:r>
            <a:r>
              <a:rPr lang="tr-TR" sz="1200" dirty="0"/>
              <a:t> </a:t>
            </a:r>
            <a:r>
              <a:rPr lang="en-US" sz="1200" dirty="0"/>
              <a:t>starts with the symbol a, we must first model the symbols a and c attached to it. So we think of the language as outer layer and inner layer. Once the outer layer is derived, we can move on to the inner layer. So let the variable S goes to the outer layer A first.</a:t>
            </a:r>
            <a:r>
              <a:rPr lang="tr-TR" sz="1200" dirty="0"/>
              <a:t> </a:t>
            </a:r>
            <a:r>
              <a:rPr lang="en-US" sz="1200" dirty="0"/>
              <a:t>In addition, while writing each rule, it should be checked whether the language can be epsilon at that rule level and if necessary, the epsilon rule should be added.</a:t>
            </a:r>
            <a:r>
              <a:rPr lang="tr-TR" sz="1200" dirty="0"/>
              <a:t> </a:t>
            </a:r>
            <a:r>
              <a:rPr lang="en-US" sz="1200" dirty="0"/>
              <a:t>Since the n and m values in the question can be zero, the language accepts the completely empty string. So language can go to epsilon at this level.</a:t>
            </a: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22</a:t>
            </a:fld>
            <a:endParaRPr lang="tr-TR"/>
          </a:p>
        </p:txBody>
      </p:sp>
    </p:spTree>
    <p:extLst>
      <p:ext uri="{BB962C8B-B14F-4D97-AF65-F5344CB8AC3E}">
        <p14:creationId xmlns:p14="http://schemas.microsoft.com/office/powerpoint/2010/main" val="2769316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Variable-A can be derived with the symbol-a from the left and the symbol-c from the right. Once the derivation for outer layer-A is finished, the grammar should move to inner layer-B. In this rule, the grammar can be terminated with epsilon.</a:t>
            </a:r>
          </a:p>
          <a:p>
            <a:pPr marL="0" indent="0">
              <a:lnSpc>
                <a:spcPct val="150000"/>
              </a:lnSpc>
              <a:buNone/>
            </a:pP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23</a:t>
            </a:fld>
            <a:endParaRPr lang="tr-TR"/>
          </a:p>
        </p:txBody>
      </p:sp>
    </p:spTree>
    <p:extLst>
      <p:ext uri="{BB962C8B-B14F-4D97-AF65-F5344CB8AC3E}">
        <p14:creationId xmlns:p14="http://schemas.microsoft.com/office/powerpoint/2010/main" val="15006153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Likewise, variable B can be derived with the symbol b from the left and the symbol c from the right. Once the derivation for inner layer B is finished, the grammar must</a:t>
            </a:r>
            <a:r>
              <a:rPr lang="tr-TR" sz="1200" dirty="0"/>
              <a:t> </a:t>
            </a:r>
            <a:r>
              <a:rPr lang="en-US" sz="1200" dirty="0"/>
              <a:t>be terminated with epsilon.</a:t>
            </a:r>
          </a:p>
        </p:txBody>
      </p:sp>
      <p:sp>
        <p:nvSpPr>
          <p:cNvPr id="4" name="Slayt Numarası Yer Tutucusu 3"/>
          <p:cNvSpPr>
            <a:spLocks noGrp="1"/>
          </p:cNvSpPr>
          <p:nvPr>
            <p:ph type="sldNum" sz="quarter" idx="5"/>
          </p:nvPr>
        </p:nvSpPr>
        <p:spPr/>
        <p:txBody>
          <a:bodyPr/>
          <a:lstStyle/>
          <a:p>
            <a:fld id="{6049F921-94E2-2146-8BC6-089D7989E1CD}" type="slidenum">
              <a:rPr lang="tr-TR" smtClean="0"/>
              <a:t>24</a:t>
            </a:fld>
            <a:endParaRPr lang="tr-TR"/>
          </a:p>
        </p:txBody>
      </p:sp>
    </p:spTree>
    <p:extLst>
      <p:ext uri="{BB962C8B-B14F-4D97-AF65-F5344CB8AC3E}">
        <p14:creationId xmlns:p14="http://schemas.microsoft.com/office/powerpoint/2010/main" val="3038610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25</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dirty="0"/>
            </a:br>
            <a:r>
              <a:rPr lang="en-US" dirty="0"/>
              <a:t>Theory of Computation </a:t>
            </a:r>
            <a:br>
              <a:rPr lang="tr-TR" dirty="0"/>
            </a:br>
            <a:r>
              <a:rPr lang="en-US" sz="3600" dirty="0"/>
              <a:t>Lesson </a:t>
            </a:r>
            <a:r>
              <a:rPr lang="tr-TR" sz="3600" dirty="0"/>
              <a:t>7</a:t>
            </a:r>
            <a:endParaRPr lang="en-US" sz="3600" dirty="0"/>
          </a:p>
        </p:txBody>
      </p:sp>
      <p:sp>
        <p:nvSpPr>
          <p:cNvPr id="3" name="Alt Başlık 2"/>
          <p:cNvSpPr>
            <a:spLocks noGrp="1"/>
          </p:cNvSpPr>
          <p:nvPr>
            <p:ph type="subTitle" idx="1"/>
          </p:nvPr>
        </p:nvSpPr>
        <p:spPr/>
        <p:txBody>
          <a:bodyPr anchor="b">
            <a:normAutofit/>
          </a:bodyPr>
          <a:lstStyle/>
          <a:p>
            <a:r>
              <a:rPr lang="en-US" sz="2800">
                <a:solidFill>
                  <a:srgbClr val="FF0000"/>
                </a:solidFill>
              </a:rPr>
              <a:t>Context Free Languages</a:t>
            </a:r>
          </a:p>
        </p:txBody>
      </p:sp>
      <p:sp>
        <p:nvSpPr>
          <p:cNvPr id="4" name="Dikdörtgen 3"/>
          <p:cNvSpPr/>
          <p:nvPr/>
        </p:nvSpPr>
        <p:spPr>
          <a:xfrm>
            <a:off x="4196501" y="913851"/>
            <a:ext cx="3407624" cy="938719"/>
          </a:xfrm>
          <a:prstGeom prst="rect">
            <a:avLst/>
          </a:prstGeom>
        </p:spPr>
        <p:txBody>
          <a:bodyPr wrap="square">
            <a:spAutoFit/>
          </a:bodyPr>
          <a:lstStyle/>
          <a:p>
            <a:pPr algn="ctr">
              <a:lnSpc>
                <a:spcPct val="150000"/>
              </a:lnSpc>
            </a:pPr>
            <a:r>
              <a:rPr lang="tr-TR" sz="4000">
                <a:solidFill>
                  <a:srgbClr val="0070C0"/>
                </a:solidFill>
                <a:latin typeface="Monotype Corsiva" panose="03010101010201010101" pitchFamily="66" charset="0"/>
              </a:rPr>
              <a:t>S → 0 S 1 | </a:t>
            </a:r>
            <a:r>
              <a:rPr lang="el-GR" sz="4000">
                <a:solidFill>
                  <a:srgbClr val="0070C0"/>
                </a:solidFill>
                <a:latin typeface="Monotype Corsiva" panose="03010101010201010101" pitchFamily="66" charset="0"/>
              </a:rPr>
              <a:t>ε</a:t>
            </a:r>
            <a:endParaRPr lang="tr-TR" sz="4000">
              <a:solidFill>
                <a:srgbClr val="0070C0"/>
              </a:solidFill>
              <a:latin typeface="Monotype Corsiva" panose="03010101010201010101" pitchFamily="66" charset="0"/>
            </a:endParaRPr>
          </a:p>
        </p:txBody>
      </p:sp>
    </p:spTree>
    <p:extLst>
      <p:ext uri="{BB962C8B-B14F-4D97-AF65-F5344CB8AC3E}">
        <p14:creationId xmlns:p14="http://schemas.microsoft.com/office/powerpoint/2010/main" val="3148030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Noam Chomsky </a:t>
            </a:r>
          </a:p>
        </p:txBody>
      </p:sp>
      <p:pic>
        <p:nvPicPr>
          <p:cNvPr id="1026" name="Picture 2" descr="Noam Chomsky – Language Acquisition | Psych 256: Cognitive Psychology SU14"/>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2589212" y="2133600"/>
            <a:ext cx="8939348" cy="3571009"/>
          </a:xfrm>
          <a:prstGeom prst="rect">
            <a:avLst/>
          </a:prstGeom>
          <a:noFill/>
          <a:extLst>
            <a:ext uri="{909E8E84-426E-40DD-AFC4-6F175D3DCCD1}">
              <a14:hiddenFill xmlns:a14="http://schemas.microsoft.com/office/drawing/2010/main">
                <a:solidFill>
                  <a:srgbClr val="FFFFFF"/>
                </a:solidFill>
              </a14:hiddenFill>
            </a:ext>
          </a:extLst>
        </p:spPr>
      </p:pic>
      <p:sp>
        <p:nvSpPr>
          <p:cNvPr id="3" name="İçerik Yer Tutucusu 2"/>
          <p:cNvSpPr>
            <a:spLocks noGrp="1"/>
          </p:cNvSpPr>
          <p:nvPr>
            <p:ph idx="1"/>
          </p:nvPr>
        </p:nvSpPr>
        <p:spPr/>
        <p:txBody>
          <a:bodyPr/>
          <a:lstStyle/>
          <a:p>
            <a:endParaRPr lang="tr-TR"/>
          </a:p>
        </p:txBody>
      </p:sp>
    </p:spTree>
    <p:extLst>
      <p:ext uri="{BB962C8B-B14F-4D97-AF65-F5344CB8AC3E}">
        <p14:creationId xmlns:p14="http://schemas.microsoft.com/office/powerpoint/2010/main" val="3470864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Chomsky Hierarchy</a:t>
            </a:r>
          </a:p>
        </p:txBody>
      </p:sp>
      <p:pic>
        <p:nvPicPr>
          <p:cNvPr id="2054" name="Picture 6" descr="The Chomsky Hierarchy is a series of increasingly complex classes of...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5725" y="2008909"/>
            <a:ext cx="7422374"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3853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Context Free Grammar </a:t>
            </a:r>
          </a:p>
        </p:txBody>
      </p:sp>
      <p:pic>
        <p:nvPicPr>
          <p:cNvPr id="3074" name="Picture 2" descr="Natural Language Processing : Probabilistic Context Free Grammars Updated  8/ ppt download"/>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2474912" y="2133600"/>
            <a:ext cx="9144000" cy="4239491"/>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3857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p:cNvSpPr>
            <a:spLocks noGrp="1"/>
          </p:cNvSpPr>
          <p:nvPr>
            <p:ph idx="1"/>
          </p:nvPr>
        </p:nvSpPr>
        <p:spPr/>
        <p:txBody>
          <a:bodyPr>
            <a:normAutofit/>
          </a:bodyPr>
          <a:lstStyle/>
          <a:p>
            <a:pPr marL="0" indent="0">
              <a:lnSpc>
                <a:spcPct val="150000"/>
              </a:lnSpc>
              <a:buNone/>
            </a:pPr>
            <a:r>
              <a:rPr lang="en-US" sz="2800" dirty="0"/>
              <a:t>How can we generate a 0</a:t>
            </a:r>
            <a:r>
              <a:rPr lang="en-US" sz="2800" baseline="30000" dirty="0"/>
              <a:t>n</a:t>
            </a:r>
            <a:r>
              <a:rPr lang="en-US" sz="2800" dirty="0"/>
              <a:t>1</a:t>
            </a:r>
            <a:r>
              <a:rPr lang="en-US" sz="2800" baseline="30000" dirty="0"/>
              <a:t>n</a:t>
            </a:r>
            <a:r>
              <a:rPr lang="en-US" sz="2800" dirty="0"/>
              <a:t> word or sentence with memoryless tools just like in regular language?</a:t>
            </a:r>
          </a:p>
        </p:txBody>
      </p:sp>
      <p:sp>
        <p:nvSpPr>
          <p:cNvPr id="4" name="Unvan 3"/>
          <p:cNvSpPr>
            <a:spLocks noGrp="1"/>
          </p:cNvSpPr>
          <p:nvPr>
            <p:ph type="title"/>
          </p:nvPr>
        </p:nvSpPr>
        <p:spPr/>
        <p:txBody>
          <a:bodyPr/>
          <a:lstStyle/>
          <a:p>
            <a:r>
              <a:rPr lang="en-US" dirty="0"/>
              <a:t>Context Free Grammar</a:t>
            </a:r>
          </a:p>
        </p:txBody>
      </p:sp>
      <p:pic>
        <p:nvPicPr>
          <p:cNvPr id="6" name="Picture 2" descr="Stupid Robot Stock Illustrations – 77 Stupid Robot Stock Illustrations,  Vectors &amp; Clipart - Dreamsti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873" y="3849687"/>
            <a:ext cx="3012078" cy="300831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Never answer another 'how?' question aga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341988">
            <a:off x="7072489" y="3795322"/>
            <a:ext cx="2319565" cy="1439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692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589212" y="5025992"/>
            <a:ext cx="8915400" cy="923330"/>
          </a:xfrm>
          <a:prstGeom prst="rect">
            <a:avLst/>
          </a:prstGeom>
          <a:noFill/>
        </p:spPr>
        <p:txBody>
          <a:bodyPr wrap="square" rtlCol="0">
            <a:spAutoFit/>
          </a:bodyPr>
          <a:lstStyle/>
          <a:p>
            <a:pPr algn="ctr"/>
            <a:r>
              <a:rPr lang="tr-TR" sz="5400" dirty="0"/>
              <a:t>0  </a:t>
            </a:r>
            <a:r>
              <a:rPr lang="tr-TR" sz="5400" dirty="0">
                <a:solidFill>
                  <a:schemeClr val="tx1">
                    <a:lumMod val="65000"/>
                    <a:lumOff val="35000"/>
                  </a:schemeClr>
                </a:solidFill>
              </a:rPr>
              <a:t>0  </a:t>
            </a:r>
            <a:r>
              <a:rPr lang="tr-TR" sz="5400" dirty="0">
                <a:solidFill>
                  <a:schemeClr val="bg1">
                    <a:lumMod val="50000"/>
                  </a:schemeClr>
                </a:solidFill>
              </a:rPr>
              <a:t>0  </a:t>
            </a:r>
            <a:r>
              <a:rPr lang="tr-TR" sz="5400" dirty="0">
                <a:solidFill>
                  <a:schemeClr val="bg1">
                    <a:lumMod val="75000"/>
                  </a:schemeClr>
                </a:solidFill>
              </a:rPr>
              <a:t>0 </a:t>
            </a:r>
            <a:r>
              <a:rPr lang="tr-TR" sz="5400" dirty="0">
                <a:solidFill>
                  <a:schemeClr val="bg1">
                    <a:lumMod val="95000"/>
                  </a:schemeClr>
                </a:solidFill>
              </a:rPr>
              <a:t>0        1</a:t>
            </a:r>
            <a:r>
              <a:rPr lang="tr-TR" sz="5400" dirty="0">
                <a:solidFill>
                  <a:schemeClr val="bg1">
                    <a:lumMod val="75000"/>
                  </a:schemeClr>
                </a:solidFill>
              </a:rPr>
              <a:t> 1  </a:t>
            </a:r>
            <a:r>
              <a:rPr lang="tr-TR" sz="5400" dirty="0">
                <a:solidFill>
                  <a:schemeClr val="bg1">
                    <a:lumMod val="50000"/>
                  </a:schemeClr>
                </a:solidFill>
              </a:rPr>
              <a:t>1  </a:t>
            </a:r>
            <a:r>
              <a:rPr lang="tr-TR" sz="5400" dirty="0">
                <a:solidFill>
                  <a:schemeClr val="tx1">
                    <a:lumMod val="65000"/>
                    <a:lumOff val="35000"/>
                  </a:schemeClr>
                </a:solidFill>
              </a:rPr>
              <a:t>1  </a:t>
            </a:r>
            <a:r>
              <a:rPr lang="tr-TR" sz="5400" dirty="0"/>
              <a:t>1</a:t>
            </a:r>
            <a:endParaRPr lang="en-US" sz="5400" dirty="0"/>
          </a:p>
        </p:txBody>
      </p:sp>
      <p:sp>
        <p:nvSpPr>
          <p:cNvPr id="5" name="İçerik Yer Tutucusu 4"/>
          <p:cNvSpPr>
            <a:spLocks noGrp="1"/>
          </p:cNvSpPr>
          <p:nvPr>
            <p:ph idx="1"/>
          </p:nvPr>
        </p:nvSpPr>
        <p:spPr/>
        <p:txBody>
          <a:bodyPr>
            <a:normAutofit/>
          </a:bodyPr>
          <a:lstStyle/>
          <a:p>
            <a:pPr marL="0" indent="0">
              <a:lnSpc>
                <a:spcPct val="150000"/>
              </a:lnSpc>
              <a:buNone/>
            </a:pPr>
            <a:r>
              <a:rPr lang="en-US" sz="2800" dirty="0"/>
              <a:t>This is also a method that people with a weak memory can use: </a:t>
            </a:r>
            <a:r>
              <a:rPr lang="en-US" sz="2800" b="1" dirty="0"/>
              <a:t>getting the job done on time</a:t>
            </a:r>
            <a:r>
              <a:rPr lang="en-US" sz="2800" dirty="0"/>
              <a:t>.</a:t>
            </a:r>
          </a:p>
        </p:txBody>
      </p:sp>
      <p:sp>
        <p:nvSpPr>
          <p:cNvPr id="4" name="Unvan 3"/>
          <p:cNvSpPr>
            <a:spLocks noGrp="1"/>
          </p:cNvSpPr>
          <p:nvPr>
            <p:ph type="title"/>
          </p:nvPr>
        </p:nvSpPr>
        <p:spPr/>
        <p:txBody>
          <a:bodyPr/>
          <a:lstStyle/>
          <a:p>
            <a:r>
              <a:rPr lang="en-US" dirty="0"/>
              <a:t>Context Free Grammar</a:t>
            </a:r>
          </a:p>
        </p:txBody>
      </p:sp>
      <p:pic>
        <p:nvPicPr>
          <p:cNvPr id="4098" name="Picture 2" descr="Stupid Robot Stock Illustrations – 77 Stupid Robot Stock Illustrations,  Vectors &amp; Clipart - Dreamstim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40873" y="3849687"/>
            <a:ext cx="3012078" cy="3008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061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589212" y="5025992"/>
            <a:ext cx="8915400" cy="923330"/>
          </a:xfrm>
          <a:prstGeom prst="rect">
            <a:avLst/>
          </a:prstGeom>
          <a:noFill/>
        </p:spPr>
        <p:txBody>
          <a:bodyPr wrap="square" rtlCol="0">
            <a:spAutoFit/>
          </a:bodyPr>
          <a:lstStyle/>
          <a:p>
            <a:pPr algn="ctr"/>
            <a:r>
              <a:rPr lang="tr-TR" sz="5400" dirty="0"/>
              <a:t>0  </a:t>
            </a:r>
            <a:r>
              <a:rPr lang="tr-TR" sz="5400" dirty="0">
                <a:solidFill>
                  <a:schemeClr val="tx1">
                    <a:lumMod val="65000"/>
                    <a:lumOff val="35000"/>
                  </a:schemeClr>
                </a:solidFill>
              </a:rPr>
              <a:t>0  </a:t>
            </a:r>
            <a:r>
              <a:rPr lang="tr-TR" sz="5400" dirty="0">
                <a:solidFill>
                  <a:schemeClr val="bg1">
                    <a:lumMod val="50000"/>
                  </a:schemeClr>
                </a:solidFill>
              </a:rPr>
              <a:t>0  </a:t>
            </a:r>
            <a:r>
              <a:rPr lang="tr-TR" sz="5400" dirty="0">
                <a:solidFill>
                  <a:schemeClr val="bg1">
                    <a:lumMod val="75000"/>
                  </a:schemeClr>
                </a:solidFill>
              </a:rPr>
              <a:t>0 </a:t>
            </a:r>
            <a:r>
              <a:rPr lang="tr-TR" sz="5400" dirty="0">
                <a:solidFill>
                  <a:schemeClr val="bg1">
                    <a:lumMod val="95000"/>
                  </a:schemeClr>
                </a:solidFill>
              </a:rPr>
              <a:t>0        1</a:t>
            </a:r>
            <a:r>
              <a:rPr lang="tr-TR" sz="5400" dirty="0">
                <a:solidFill>
                  <a:schemeClr val="bg1">
                    <a:lumMod val="75000"/>
                  </a:schemeClr>
                </a:solidFill>
              </a:rPr>
              <a:t> 1  </a:t>
            </a:r>
            <a:r>
              <a:rPr lang="tr-TR" sz="5400" dirty="0">
                <a:solidFill>
                  <a:schemeClr val="bg1">
                    <a:lumMod val="50000"/>
                  </a:schemeClr>
                </a:solidFill>
              </a:rPr>
              <a:t>1  </a:t>
            </a:r>
            <a:r>
              <a:rPr lang="tr-TR" sz="5400" dirty="0">
                <a:solidFill>
                  <a:schemeClr val="tx1">
                    <a:lumMod val="65000"/>
                    <a:lumOff val="35000"/>
                  </a:schemeClr>
                </a:solidFill>
              </a:rPr>
              <a:t>1  </a:t>
            </a:r>
            <a:r>
              <a:rPr lang="tr-TR" sz="5400" dirty="0"/>
              <a:t>1</a:t>
            </a:r>
            <a:endParaRPr lang="en-US" sz="5400" dirty="0"/>
          </a:p>
        </p:txBody>
      </p:sp>
      <p:sp>
        <p:nvSpPr>
          <p:cNvPr id="5" name="İçerik Yer Tutucusu 4"/>
          <p:cNvSpPr>
            <a:spLocks noGrp="1"/>
          </p:cNvSpPr>
          <p:nvPr>
            <p:ph idx="1"/>
          </p:nvPr>
        </p:nvSpPr>
        <p:spPr/>
        <p:txBody>
          <a:bodyPr>
            <a:normAutofit/>
          </a:bodyPr>
          <a:lstStyle/>
          <a:p>
            <a:pPr marL="0" indent="0" algn="ctr">
              <a:lnSpc>
                <a:spcPct val="150000"/>
              </a:lnSpc>
              <a:buNone/>
            </a:pPr>
            <a:r>
              <a:rPr lang="tr-TR" sz="4400" dirty="0"/>
              <a:t>S → 0 S 1 </a:t>
            </a:r>
            <a:r>
              <a:rPr lang="tr-TR" sz="4400" dirty="0">
                <a:solidFill>
                  <a:schemeClr val="bg1"/>
                </a:solidFill>
              </a:rPr>
              <a:t>| </a:t>
            </a:r>
            <a:r>
              <a:rPr lang="el-GR" sz="4400" dirty="0">
                <a:solidFill>
                  <a:schemeClr val="bg1"/>
                </a:solidFill>
              </a:rPr>
              <a:t>ε</a:t>
            </a:r>
            <a:endParaRPr lang="tr-TR" sz="4400" dirty="0">
              <a:solidFill>
                <a:schemeClr val="bg1"/>
              </a:solidFill>
            </a:endParaRPr>
          </a:p>
          <a:p>
            <a:pPr marL="0" indent="0" algn="ctr">
              <a:lnSpc>
                <a:spcPct val="150000"/>
              </a:lnSpc>
              <a:buNone/>
            </a:pPr>
            <a:endParaRPr lang="en-US" sz="4400" dirty="0"/>
          </a:p>
        </p:txBody>
      </p:sp>
      <p:sp>
        <p:nvSpPr>
          <p:cNvPr id="4" name="Unvan 3"/>
          <p:cNvSpPr>
            <a:spLocks noGrp="1"/>
          </p:cNvSpPr>
          <p:nvPr>
            <p:ph type="title"/>
          </p:nvPr>
        </p:nvSpPr>
        <p:spPr/>
        <p:txBody>
          <a:bodyPr/>
          <a:lstStyle/>
          <a:p>
            <a:r>
              <a:rPr lang="en-US" dirty="0"/>
              <a:t>Context Free Grammar</a:t>
            </a:r>
          </a:p>
        </p:txBody>
      </p:sp>
      <p:pic>
        <p:nvPicPr>
          <p:cNvPr id="4098" name="Picture 2" descr="Stupid Robot Stock Illustrations – 77 Stupid Robot Stock Illustrations,  Vectors &amp; Clipart - Dreamstim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40873" y="3849687"/>
            <a:ext cx="3012078" cy="3008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632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2589212" y="5025992"/>
            <a:ext cx="8915400" cy="923330"/>
          </a:xfrm>
          <a:prstGeom prst="rect">
            <a:avLst/>
          </a:prstGeom>
          <a:noFill/>
        </p:spPr>
        <p:txBody>
          <a:bodyPr wrap="square" rtlCol="0">
            <a:spAutoFit/>
          </a:bodyPr>
          <a:lstStyle/>
          <a:p>
            <a:pPr algn="ctr"/>
            <a:r>
              <a:rPr lang="tr-TR" sz="5400" dirty="0"/>
              <a:t>0  </a:t>
            </a:r>
            <a:r>
              <a:rPr lang="tr-TR" sz="5400" dirty="0">
                <a:solidFill>
                  <a:schemeClr val="tx1">
                    <a:lumMod val="65000"/>
                    <a:lumOff val="35000"/>
                  </a:schemeClr>
                </a:solidFill>
              </a:rPr>
              <a:t>0  </a:t>
            </a:r>
            <a:r>
              <a:rPr lang="tr-TR" sz="5400" dirty="0">
                <a:solidFill>
                  <a:schemeClr val="bg1">
                    <a:lumMod val="50000"/>
                  </a:schemeClr>
                </a:solidFill>
              </a:rPr>
              <a:t>0  </a:t>
            </a:r>
            <a:r>
              <a:rPr lang="tr-TR" sz="5400" dirty="0">
                <a:solidFill>
                  <a:schemeClr val="bg1">
                    <a:lumMod val="75000"/>
                  </a:schemeClr>
                </a:solidFill>
              </a:rPr>
              <a:t>0 </a:t>
            </a:r>
            <a:r>
              <a:rPr lang="tr-TR" sz="5400" dirty="0">
                <a:solidFill>
                  <a:schemeClr val="bg1">
                    <a:lumMod val="95000"/>
                  </a:schemeClr>
                </a:solidFill>
              </a:rPr>
              <a:t>0        1</a:t>
            </a:r>
            <a:r>
              <a:rPr lang="tr-TR" sz="5400" dirty="0">
                <a:solidFill>
                  <a:schemeClr val="bg1">
                    <a:lumMod val="75000"/>
                  </a:schemeClr>
                </a:solidFill>
              </a:rPr>
              <a:t> 1  </a:t>
            </a:r>
            <a:r>
              <a:rPr lang="tr-TR" sz="5400" dirty="0">
                <a:solidFill>
                  <a:schemeClr val="bg1">
                    <a:lumMod val="50000"/>
                  </a:schemeClr>
                </a:solidFill>
              </a:rPr>
              <a:t>1  </a:t>
            </a:r>
            <a:r>
              <a:rPr lang="tr-TR" sz="5400" dirty="0">
                <a:solidFill>
                  <a:schemeClr val="tx1">
                    <a:lumMod val="65000"/>
                    <a:lumOff val="35000"/>
                  </a:schemeClr>
                </a:solidFill>
              </a:rPr>
              <a:t>1  </a:t>
            </a:r>
            <a:r>
              <a:rPr lang="tr-TR" sz="5400" dirty="0"/>
              <a:t>1</a:t>
            </a:r>
            <a:endParaRPr lang="en-US" sz="5400" dirty="0"/>
          </a:p>
        </p:txBody>
      </p:sp>
      <p:sp>
        <p:nvSpPr>
          <p:cNvPr id="5" name="İçerik Yer Tutucusu 4"/>
          <p:cNvSpPr>
            <a:spLocks noGrp="1"/>
          </p:cNvSpPr>
          <p:nvPr>
            <p:ph idx="1"/>
          </p:nvPr>
        </p:nvSpPr>
        <p:spPr/>
        <p:txBody>
          <a:bodyPr>
            <a:normAutofit/>
          </a:bodyPr>
          <a:lstStyle/>
          <a:p>
            <a:pPr marL="0" indent="0" algn="ctr">
              <a:lnSpc>
                <a:spcPct val="150000"/>
              </a:lnSpc>
              <a:buNone/>
            </a:pPr>
            <a:r>
              <a:rPr lang="tr-TR" sz="4400" dirty="0"/>
              <a:t>S → 0 S 1 </a:t>
            </a:r>
            <a:r>
              <a:rPr lang="tr-TR" sz="4400" dirty="0">
                <a:solidFill>
                  <a:srgbClr val="FF0000"/>
                </a:solidFill>
              </a:rPr>
              <a:t>|</a:t>
            </a:r>
            <a:r>
              <a:rPr lang="tr-TR" sz="4400" dirty="0"/>
              <a:t> </a:t>
            </a:r>
            <a:r>
              <a:rPr lang="el-GR" sz="4400" dirty="0"/>
              <a:t>ε</a:t>
            </a:r>
            <a:endParaRPr lang="tr-TR" sz="4400" dirty="0"/>
          </a:p>
          <a:p>
            <a:pPr marL="0" indent="0" algn="ctr">
              <a:lnSpc>
                <a:spcPct val="150000"/>
              </a:lnSpc>
              <a:buNone/>
            </a:pPr>
            <a:r>
              <a:rPr lang="tr-TR" sz="4400" dirty="0"/>
              <a:t>              </a:t>
            </a:r>
            <a:endParaRPr lang="en-US" sz="4400" baseline="30000" dirty="0">
              <a:solidFill>
                <a:srgbClr val="FF0000"/>
              </a:solidFill>
            </a:endParaRPr>
          </a:p>
        </p:txBody>
      </p:sp>
      <p:sp>
        <p:nvSpPr>
          <p:cNvPr id="4" name="Unvan 3"/>
          <p:cNvSpPr>
            <a:spLocks noGrp="1"/>
          </p:cNvSpPr>
          <p:nvPr>
            <p:ph type="title"/>
          </p:nvPr>
        </p:nvSpPr>
        <p:spPr/>
        <p:txBody>
          <a:bodyPr/>
          <a:lstStyle/>
          <a:p>
            <a:r>
              <a:rPr lang="en-US" dirty="0"/>
              <a:t>Context Free Grammar</a:t>
            </a:r>
          </a:p>
        </p:txBody>
      </p:sp>
      <p:pic>
        <p:nvPicPr>
          <p:cNvPr id="4098" name="Picture 2" descr="Stupid Robot Stock Illustrations – 77 Stupid Robot Stock Illustrations,  Vectors &amp; Clipart - Dreamstime"/>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40873" y="3849687"/>
            <a:ext cx="3012078" cy="3008313"/>
          </a:xfrm>
          <a:prstGeom prst="rect">
            <a:avLst/>
          </a:prstGeom>
          <a:noFill/>
          <a:extLst>
            <a:ext uri="{909E8E84-426E-40DD-AFC4-6F175D3DCCD1}">
              <a14:hiddenFill xmlns:a14="http://schemas.microsoft.com/office/drawing/2010/main">
                <a:solidFill>
                  <a:srgbClr val="FFFFFF"/>
                </a:solidFill>
              </a14:hiddenFill>
            </a:ext>
          </a:extLst>
        </p:spPr>
      </p:pic>
      <p:sp>
        <p:nvSpPr>
          <p:cNvPr id="3" name="Dikdörtgen 2"/>
          <p:cNvSpPr/>
          <p:nvPr/>
        </p:nvSpPr>
        <p:spPr>
          <a:xfrm>
            <a:off x="7881380" y="3198649"/>
            <a:ext cx="410689" cy="369332"/>
          </a:xfrm>
          <a:prstGeom prst="rect">
            <a:avLst/>
          </a:prstGeom>
        </p:spPr>
        <p:txBody>
          <a:bodyPr wrap="none">
            <a:spAutoFit/>
          </a:bodyPr>
          <a:lstStyle/>
          <a:p>
            <a:pPr algn="ctr">
              <a:lnSpc>
                <a:spcPct val="150000"/>
              </a:lnSpc>
            </a:pPr>
            <a:r>
              <a:rPr lang="tr-TR" baseline="30000" dirty="0">
                <a:solidFill>
                  <a:srgbClr val="FF0000"/>
                </a:solidFill>
              </a:rPr>
              <a:t>OR</a:t>
            </a:r>
            <a:endParaRPr lang="en-US" baseline="30000" dirty="0">
              <a:solidFill>
                <a:srgbClr val="FF0000"/>
              </a:solidFill>
            </a:endParaRPr>
          </a:p>
        </p:txBody>
      </p:sp>
    </p:spTree>
    <p:extLst>
      <p:ext uri="{BB962C8B-B14F-4D97-AF65-F5344CB8AC3E}">
        <p14:creationId xmlns:p14="http://schemas.microsoft.com/office/powerpoint/2010/main" val="937868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Formal Definition</a:t>
            </a:r>
          </a:p>
        </p:txBody>
      </p:sp>
      <p:sp>
        <p:nvSpPr>
          <p:cNvPr id="6" name="İçerik Yer Tutucusu 2"/>
          <p:cNvSpPr txBox="1">
            <a:spLocks/>
          </p:cNvSpPr>
          <p:nvPr/>
        </p:nvSpPr>
        <p:spPr>
          <a:xfrm>
            <a:off x="2002971" y="1640114"/>
            <a:ext cx="9884229" cy="435428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solidFill>
                  <a:schemeClr val="tx1"/>
                </a:solidFill>
              </a:rPr>
              <a:t>A context-free grammar is a 4-tuple G = </a:t>
            </a:r>
            <a:r>
              <a:rPr lang="tr-TR" sz="2800" dirty="0">
                <a:solidFill>
                  <a:schemeClr val="tx1"/>
                </a:solidFill>
              </a:rPr>
              <a:t>(</a:t>
            </a:r>
            <a:r>
              <a:rPr lang="en-US" sz="2800" dirty="0">
                <a:solidFill>
                  <a:schemeClr val="tx1"/>
                </a:solidFill>
              </a:rPr>
              <a:t>V,</a:t>
            </a:r>
            <a:r>
              <a:rPr lang="el-GR" sz="2800" dirty="0"/>
              <a:t>Σ</a:t>
            </a:r>
            <a:r>
              <a:rPr lang="en-US" sz="2800" dirty="0">
                <a:solidFill>
                  <a:schemeClr val="tx1"/>
                </a:solidFill>
              </a:rPr>
              <a:t>,R,S</a:t>
            </a:r>
            <a:r>
              <a:rPr lang="tr-TR" sz="2800" dirty="0">
                <a:solidFill>
                  <a:schemeClr val="tx1"/>
                </a:solidFill>
              </a:rPr>
              <a:t>) </a:t>
            </a:r>
            <a:r>
              <a:rPr lang="en-US" sz="2800" dirty="0">
                <a:solidFill>
                  <a:schemeClr val="tx1"/>
                </a:solidFill>
              </a:rPr>
              <a:t>where</a:t>
            </a:r>
          </a:p>
          <a:p>
            <a:r>
              <a:rPr lang="en-US" sz="2800" dirty="0">
                <a:solidFill>
                  <a:schemeClr val="tx1"/>
                </a:solidFill>
              </a:rPr>
              <a:t>V is a finite set, whose elements are called variables,</a:t>
            </a:r>
          </a:p>
          <a:p>
            <a:r>
              <a:rPr lang="el-GR" sz="2800" dirty="0"/>
              <a:t>Σ </a:t>
            </a:r>
            <a:r>
              <a:rPr lang="en-US" sz="2800" dirty="0">
                <a:solidFill>
                  <a:schemeClr val="tx1"/>
                </a:solidFill>
              </a:rPr>
              <a:t>is a finite set, whose elements are called terminals,</a:t>
            </a:r>
          </a:p>
          <a:p>
            <a:r>
              <a:rPr lang="en-US" sz="2800" dirty="0">
                <a:solidFill>
                  <a:schemeClr val="tx1"/>
                </a:solidFill>
              </a:rPr>
              <a:t>V ∩</a:t>
            </a:r>
            <a:r>
              <a:rPr lang="tr-TR" sz="2800" dirty="0">
                <a:solidFill>
                  <a:schemeClr val="tx1"/>
                </a:solidFill>
              </a:rPr>
              <a:t> </a:t>
            </a:r>
            <a:r>
              <a:rPr lang="el-GR" sz="2800" dirty="0"/>
              <a:t>Σ </a:t>
            </a:r>
            <a:r>
              <a:rPr lang="tr-TR" sz="2800" dirty="0"/>
              <a:t>= Ø,</a:t>
            </a:r>
            <a:endParaRPr lang="tr-TR" sz="2800" dirty="0">
              <a:solidFill>
                <a:schemeClr val="tx1"/>
              </a:solidFill>
            </a:endParaRPr>
          </a:p>
          <a:p>
            <a:r>
              <a:rPr lang="en-US" sz="2800" dirty="0">
                <a:solidFill>
                  <a:schemeClr val="tx1"/>
                </a:solidFill>
              </a:rPr>
              <a:t>S is an element of V; it is called the start variable,</a:t>
            </a:r>
          </a:p>
          <a:p>
            <a:r>
              <a:rPr lang="en-US" sz="2800" dirty="0">
                <a:solidFill>
                  <a:schemeClr val="tx1"/>
                </a:solidFill>
              </a:rPr>
              <a:t>R is a finite set, whose elements are called rules. Each rule has the</a:t>
            </a:r>
            <a:r>
              <a:rPr lang="tr-TR" sz="2800" dirty="0">
                <a:solidFill>
                  <a:schemeClr val="tx1"/>
                </a:solidFill>
              </a:rPr>
              <a:t> </a:t>
            </a:r>
            <a:r>
              <a:rPr lang="en-US" sz="2800" dirty="0">
                <a:solidFill>
                  <a:schemeClr val="tx1"/>
                </a:solidFill>
              </a:rPr>
              <a:t>form A </a:t>
            </a:r>
            <a:r>
              <a:rPr lang="tr-TR" sz="2800" dirty="0"/>
              <a:t>→ </a:t>
            </a:r>
            <a:r>
              <a:rPr lang="en-US" sz="2800" dirty="0">
                <a:solidFill>
                  <a:schemeClr val="tx1"/>
                </a:solidFill>
              </a:rPr>
              <a:t>w, where A </a:t>
            </a:r>
            <a:r>
              <a:rPr lang="tr-TR" sz="2800" dirty="0">
                <a:solidFill>
                  <a:schemeClr val="tx1"/>
                </a:solidFill>
              </a:rPr>
              <a:t>is element of V</a:t>
            </a:r>
            <a:r>
              <a:rPr lang="en-US" sz="2800" dirty="0">
                <a:solidFill>
                  <a:schemeClr val="tx1"/>
                </a:solidFill>
              </a:rPr>
              <a:t> and w </a:t>
            </a:r>
            <a:r>
              <a:rPr lang="tr-TR" sz="2800" dirty="0">
                <a:solidFill>
                  <a:schemeClr val="tx1"/>
                </a:solidFill>
              </a:rPr>
              <a:t>is element of (</a:t>
            </a:r>
            <a:r>
              <a:rPr lang="en-US" sz="2800" dirty="0">
                <a:solidFill>
                  <a:schemeClr val="tx1"/>
                </a:solidFill>
              </a:rPr>
              <a:t>V</a:t>
            </a:r>
            <a:r>
              <a:rPr lang="tr-TR" sz="2800" dirty="0">
                <a:solidFill>
                  <a:schemeClr val="tx1"/>
                </a:solidFill>
              </a:rPr>
              <a:t> </a:t>
            </a:r>
            <a:r>
              <a:rPr lang="tr-TR" sz="2800" dirty="0"/>
              <a:t>U </a:t>
            </a:r>
            <a:r>
              <a:rPr lang="el-GR" sz="2800" dirty="0"/>
              <a:t>Σ</a:t>
            </a:r>
            <a:r>
              <a:rPr lang="tr-TR" sz="2800" dirty="0">
                <a:solidFill>
                  <a:schemeClr val="tx1"/>
                </a:solidFill>
              </a:rPr>
              <a:t>)*</a:t>
            </a:r>
            <a:r>
              <a:rPr lang="en-US" sz="2800" dirty="0">
                <a:solidFill>
                  <a:schemeClr val="tx1"/>
                </a:solidFill>
              </a:rPr>
              <a:t>.</a:t>
            </a:r>
          </a:p>
          <a:p>
            <a:pPr marL="0" indent="0">
              <a:buFont typeface="Wingdings 3" charset="2"/>
              <a:buNone/>
            </a:pPr>
            <a:endParaRPr lang="en-US" sz="2800" dirty="0"/>
          </a:p>
        </p:txBody>
      </p:sp>
    </p:spTree>
    <p:extLst>
      <p:ext uri="{BB962C8B-B14F-4D97-AF65-F5344CB8AC3E}">
        <p14:creationId xmlns:p14="http://schemas.microsoft.com/office/powerpoint/2010/main" val="114330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Derivation of ‘</a:t>
            </a:r>
            <a:r>
              <a:rPr lang="en-US" dirty="0" err="1"/>
              <a:t>aaaabb</a:t>
            </a:r>
            <a:r>
              <a:rPr lang="en-US" dirty="0"/>
              <a:t>’</a:t>
            </a:r>
          </a:p>
        </p:txBody>
      </p:sp>
      <p:pic>
        <p:nvPicPr>
          <p:cNvPr id="3" name="Resim 2"/>
          <p:cNvPicPr>
            <a:picLocks noChangeAspect="1"/>
          </p:cNvPicPr>
          <p:nvPr/>
        </p:nvPicPr>
        <p:blipFill>
          <a:blip r:embed="rId3"/>
          <a:stretch>
            <a:fillRect/>
          </a:stretch>
        </p:blipFill>
        <p:spPr>
          <a:xfrm>
            <a:off x="2592925" y="1968500"/>
            <a:ext cx="2705478" cy="3153215"/>
          </a:xfrm>
          <a:prstGeom prst="rect">
            <a:avLst/>
          </a:prstGeom>
        </p:spPr>
      </p:pic>
      <p:sp>
        <p:nvSpPr>
          <p:cNvPr id="7" name="İçerik Yer Tutucusu 4"/>
          <p:cNvSpPr>
            <a:spLocks noGrp="1"/>
          </p:cNvSpPr>
          <p:nvPr>
            <p:ph idx="1"/>
          </p:nvPr>
        </p:nvSpPr>
        <p:spPr>
          <a:xfrm>
            <a:off x="2699476" y="1905000"/>
            <a:ext cx="2058988" cy="3178615"/>
          </a:xfrm>
        </p:spPr>
        <p:txBody>
          <a:bodyPr>
            <a:normAutofit/>
          </a:bodyPr>
          <a:lstStyle/>
          <a:p>
            <a:pPr marL="0" indent="0" algn="ctr">
              <a:lnSpc>
                <a:spcPct val="165000"/>
              </a:lnSpc>
              <a:buNone/>
            </a:pPr>
            <a:r>
              <a:rPr lang="tr-TR" sz="2000" b="1" dirty="0">
                <a:solidFill>
                  <a:srgbClr val="FF0000"/>
                </a:solidFill>
              </a:rPr>
              <a:t>1</a:t>
            </a:r>
          </a:p>
          <a:p>
            <a:pPr marL="0" indent="0" algn="ctr">
              <a:lnSpc>
                <a:spcPct val="165000"/>
              </a:lnSpc>
              <a:buNone/>
            </a:pPr>
            <a:r>
              <a:rPr lang="tr-TR" sz="2000" b="1" dirty="0">
                <a:solidFill>
                  <a:srgbClr val="FF0000"/>
                </a:solidFill>
              </a:rPr>
              <a:t>2</a:t>
            </a:r>
          </a:p>
          <a:p>
            <a:pPr marL="0" indent="0" algn="ctr">
              <a:lnSpc>
                <a:spcPct val="165000"/>
              </a:lnSpc>
              <a:buNone/>
            </a:pPr>
            <a:r>
              <a:rPr lang="tr-TR" sz="2000" b="1" dirty="0">
                <a:solidFill>
                  <a:srgbClr val="FF0000"/>
                </a:solidFill>
              </a:rPr>
              <a:t>3</a:t>
            </a:r>
          </a:p>
          <a:p>
            <a:pPr marL="0" indent="0" algn="ctr">
              <a:lnSpc>
                <a:spcPct val="165000"/>
              </a:lnSpc>
              <a:buNone/>
            </a:pPr>
            <a:r>
              <a:rPr lang="tr-TR" sz="2000" b="1" dirty="0">
                <a:solidFill>
                  <a:srgbClr val="FF0000"/>
                </a:solidFill>
              </a:rPr>
              <a:t>4</a:t>
            </a:r>
          </a:p>
          <a:p>
            <a:pPr marL="0" indent="0" algn="ctr">
              <a:lnSpc>
                <a:spcPct val="165000"/>
              </a:lnSpc>
              <a:buNone/>
            </a:pPr>
            <a:r>
              <a:rPr lang="tr-TR" sz="2000" b="1" dirty="0">
                <a:solidFill>
                  <a:srgbClr val="FF0000"/>
                </a:solidFill>
              </a:rPr>
              <a:t>5</a:t>
            </a:r>
          </a:p>
        </p:txBody>
      </p:sp>
      <p:pic>
        <p:nvPicPr>
          <p:cNvPr id="5" name="Resim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418815" y="1905000"/>
            <a:ext cx="2495898" cy="571500"/>
          </a:xfrm>
          <a:prstGeom prst="rect">
            <a:avLst/>
          </a:prstGeom>
        </p:spPr>
      </p:pic>
      <p:sp>
        <p:nvSpPr>
          <p:cNvPr id="10" name="İçerik Yer Tutucusu 4"/>
          <p:cNvSpPr txBox="1">
            <a:spLocks/>
          </p:cNvSpPr>
          <p:nvPr/>
        </p:nvSpPr>
        <p:spPr>
          <a:xfrm>
            <a:off x="6115776" y="1739900"/>
            <a:ext cx="2058988" cy="44450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5000"/>
              </a:lnSpc>
              <a:buFont typeface="Wingdings 3" charset="2"/>
              <a:buNone/>
            </a:pPr>
            <a:r>
              <a:rPr lang="tr-TR" sz="2000" b="1" i="1" dirty="0">
                <a:solidFill>
                  <a:srgbClr val="FF0000"/>
                </a:solidFill>
              </a:rPr>
              <a:t>1</a:t>
            </a:r>
          </a:p>
        </p:txBody>
      </p:sp>
      <p:sp>
        <p:nvSpPr>
          <p:cNvPr id="6" name="TextBox 5">
            <a:extLst>
              <a:ext uri="{FF2B5EF4-FFF2-40B4-BE49-F238E27FC236}">
                <a16:creationId xmlns:a16="http://schemas.microsoft.com/office/drawing/2014/main" id="{D36B3A16-1CD0-B7E0-9760-AB137ADD0458}"/>
              </a:ext>
            </a:extLst>
          </p:cNvPr>
          <p:cNvSpPr txBox="1"/>
          <p:nvPr/>
        </p:nvSpPr>
        <p:spPr>
          <a:xfrm>
            <a:off x="1032831" y="1549956"/>
            <a:ext cx="1410063" cy="369332"/>
          </a:xfrm>
          <a:prstGeom prst="rect">
            <a:avLst/>
          </a:prstGeom>
          <a:noFill/>
        </p:spPr>
        <p:txBody>
          <a:bodyPr wrap="square" rtlCol="0">
            <a:spAutoFit/>
          </a:bodyPr>
          <a:lstStyle/>
          <a:p>
            <a:r>
              <a:rPr lang="tr-TR" dirty="0"/>
              <a:t>a^n b^m</a:t>
            </a:r>
          </a:p>
        </p:txBody>
      </p:sp>
    </p:spTree>
    <p:extLst>
      <p:ext uri="{BB962C8B-B14F-4D97-AF65-F5344CB8AC3E}">
        <p14:creationId xmlns:p14="http://schemas.microsoft.com/office/powerpoint/2010/main" val="889613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Derivation of ‘</a:t>
            </a:r>
            <a:r>
              <a:rPr lang="en-US" dirty="0" err="1"/>
              <a:t>aaaabb</a:t>
            </a:r>
            <a:r>
              <a:rPr lang="en-US" dirty="0"/>
              <a:t>’</a:t>
            </a:r>
          </a:p>
        </p:txBody>
      </p:sp>
      <p:pic>
        <p:nvPicPr>
          <p:cNvPr id="3" name="Resim 2"/>
          <p:cNvPicPr>
            <a:picLocks noChangeAspect="1"/>
          </p:cNvPicPr>
          <p:nvPr/>
        </p:nvPicPr>
        <p:blipFill>
          <a:blip r:embed="rId3"/>
          <a:stretch>
            <a:fillRect/>
          </a:stretch>
        </p:blipFill>
        <p:spPr>
          <a:xfrm>
            <a:off x="2592925" y="1968500"/>
            <a:ext cx="2705478" cy="3153215"/>
          </a:xfrm>
          <a:prstGeom prst="rect">
            <a:avLst/>
          </a:prstGeom>
        </p:spPr>
      </p:pic>
      <p:sp>
        <p:nvSpPr>
          <p:cNvPr id="7" name="İçerik Yer Tutucusu 4"/>
          <p:cNvSpPr>
            <a:spLocks noGrp="1"/>
          </p:cNvSpPr>
          <p:nvPr>
            <p:ph idx="1"/>
          </p:nvPr>
        </p:nvSpPr>
        <p:spPr>
          <a:xfrm>
            <a:off x="2699476" y="1905000"/>
            <a:ext cx="2058988" cy="3178615"/>
          </a:xfrm>
        </p:spPr>
        <p:txBody>
          <a:bodyPr>
            <a:normAutofit/>
          </a:bodyPr>
          <a:lstStyle/>
          <a:p>
            <a:pPr marL="0" indent="0" algn="ctr">
              <a:lnSpc>
                <a:spcPct val="165000"/>
              </a:lnSpc>
              <a:buNone/>
            </a:pPr>
            <a:r>
              <a:rPr lang="tr-TR" sz="2000" b="1" dirty="0">
                <a:solidFill>
                  <a:srgbClr val="FF0000"/>
                </a:solidFill>
              </a:rPr>
              <a:t>1</a:t>
            </a:r>
          </a:p>
          <a:p>
            <a:pPr marL="0" indent="0" algn="ctr">
              <a:lnSpc>
                <a:spcPct val="165000"/>
              </a:lnSpc>
              <a:buNone/>
            </a:pPr>
            <a:r>
              <a:rPr lang="tr-TR" sz="2000" b="1" dirty="0">
                <a:solidFill>
                  <a:srgbClr val="FF0000"/>
                </a:solidFill>
              </a:rPr>
              <a:t>2</a:t>
            </a:r>
          </a:p>
          <a:p>
            <a:pPr marL="0" indent="0" algn="ctr">
              <a:lnSpc>
                <a:spcPct val="165000"/>
              </a:lnSpc>
              <a:buNone/>
            </a:pPr>
            <a:r>
              <a:rPr lang="tr-TR" sz="2000" b="1" dirty="0">
                <a:solidFill>
                  <a:srgbClr val="FF0000"/>
                </a:solidFill>
              </a:rPr>
              <a:t>3</a:t>
            </a:r>
          </a:p>
          <a:p>
            <a:pPr marL="0" indent="0" algn="ctr">
              <a:lnSpc>
                <a:spcPct val="165000"/>
              </a:lnSpc>
              <a:buNone/>
            </a:pPr>
            <a:r>
              <a:rPr lang="tr-TR" sz="2000" b="1" dirty="0">
                <a:solidFill>
                  <a:srgbClr val="FF0000"/>
                </a:solidFill>
              </a:rPr>
              <a:t>4</a:t>
            </a:r>
          </a:p>
          <a:p>
            <a:pPr marL="0" indent="0" algn="ctr">
              <a:lnSpc>
                <a:spcPct val="165000"/>
              </a:lnSpc>
              <a:buNone/>
            </a:pPr>
            <a:r>
              <a:rPr lang="tr-TR" sz="2000" b="1" dirty="0">
                <a:solidFill>
                  <a:srgbClr val="FF0000"/>
                </a:solidFill>
              </a:rPr>
              <a:t>5</a:t>
            </a:r>
          </a:p>
        </p:txBody>
      </p:sp>
      <p:pic>
        <p:nvPicPr>
          <p:cNvPr id="5" name="Resim 4"/>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418815" y="1905000"/>
            <a:ext cx="2495898" cy="990600"/>
          </a:xfrm>
          <a:prstGeom prst="rect">
            <a:avLst/>
          </a:prstGeom>
        </p:spPr>
      </p:pic>
      <p:sp>
        <p:nvSpPr>
          <p:cNvPr id="10" name="İçerik Yer Tutucusu 4"/>
          <p:cNvSpPr txBox="1">
            <a:spLocks/>
          </p:cNvSpPr>
          <p:nvPr/>
        </p:nvSpPr>
        <p:spPr>
          <a:xfrm>
            <a:off x="6115776" y="1739900"/>
            <a:ext cx="2058988" cy="44450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5000"/>
              </a:lnSpc>
              <a:buFont typeface="Wingdings 3" charset="2"/>
              <a:buNone/>
            </a:pPr>
            <a:r>
              <a:rPr lang="tr-TR" sz="2000" i="1" dirty="0">
                <a:solidFill>
                  <a:schemeClr val="tx1"/>
                </a:solidFill>
              </a:rPr>
              <a:t>1</a:t>
            </a:r>
          </a:p>
          <a:p>
            <a:pPr marL="0" indent="0" algn="ctr">
              <a:lnSpc>
                <a:spcPct val="125000"/>
              </a:lnSpc>
              <a:buFont typeface="Wingdings 3" charset="2"/>
              <a:buNone/>
            </a:pPr>
            <a:r>
              <a:rPr lang="tr-TR" sz="2000" b="1" i="1" dirty="0">
                <a:solidFill>
                  <a:srgbClr val="FF0000"/>
                </a:solidFill>
              </a:rPr>
              <a:t>3</a:t>
            </a:r>
          </a:p>
        </p:txBody>
      </p:sp>
      <p:sp>
        <p:nvSpPr>
          <p:cNvPr id="11" name="Oval 10"/>
          <p:cNvSpPr/>
          <p:nvPr/>
        </p:nvSpPr>
        <p:spPr>
          <a:xfrm>
            <a:off x="7658100" y="1905000"/>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590564" y="2413000"/>
            <a:ext cx="50191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erbest Form 18"/>
          <p:cNvSpPr/>
          <p:nvPr/>
        </p:nvSpPr>
        <p:spPr>
          <a:xfrm>
            <a:off x="7396266" y="2143125"/>
            <a:ext cx="255484" cy="454025"/>
          </a:xfrm>
          <a:custGeom>
            <a:avLst/>
            <a:gdLst>
              <a:gd name="connsiteX0" fmla="*/ 255484 w 255484"/>
              <a:gd name="connsiteY0" fmla="*/ 0 h 454025"/>
              <a:gd name="connsiteX1" fmla="*/ 1484 w 255484"/>
              <a:gd name="connsiteY1" fmla="*/ 279400 h 454025"/>
              <a:gd name="connsiteX2" fmla="*/ 169759 w 255484"/>
              <a:gd name="connsiteY2" fmla="*/ 454025 h 454025"/>
            </a:gdLst>
            <a:ahLst/>
            <a:cxnLst>
              <a:cxn ang="0">
                <a:pos x="connsiteX0" y="connsiteY0"/>
              </a:cxn>
              <a:cxn ang="0">
                <a:pos x="connsiteX1" y="connsiteY1"/>
              </a:cxn>
              <a:cxn ang="0">
                <a:pos x="connsiteX2" y="connsiteY2"/>
              </a:cxn>
            </a:cxnLst>
            <a:rect l="l" t="t" r="r" b="b"/>
            <a:pathLst>
              <a:path w="255484" h="454025">
                <a:moveTo>
                  <a:pt x="255484" y="0"/>
                </a:moveTo>
                <a:cubicBezTo>
                  <a:pt x="135627" y="101864"/>
                  <a:pt x="15771" y="203729"/>
                  <a:pt x="1484" y="279400"/>
                </a:cubicBezTo>
                <a:cubicBezTo>
                  <a:pt x="-12803" y="355071"/>
                  <a:pt x="78478" y="404548"/>
                  <a:pt x="169759" y="454025"/>
                </a:cubicBez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903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Derivation of ‘</a:t>
            </a:r>
            <a:r>
              <a:rPr lang="en-US" dirty="0" err="1"/>
              <a:t>aaaabb</a:t>
            </a:r>
            <a:r>
              <a:rPr lang="en-US" dirty="0"/>
              <a:t>’</a:t>
            </a:r>
          </a:p>
        </p:txBody>
      </p:sp>
      <p:pic>
        <p:nvPicPr>
          <p:cNvPr id="3" name="Resim 2"/>
          <p:cNvPicPr>
            <a:picLocks noChangeAspect="1"/>
          </p:cNvPicPr>
          <p:nvPr/>
        </p:nvPicPr>
        <p:blipFill>
          <a:blip r:embed="rId3"/>
          <a:stretch>
            <a:fillRect/>
          </a:stretch>
        </p:blipFill>
        <p:spPr>
          <a:xfrm>
            <a:off x="2592925" y="1968500"/>
            <a:ext cx="2705478" cy="3153215"/>
          </a:xfrm>
          <a:prstGeom prst="rect">
            <a:avLst/>
          </a:prstGeom>
        </p:spPr>
      </p:pic>
      <p:sp>
        <p:nvSpPr>
          <p:cNvPr id="7" name="İçerik Yer Tutucusu 4"/>
          <p:cNvSpPr>
            <a:spLocks noGrp="1"/>
          </p:cNvSpPr>
          <p:nvPr>
            <p:ph idx="1"/>
          </p:nvPr>
        </p:nvSpPr>
        <p:spPr>
          <a:xfrm>
            <a:off x="2699476" y="1905000"/>
            <a:ext cx="2058988" cy="3178615"/>
          </a:xfrm>
        </p:spPr>
        <p:txBody>
          <a:bodyPr>
            <a:normAutofit/>
          </a:bodyPr>
          <a:lstStyle/>
          <a:p>
            <a:pPr marL="0" indent="0" algn="ctr">
              <a:lnSpc>
                <a:spcPct val="165000"/>
              </a:lnSpc>
              <a:buNone/>
            </a:pPr>
            <a:r>
              <a:rPr lang="tr-TR" sz="2000" b="1" dirty="0">
                <a:solidFill>
                  <a:srgbClr val="FF0000"/>
                </a:solidFill>
              </a:rPr>
              <a:t>1</a:t>
            </a:r>
          </a:p>
          <a:p>
            <a:pPr marL="0" indent="0" algn="ctr">
              <a:lnSpc>
                <a:spcPct val="165000"/>
              </a:lnSpc>
              <a:buNone/>
            </a:pPr>
            <a:r>
              <a:rPr lang="tr-TR" sz="2000" b="1" dirty="0">
                <a:solidFill>
                  <a:srgbClr val="FF0000"/>
                </a:solidFill>
              </a:rPr>
              <a:t>2</a:t>
            </a:r>
          </a:p>
          <a:p>
            <a:pPr marL="0" indent="0" algn="ctr">
              <a:lnSpc>
                <a:spcPct val="165000"/>
              </a:lnSpc>
              <a:buNone/>
            </a:pPr>
            <a:r>
              <a:rPr lang="tr-TR" sz="2000" b="1" dirty="0">
                <a:solidFill>
                  <a:srgbClr val="FF0000"/>
                </a:solidFill>
              </a:rPr>
              <a:t>3</a:t>
            </a:r>
          </a:p>
          <a:p>
            <a:pPr marL="0" indent="0" algn="ctr">
              <a:lnSpc>
                <a:spcPct val="165000"/>
              </a:lnSpc>
              <a:buNone/>
            </a:pPr>
            <a:r>
              <a:rPr lang="tr-TR" sz="2000" b="1" dirty="0">
                <a:solidFill>
                  <a:srgbClr val="FF0000"/>
                </a:solidFill>
              </a:rPr>
              <a:t>4</a:t>
            </a:r>
          </a:p>
          <a:p>
            <a:pPr marL="0" indent="0" algn="ctr">
              <a:lnSpc>
                <a:spcPct val="165000"/>
              </a:lnSpc>
              <a:buNone/>
            </a:pPr>
            <a:r>
              <a:rPr lang="tr-TR" sz="2000" b="1" dirty="0">
                <a:solidFill>
                  <a:srgbClr val="FF0000"/>
                </a:solidFill>
              </a:rPr>
              <a:t>5</a:t>
            </a:r>
          </a:p>
        </p:txBody>
      </p:sp>
      <p:pic>
        <p:nvPicPr>
          <p:cNvPr id="5" name="Resim 4"/>
          <p:cNvPicPr>
            <a:picLocks noChangeAspect="1"/>
          </p:cNvPicPr>
          <p:nvPr/>
        </p:nvPicPr>
        <p:blipFill>
          <a:blip r:embed="rId4"/>
          <a:stretch>
            <a:fillRect/>
          </a:stretch>
        </p:blipFill>
        <p:spPr>
          <a:xfrm>
            <a:off x="6418815" y="1905000"/>
            <a:ext cx="2495898" cy="3572374"/>
          </a:xfrm>
          <a:prstGeom prst="rect">
            <a:avLst/>
          </a:prstGeom>
        </p:spPr>
      </p:pic>
      <p:sp>
        <p:nvSpPr>
          <p:cNvPr id="10" name="İçerik Yer Tutucusu 4"/>
          <p:cNvSpPr txBox="1">
            <a:spLocks/>
          </p:cNvSpPr>
          <p:nvPr/>
        </p:nvSpPr>
        <p:spPr>
          <a:xfrm>
            <a:off x="6115776" y="1739900"/>
            <a:ext cx="2058988" cy="44450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ctr">
              <a:lnSpc>
                <a:spcPct val="125000"/>
              </a:lnSpc>
              <a:buFont typeface="Wingdings 3" charset="2"/>
              <a:buNone/>
            </a:pPr>
            <a:r>
              <a:rPr lang="tr-TR" sz="2000" i="1" dirty="0">
                <a:solidFill>
                  <a:srgbClr val="FF0000"/>
                </a:solidFill>
              </a:rPr>
              <a:t>1</a:t>
            </a:r>
          </a:p>
          <a:p>
            <a:pPr marL="0" indent="0" algn="ctr">
              <a:lnSpc>
                <a:spcPct val="125000"/>
              </a:lnSpc>
              <a:buFont typeface="Wingdings 3" charset="2"/>
              <a:buNone/>
            </a:pPr>
            <a:r>
              <a:rPr lang="tr-TR" sz="2000" i="1" dirty="0">
                <a:solidFill>
                  <a:srgbClr val="FF0000"/>
                </a:solidFill>
              </a:rPr>
              <a:t>3</a:t>
            </a:r>
          </a:p>
          <a:p>
            <a:pPr marL="0" indent="0" algn="ctr">
              <a:lnSpc>
                <a:spcPct val="125000"/>
              </a:lnSpc>
              <a:buFont typeface="Wingdings 3" charset="2"/>
              <a:buNone/>
            </a:pPr>
            <a:r>
              <a:rPr lang="tr-TR" sz="2000" i="1" dirty="0">
                <a:solidFill>
                  <a:srgbClr val="FF0000"/>
                </a:solidFill>
              </a:rPr>
              <a:t>5</a:t>
            </a:r>
          </a:p>
          <a:p>
            <a:pPr marL="0" indent="0" algn="ctr">
              <a:lnSpc>
                <a:spcPct val="125000"/>
              </a:lnSpc>
              <a:buFont typeface="Wingdings 3" charset="2"/>
              <a:buNone/>
            </a:pPr>
            <a:r>
              <a:rPr lang="tr-TR" sz="2000" i="1" dirty="0">
                <a:solidFill>
                  <a:srgbClr val="FF0000"/>
                </a:solidFill>
              </a:rPr>
              <a:t>3</a:t>
            </a:r>
          </a:p>
          <a:p>
            <a:pPr marL="0" indent="0" algn="ctr">
              <a:lnSpc>
                <a:spcPct val="125000"/>
              </a:lnSpc>
              <a:buFont typeface="Wingdings 3" charset="2"/>
              <a:buNone/>
            </a:pPr>
            <a:r>
              <a:rPr lang="tr-TR" sz="2000" i="1" dirty="0">
                <a:solidFill>
                  <a:srgbClr val="FF0000"/>
                </a:solidFill>
              </a:rPr>
              <a:t>3</a:t>
            </a:r>
          </a:p>
          <a:p>
            <a:pPr marL="0" indent="0" algn="ctr">
              <a:lnSpc>
                <a:spcPct val="125000"/>
              </a:lnSpc>
              <a:buFont typeface="Wingdings 3" charset="2"/>
              <a:buNone/>
            </a:pPr>
            <a:r>
              <a:rPr lang="tr-TR" sz="2000" i="1" dirty="0">
                <a:solidFill>
                  <a:srgbClr val="FF0000"/>
                </a:solidFill>
              </a:rPr>
              <a:t>2</a:t>
            </a:r>
          </a:p>
          <a:p>
            <a:pPr marL="0" indent="0" algn="ctr">
              <a:lnSpc>
                <a:spcPct val="125000"/>
              </a:lnSpc>
              <a:buFont typeface="Wingdings 3" charset="2"/>
              <a:buNone/>
            </a:pPr>
            <a:r>
              <a:rPr lang="tr-TR" sz="2000" i="1" dirty="0">
                <a:solidFill>
                  <a:srgbClr val="FF0000"/>
                </a:solidFill>
              </a:rPr>
              <a:t>4</a:t>
            </a:r>
          </a:p>
        </p:txBody>
      </p:sp>
      <p:sp>
        <p:nvSpPr>
          <p:cNvPr id="11" name="Oval 10"/>
          <p:cNvSpPr/>
          <p:nvPr/>
        </p:nvSpPr>
        <p:spPr>
          <a:xfrm>
            <a:off x="7658100" y="1905000"/>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8097063" y="2425700"/>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 name="Oval 12"/>
          <p:cNvSpPr/>
          <p:nvPr/>
        </p:nvSpPr>
        <p:spPr>
          <a:xfrm>
            <a:off x="7812064" y="2946400"/>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8000953" y="3449887"/>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179353" y="3951537"/>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503756" y="4434137"/>
            <a:ext cx="298450" cy="42545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Resim 1"/>
          <p:cNvPicPr>
            <a:picLocks noChangeAspect="1"/>
          </p:cNvPicPr>
          <p:nvPr/>
        </p:nvPicPr>
        <p:blipFill>
          <a:blip r:embed="rId5"/>
          <a:stretch>
            <a:fillRect/>
          </a:stretch>
        </p:blipFill>
        <p:spPr>
          <a:xfrm>
            <a:off x="9414049" y="1095266"/>
            <a:ext cx="2619741" cy="5134692"/>
          </a:xfrm>
          <a:prstGeom prst="rect">
            <a:avLst/>
          </a:prstGeom>
        </p:spPr>
      </p:pic>
    </p:spTree>
    <p:extLst>
      <p:ext uri="{BB962C8B-B14F-4D97-AF65-F5344CB8AC3E}">
        <p14:creationId xmlns:p14="http://schemas.microsoft.com/office/powerpoint/2010/main" val="2125884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fontScale="85000" lnSpcReduction="20000"/>
          </a:bodyPr>
          <a:lstStyle/>
          <a:p>
            <a:pPr marL="0" indent="0">
              <a:buNone/>
            </a:pPr>
            <a:r>
              <a:rPr lang="tr-TR" altLang="tr-TR" sz="3200" dirty="0"/>
              <a:t>How c</a:t>
            </a:r>
            <a:r>
              <a:rPr lang="en-US" altLang="tr-TR" sz="3200" dirty="0"/>
              <a:t>an we derivate ‘1010101’</a:t>
            </a:r>
            <a:endParaRPr lang="tr-TR" altLang="tr-TR" sz="3200" dirty="0"/>
          </a:p>
          <a:p>
            <a:pPr marL="0" indent="0">
              <a:buNone/>
            </a:pPr>
            <a:r>
              <a:rPr lang="tr-TR" altLang="tr-TR" sz="3200" dirty="0"/>
              <a:t>Improve the </a:t>
            </a:r>
            <a:r>
              <a:rPr lang="en-US" altLang="tr-TR" sz="3200" dirty="0"/>
              <a:t>grammar </a:t>
            </a:r>
            <a:endParaRPr lang="tr-TR" altLang="tr-TR" sz="3200" dirty="0"/>
          </a:p>
          <a:p>
            <a:pPr marL="0" indent="0">
              <a:buNone/>
            </a:pPr>
            <a:r>
              <a:rPr lang="en-US" altLang="tr-TR" sz="3200" dirty="0"/>
              <a:t>S → 1S1 | 0S0 | ε</a:t>
            </a:r>
            <a:r>
              <a:rPr lang="tr-TR" altLang="tr-TR" sz="3200" dirty="0"/>
              <a:t> 				</a:t>
            </a:r>
            <a:r>
              <a:rPr lang="en-US" altLang="tr-TR" sz="3200" dirty="0"/>
              <a:t> </a:t>
            </a:r>
            <a:r>
              <a:rPr lang="tr-TR" altLang="tr-TR" sz="3200" dirty="0"/>
              <a:t>	101</a:t>
            </a:r>
            <a:r>
              <a:rPr lang="en-US" altLang="tr-TR" sz="3200" dirty="0"/>
              <a:t> ε </a:t>
            </a:r>
            <a:r>
              <a:rPr lang="tr-TR" altLang="tr-TR" sz="3200" dirty="0"/>
              <a:t>101 </a:t>
            </a:r>
          </a:p>
          <a:p>
            <a:pPr marL="0" indent="0">
              <a:buNone/>
            </a:pPr>
            <a:r>
              <a:rPr lang="en-US" altLang="tr-TR" sz="3200" dirty="0"/>
              <a:t>S → 1S1 | 0S0 | </a:t>
            </a:r>
            <a:r>
              <a:rPr lang="tr-TR" altLang="tr-TR" sz="3200" dirty="0"/>
              <a:t>0 | 1			</a:t>
            </a:r>
            <a:r>
              <a:rPr lang="en-US" altLang="tr-TR" sz="3200" dirty="0"/>
              <a:t> </a:t>
            </a:r>
            <a:r>
              <a:rPr lang="tr-TR" altLang="tr-TR" sz="3200" dirty="0"/>
              <a:t>	101 </a:t>
            </a:r>
            <a:r>
              <a:rPr lang="tr-TR" altLang="tr-TR" sz="3200" dirty="0">
                <a:solidFill>
                  <a:srgbClr val="FF0000"/>
                </a:solidFill>
              </a:rPr>
              <a:t>0</a:t>
            </a:r>
            <a:r>
              <a:rPr lang="tr-TR" altLang="tr-TR" sz="3200" dirty="0"/>
              <a:t> 101 </a:t>
            </a:r>
          </a:p>
          <a:p>
            <a:pPr marL="0" indent="0">
              <a:buNone/>
            </a:pPr>
            <a:r>
              <a:rPr lang="tr-TR" altLang="tr-TR" sz="3200" dirty="0"/>
              <a:t>											101 </a:t>
            </a:r>
            <a:r>
              <a:rPr lang="tr-TR" altLang="tr-TR" sz="3200" dirty="0">
                <a:solidFill>
                  <a:srgbClr val="FF0000"/>
                </a:solidFill>
              </a:rPr>
              <a:t>1</a:t>
            </a:r>
            <a:r>
              <a:rPr lang="tr-TR" altLang="tr-TR" sz="3200" dirty="0"/>
              <a:t> 101 </a:t>
            </a:r>
          </a:p>
          <a:p>
            <a:pPr marL="0" indent="0">
              <a:buNone/>
            </a:pPr>
            <a:r>
              <a:rPr lang="en-US" altLang="tr-TR" sz="3200" dirty="0"/>
              <a:t>S → 1S1 | 0S0 | </a:t>
            </a:r>
            <a:r>
              <a:rPr lang="tr-TR" altLang="tr-TR" sz="3200" dirty="0"/>
              <a:t>0 | 1 </a:t>
            </a:r>
            <a:r>
              <a:rPr lang="en-US" altLang="tr-TR" sz="3200" dirty="0"/>
              <a:t>| ε</a:t>
            </a:r>
            <a:endParaRPr lang="tr-TR" altLang="tr-TR" sz="3200" dirty="0"/>
          </a:p>
          <a:p>
            <a:pPr marL="0" indent="0">
              <a:buNone/>
            </a:pPr>
            <a:endParaRPr lang="tr-TR" altLang="tr-TR" sz="3200" dirty="0"/>
          </a:p>
          <a:p>
            <a:pPr marL="0" indent="0">
              <a:buNone/>
            </a:pPr>
            <a:r>
              <a:rPr lang="en-US" altLang="tr-TR" sz="3200" dirty="0"/>
              <a:t>S → 1</a:t>
            </a:r>
            <a:r>
              <a:rPr lang="tr-TR" altLang="tr-TR" sz="3200" dirty="0"/>
              <a:t>0</a:t>
            </a:r>
            <a:r>
              <a:rPr lang="en-US" altLang="tr-TR" sz="3200" dirty="0"/>
              <a:t>S</a:t>
            </a:r>
            <a:r>
              <a:rPr lang="tr-TR" altLang="tr-TR" sz="3200" dirty="0"/>
              <a:t>|01S|0S1|1S0</a:t>
            </a:r>
            <a:r>
              <a:rPr lang="en-US" altLang="tr-TR" sz="3200" dirty="0"/>
              <a:t>| ε</a:t>
            </a:r>
            <a:endParaRPr lang="tr-TR" altLang="tr-TR" sz="3200" dirty="0"/>
          </a:p>
          <a:p>
            <a:pPr marL="0" indent="0">
              <a:buNone/>
            </a:pPr>
            <a:endParaRPr lang="en-US" altLang="tr-TR" sz="3200" dirty="0"/>
          </a:p>
        </p:txBody>
      </p:sp>
      <p:sp>
        <p:nvSpPr>
          <p:cNvPr id="7" name="Unvan 1"/>
          <p:cNvSpPr>
            <a:spLocks noGrp="1"/>
          </p:cNvSpPr>
          <p:nvPr>
            <p:ph type="title"/>
          </p:nvPr>
        </p:nvSpPr>
        <p:spPr>
          <a:xfrm>
            <a:off x="2592925" y="624110"/>
            <a:ext cx="8911687" cy="1280890"/>
          </a:xfrm>
        </p:spPr>
        <p:txBody>
          <a:bodyPr/>
          <a:lstStyle/>
          <a:p>
            <a:r>
              <a:rPr lang="tr-TR" dirty="0"/>
              <a:t>New Grammar</a:t>
            </a:r>
            <a:endParaRPr lang="en-US" dirty="0"/>
          </a:p>
        </p:txBody>
      </p:sp>
    </p:spTree>
    <p:extLst>
      <p:ext uri="{BB962C8B-B14F-4D97-AF65-F5344CB8AC3E}">
        <p14:creationId xmlns:p14="http://schemas.microsoft.com/office/powerpoint/2010/main" val="810636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In this first example, we will model the spelling of parenthetical symbols used in mathematics. You know, when a left parenthesis is used, it has to match a right parenthesis typed later. Otherwise, there will be a typo in the use of parentheses.</a:t>
            </a:r>
          </a:p>
        </p:txBody>
      </p:sp>
      <p:sp>
        <p:nvSpPr>
          <p:cNvPr id="6" name="İçerik Yer Tutucusu 4"/>
          <p:cNvSpPr txBox="1">
            <a:spLocks/>
          </p:cNvSpPr>
          <p:nvPr/>
        </p:nvSpPr>
        <p:spPr>
          <a:xfrm>
            <a:off x="7870370" y="2420255"/>
            <a:ext cx="4321630" cy="27486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chemeClr val="tx1"/>
                </a:solidFill>
              </a:rPr>
              <a:t>( ( (  ) ) )  (  ) (  )</a:t>
            </a:r>
          </a:p>
          <a:p>
            <a:pPr marL="0" indent="0">
              <a:lnSpc>
                <a:spcPct val="150000"/>
              </a:lnSpc>
              <a:buNone/>
            </a:pPr>
            <a:r>
              <a:rPr lang="tr-TR" sz="3600" dirty="0">
                <a:solidFill>
                  <a:schemeClr val="tx1"/>
                </a:solidFill>
              </a:rPr>
              <a:t>aaabbb ab</a:t>
            </a:r>
            <a:r>
              <a:rPr lang="tr-TR" sz="2400" dirty="0">
                <a:solidFill>
                  <a:schemeClr val="tx1"/>
                </a:solidFill>
              </a:rPr>
              <a:t> </a:t>
            </a:r>
            <a:r>
              <a:rPr lang="tr-TR" sz="3600" dirty="0">
                <a:solidFill>
                  <a:schemeClr val="tx1"/>
                </a:solidFill>
              </a:rPr>
              <a:t>ab</a:t>
            </a:r>
          </a:p>
          <a:p>
            <a:pPr marL="0" indent="0">
              <a:lnSpc>
                <a:spcPct val="150000"/>
              </a:lnSpc>
              <a:buNone/>
            </a:pPr>
            <a:endParaRPr lang="tr-TR" sz="3600" dirty="0">
              <a:solidFill>
                <a:schemeClr val="tx1"/>
              </a:solidFill>
            </a:endParaRPr>
          </a:p>
        </p:txBody>
      </p:sp>
      <p:sp>
        <p:nvSpPr>
          <p:cNvPr id="2" name="Dikdörtgen 1"/>
          <p:cNvSpPr/>
          <p:nvPr/>
        </p:nvSpPr>
        <p:spPr>
          <a:xfrm>
            <a:off x="7870369" y="1493157"/>
            <a:ext cx="3589444" cy="576120"/>
          </a:xfrm>
          <a:prstGeom prst="rect">
            <a:avLst/>
          </a:prstGeom>
        </p:spPr>
        <p:txBody>
          <a:bodyPr wrap="none">
            <a:spAutoFit/>
          </a:bodyPr>
          <a:lstStyle/>
          <a:p>
            <a:pPr>
              <a:lnSpc>
                <a:spcPct val="150000"/>
              </a:lnSpc>
            </a:pPr>
            <a:r>
              <a:rPr lang="tr-TR" sz="2400" dirty="0">
                <a:solidFill>
                  <a:srgbClr val="FF0000"/>
                </a:solidFill>
              </a:rPr>
              <a:t>(3*(x</a:t>
            </a:r>
            <a:r>
              <a:rPr lang="tr-TR" sz="2400" baseline="40000" dirty="0">
                <a:solidFill>
                  <a:srgbClr val="FF0000"/>
                </a:solidFill>
              </a:rPr>
              <a:t>(x-2)</a:t>
            </a:r>
            <a:r>
              <a:rPr lang="tr-TR" sz="2400" dirty="0">
                <a:solidFill>
                  <a:srgbClr val="FF0000"/>
                </a:solidFill>
              </a:rPr>
              <a:t>+1))-(y+1)*(x+5)</a:t>
            </a:r>
          </a:p>
        </p:txBody>
      </p:sp>
    </p:spTree>
    <p:extLst>
      <p:ext uri="{BB962C8B-B14F-4D97-AF65-F5344CB8AC3E}">
        <p14:creationId xmlns:p14="http://schemas.microsoft.com/office/powerpoint/2010/main" val="722492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There are three critical details that need to be modeled here:</a:t>
            </a:r>
          </a:p>
        </p:txBody>
      </p:sp>
      <p:sp>
        <p:nvSpPr>
          <p:cNvPr id="6" name="İçerik Yer Tutucusu 4"/>
          <p:cNvSpPr txBox="1">
            <a:spLocks/>
          </p:cNvSpPr>
          <p:nvPr/>
        </p:nvSpPr>
        <p:spPr>
          <a:xfrm>
            <a:off x="7870370" y="1264555"/>
            <a:ext cx="4321630" cy="27486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chemeClr val="tx1"/>
                </a:solidFill>
              </a:rPr>
              <a:t>( ( (  ) ) )  (  ) (  )</a:t>
            </a:r>
          </a:p>
          <a:p>
            <a:pPr marL="0" indent="0">
              <a:lnSpc>
                <a:spcPct val="150000"/>
              </a:lnSpc>
              <a:buNone/>
            </a:pPr>
            <a:r>
              <a:rPr lang="tr-TR" sz="3600" dirty="0" err="1">
                <a:solidFill>
                  <a:schemeClr val="tx1"/>
                </a:solidFill>
              </a:rPr>
              <a:t>aaabbb</a:t>
            </a:r>
            <a:r>
              <a:rPr lang="tr-TR" sz="3600" dirty="0">
                <a:solidFill>
                  <a:schemeClr val="tx1"/>
                </a:solidFill>
              </a:rPr>
              <a:t> ab</a:t>
            </a:r>
            <a:r>
              <a:rPr lang="tr-TR" sz="2400" dirty="0">
                <a:solidFill>
                  <a:schemeClr val="tx1"/>
                </a:solidFill>
              </a:rPr>
              <a:t> </a:t>
            </a:r>
            <a:r>
              <a:rPr lang="tr-TR" sz="3600" dirty="0" err="1">
                <a:solidFill>
                  <a:schemeClr val="tx1"/>
                </a:solidFill>
              </a:rPr>
              <a:t>ab</a:t>
            </a:r>
            <a:endParaRPr lang="tr-TR" sz="3600" dirty="0">
              <a:solidFill>
                <a:schemeClr val="tx1"/>
              </a:solidFill>
            </a:endParaRPr>
          </a:p>
          <a:p>
            <a:pPr marL="0" indent="0">
              <a:lnSpc>
                <a:spcPct val="150000"/>
              </a:lnSpc>
              <a:buNone/>
            </a:pPr>
            <a:endParaRPr lang="tr-TR" sz="3600" dirty="0">
              <a:solidFill>
                <a:schemeClr val="tx1"/>
              </a:solidFill>
            </a:endParaRPr>
          </a:p>
        </p:txBody>
      </p:sp>
    </p:spTree>
    <p:extLst>
      <p:ext uri="{BB962C8B-B14F-4D97-AF65-F5344CB8AC3E}">
        <p14:creationId xmlns:p14="http://schemas.microsoft.com/office/powerpoint/2010/main" val="41950169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There are three critical details that need to be modeled here:</a:t>
            </a:r>
          </a:p>
          <a:p>
            <a:pPr marL="0" indent="0">
              <a:lnSpc>
                <a:spcPct val="150000"/>
              </a:lnSpc>
              <a:buNone/>
            </a:pPr>
            <a:r>
              <a:rPr lang="en-US" sz="2800" dirty="0"/>
              <a:t>1. Nested parentheses,</a:t>
            </a:r>
          </a:p>
        </p:txBody>
      </p:sp>
      <p:sp>
        <p:nvSpPr>
          <p:cNvPr id="8" name="İçerik Yer Tutucusu 4"/>
          <p:cNvSpPr txBox="1">
            <a:spLocks/>
          </p:cNvSpPr>
          <p:nvPr/>
        </p:nvSpPr>
        <p:spPr>
          <a:xfrm>
            <a:off x="7870370" y="1264554"/>
            <a:ext cx="4321630" cy="400622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 ( (  ) ) )  </a:t>
            </a:r>
            <a:r>
              <a:rPr lang="tr-TR" sz="3600" dirty="0">
                <a:solidFill>
                  <a:schemeClr val="tx1"/>
                </a:solidFill>
              </a:rPr>
              <a:t>(  ) (  )</a:t>
            </a:r>
          </a:p>
          <a:p>
            <a:pPr marL="0" indent="0">
              <a:lnSpc>
                <a:spcPct val="150000"/>
              </a:lnSpc>
              <a:buNone/>
            </a:pPr>
            <a:r>
              <a:rPr lang="tr-TR" sz="3600" dirty="0" err="1">
                <a:solidFill>
                  <a:srgbClr val="FF0000"/>
                </a:solidFill>
              </a:rPr>
              <a:t>aaabbb</a:t>
            </a:r>
            <a:r>
              <a:rPr lang="tr-TR" sz="3600" dirty="0">
                <a:solidFill>
                  <a:schemeClr val="tx1"/>
                </a:solidFill>
              </a:rPr>
              <a:t> ab</a:t>
            </a:r>
            <a:r>
              <a:rPr lang="tr-TR" sz="2400" dirty="0">
                <a:solidFill>
                  <a:schemeClr val="tx1"/>
                </a:solidFill>
              </a:rPr>
              <a:t> </a:t>
            </a:r>
            <a:r>
              <a:rPr lang="tr-TR" sz="3600" dirty="0" err="1">
                <a:solidFill>
                  <a:schemeClr val="tx1"/>
                </a:solidFill>
              </a:rPr>
              <a:t>ab</a:t>
            </a:r>
            <a:endParaRPr lang="tr-TR" sz="3600" dirty="0">
              <a:solidFill>
                <a:schemeClr val="tx1"/>
              </a:solidFill>
            </a:endParaRPr>
          </a:p>
          <a:p>
            <a:pPr marL="0" indent="0">
              <a:lnSpc>
                <a:spcPct val="150000"/>
              </a:lnSpc>
              <a:buNone/>
            </a:pPr>
            <a:r>
              <a:rPr lang="tr-TR" sz="3600" dirty="0">
                <a:solidFill>
                  <a:srgbClr val="FF0000"/>
                </a:solidFill>
              </a:rPr>
              <a:t>S →</a:t>
            </a:r>
            <a:r>
              <a:rPr lang="tr-TR" sz="3600" dirty="0" err="1">
                <a:solidFill>
                  <a:srgbClr val="FF0000"/>
                </a:solidFill>
              </a:rPr>
              <a:t>aSb</a:t>
            </a:r>
            <a:endParaRPr lang="tr-TR" sz="3600" dirty="0">
              <a:solidFill>
                <a:srgbClr val="FF0000"/>
              </a:solidFill>
            </a:endParaRPr>
          </a:p>
        </p:txBody>
      </p:sp>
    </p:spTree>
    <p:extLst>
      <p:ext uri="{BB962C8B-B14F-4D97-AF65-F5344CB8AC3E}">
        <p14:creationId xmlns:p14="http://schemas.microsoft.com/office/powerpoint/2010/main" val="2381370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There are three critical details that need to be modeled here:</a:t>
            </a:r>
          </a:p>
          <a:p>
            <a:pPr marL="0" indent="0">
              <a:lnSpc>
                <a:spcPct val="150000"/>
              </a:lnSpc>
              <a:buNone/>
            </a:pPr>
            <a:r>
              <a:rPr lang="en-US" sz="2800" dirty="0"/>
              <a:t>1. Nested parentheses,</a:t>
            </a:r>
          </a:p>
          <a:p>
            <a:pPr marL="0" indent="0">
              <a:lnSpc>
                <a:spcPct val="150000"/>
              </a:lnSpc>
              <a:buNone/>
            </a:pPr>
            <a:r>
              <a:rPr lang="en-US" sz="2800" dirty="0"/>
              <a:t>2. Side-by-side parentheses,</a:t>
            </a:r>
          </a:p>
        </p:txBody>
      </p:sp>
      <p:sp>
        <p:nvSpPr>
          <p:cNvPr id="8" name="İçerik Yer Tutucusu 4"/>
          <p:cNvSpPr txBox="1">
            <a:spLocks/>
          </p:cNvSpPr>
          <p:nvPr/>
        </p:nvSpPr>
        <p:spPr>
          <a:xfrm>
            <a:off x="7870370" y="1264554"/>
            <a:ext cx="4321630" cy="400622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chemeClr val="tx1"/>
                </a:solidFill>
              </a:rPr>
              <a:t>( ( (  ) ) )  </a:t>
            </a:r>
            <a:r>
              <a:rPr lang="tr-TR" sz="3600" dirty="0">
                <a:solidFill>
                  <a:srgbClr val="FF0000"/>
                </a:solidFill>
              </a:rPr>
              <a:t>(  ) (  )</a:t>
            </a:r>
          </a:p>
          <a:p>
            <a:pPr marL="0" indent="0">
              <a:lnSpc>
                <a:spcPct val="150000"/>
              </a:lnSpc>
              <a:buNone/>
            </a:pPr>
            <a:r>
              <a:rPr lang="tr-TR" sz="3600" dirty="0" err="1">
                <a:solidFill>
                  <a:schemeClr val="tx1"/>
                </a:solidFill>
              </a:rPr>
              <a:t>aaabbb</a:t>
            </a:r>
            <a:r>
              <a:rPr lang="tr-TR" sz="3600" dirty="0">
                <a:solidFill>
                  <a:schemeClr val="tx1"/>
                </a:solidFill>
              </a:rPr>
              <a:t> </a:t>
            </a:r>
            <a:r>
              <a:rPr lang="tr-TR" sz="3600" dirty="0">
                <a:solidFill>
                  <a:srgbClr val="FF0000"/>
                </a:solidFill>
              </a:rPr>
              <a:t>ab</a:t>
            </a:r>
            <a:r>
              <a:rPr lang="tr-TR" sz="2400" dirty="0">
                <a:solidFill>
                  <a:srgbClr val="FF0000"/>
                </a:solidFill>
              </a:rPr>
              <a:t> </a:t>
            </a:r>
            <a:r>
              <a:rPr lang="tr-TR" sz="3600" dirty="0" err="1">
                <a:solidFill>
                  <a:srgbClr val="FF0000"/>
                </a:solidFill>
              </a:rPr>
              <a:t>ab</a:t>
            </a:r>
            <a:endParaRPr lang="tr-TR" sz="3600" dirty="0">
              <a:solidFill>
                <a:srgbClr val="FF0000"/>
              </a:solidFill>
            </a:endParaRPr>
          </a:p>
          <a:p>
            <a:pPr marL="0" indent="0">
              <a:lnSpc>
                <a:spcPct val="150000"/>
              </a:lnSpc>
              <a:buNone/>
            </a:pPr>
            <a:r>
              <a:rPr lang="tr-TR" sz="3600" dirty="0">
                <a:solidFill>
                  <a:schemeClr val="tx1"/>
                </a:solidFill>
              </a:rPr>
              <a:t>S →</a:t>
            </a:r>
            <a:r>
              <a:rPr lang="tr-TR" sz="3600" dirty="0" err="1">
                <a:solidFill>
                  <a:schemeClr val="tx1"/>
                </a:solidFill>
              </a:rPr>
              <a:t>aSb</a:t>
            </a:r>
            <a:r>
              <a:rPr lang="tr-TR" sz="3600" dirty="0">
                <a:solidFill>
                  <a:schemeClr val="tx1"/>
                </a:solidFill>
              </a:rPr>
              <a:t>    </a:t>
            </a:r>
            <a:r>
              <a:rPr lang="tr-TR" sz="3600" dirty="0">
                <a:solidFill>
                  <a:srgbClr val="FF0000"/>
                </a:solidFill>
              </a:rPr>
              <a:t>S →SS</a:t>
            </a:r>
          </a:p>
        </p:txBody>
      </p:sp>
    </p:spTree>
    <p:extLst>
      <p:ext uri="{BB962C8B-B14F-4D97-AF65-F5344CB8AC3E}">
        <p14:creationId xmlns:p14="http://schemas.microsoft.com/office/powerpoint/2010/main" val="271370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There are three critical details that need to be modeled here:</a:t>
            </a:r>
          </a:p>
          <a:p>
            <a:pPr marL="0" indent="0">
              <a:lnSpc>
                <a:spcPct val="150000"/>
              </a:lnSpc>
              <a:buNone/>
            </a:pPr>
            <a:r>
              <a:rPr lang="en-US" sz="2800" dirty="0"/>
              <a:t>1. Nested parentheses,</a:t>
            </a:r>
          </a:p>
          <a:p>
            <a:pPr marL="0" indent="0">
              <a:lnSpc>
                <a:spcPct val="150000"/>
              </a:lnSpc>
              <a:buNone/>
            </a:pPr>
            <a:r>
              <a:rPr lang="en-US" sz="2800" dirty="0"/>
              <a:t>2. Side-by-side parentheses,</a:t>
            </a:r>
          </a:p>
          <a:p>
            <a:pPr marL="0" indent="0">
              <a:lnSpc>
                <a:spcPct val="150000"/>
              </a:lnSpc>
              <a:buNone/>
            </a:pPr>
            <a:r>
              <a:rPr lang="en-US" sz="2800" dirty="0"/>
              <a:t>3. Termination of recursive steps</a:t>
            </a:r>
          </a:p>
        </p:txBody>
      </p:sp>
      <p:sp>
        <p:nvSpPr>
          <p:cNvPr id="8" name="İçerik Yer Tutucusu 4"/>
          <p:cNvSpPr txBox="1">
            <a:spLocks/>
          </p:cNvSpPr>
          <p:nvPr/>
        </p:nvSpPr>
        <p:spPr>
          <a:xfrm>
            <a:off x="7870370" y="1264554"/>
            <a:ext cx="4321630" cy="400622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chemeClr val="tx1"/>
                </a:solidFill>
              </a:rPr>
              <a:t>( ( (  ) ) )  (  ) (  )</a:t>
            </a:r>
          </a:p>
          <a:p>
            <a:pPr marL="0" indent="0">
              <a:lnSpc>
                <a:spcPct val="150000"/>
              </a:lnSpc>
              <a:buNone/>
            </a:pPr>
            <a:r>
              <a:rPr lang="tr-TR" sz="3600" dirty="0" err="1">
                <a:solidFill>
                  <a:schemeClr val="tx1"/>
                </a:solidFill>
              </a:rPr>
              <a:t>aaabbb</a:t>
            </a:r>
            <a:r>
              <a:rPr lang="tr-TR" sz="3600" dirty="0">
                <a:solidFill>
                  <a:schemeClr val="tx1"/>
                </a:solidFill>
              </a:rPr>
              <a:t> ab</a:t>
            </a:r>
            <a:r>
              <a:rPr lang="tr-TR" sz="2400" dirty="0">
                <a:solidFill>
                  <a:schemeClr val="tx1"/>
                </a:solidFill>
              </a:rPr>
              <a:t> </a:t>
            </a:r>
            <a:r>
              <a:rPr lang="tr-TR" sz="3600" dirty="0" err="1">
                <a:solidFill>
                  <a:schemeClr val="tx1"/>
                </a:solidFill>
              </a:rPr>
              <a:t>ab</a:t>
            </a:r>
            <a:endParaRPr lang="tr-TR" sz="3600" dirty="0">
              <a:solidFill>
                <a:schemeClr val="tx1"/>
              </a:solidFill>
            </a:endParaRPr>
          </a:p>
          <a:p>
            <a:pPr marL="0" indent="0">
              <a:lnSpc>
                <a:spcPct val="150000"/>
              </a:lnSpc>
              <a:buNone/>
            </a:pPr>
            <a:r>
              <a:rPr lang="tr-TR" sz="3600" dirty="0">
                <a:solidFill>
                  <a:schemeClr val="tx1"/>
                </a:solidFill>
              </a:rPr>
              <a:t>S →aSb    S →SS</a:t>
            </a:r>
          </a:p>
          <a:p>
            <a:pPr marL="0" indent="0">
              <a:lnSpc>
                <a:spcPct val="150000"/>
              </a:lnSpc>
              <a:buNone/>
            </a:pPr>
            <a:r>
              <a:rPr lang="tr-TR" sz="3600" dirty="0">
                <a:solidFill>
                  <a:srgbClr val="FF0000"/>
                </a:solidFill>
              </a:rPr>
              <a:t>S →</a:t>
            </a:r>
            <a:r>
              <a:rPr lang="el-GR" sz="3600" dirty="0">
                <a:solidFill>
                  <a:srgbClr val="FF0000"/>
                </a:solidFill>
              </a:rPr>
              <a:t>ε</a:t>
            </a:r>
            <a:endParaRPr lang="tr-TR" sz="3600" dirty="0">
              <a:solidFill>
                <a:srgbClr val="FF0000"/>
              </a:solidFill>
            </a:endParaRPr>
          </a:p>
        </p:txBody>
      </p:sp>
    </p:spTree>
    <p:extLst>
      <p:ext uri="{BB962C8B-B14F-4D97-AF65-F5344CB8AC3E}">
        <p14:creationId xmlns:p14="http://schemas.microsoft.com/office/powerpoint/2010/main" val="2674696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a:t>
            </a:r>
            <a:r>
              <a:rPr lang="tr-TR" dirty="0" err="1"/>
              <a:t>a</a:t>
            </a:r>
            <a:r>
              <a:rPr lang="tr-TR" baseline="40000" dirty="0" err="1"/>
              <a:t>n</a:t>
            </a:r>
            <a:r>
              <a:rPr lang="tr-TR" dirty="0" err="1"/>
              <a:t>b</a:t>
            </a:r>
            <a:r>
              <a:rPr lang="tr-TR" baseline="40000" dirty="0" err="1"/>
              <a:t>m</a:t>
            </a:r>
            <a:r>
              <a:rPr lang="tr-TR" dirty="0" err="1"/>
              <a:t>c</a:t>
            </a:r>
            <a:r>
              <a:rPr lang="tr-TR" baseline="40000" dirty="0" err="1"/>
              <a:t>n+m</a:t>
            </a:r>
            <a:endParaRPr lang="en-US" dirty="0"/>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Consider the language</a:t>
            </a:r>
            <a:endParaRPr lang="tr-TR" sz="2800" dirty="0"/>
          </a:p>
          <a:p>
            <a:pPr marL="0" indent="0">
              <a:lnSpc>
                <a:spcPct val="150000"/>
              </a:lnSpc>
              <a:buNone/>
            </a:pPr>
            <a:r>
              <a:rPr lang="tr-TR" sz="2800" dirty="0"/>
              <a:t>L={</a:t>
            </a:r>
            <a:r>
              <a:rPr lang="tr-TR" sz="2800" i="1" dirty="0" err="1"/>
              <a:t>a</a:t>
            </a:r>
            <a:r>
              <a:rPr lang="tr-TR" sz="2800" i="1" baseline="40000" dirty="0" err="1"/>
              <a:t>n</a:t>
            </a:r>
            <a:r>
              <a:rPr lang="tr-TR" sz="2800" i="1" dirty="0" err="1"/>
              <a:t>b</a:t>
            </a:r>
            <a:r>
              <a:rPr lang="tr-TR" sz="2800" i="1" baseline="40000" dirty="0" err="1"/>
              <a:t>m</a:t>
            </a:r>
            <a:r>
              <a:rPr lang="tr-TR" sz="2800" i="1" dirty="0" err="1"/>
              <a:t>c</a:t>
            </a:r>
            <a:r>
              <a:rPr lang="tr-TR" sz="2800" i="1" baseline="40000" dirty="0" err="1"/>
              <a:t>n+m</a:t>
            </a:r>
            <a:r>
              <a:rPr lang="tr-TR" sz="2800" dirty="0"/>
              <a:t> : n ≥ 0, m ≥ 0}</a:t>
            </a:r>
            <a:endParaRPr lang="en-US" sz="2800" dirty="0"/>
          </a:p>
        </p:txBody>
      </p:sp>
      <p:sp>
        <p:nvSpPr>
          <p:cNvPr id="8" name="İçerik Yer Tutucusu 4"/>
          <p:cNvSpPr txBox="1">
            <a:spLocks/>
          </p:cNvSpPr>
          <p:nvPr/>
        </p:nvSpPr>
        <p:spPr>
          <a:xfrm>
            <a:off x="7870370" y="1264554"/>
            <a:ext cx="4321630" cy="50323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a</a:t>
            </a:r>
            <a:r>
              <a:rPr lang="tr-TR" sz="3600" baseline="40000" dirty="0">
                <a:solidFill>
                  <a:srgbClr val="FF0000"/>
                </a:solidFill>
              </a:rPr>
              <a:t>3</a:t>
            </a:r>
            <a:r>
              <a:rPr lang="tr-TR" sz="3600" dirty="0">
                <a:solidFill>
                  <a:srgbClr val="FF0000"/>
                </a:solidFill>
              </a:rPr>
              <a:t>b</a:t>
            </a:r>
            <a:r>
              <a:rPr lang="tr-TR" sz="3600" baseline="40000" dirty="0">
                <a:solidFill>
                  <a:srgbClr val="FF0000"/>
                </a:solidFill>
              </a:rPr>
              <a:t>2</a:t>
            </a:r>
            <a:r>
              <a:rPr lang="tr-TR" sz="3600" dirty="0">
                <a:solidFill>
                  <a:srgbClr val="FF0000"/>
                </a:solidFill>
              </a:rPr>
              <a:t>c</a:t>
            </a:r>
            <a:r>
              <a:rPr lang="tr-TR" sz="3600" baseline="40000" dirty="0">
                <a:solidFill>
                  <a:srgbClr val="FF0000"/>
                </a:solidFill>
              </a:rPr>
              <a:t>5</a:t>
            </a:r>
            <a:endParaRPr lang="tr-TR" sz="3600" dirty="0">
              <a:solidFill>
                <a:srgbClr val="FF0000"/>
              </a:solidFill>
            </a:endParaRPr>
          </a:p>
        </p:txBody>
      </p:sp>
    </p:spTree>
    <p:extLst>
      <p:ext uri="{BB962C8B-B14F-4D97-AF65-F5344CB8AC3E}">
        <p14:creationId xmlns:p14="http://schemas.microsoft.com/office/powerpoint/2010/main" val="3760111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a:t>
            </a:r>
            <a:r>
              <a:rPr lang="tr-TR" dirty="0" err="1"/>
              <a:t>a</a:t>
            </a:r>
            <a:r>
              <a:rPr lang="tr-TR" baseline="40000" dirty="0" err="1"/>
              <a:t>n</a:t>
            </a:r>
            <a:r>
              <a:rPr lang="tr-TR" dirty="0" err="1"/>
              <a:t>b</a:t>
            </a:r>
            <a:r>
              <a:rPr lang="tr-TR" baseline="40000" dirty="0" err="1"/>
              <a:t>m</a:t>
            </a:r>
            <a:r>
              <a:rPr lang="tr-TR" dirty="0" err="1"/>
              <a:t>c</a:t>
            </a:r>
            <a:r>
              <a:rPr lang="tr-TR" baseline="40000" dirty="0" err="1"/>
              <a:t>n+m</a:t>
            </a:r>
            <a:endParaRPr lang="en-US" dirty="0"/>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Consider the language</a:t>
            </a:r>
            <a:endParaRPr lang="tr-TR" sz="2800" dirty="0"/>
          </a:p>
          <a:p>
            <a:pPr marL="0" indent="0">
              <a:lnSpc>
                <a:spcPct val="150000"/>
              </a:lnSpc>
              <a:buNone/>
            </a:pPr>
            <a:r>
              <a:rPr lang="tr-TR" sz="2800" dirty="0"/>
              <a:t>L={</a:t>
            </a:r>
            <a:r>
              <a:rPr lang="tr-TR" sz="2800" i="1" dirty="0" err="1"/>
              <a:t>a</a:t>
            </a:r>
            <a:r>
              <a:rPr lang="tr-TR" sz="2800" i="1" baseline="40000" dirty="0" err="1"/>
              <a:t>n</a:t>
            </a:r>
            <a:r>
              <a:rPr lang="tr-TR" sz="2800" i="1" dirty="0" err="1"/>
              <a:t>b</a:t>
            </a:r>
            <a:r>
              <a:rPr lang="tr-TR" sz="2800" i="1" baseline="40000" dirty="0" err="1"/>
              <a:t>m</a:t>
            </a:r>
            <a:r>
              <a:rPr lang="tr-TR" sz="2800" i="1" dirty="0" err="1"/>
              <a:t>c</a:t>
            </a:r>
            <a:r>
              <a:rPr lang="tr-TR" sz="2800" i="1" baseline="40000" dirty="0" err="1"/>
              <a:t>n+m</a:t>
            </a:r>
            <a:r>
              <a:rPr lang="tr-TR" sz="2800" dirty="0"/>
              <a:t> : n ≥ 0, m ≥ 0}</a:t>
            </a:r>
            <a:endParaRPr lang="en-US" sz="2800" dirty="0"/>
          </a:p>
        </p:txBody>
      </p:sp>
      <p:sp>
        <p:nvSpPr>
          <p:cNvPr id="8" name="İçerik Yer Tutucusu 4"/>
          <p:cNvSpPr txBox="1">
            <a:spLocks/>
          </p:cNvSpPr>
          <p:nvPr/>
        </p:nvSpPr>
        <p:spPr>
          <a:xfrm>
            <a:off x="7870370" y="1264554"/>
            <a:ext cx="4321630" cy="50323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a</a:t>
            </a:r>
            <a:r>
              <a:rPr lang="tr-TR" sz="3600" baseline="40000" dirty="0">
                <a:solidFill>
                  <a:srgbClr val="FF0000"/>
                </a:solidFill>
              </a:rPr>
              <a:t>3</a:t>
            </a:r>
            <a:r>
              <a:rPr lang="tr-TR" sz="3600" dirty="0">
                <a:solidFill>
                  <a:srgbClr val="FF0000"/>
                </a:solidFill>
              </a:rPr>
              <a:t>b</a:t>
            </a:r>
            <a:r>
              <a:rPr lang="tr-TR" sz="3600" baseline="40000" dirty="0">
                <a:solidFill>
                  <a:srgbClr val="FF0000"/>
                </a:solidFill>
              </a:rPr>
              <a:t>2</a:t>
            </a:r>
            <a:r>
              <a:rPr lang="tr-TR" sz="3600" dirty="0">
                <a:solidFill>
                  <a:srgbClr val="FF0000"/>
                </a:solidFill>
              </a:rPr>
              <a:t>c</a:t>
            </a:r>
            <a:r>
              <a:rPr lang="tr-TR" sz="3600" baseline="40000" dirty="0">
                <a:solidFill>
                  <a:srgbClr val="FF0000"/>
                </a:solidFill>
              </a:rPr>
              <a:t>5</a:t>
            </a:r>
            <a:endParaRPr lang="tr-TR" sz="3600" dirty="0">
              <a:solidFill>
                <a:srgbClr val="FF0000"/>
              </a:solidFill>
            </a:endParaRPr>
          </a:p>
          <a:p>
            <a:pPr marL="0" indent="0">
              <a:lnSpc>
                <a:spcPct val="150000"/>
              </a:lnSpc>
              <a:buNone/>
            </a:pPr>
            <a:r>
              <a:rPr lang="tr-TR" sz="3600" dirty="0" err="1">
                <a:solidFill>
                  <a:srgbClr val="0070C0"/>
                </a:solidFill>
              </a:rPr>
              <a:t>aaa</a:t>
            </a:r>
            <a:r>
              <a:rPr lang="tr-TR" sz="3600" dirty="0">
                <a:solidFill>
                  <a:schemeClr val="tx1"/>
                </a:solidFill>
              </a:rPr>
              <a:t> </a:t>
            </a:r>
            <a:r>
              <a:rPr lang="tr-TR" sz="3600" dirty="0" err="1">
                <a:solidFill>
                  <a:srgbClr val="00B050"/>
                </a:solidFill>
              </a:rPr>
              <a:t>bb</a:t>
            </a:r>
            <a:r>
              <a:rPr lang="tr-TR" sz="3600" dirty="0">
                <a:solidFill>
                  <a:srgbClr val="00B050"/>
                </a:solidFill>
              </a:rPr>
              <a:t> </a:t>
            </a:r>
            <a:r>
              <a:rPr lang="tr-TR" sz="3600" dirty="0" err="1">
                <a:solidFill>
                  <a:srgbClr val="00B050"/>
                </a:solidFill>
              </a:rPr>
              <a:t>cc</a:t>
            </a:r>
            <a:r>
              <a:rPr lang="tr-TR" sz="3600" dirty="0" err="1">
                <a:solidFill>
                  <a:srgbClr val="0070C0"/>
                </a:solidFill>
              </a:rPr>
              <a:t>ccc</a:t>
            </a:r>
            <a:endParaRPr lang="tr-TR" sz="3600" dirty="0">
              <a:solidFill>
                <a:srgbClr val="0070C0"/>
              </a:solidFill>
            </a:endParaRPr>
          </a:p>
          <a:p>
            <a:pPr marL="0" indent="0">
              <a:lnSpc>
                <a:spcPct val="150000"/>
              </a:lnSpc>
              <a:buNone/>
            </a:pPr>
            <a:endParaRPr lang="tr-TR" sz="3600" dirty="0">
              <a:solidFill>
                <a:schemeClr val="tx1"/>
              </a:solidFill>
            </a:endParaRPr>
          </a:p>
          <a:p>
            <a:pPr marL="0" indent="0">
              <a:lnSpc>
                <a:spcPct val="150000"/>
              </a:lnSpc>
              <a:buNone/>
            </a:pPr>
            <a:r>
              <a:rPr lang="tr-TR" sz="3600" dirty="0">
                <a:solidFill>
                  <a:srgbClr val="0070C0"/>
                </a:solidFill>
              </a:rPr>
              <a:t>S →</a:t>
            </a:r>
            <a:r>
              <a:rPr lang="tr-TR" sz="3600" dirty="0" err="1">
                <a:solidFill>
                  <a:srgbClr val="0070C0"/>
                </a:solidFill>
              </a:rPr>
              <a:t>aSc</a:t>
            </a:r>
            <a:r>
              <a:rPr lang="tr-TR" sz="3600" dirty="0">
                <a:solidFill>
                  <a:srgbClr val="0070C0"/>
                </a:solidFill>
              </a:rPr>
              <a:t>    </a:t>
            </a:r>
            <a:r>
              <a:rPr lang="tr-TR" sz="3600" dirty="0">
                <a:solidFill>
                  <a:srgbClr val="00B050"/>
                </a:solidFill>
              </a:rPr>
              <a:t>S →</a:t>
            </a:r>
            <a:r>
              <a:rPr lang="tr-TR" sz="3600" dirty="0" err="1">
                <a:solidFill>
                  <a:srgbClr val="00B050"/>
                </a:solidFill>
              </a:rPr>
              <a:t>bSc</a:t>
            </a:r>
            <a:endParaRPr lang="tr-TR" sz="3600" dirty="0">
              <a:solidFill>
                <a:srgbClr val="00B050"/>
              </a:solidFill>
            </a:endParaRPr>
          </a:p>
        </p:txBody>
      </p:sp>
    </p:spTree>
    <p:extLst>
      <p:ext uri="{BB962C8B-B14F-4D97-AF65-F5344CB8AC3E}">
        <p14:creationId xmlns:p14="http://schemas.microsoft.com/office/powerpoint/2010/main" val="3356935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a:t>
            </a:r>
            <a:r>
              <a:rPr lang="tr-TR" dirty="0" err="1"/>
              <a:t>a</a:t>
            </a:r>
            <a:r>
              <a:rPr lang="tr-TR" baseline="40000" dirty="0" err="1"/>
              <a:t>n</a:t>
            </a:r>
            <a:r>
              <a:rPr lang="tr-TR" dirty="0" err="1"/>
              <a:t>b</a:t>
            </a:r>
            <a:r>
              <a:rPr lang="tr-TR" baseline="40000" dirty="0" err="1"/>
              <a:t>m</a:t>
            </a:r>
            <a:r>
              <a:rPr lang="tr-TR" dirty="0" err="1"/>
              <a:t>c</a:t>
            </a:r>
            <a:r>
              <a:rPr lang="tr-TR" baseline="40000" dirty="0" err="1"/>
              <a:t>n+m</a:t>
            </a:r>
            <a:endParaRPr lang="en-US" dirty="0"/>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Consider the language</a:t>
            </a:r>
            <a:endParaRPr lang="tr-TR" sz="2800" dirty="0"/>
          </a:p>
          <a:p>
            <a:pPr marL="0" indent="0">
              <a:lnSpc>
                <a:spcPct val="150000"/>
              </a:lnSpc>
              <a:buNone/>
            </a:pPr>
            <a:r>
              <a:rPr lang="tr-TR" sz="2800" dirty="0"/>
              <a:t>L={</a:t>
            </a:r>
            <a:r>
              <a:rPr lang="tr-TR" sz="2800" i="1" dirty="0" err="1"/>
              <a:t>a</a:t>
            </a:r>
            <a:r>
              <a:rPr lang="tr-TR" sz="2800" i="1" baseline="40000" dirty="0" err="1"/>
              <a:t>n</a:t>
            </a:r>
            <a:r>
              <a:rPr lang="tr-TR" sz="2800" i="1" dirty="0" err="1"/>
              <a:t>b</a:t>
            </a:r>
            <a:r>
              <a:rPr lang="tr-TR" sz="2800" i="1" baseline="40000" dirty="0" err="1"/>
              <a:t>m</a:t>
            </a:r>
            <a:r>
              <a:rPr lang="tr-TR" sz="2800" i="1" dirty="0" err="1"/>
              <a:t>c</a:t>
            </a:r>
            <a:r>
              <a:rPr lang="tr-TR" sz="2800" i="1" baseline="40000" dirty="0" err="1"/>
              <a:t>n+m</a:t>
            </a:r>
            <a:r>
              <a:rPr lang="tr-TR" sz="2800" dirty="0"/>
              <a:t> : n ≥ 0, m ≥ 0}</a:t>
            </a:r>
            <a:endParaRPr lang="en-US" sz="2800" dirty="0"/>
          </a:p>
        </p:txBody>
      </p:sp>
      <p:sp>
        <p:nvSpPr>
          <p:cNvPr id="8" name="İçerik Yer Tutucusu 4"/>
          <p:cNvSpPr txBox="1">
            <a:spLocks/>
          </p:cNvSpPr>
          <p:nvPr/>
        </p:nvSpPr>
        <p:spPr>
          <a:xfrm>
            <a:off x="7870370" y="1264554"/>
            <a:ext cx="4321630" cy="50323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a</a:t>
            </a:r>
            <a:r>
              <a:rPr lang="tr-TR" sz="3600" baseline="40000" dirty="0">
                <a:solidFill>
                  <a:srgbClr val="FF0000"/>
                </a:solidFill>
              </a:rPr>
              <a:t>3</a:t>
            </a:r>
            <a:r>
              <a:rPr lang="tr-TR" sz="3600" dirty="0">
                <a:solidFill>
                  <a:srgbClr val="FF0000"/>
                </a:solidFill>
              </a:rPr>
              <a:t>b</a:t>
            </a:r>
            <a:r>
              <a:rPr lang="tr-TR" sz="3600" baseline="40000" dirty="0">
                <a:solidFill>
                  <a:srgbClr val="FF0000"/>
                </a:solidFill>
              </a:rPr>
              <a:t>2</a:t>
            </a:r>
            <a:r>
              <a:rPr lang="tr-TR" sz="3600" dirty="0">
                <a:solidFill>
                  <a:srgbClr val="FF0000"/>
                </a:solidFill>
              </a:rPr>
              <a:t>c</a:t>
            </a:r>
            <a:r>
              <a:rPr lang="tr-TR" sz="3600" baseline="40000" dirty="0">
                <a:solidFill>
                  <a:srgbClr val="FF0000"/>
                </a:solidFill>
              </a:rPr>
              <a:t>5</a:t>
            </a:r>
            <a:endParaRPr lang="tr-TR" sz="3600" dirty="0">
              <a:solidFill>
                <a:srgbClr val="FF0000"/>
              </a:solidFill>
            </a:endParaRPr>
          </a:p>
          <a:p>
            <a:pPr marL="0" indent="0">
              <a:lnSpc>
                <a:spcPct val="150000"/>
              </a:lnSpc>
              <a:buNone/>
            </a:pPr>
            <a:r>
              <a:rPr lang="tr-TR" sz="3600" dirty="0" err="1">
                <a:solidFill>
                  <a:srgbClr val="0070C0"/>
                </a:solidFill>
              </a:rPr>
              <a:t>aaa</a:t>
            </a:r>
            <a:r>
              <a:rPr lang="tr-TR" sz="3600" dirty="0">
                <a:solidFill>
                  <a:schemeClr val="tx1"/>
                </a:solidFill>
              </a:rPr>
              <a:t> </a:t>
            </a:r>
            <a:r>
              <a:rPr lang="tr-TR" sz="3600" dirty="0" err="1">
                <a:solidFill>
                  <a:srgbClr val="00B050"/>
                </a:solidFill>
              </a:rPr>
              <a:t>bb</a:t>
            </a:r>
            <a:r>
              <a:rPr lang="tr-TR" sz="3600" dirty="0">
                <a:solidFill>
                  <a:srgbClr val="00B050"/>
                </a:solidFill>
              </a:rPr>
              <a:t> </a:t>
            </a:r>
            <a:r>
              <a:rPr lang="tr-TR" sz="3600" dirty="0" err="1">
                <a:solidFill>
                  <a:srgbClr val="00B050"/>
                </a:solidFill>
              </a:rPr>
              <a:t>cc</a:t>
            </a:r>
            <a:r>
              <a:rPr lang="tr-TR" sz="3600" dirty="0" err="1">
                <a:solidFill>
                  <a:srgbClr val="0070C0"/>
                </a:solidFill>
              </a:rPr>
              <a:t>ccc</a:t>
            </a:r>
            <a:endParaRPr lang="tr-TR" sz="3600" dirty="0">
              <a:solidFill>
                <a:srgbClr val="0070C0"/>
              </a:solidFill>
            </a:endParaRPr>
          </a:p>
          <a:p>
            <a:pPr marL="0" indent="0">
              <a:lnSpc>
                <a:spcPct val="150000"/>
              </a:lnSpc>
              <a:buNone/>
            </a:pPr>
            <a:endParaRPr lang="tr-TR" sz="3600" dirty="0">
              <a:solidFill>
                <a:schemeClr val="tx1"/>
              </a:solidFill>
            </a:endParaRPr>
          </a:p>
          <a:p>
            <a:pPr marL="0" indent="0">
              <a:lnSpc>
                <a:spcPct val="150000"/>
              </a:lnSpc>
              <a:buNone/>
            </a:pPr>
            <a:r>
              <a:rPr lang="tr-TR" sz="3600" dirty="0">
                <a:solidFill>
                  <a:srgbClr val="0070C0"/>
                </a:solidFill>
              </a:rPr>
              <a:t>S →aSc    </a:t>
            </a:r>
            <a:r>
              <a:rPr lang="tr-TR" sz="3600" dirty="0">
                <a:solidFill>
                  <a:srgbClr val="00B050"/>
                </a:solidFill>
              </a:rPr>
              <a:t>S →bSc</a:t>
            </a:r>
          </a:p>
          <a:p>
            <a:pPr marL="0" indent="0">
              <a:lnSpc>
                <a:spcPct val="150000"/>
              </a:lnSpc>
              <a:buNone/>
            </a:pPr>
            <a:r>
              <a:rPr lang="tr-TR" sz="3600" dirty="0" err="1">
                <a:solidFill>
                  <a:srgbClr val="0070C0"/>
                </a:solidFill>
              </a:rPr>
              <a:t>a</a:t>
            </a:r>
            <a:r>
              <a:rPr lang="tr-TR" sz="3600" dirty="0" err="1">
                <a:solidFill>
                  <a:srgbClr val="00B050"/>
                </a:solidFill>
              </a:rPr>
              <a:t>b</a:t>
            </a:r>
            <a:r>
              <a:rPr lang="tr-TR" sz="3600" dirty="0" err="1">
                <a:solidFill>
                  <a:srgbClr val="0070C0"/>
                </a:solidFill>
              </a:rPr>
              <a:t>ac</a:t>
            </a:r>
            <a:r>
              <a:rPr lang="tr-TR" sz="3600" dirty="0" err="1">
                <a:solidFill>
                  <a:srgbClr val="00B050"/>
                </a:solidFill>
              </a:rPr>
              <a:t>c</a:t>
            </a:r>
            <a:r>
              <a:rPr lang="tr-TR" sz="3600" dirty="0" err="1">
                <a:solidFill>
                  <a:srgbClr val="0070C0"/>
                </a:solidFill>
              </a:rPr>
              <a:t>c</a:t>
            </a:r>
            <a:endParaRPr lang="tr-TR" sz="3600" dirty="0">
              <a:solidFill>
                <a:srgbClr val="0070C0"/>
              </a:solidFill>
            </a:endParaRPr>
          </a:p>
        </p:txBody>
      </p:sp>
      <p:sp>
        <p:nvSpPr>
          <p:cNvPr id="4" name="Simge &quot;Yok&quot; 3"/>
          <p:cNvSpPr/>
          <p:nvPr/>
        </p:nvSpPr>
        <p:spPr>
          <a:xfrm>
            <a:off x="6945580" y="5164282"/>
            <a:ext cx="924791" cy="893619"/>
          </a:xfrm>
          <a:prstGeom prst="noSmoking">
            <a:avLst>
              <a:gd name="adj" fmla="val 595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408067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lka 1"/>
          <p:cNvSpPr/>
          <p:nvPr/>
        </p:nvSpPr>
        <p:spPr>
          <a:xfrm>
            <a:off x="8021782" y="2171700"/>
            <a:ext cx="3210791" cy="3023755"/>
          </a:xfrm>
          <a:prstGeom prst="donut">
            <a:avLst>
              <a:gd name="adj" fmla="val 30999"/>
            </a:avLst>
          </a:prstGeom>
          <a:solidFill>
            <a:srgbClr val="0070C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Akış Çizelgesi: Bağlayıcı 2"/>
          <p:cNvSpPr/>
          <p:nvPr/>
        </p:nvSpPr>
        <p:spPr>
          <a:xfrm>
            <a:off x="8982941" y="3122467"/>
            <a:ext cx="1288472" cy="1122219"/>
          </a:xfrm>
          <a:prstGeom prst="flowChartConnector">
            <a:avLst/>
          </a:prstGeom>
          <a:solidFill>
            <a:srgbClr val="00B05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a:t>
            </a:r>
            <a:r>
              <a:rPr lang="tr-TR" dirty="0" err="1"/>
              <a:t>a</a:t>
            </a:r>
            <a:r>
              <a:rPr lang="tr-TR" baseline="40000" dirty="0" err="1"/>
              <a:t>n</a:t>
            </a:r>
            <a:r>
              <a:rPr lang="tr-TR" dirty="0" err="1"/>
              <a:t>b</a:t>
            </a:r>
            <a:r>
              <a:rPr lang="tr-TR" baseline="40000" dirty="0" err="1"/>
              <a:t>m</a:t>
            </a:r>
            <a:r>
              <a:rPr lang="tr-TR" dirty="0" err="1"/>
              <a:t>c</a:t>
            </a:r>
            <a:r>
              <a:rPr lang="tr-TR" baseline="40000" dirty="0" err="1"/>
              <a:t>n+m</a:t>
            </a:r>
            <a:endParaRPr lang="en-US" dirty="0"/>
          </a:p>
        </p:txBody>
      </p:sp>
      <p:sp>
        <p:nvSpPr>
          <p:cNvPr id="13" name="İçerik Yer Tutucusu 4"/>
          <p:cNvSpPr txBox="1">
            <a:spLocks/>
          </p:cNvSpPr>
          <p:nvPr/>
        </p:nvSpPr>
        <p:spPr>
          <a:xfrm>
            <a:off x="1593459" y="1493157"/>
            <a:ext cx="6276912"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Consider the language</a:t>
            </a:r>
            <a:endParaRPr lang="tr-TR" sz="2800" dirty="0"/>
          </a:p>
          <a:p>
            <a:pPr marL="0" indent="0">
              <a:lnSpc>
                <a:spcPct val="150000"/>
              </a:lnSpc>
              <a:buNone/>
            </a:pPr>
            <a:r>
              <a:rPr lang="tr-TR" sz="2800" dirty="0"/>
              <a:t>L={</a:t>
            </a:r>
            <a:r>
              <a:rPr lang="tr-TR" sz="2800" i="1" dirty="0" err="1"/>
              <a:t>a</a:t>
            </a:r>
            <a:r>
              <a:rPr lang="tr-TR" sz="2800" i="1" baseline="40000" dirty="0" err="1"/>
              <a:t>n</a:t>
            </a:r>
            <a:r>
              <a:rPr lang="tr-TR" sz="2800" i="1" dirty="0" err="1"/>
              <a:t>b</a:t>
            </a:r>
            <a:r>
              <a:rPr lang="tr-TR" sz="2800" i="1" baseline="40000" dirty="0" err="1"/>
              <a:t>m</a:t>
            </a:r>
            <a:r>
              <a:rPr lang="tr-TR" sz="2800" i="1" dirty="0" err="1"/>
              <a:t>c</a:t>
            </a:r>
            <a:r>
              <a:rPr lang="tr-TR" sz="2800" i="1" baseline="40000" dirty="0" err="1"/>
              <a:t>n+m</a:t>
            </a:r>
            <a:r>
              <a:rPr lang="tr-TR" sz="2800" dirty="0"/>
              <a:t> : n ≥ 0, m ≥ 0}</a:t>
            </a:r>
          </a:p>
          <a:p>
            <a:pPr marL="0" indent="0">
              <a:lnSpc>
                <a:spcPct val="150000"/>
              </a:lnSpc>
              <a:buNone/>
            </a:pPr>
            <a:endParaRPr lang="tr-TR" sz="2800" dirty="0"/>
          </a:p>
          <a:p>
            <a:pPr marL="0" indent="0">
              <a:lnSpc>
                <a:spcPct val="150000"/>
              </a:lnSpc>
              <a:buNone/>
            </a:pPr>
            <a:r>
              <a:rPr lang="tr-TR" sz="2800" dirty="0"/>
              <a:t>S → A | </a:t>
            </a:r>
            <a:r>
              <a:rPr lang="el-GR" sz="2800" dirty="0"/>
              <a:t>ε</a:t>
            </a:r>
          </a:p>
        </p:txBody>
      </p:sp>
      <p:sp>
        <p:nvSpPr>
          <p:cNvPr id="8" name="İçerik Yer Tutucusu 4"/>
          <p:cNvSpPr txBox="1">
            <a:spLocks/>
          </p:cNvSpPr>
          <p:nvPr/>
        </p:nvSpPr>
        <p:spPr>
          <a:xfrm>
            <a:off x="7770354" y="1264554"/>
            <a:ext cx="4321630" cy="50323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 </a:t>
            </a:r>
            <a:endParaRPr lang="tr-TR" sz="3600" baseline="40000" dirty="0">
              <a:solidFill>
                <a:srgbClr val="FF0000"/>
              </a:solidFill>
            </a:endParaRPr>
          </a:p>
          <a:p>
            <a:pPr marL="0" indent="0">
              <a:lnSpc>
                <a:spcPct val="150000"/>
              </a:lnSpc>
              <a:buNone/>
            </a:pPr>
            <a:r>
              <a:rPr lang="tr-TR" sz="3600" dirty="0">
                <a:solidFill>
                  <a:srgbClr val="FF0000"/>
                </a:solidFill>
              </a:rPr>
              <a:t>            </a:t>
            </a:r>
            <a:endParaRPr lang="tr-TR" sz="3600" dirty="0">
              <a:solidFill>
                <a:schemeClr val="tx1"/>
              </a:solidFill>
            </a:endParaRPr>
          </a:p>
          <a:p>
            <a:pPr marL="0" indent="0">
              <a:lnSpc>
                <a:spcPct val="150000"/>
              </a:lnSpc>
              <a:buNone/>
            </a:pPr>
            <a:r>
              <a:rPr lang="tr-TR" sz="3600" dirty="0">
                <a:solidFill>
                  <a:srgbClr val="0070C0"/>
                </a:solidFill>
              </a:rPr>
              <a:t> aaa</a:t>
            </a:r>
            <a:r>
              <a:rPr lang="tr-TR" dirty="0">
                <a:solidFill>
                  <a:schemeClr val="tx1"/>
                </a:solidFill>
              </a:rPr>
              <a:t> </a:t>
            </a:r>
            <a:r>
              <a:rPr lang="tr-TR" sz="3600" dirty="0">
                <a:solidFill>
                  <a:srgbClr val="00B050"/>
                </a:solidFill>
              </a:rPr>
              <a:t>bb cc</a:t>
            </a:r>
            <a:r>
              <a:rPr lang="tr-TR" sz="3600" dirty="0">
                <a:solidFill>
                  <a:srgbClr val="0070C0"/>
                </a:solidFill>
              </a:rPr>
              <a:t>ccc</a:t>
            </a:r>
          </a:p>
          <a:p>
            <a:pPr marL="0" indent="0">
              <a:lnSpc>
                <a:spcPct val="150000"/>
              </a:lnSpc>
              <a:buNone/>
            </a:pPr>
            <a:r>
              <a:rPr lang="tr-TR" sz="3600" dirty="0">
                <a:solidFill>
                  <a:schemeClr val="tx1"/>
                </a:solidFill>
              </a:rPr>
              <a:t>            </a:t>
            </a:r>
          </a:p>
        </p:txBody>
      </p:sp>
      <p:sp>
        <p:nvSpPr>
          <p:cNvPr id="5" name="Dikdörtgen 4"/>
          <p:cNvSpPr/>
          <p:nvPr/>
        </p:nvSpPr>
        <p:spPr>
          <a:xfrm>
            <a:off x="10783412" y="4624448"/>
            <a:ext cx="449162" cy="646331"/>
          </a:xfrm>
          <a:prstGeom prst="rect">
            <a:avLst/>
          </a:prstGeom>
        </p:spPr>
        <p:txBody>
          <a:bodyPr wrap="none">
            <a:spAutoFit/>
          </a:bodyPr>
          <a:lstStyle/>
          <a:p>
            <a:r>
              <a:rPr lang="tr-TR" sz="3600" dirty="0"/>
              <a:t>B</a:t>
            </a:r>
            <a:endParaRPr lang="en-US" sz="3600" dirty="0"/>
          </a:p>
        </p:txBody>
      </p:sp>
      <p:sp>
        <p:nvSpPr>
          <p:cNvPr id="9" name="Dikdörtgen 8"/>
          <p:cNvSpPr/>
          <p:nvPr/>
        </p:nvSpPr>
        <p:spPr>
          <a:xfrm>
            <a:off x="7870369" y="4624448"/>
            <a:ext cx="526106" cy="646331"/>
          </a:xfrm>
          <a:prstGeom prst="rect">
            <a:avLst/>
          </a:prstGeom>
        </p:spPr>
        <p:txBody>
          <a:bodyPr wrap="none">
            <a:spAutoFit/>
          </a:bodyPr>
          <a:lstStyle/>
          <a:p>
            <a:r>
              <a:rPr lang="tr-TR" sz="3600" dirty="0"/>
              <a:t>A</a:t>
            </a:r>
            <a:endParaRPr lang="en-US" sz="3600" dirty="0"/>
          </a:p>
        </p:txBody>
      </p:sp>
      <p:sp>
        <p:nvSpPr>
          <p:cNvPr id="11" name="Serbest Form 10"/>
          <p:cNvSpPr/>
          <p:nvPr/>
        </p:nvSpPr>
        <p:spPr>
          <a:xfrm>
            <a:off x="8275456" y="4841578"/>
            <a:ext cx="280555" cy="152698"/>
          </a:xfrm>
          <a:custGeom>
            <a:avLst/>
            <a:gdLst>
              <a:gd name="connsiteX0" fmla="*/ 0 w 280555"/>
              <a:gd name="connsiteY0" fmla="*/ 187036 h 231121"/>
              <a:gd name="connsiteX1" fmla="*/ 187036 w 280555"/>
              <a:gd name="connsiteY1" fmla="*/ 218209 h 231121"/>
              <a:gd name="connsiteX2" fmla="*/ 280555 w 280555"/>
              <a:gd name="connsiteY2" fmla="*/ 0 h 231121"/>
            </a:gdLst>
            <a:ahLst/>
            <a:cxnLst>
              <a:cxn ang="0">
                <a:pos x="connsiteX0" y="connsiteY0"/>
              </a:cxn>
              <a:cxn ang="0">
                <a:pos x="connsiteX1" y="connsiteY1"/>
              </a:cxn>
              <a:cxn ang="0">
                <a:pos x="connsiteX2" y="connsiteY2"/>
              </a:cxn>
            </a:cxnLst>
            <a:rect l="l" t="t" r="r" b="b"/>
            <a:pathLst>
              <a:path w="280555" h="231121">
                <a:moveTo>
                  <a:pt x="0" y="187036"/>
                </a:moveTo>
                <a:cubicBezTo>
                  <a:pt x="70138" y="218209"/>
                  <a:pt x="140277" y="249382"/>
                  <a:pt x="187036" y="218209"/>
                </a:cubicBezTo>
                <a:cubicBezTo>
                  <a:pt x="233795" y="187036"/>
                  <a:pt x="256310" y="83127"/>
                  <a:pt x="280555" y="0"/>
                </a:cubicBezTo>
              </a:path>
            </a:pathLst>
          </a:custGeom>
          <a:ln>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Serbest Form 11"/>
          <p:cNvSpPr/>
          <p:nvPr/>
        </p:nvSpPr>
        <p:spPr>
          <a:xfrm>
            <a:off x="9972675" y="4133850"/>
            <a:ext cx="917575" cy="1037012"/>
          </a:xfrm>
          <a:custGeom>
            <a:avLst/>
            <a:gdLst>
              <a:gd name="connsiteX0" fmla="*/ 917575 w 917575"/>
              <a:gd name="connsiteY0" fmla="*/ 857250 h 1037012"/>
              <a:gd name="connsiteX1" fmla="*/ 593725 w 917575"/>
              <a:gd name="connsiteY1" fmla="*/ 974725 h 1037012"/>
              <a:gd name="connsiteX2" fmla="*/ 0 w 917575"/>
              <a:gd name="connsiteY2" fmla="*/ 0 h 1037012"/>
            </a:gdLst>
            <a:ahLst/>
            <a:cxnLst>
              <a:cxn ang="0">
                <a:pos x="connsiteX0" y="connsiteY0"/>
              </a:cxn>
              <a:cxn ang="0">
                <a:pos x="connsiteX1" y="connsiteY1"/>
              </a:cxn>
              <a:cxn ang="0">
                <a:pos x="connsiteX2" y="connsiteY2"/>
              </a:cxn>
            </a:cxnLst>
            <a:rect l="l" t="t" r="r" b="b"/>
            <a:pathLst>
              <a:path w="917575" h="1037012">
                <a:moveTo>
                  <a:pt x="917575" y="857250"/>
                </a:moveTo>
                <a:cubicBezTo>
                  <a:pt x="832114" y="987425"/>
                  <a:pt x="746654" y="1117600"/>
                  <a:pt x="593725" y="974725"/>
                </a:cubicBezTo>
                <a:cubicBezTo>
                  <a:pt x="440796" y="831850"/>
                  <a:pt x="220398" y="415925"/>
                  <a:pt x="0" y="0"/>
                </a:cubicBezTo>
              </a:path>
            </a:pathLst>
          </a:custGeom>
          <a:noFill/>
          <a:ln w="9525">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9443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lka 1"/>
          <p:cNvSpPr/>
          <p:nvPr/>
        </p:nvSpPr>
        <p:spPr>
          <a:xfrm>
            <a:off x="8021782" y="2171700"/>
            <a:ext cx="3210791" cy="3023755"/>
          </a:xfrm>
          <a:prstGeom prst="donut">
            <a:avLst>
              <a:gd name="adj" fmla="val 30999"/>
            </a:avLst>
          </a:prstGeom>
          <a:solidFill>
            <a:srgbClr val="0070C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Akış Çizelgesi: Bağlayıcı 2"/>
          <p:cNvSpPr/>
          <p:nvPr/>
        </p:nvSpPr>
        <p:spPr>
          <a:xfrm>
            <a:off x="8982941" y="3122467"/>
            <a:ext cx="1288472" cy="1122219"/>
          </a:xfrm>
          <a:prstGeom prst="flowChartConnector">
            <a:avLst/>
          </a:prstGeom>
          <a:solidFill>
            <a:srgbClr val="00B05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a:t>
            </a:r>
            <a:r>
              <a:rPr lang="tr-TR" dirty="0" err="1"/>
              <a:t>a</a:t>
            </a:r>
            <a:r>
              <a:rPr lang="tr-TR" baseline="40000" dirty="0" err="1"/>
              <a:t>n</a:t>
            </a:r>
            <a:r>
              <a:rPr lang="tr-TR" dirty="0" err="1"/>
              <a:t>b</a:t>
            </a:r>
            <a:r>
              <a:rPr lang="tr-TR" baseline="40000" dirty="0" err="1"/>
              <a:t>m</a:t>
            </a:r>
            <a:r>
              <a:rPr lang="tr-TR" dirty="0" err="1"/>
              <a:t>c</a:t>
            </a:r>
            <a:r>
              <a:rPr lang="tr-TR" baseline="40000" dirty="0" err="1"/>
              <a:t>n+m</a:t>
            </a:r>
            <a:endParaRPr lang="en-US" dirty="0"/>
          </a:p>
        </p:txBody>
      </p:sp>
      <p:sp>
        <p:nvSpPr>
          <p:cNvPr id="13" name="İçerik Yer Tutucusu 4"/>
          <p:cNvSpPr txBox="1">
            <a:spLocks/>
          </p:cNvSpPr>
          <p:nvPr/>
        </p:nvSpPr>
        <p:spPr>
          <a:xfrm>
            <a:off x="1593459" y="1493157"/>
            <a:ext cx="6276912" cy="446083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Consider the language</a:t>
            </a:r>
            <a:endParaRPr lang="tr-TR" sz="2800" dirty="0"/>
          </a:p>
          <a:p>
            <a:pPr marL="0" indent="0">
              <a:lnSpc>
                <a:spcPct val="150000"/>
              </a:lnSpc>
              <a:buNone/>
            </a:pPr>
            <a:r>
              <a:rPr lang="tr-TR" sz="2800" dirty="0"/>
              <a:t>L={</a:t>
            </a:r>
            <a:r>
              <a:rPr lang="tr-TR" sz="2800" i="1" dirty="0" err="1"/>
              <a:t>a</a:t>
            </a:r>
            <a:r>
              <a:rPr lang="tr-TR" sz="2800" i="1" baseline="40000" dirty="0" err="1"/>
              <a:t>n</a:t>
            </a:r>
            <a:r>
              <a:rPr lang="tr-TR" sz="2800" i="1" dirty="0" err="1"/>
              <a:t>b</a:t>
            </a:r>
            <a:r>
              <a:rPr lang="tr-TR" sz="2800" i="1" baseline="40000" dirty="0" err="1"/>
              <a:t>m</a:t>
            </a:r>
            <a:r>
              <a:rPr lang="tr-TR" sz="2800" i="1" dirty="0" err="1"/>
              <a:t>c</a:t>
            </a:r>
            <a:r>
              <a:rPr lang="tr-TR" sz="2800" i="1" baseline="40000" dirty="0" err="1"/>
              <a:t>n+m</a:t>
            </a:r>
            <a:r>
              <a:rPr lang="tr-TR" sz="2800" dirty="0"/>
              <a:t> : n ≥ 0, m ≥ 0}</a:t>
            </a:r>
          </a:p>
          <a:p>
            <a:pPr marL="0" indent="0">
              <a:lnSpc>
                <a:spcPct val="150000"/>
              </a:lnSpc>
              <a:buNone/>
            </a:pPr>
            <a:endParaRPr lang="tr-TR" sz="2800" dirty="0"/>
          </a:p>
          <a:p>
            <a:pPr marL="0" indent="0">
              <a:lnSpc>
                <a:spcPct val="150000"/>
              </a:lnSpc>
              <a:buNone/>
            </a:pPr>
            <a:r>
              <a:rPr lang="tr-TR" sz="2800" dirty="0"/>
              <a:t>S → A | </a:t>
            </a:r>
            <a:r>
              <a:rPr lang="el-GR" sz="2800" dirty="0"/>
              <a:t>ε</a:t>
            </a:r>
            <a:endParaRPr lang="tr-TR" sz="2800" dirty="0"/>
          </a:p>
          <a:p>
            <a:pPr marL="0" indent="0">
              <a:lnSpc>
                <a:spcPct val="150000"/>
              </a:lnSpc>
              <a:buNone/>
            </a:pPr>
            <a:r>
              <a:rPr lang="tr-TR" sz="2800" dirty="0"/>
              <a:t>A → </a:t>
            </a:r>
            <a:r>
              <a:rPr lang="tr-TR" sz="2800" dirty="0" err="1"/>
              <a:t>aAc</a:t>
            </a:r>
            <a:r>
              <a:rPr lang="tr-TR" sz="2800" dirty="0"/>
              <a:t> | B | </a:t>
            </a:r>
            <a:r>
              <a:rPr lang="el-GR" sz="2800" dirty="0"/>
              <a:t>ε</a:t>
            </a:r>
          </a:p>
        </p:txBody>
      </p:sp>
      <p:sp>
        <p:nvSpPr>
          <p:cNvPr id="5" name="Dikdörtgen 4"/>
          <p:cNvSpPr/>
          <p:nvPr/>
        </p:nvSpPr>
        <p:spPr>
          <a:xfrm>
            <a:off x="10783412" y="4624448"/>
            <a:ext cx="449162" cy="646331"/>
          </a:xfrm>
          <a:prstGeom prst="rect">
            <a:avLst/>
          </a:prstGeom>
        </p:spPr>
        <p:txBody>
          <a:bodyPr wrap="none">
            <a:spAutoFit/>
          </a:bodyPr>
          <a:lstStyle/>
          <a:p>
            <a:r>
              <a:rPr lang="tr-TR" sz="3600" dirty="0"/>
              <a:t>B</a:t>
            </a:r>
            <a:endParaRPr lang="en-US" sz="3600" dirty="0"/>
          </a:p>
        </p:txBody>
      </p:sp>
      <p:sp>
        <p:nvSpPr>
          <p:cNvPr id="9" name="Dikdörtgen 8"/>
          <p:cNvSpPr/>
          <p:nvPr/>
        </p:nvSpPr>
        <p:spPr>
          <a:xfrm>
            <a:off x="7870369" y="4624448"/>
            <a:ext cx="526106" cy="646331"/>
          </a:xfrm>
          <a:prstGeom prst="rect">
            <a:avLst/>
          </a:prstGeom>
        </p:spPr>
        <p:txBody>
          <a:bodyPr wrap="none">
            <a:spAutoFit/>
          </a:bodyPr>
          <a:lstStyle/>
          <a:p>
            <a:r>
              <a:rPr lang="tr-TR" sz="3600" dirty="0"/>
              <a:t>A</a:t>
            </a:r>
            <a:endParaRPr lang="en-US" sz="3600" dirty="0"/>
          </a:p>
        </p:txBody>
      </p:sp>
      <p:sp>
        <p:nvSpPr>
          <p:cNvPr id="11" name="Serbest Form 10"/>
          <p:cNvSpPr/>
          <p:nvPr/>
        </p:nvSpPr>
        <p:spPr>
          <a:xfrm>
            <a:off x="8275456" y="4841578"/>
            <a:ext cx="280555" cy="152698"/>
          </a:xfrm>
          <a:custGeom>
            <a:avLst/>
            <a:gdLst>
              <a:gd name="connsiteX0" fmla="*/ 0 w 280555"/>
              <a:gd name="connsiteY0" fmla="*/ 187036 h 231121"/>
              <a:gd name="connsiteX1" fmla="*/ 187036 w 280555"/>
              <a:gd name="connsiteY1" fmla="*/ 218209 h 231121"/>
              <a:gd name="connsiteX2" fmla="*/ 280555 w 280555"/>
              <a:gd name="connsiteY2" fmla="*/ 0 h 231121"/>
            </a:gdLst>
            <a:ahLst/>
            <a:cxnLst>
              <a:cxn ang="0">
                <a:pos x="connsiteX0" y="connsiteY0"/>
              </a:cxn>
              <a:cxn ang="0">
                <a:pos x="connsiteX1" y="connsiteY1"/>
              </a:cxn>
              <a:cxn ang="0">
                <a:pos x="connsiteX2" y="connsiteY2"/>
              </a:cxn>
            </a:cxnLst>
            <a:rect l="l" t="t" r="r" b="b"/>
            <a:pathLst>
              <a:path w="280555" h="231121">
                <a:moveTo>
                  <a:pt x="0" y="187036"/>
                </a:moveTo>
                <a:cubicBezTo>
                  <a:pt x="70138" y="218209"/>
                  <a:pt x="140277" y="249382"/>
                  <a:pt x="187036" y="218209"/>
                </a:cubicBezTo>
                <a:cubicBezTo>
                  <a:pt x="233795" y="187036"/>
                  <a:pt x="256310" y="83127"/>
                  <a:pt x="280555" y="0"/>
                </a:cubicBezTo>
              </a:path>
            </a:pathLst>
          </a:custGeom>
          <a:ln>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Serbest Form 11"/>
          <p:cNvSpPr/>
          <p:nvPr/>
        </p:nvSpPr>
        <p:spPr>
          <a:xfrm>
            <a:off x="9972675" y="4133850"/>
            <a:ext cx="917575" cy="1037012"/>
          </a:xfrm>
          <a:custGeom>
            <a:avLst/>
            <a:gdLst>
              <a:gd name="connsiteX0" fmla="*/ 917575 w 917575"/>
              <a:gd name="connsiteY0" fmla="*/ 857250 h 1037012"/>
              <a:gd name="connsiteX1" fmla="*/ 593725 w 917575"/>
              <a:gd name="connsiteY1" fmla="*/ 974725 h 1037012"/>
              <a:gd name="connsiteX2" fmla="*/ 0 w 917575"/>
              <a:gd name="connsiteY2" fmla="*/ 0 h 1037012"/>
            </a:gdLst>
            <a:ahLst/>
            <a:cxnLst>
              <a:cxn ang="0">
                <a:pos x="connsiteX0" y="connsiteY0"/>
              </a:cxn>
              <a:cxn ang="0">
                <a:pos x="connsiteX1" y="connsiteY1"/>
              </a:cxn>
              <a:cxn ang="0">
                <a:pos x="connsiteX2" y="connsiteY2"/>
              </a:cxn>
            </a:cxnLst>
            <a:rect l="l" t="t" r="r" b="b"/>
            <a:pathLst>
              <a:path w="917575" h="1037012">
                <a:moveTo>
                  <a:pt x="917575" y="857250"/>
                </a:moveTo>
                <a:cubicBezTo>
                  <a:pt x="832114" y="987425"/>
                  <a:pt x="746654" y="1117600"/>
                  <a:pt x="593725" y="974725"/>
                </a:cubicBezTo>
                <a:cubicBezTo>
                  <a:pt x="440796" y="831850"/>
                  <a:pt x="220398" y="415925"/>
                  <a:pt x="0" y="0"/>
                </a:cubicBezTo>
              </a:path>
            </a:pathLst>
          </a:custGeom>
          <a:noFill/>
          <a:ln w="9525">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çerik Yer Tutucusu 4">
            <a:extLst>
              <a:ext uri="{FF2B5EF4-FFF2-40B4-BE49-F238E27FC236}">
                <a16:creationId xmlns:a16="http://schemas.microsoft.com/office/drawing/2014/main" id="{E146E6D6-0D1E-6527-8789-032ECAFD8163}"/>
              </a:ext>
            </a:extLst>
          </p:cNvPr>
          <p:cNvSpPr txBox="1">
            <a:spLocks/>
          </p:cNvSpPr>
          <p:nvPr/>
        </p:nvSpPr>
        <p:spPr>
          <a:xfrm>
            <a:off x="7770354" y="1264554"/>
            <a:ext cx="4321630" cy="50323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 </a:t>
            </a:r>
            <a:endParaRPr lang="tr-TR" sz="3600" baseline="40000" dirty="0">
              <a:solidFill>
                <a:srgbClr val="FF0000"/>
              </a:solidFill>
            </a:endParaRPr>
          </a:p>
          <a:p>
            <a:pPr marL="0" indent="0">
              <a:lnSpc>
                <a:spcPct val="150000"/>
              </a:lnSpc>
              <a:buNone/>
            </a:pPr>
            <a:r>
              <a:rPr lang="tr-TR" sz="3600" dirty="0">
                <a:solidFill>
                  <a:srgbClr val="FF0000"/>
                </a:solidFill>
              </a:rPr>
              <a:t>            </a:t>
            </a:r>
            <a:endParaRPr lang="tr-TR" sz="3600" dirty="0">
              <a:solidFill>
                <a:schemeClr val="tx1"/>
              </a:solidFill>
            </a:endParaRPr>
          </a:p>
          <a:p>
            <a:pPr marL="0" indent="0">
              <a:lnSpc>
                <a:spcPct val="150000"/>
              </a:lnSpc>
              <a:buNone/>
            </a:pPr>
            <a:r>
              <a:rPr lang="tr-TR" sz="3600" dirty="0">
                <a:solidFill>
                  <a:srgbClr val="0070C0"/>
                </a:solidFill>
              </a:rPr>
              <a:t> aaa</a:t>
            </a:r>
            <a:r>
              <a:rPr lang="tr-TR" dirty="0">
                <a:solidFill>
                  <a:schemeClr val="tx1"/>
                </a:solidFill>
              </a:rPr>
              <a:t> </a:t>
            </a:r>
            <a:r>
              <a:rPr lang="tr-TR" sz="3600" dirty="0">
                <a:solidFill>
                  <a:srgbClr val="00B050"/>
                </a:solidFill>
              </a:rPr>
              <a:t>bb cc</a:t>
            </a:r>
            <a:r>
              <a:rPr lang="tr-TR" sz="3600" dirty="0">
                <a:solidFill>
                  <a:srgbClr val="0070C0"/>
                </a:solidFill>
              </a:rPr>
              <a:t>ccc</a:t>
            </a:r>
          </a:p>
          <a:p>
            <a:pPr marL="0" indent="0">
              <a:lnSpc>
                <a:spcPct val="150000"/>
              </a:lnSpc>
              <a:buNone/>
            </a:pPr>
            <a:r>
              <a:rPr lang="tr-TR" sz="3600" dirty="0">
                <a:solidFill>
                  <a:schemeClr val="tx1"/>
                </a:solidFill>
              </a:rPr>
              <a:t>            </a:t>
            </a:r>
          </a:p>
        </p:txBody>
      </p:sp>
    </p:spTree>
    <p:extLst>
      <p:ext uri="{BB962C8B-B14F-4D97-AF65-F5344CB8AC3E}">
        <p14:creationId xmlns:p14="http://schemas.microsoft.com/office/powerpoint/2010/main" val="2319303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alka 1"/>
          <p:cNvSpPr/>
          <p:nvPr/>
        </p:nvSpPr>
        <p:spPr>
          <a:xfrm>
            <a:off x="8021782" y="2171700"/>
            <a:ext cx="3210791" cy="3023755"/>
          </a:xfrm>
          <a:prstGeom prst="donut">
            <a:avLst>
              <a:gd name="adj" fmla="val 30999"/>
            </a:avLst>
          </a:prstGeom>
          <a:solidFill>
            <a:srgbClr val="0070C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Akış Çizelgesi: Bağlayıcı 2"/>
          <p:cNvSpPr/>
          <p:nvPr/>
        </p:nvSpPr>
        <p:spPr>
          <a:xfrm>
            <a:off x="8982941" y="3122467"/>
            <a:ext cx="1288472" cy="1122219"/>
          </a:xfrm>
          <a:prstGeom prst="flowChartConnector">
            <a:avLst/>
          </a:prstGeom>
          <a:solidFill>
            <a:srgbClr val="00B05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a:t>
            </a:r>
            <a:r>
              <a:rPr lang="tr-TR" dirty="0" err="1"/>
              <a:t>a</a:t>
            </a:r>
            <a:r>
              <a:rPr lang="tr-TR" baseline="40000" dirty="0" err="1"/>
              <a:t>n</a:t>
            </a:r>
            <a:r>
              <a:rPr lang="tr-TR" dirty="0" err="1"/>
              <a:t>b</a:t>
            </a:r>
            <a:r>
              <a:rPr lang="tr-TR" baseline="40000" dirty="0" err="1"/>
              <a:t>m</a:t>
            </a:r>
            <a:r>
              <a:rPr lang="tr-TR" dirty="0" err="1"/>
              <a:t>c</a:t>
            </a:r>
            <a:r>
              <a:rPr lang="tr-TR" baseline="40000" dirty="0" err="1"/>
              <a:t>n+m</a:t>
            </a:r>
            <a:endParaRPr lang="en-US" dirty="0"/>
          </a:p>
        </p:txBody>
      </p:sp>
      <p:sp>
        <p:nvSpPr>
          <p:cNvPr id="13" name="İçerik Yer Tutucusu 4"/>
          <p:cNvSpPr txBox="1">
            <a:spLocks/>
          </p:cNvSpPr>
          <p:nvPr/>
        </p:nvSpPr>
        <p:spPr>
          <a:xfrm>
            <a:off x="1593459" y="1493157"/>
            <a:ext cx="6276912" cy="487647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Consider the language</a:t>
            </a:r>
            <a:endParaRPr lang="tr-TR" sz="2800" dirty="0"/>
          </a:p>
          <a:p>
            <a:pPr marL="0" indent="0">
              <a:lnSpc>
                <a:spcPct val="150000"/>
              </a:lnSpc>
              <a:buNone/>
            </a:pPr>
            <a:r>
              <a:rPr lang="tr-TR" sz="2800" dirty="0"/>
              <a:t>L={</a:t>
            </a:r>
            <a:r>
              <a:rPr lang="tr-TR" sz="2800" i="1" dirty="0" err="1"/>
              <a:t>a</a:t>
            </a:r>
            <a:r>
              <a:rPr lang="tr-TR" sz="2800" i="1" baseline="40000" dirty="0" err="1"/>
              <a:t>n</a:t>
            </a:r>
            <a:r>
              <a:rPr lang="tr-TR" sz="2800" i="1" dirty="0" err="1"/>
              <a:t>b</a:t>
            </a:r>
            <a:r>
              <a:rPr lang="tr-TR" sz="2800" i="1" baseline="40000" dirty="0" err="1"/>
              <a:t>m</a:t>
            </a:r>
            <a:r>
              <a:rPr lang="tr-TR" sz="2800" i="1" dirty="0" err="1"/>
              <a:t>c</a:t>
            </a:r>
            <a:r>
              <a:rPr lang="tr-TR" sz="2800" i="1" baseline="40000" dirty="0" err="1"/>
              <a:t>n+m</a:t>
            </a:r>
            <a:r>
              <a:rPr lang="tr-TR" sz="2800" dirty="0"/>
              <a:t> : n ≥ 0, m ≥ 0}</a:t>
            </a:r>
          </a:p>
          <a:p>
            <a:pPr marL="0" indent="0">
              <a:lnSpc>
                <a:spcPct val="150000"/>
              </a:lnSpc>
              <a:buNone/>
            </a:pPr>
            <a:endParaRPr lang="tr-TR" sz="2800" dirty="0"/>
          </a:p>
          <a:p>
            <a:pPr marL="0" indent="0">
              <a:lnSpc>
                <a:spcPct val="150000"/>
              </a:lnSpc>
              <a:buNone/>
            </a:pPr>
            <a:r>
              <a:rPr lang="tr-TR" sz="2800" dirty="0"/>
              <a:t>S → A | </a:t>
            </a:r>
            <a:r>
              <a:rPr lang="el-GR" sz="2800" dirty="0"/>
              <a:t>ε</a:t>
            </a:r>
            <a:endParaRPr lang="tr-TR" sz="2800" dirty="0"/>
          </a:p>
          <a:p>
            <a:pPr marL="0" indent="0">
              <a:lnSpc>
                <a:spcPct val="150000"/>
              </a:lnSpc>
              <a:buNone/>
            </a:pPr>
            <a:r>
              <a:rPr lang="tr-TR" sz="2800" dirty="0"/>
              <a:t>A → aAc | B | </a:t>
            </a:r>
            <a:r>
              <a:rPr lang="el-GR" sz="2800" dirty="0"/>
              <a:t>ε</a:t>
            </a:r>
            <a:endParaRPr lang="tr-TR" sz="2800" dirty="0"/>
          </a:p>
          <a:p>
            <a:pPr marL="0" indent="0">
              <a:lnSpc>
                <a:spcPct val="150000"/>
              </a:lnSpc>
              <a:buNone/>
            </a:pPr>
            <a:r>
              <a:rPr lang="tr-TR" sz="2800" dirty="0"/>
              <a:t>B → bBc | </a:t>
            </a:r>
            <a:r>
              <a:rPr lang="el-GR" sz="2800" dirty="0"/>
              <a:t>ε</a:t>
            </a:r>
          </a:p>
        </p:txBody>
      </p:sp>
      <p:sp>
        <p:nvSpPr>
          <p:cNvPr id="5" name="Dikdörtgen 4"/>
          <p:cNvSpPr/>
          <p:nvPr/>
        </p:nvSpPr>
        <p:spPr>
          <a:xfrm>
            <a:off x="10783412" y="4624448"/>
            <a:ext cx="449162" cy="646331"/>
          </a:xfrm>
          <a:prstGeom prst="rect">
            <a:avLst/>
          </a:prstGeom>
        </p:spPr>
        <p:txBody>
          <a:bodyPr wrap="none">
            <a:spAutoFit/>
          </a:bodyPr>
          <a:lstStyle/>
          <a:p>
            <a:r>
              <a:rPr lang="tr-TR" sz="3600" dirty="0"/>
              <a:t>B</a:t>
            </a:r>
            <a:endParaRPr lang="en-US" sz="3600" dirty="0"/>
          </a:p>
        </p:txBody>
      </p:sp>
      <p:sp>
        <p:nvSpPr>
          <p:cNvPr id="9" name="Dikdörtgen 8"/>
          <p:cNvSpPr/>
          <p:nvPr/>
        </p:nvSpPr>
        <p:spPr>
          <a:xfrm>
            <a:off x="7870369" y="4624448"/>
            <a:ext cx="526106" cy="646331"/>
          </a:xfrm>
          <a:prstGeom prst="rect">
            <a:avLst/>
          </a:prstGeom>
        </p:spPr>
        <p:txBody>
          <a:bodyPr wrap="none">
            <a:spAutoFit/>
          </a:bodyPr>
          <a:lstStyle/>
          <a:p>
            <a:r>
              <a:rPr lang="tr-TR" sz="3600" dirty="0"/>
              <a:t>A</a:t>
            </a:r>
            <a:endParaRPr lang="en-US" sz="3600" dirty="0"/>
          </a:p>
        </p:txBody>
      </p:sp>
      <p:sp>
        <p:nvSpPr>
          <p:cNvPr id="11" name="Serbest Form 10"/>
          <p:cNvSpPr/>
          <p:nvPr/>
        </p:nvSpPr>
        <p:spPr>
          <a:xfrm>
            <a:off x="8275456" y="4841578"/>
            <a:ext cx="280555" cy="152698"/>
          </a:xfrm>
          <a:custGeom>
            <a:avLst/>
            <a:gdLst>
              <a:gd name="connsiteX0" fmla="*/ 0 w 280555"/>
              <a:gd name="connsiteY0" fmla="*/ 187036 h 231121"/>
              <a:gd name="connsiteX1" fmla="*/ 187036 w 280555"/>
              <a:gd name="connsiteY1" fmla="*/ 218209 h 231121"/>
              <a:gd name="connsiteX2" fmla="*/ 280555 w 280555"/>
              <a:gd name="connsiteY2" fmla="*/ 0 h 231121"/>
            </a:gdLst>
            <a:ahLst/>
            <a:cxnLst>
              <a:cxn ang="0">
                <a:pos x="connsiteX0" y="connsiteY0"/>
              </a:cxn>
              <a:cxn ang="0">
                <a:pos x="connsiteX1" y="connsiteY1"/>
              </a:cxn>
              <a:cxn ang="0">
                <a:pos x="connsiteX2" y="connsiteY2"/>
              </a:cxn>
            </a:cxnLst>
            <a:rect l="l" t="t" r="r" b="b"/>
            <a:pathLst>
              <a:path w="280555" h="231121">
                <a:moveTo>
                  <a:pt x="0" y="187036"/>
                </a:moveTo>
                <a:cubicBezTo>
                  <a:pt x="70138" y="218209"/>
                  <a:pt x="140277" y="249382"/>
                  <a:pt x="187036" y="218209"/>
                </a:cubicBezTo>
                <a:cubicBezTo>
                  <a:pt x="233795" y="187036"/>
                  <a:pt x="256310" y="83127"/>
                  <a:pt x="280555" y="0"/>
                </a:cubicBezTo>
              </a:path>
            </a:pathLst>
          </a:custGeom>
          <a:ln>
            <a:tailEnd type="triangle"/>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 name="Serbest Form 11"/>
          <p:cNvSpPr/>
          <p:nvPr/>
        </p:nvSpPr>
        <p:spPr>
          <a:xfrm>
            <a:off x="9972675" y="4133850"/>
            <a:ext cx="917575" cy="1037012"/>
          </a:xfrm>
          <a:custGeom>
            <a:avLst/>
            <a:gdLst>
              <a:gd name="connsiteX0" fmla="*/ 917575 w 917575"/>
              <a:gd name="connsiteY0" fmla="*/ 857250 h 1037012"/>
              <a:gd name="connsiteX1" fmla="*/ 593725 w 917575"/>
              <a:gd name="connsiteY1" fmla="*/ 974725 h 1037012"/>
              <a:gd name="connsiteX2" fmla="*/ 0 w 917575"/>
              <a:gd name="connsiteY2" fmla="*/ 0 h 1037012"/>
            </a:gdLst>
            <a:ahLst/>
            <a:cxnLst>
              <a:cxn ang="0">
                <a:pos x="connsiteX0" y="connsiteY0"/>
              </a:cxn>
              <a:cxn ang="0">
                <a:pos x="connsiteX1" y="connsiteY1"/>
              </a:cxn>
              <a:cxn ang="0">
                <a:pos x="connsiteX2" y="connsiteY2"/>
              </a:cxn>
            </a:cxnLst>
            <a:rect l="l" t="t" r="r" b="b"/>
            <a:pathLst>
              <a:path w="917575" h="1037012">
                <a:moveTo>
                  <a:pt x="917575" y="857250"/>
                </a:moveTo>
                <a:cubicBezTo>
                  <a:pt x="832114" y="987425"/>
                  <a:pt x="746654" y="1117600"/>
                  <a:pt x="593725" y="974725"/>
                </a:cubicBezTo>
                <a:cubicBezTo>
                  <a:pt x="440796" y="831850"/>
                  <a:pt x="220398" y="415925"/>
                  <a:pt x="0" y="0"/>
                </a:cubicBezTo>
              </a:path>
            </a:pathLst>
          </a:custGeom>
          <a:noFill/>
          <a:ln w="9525">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çerik Yer Tutucusu 4">
            <a:extLst>
              <a:ext uri="{FF2B5EF4-FFF2-40B4-BE49-F238E27FC236}">
                <a16:creationId xmlns:a16="http://schemas.microsoft.com/office/drawing/2014/main" id="{A475A403-EB9C-BE90-CE19-275EFFB523DC}"/>
              </a:ext>
            </a:extLst>
          </p:cNvPr>
          <p:cNvSpPr txBox="1">
            <a:spLocks/>
          </p:cNvSpPr>
          <p:nvPr/>
        </p:nvSpPr>
        <p:spPr>
          <a:xfrm>
            <a:off x="7770354" y="1264554"/>
            <a:ext cx="4321630" cy="50323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3600" dirty="0">
                <a:solidFill>
                  <a:srgbClr val="FF0000"/>
                </a:solidFill>
              </a:rPr>
              <a:t> </a:t>
            </a:r>
            <a:endParaRPr lang="tr-TR" sz="3600" baseline="40000" dirty="0">
              <a:solidFill>
                <a:srgbClr val="FF0000"/>
              </a:solidFill>
            </a:endParaRPr>
          </a:p>
          <a:p>
            <a:pPr marL="0" indent="0">
              <a:lnSpc>
                <a:spcPct val="150000"/>
              </a:lnSpc>
              <a:buNone/>
            </a:pPr>
            <a:r>
              <a:rPr lang="tr-TR" sz="3600" dirty="0">
                <a:solidFill>
                  <a:srgbClr val="FF0000"/>
                </a:solidFill>
              </a:rPr>
              <a:t>            </a:t>
            </a:r>
            <a:endParaRPr lang="tr-TR" sz="3600" dirty="0">
              <a:solidFill>
                <a:schemeClr val="tx1"/>
              </a:solidFill>
            </a:endParaRPr>
          </a:p>
          <a:p>
            <a:pPr marL="0" indent="0">
              <a:lnSpc>
                <a:spcPct val="150000"/>
              </a:lnSpc>
              <a:buNone/>
            </a:pPr>
            <a:r>
              <a:rPr lang="tr-TR" sz="3600" dirty="0">
                <a:solidFill>
                  <a:srgbClr val="0070C0"/>
                </a:solidFill>
              </a:rPr>
              <a:t> aaa</a:t>
            </a:r>
            <a:r>
              <a:rPr lang="tr-TR" dirty="0">
                <a:solidFill>
                  <a:schemeClr val="tx1"/>
                </a:solidFill>
              </a:rPr>
              <a:t> </a:t>
            </a:r>
            <a:r>
              <a:rPr lang="tr-TR" sz="3600" dirty="0">
                <a:solidFill>
                  <a:srgbClr val="00B050"/>
                </a:solidFill>
              </a:rPr>
              <a:t>bb cc</a:t>
            </a:r>
            <a:r>
              <a:rPr lang="tr-TR" sz="3600" dirty="0">
                <a:solidFill>
                  <a:srgbClr val="0070C0"/>
                </a:solidFill>
              </a:rPr>
              <a:t>ccc</a:t>
            </a:r>
          </a:p>
          <a:p>
            <a:pPr marL="0" indent="0">
              <a:lnSpc>
                <a:spcPct val="150000"/>
              </a:lnSpc>
              <a:buNone/>
            </a:pPr>
            <a:r>
              <a:rPr lang="tr-TR" sz="3600" dirty="0">
                <a:solidFill>
                  <a:schemeClr val="tx1"/>
                </a:solidFill>
              </a:rPr>
              <a:t>            </a:t>
            </a:r>
          </a:p>
        </p:txBody>
      </p:sp>
    </p:spTree>
    <p:extLst>
      <p:ext uri="{BB962C8B-B14F-4D97-AF65-F5344CB8AC3E}">
        <p14:creationId xmlns:p14="http://schemas.microsoft.com/office/powerpoint/2010/main" val="3866532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5037</TotalTime>
  <Words>2231</Words>
  <Application>Microsoft Macintosh PowerPoint</Application>
  <PresentationFormat>Geniş ekran</PresentationFormat>
  <Paragraphs>226</Paragraphs>
  <Slides>25</Slides>
  <Notes>25</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25</vt:i4>
      </vt:variant>
    </vt:vector>
  </HeadingPairs>
  <TitlesOfParts>
    <vt:vector size="31" baseType="lpstr">
      <vt:lpstr>Arial</vt:lpstr>
      <vt:lpstr>Calibri</vt:lpstr>
      <vt:lpstr>Century Gothic</vt:lpstr>
      <vt:lpstr>Monotype Corsiva</vt:lpstr>
      <vt:lpstr>Wingdings 3</vt:lpstr>
      <vt:lpstr>Duman</vt:lpstr>
      <vt:lpstr> Theory of Computation  Lesson 7</vt:lpstr>
      <vt:lpstr>Noam Chomsky </vt:lpstr>
      <vt:lpstr>Chomsky Hierarchy</vt:lpstr>
      <vt:lpstr>Context Free Grammar </vt:lpstr>
      <vt:lpstr>Context Free Grammar</vt:lpstr>
      <vt:lpstr>Context Free Grammar</vt:lpstr>
      <vt:lpstr>Context Free Grammar</vt:lpstr>
      <vt:lpstr>Context Free Grammar</vt:lpstr>
      <vt:lpstr>Formal Definition</vt:lpstr>
      <vt:lpstr>Derivation of ‘aaaabb’</vt:lpstr>
      <vt:lpstr>Derivation of ‘aaaabb’</vt:lpstr>
      <vt:lpstr>Derivation of ‘aaaabb’</vt:lpstr>
      <vt:lpstr>New Grammar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182</cp:revision>
  <dcterms:created xsi:type="dcterms:W3CDTF">2022-09-29T06:50:07Z</dcterms:created>
  <dcterms:modified xsi:type="dcterms:W3CDTF">2025-11-21T06:55:11Z</dcterms:modified>
</cp:coreProperties>
</file>