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4" r:id="rId1"/>
  </p:sldMasterIdLst>
  <p:notesMasterIdLst>
    <p:notesMasterId r:id="rId15"/>
  </p:notesMasterIdLst>
  <p:sldIdLst>
    <p:sldId id="284" r:id="rId2"/>
    <p:sldId id="257" r:id="rId3"/>
    <p:sldId id="285" r:id="rId4"/>
    <p:sldId id="268" r:id="rId5"/>
    <p:sldId id="269" r:id="rId6"/>
    <p:sldId id="286" r:id="rId7"/>
    <p:sldId id="270" r:id="rId8"/>
    <p:sldId id="272" r:id="rId9"/>
    <p:sldId id="287" r:id="rId10"/>
    <p:sldId id="277" r:id="rId11"/>
    <p:sldId id="274" r:id="rId12"/>
    <p:sldId id="279" r:id="rId13"/>
    <p:sldId id="313"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103" autoAdjust="0"/>
    <p:restoredTop sz="94401" autoAdjust="0"/>
  </p:normalViewPr>
  <p:slideViewPr>
    <p:cSldViewPr snapToGrid="0">
      <p:cViewPr varScale="1">
        <p:scale>
          <a:sx n="100" d="100"/>
          <a:sy n="100" d="100"/>
        </p:scale>
        <p:origin x="1608" y="168"/>
      </p:cViewPr>
      <p:guideLst/>
    </p:cSldViewPr>
  </p:slideViewPr>
  <p:outlineViewPr>
    <p:cViewPr>
      <p:scale>
        <a:sx n="33" d="100"/>
        <a:sy n="33" d="100"/>
      </p:scale>
      <p:origin x="0" y="-546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0DDE67-59A0-3C4A-890A-468253F431D6}" type="datetimeFigureOut">
              <a:rPr lang="tr-TR" smtClean="0"/>
              <a:t>21.11.2025</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49F921-94E2-2146-8BC6-089D7989E1CD}" type="slidenum">
              <a:rPr lang="tr-TR" smtClean="0"/>
              <a:t>‹#›</a:t>
            </a:fld>
            <a:endParaRPr lang="tr-TR"/>
          </a:p>
        </p:txBody>
      </p:sp>
    </p:spTree>
    <p:extLst>
      <p:ext uri="{BB962C8B-B14F-4D97-AF65-F5344CB8AC3E}">
        <p14:creationId xmlns:p14="http://schemas.microsoft.com/office/powerpoint/2010/main" val="40318702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It’s the </a:t>
            </a:r>
            <a:r>
              <a:rPr lang="tr-TR" noProof="0" dirty="0" err="1"/>
              <a:t>fourth</a:t>
            </a:r>
            <a:r>
              <a:rPr lang="en-US" dirty="0"/>
              <a:t> lesson of Theory of </a:t>
            </a:r>
            <a:r>
              <a:rPr lang="en-US" noProof="0" dirty="0"/>
              <a:t>Computation. We will go on </a:t>
            </a:r>
            <a:r>
              <a:rPr lang="tr-TR" noProof="0" dirty="0" err="1"/>
              <a:t>the</a:t>
            </a:r>
            <a:r>
              <a:rPr lang="tr-TR" noProof="0" dirty="0"/>
              <a:t> </a:t>
            </a:r>
            <a:r>
              <a:rPr lang="tr-TR" noProof="0" dirty="0" err="1"/>
              <a:t>Regular</a:t>
            </a:r>
            <a:r>
              <a:rPr lang="tr-TR" noProof="0" dirty="0"/>
              <a:t> Language </a:t>
            </a:r>
            <a:r>
              <a:rPr lang="tr-TR" noProof="0" dirty="0" err="1"/>
              <a:t>chapter</a:t>
            </a:r>
            <a:r>
              <a:rPr lang="tr-TR" noProof="0" dirty="0"/>
              <a:t> </a:t>
            </a:r>
            <a:r>
              <a:rPr lang="en-US" noProof="0" dirty="0"/>
              <a:t>with </a:t>
            </a:r>
            <a:r>
              <a:rPr lang="en-US" dirty="0"/>
              <a:t>Regular Expressions</a:t>
            </a:r>
            <a:r>
              <a:rPr lang="en-US" noProof="0" dirty="0"/>
              <a:t>. Let’s start </a:t>
            </a:r>
            <a:r>
              <a:rPr lang="en-US" dirty="0"/>
              <a:t>to lesson.</a:t>
            </a:r>
          </a:p>
        </p:txBody>
      </p:sp>
      <p:sp>
        <p:nvSpPr>
          <p:cNvPr id="4" name="Slayt Numarası Yer Tutucusu 3"/>
          <p:cNvSpPr>
            <a:spLocks noGrp="1"/>
          </p:cNvSpPr>
          <p:nvPr>
            <p:ph type="sldNum" sz="quarter" idx="10"/>
          </p:nvPr>
        </p:nvSpPr>
        <p:spPr/>
        <p:txBody>
          <a:bodyPr/>
          <a:lstStyle/>
          <a:p>
            <a:fld id="{6049F921-94E2-2146-8BC6-089D7989E1CD}" type="slidenum">
              <a:rPr lang="tr-TR" smtClean="0"/>
              <a:t>1</a:t>
            </a:fld>
            <a:endParaRPr lang="tr-TR"/>
          </a:p>
        </p:txBody>
      </p:sp>
    </p:spTree>
    <p:extLst>
      <p:ext uri="{BB962C8B-B14F-4D97-AF65-F5344CB8AC3E}">
        <p14:creationId xmlns:p14="http://schemas.microsoft.com/office/powerpoint/2010/main" val="28921034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dirty="0"/>
              <a:t>There are three tools under the regular language. Until now, we learned two of these three tools as DFA and NFA.</a:t>
            </a:r>
          </a:p>
          <a:p>
            <a:r>
              <a:rPr lang="en-US" sz="1200" dirty="0"/>
              <a:t>And also we made a transformation between these two tools. Now it's time to learn the third one, </a:t>
            </a:r>
            <a:r>
              <a:rPr lang="en-US" sz="1200" dirty="0" err="1"/>
              <a:t>RegEx</a:t>
            </a:r>
            <a:r>
              <a:rPr lang="en-US" sz="1200" dirty="0"/>
              <a:t>. We'll first review this tool and apply it to problem solving, then focus on its conversion to other tools.</a:t>
            </a:r>
          </a:p>
        </p:txBody>
      </p:sp>
      <p:sp>
        <p:nvSpPr>
          <p:cNvPr id="4" name="Slayt Numarası Yer Tutucusu 3"/>
          <p:cNvSpPr>
            <a:spLocks noGrp="1"/>
          </p:cNvSpPr>
          <p:nvPr>
            <p:ph type="sldNum" sz="quarter" idx="5"/>
          </p:nvPr>
        </p:nvSpPr>
        <p:spPr/>
        <p:txBody>
          <a:bodyPr/>
          <a:lstStyle/>
          <a:p>
            <a:fld id="{6049F921-94E2-2146-8BC6-089D7989E1CD}" type="slidenum">
              <a:rPr lang="tr-TR" smtClean="0"/>
              <a:t>2</a:t>
            </a:fld>
            <a:endParaRPr lang="tr-TR"/>
          </a:p>
        </p:txBody>
      </p:sp>
    </p:spTree>
    <p:extLst>
      <p:ext uri="{BB962C8B-B14F-4D97-AF65-F5344CB8AC3E}">
        <p14:creationId xmlns:p14="http://schemas.microsoft.com/office/powerpoint/2010/main" val="30135439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2400" dirty="0"/>
              <a:t>In this section, we define three operations on languages. We know that the set of all regular languages is closed under these three operations. </a:t>
            </a:r>
            <a:r>
              <a:rPr lang="en-US" sz="2400" noProof="0" dirty="0"/>
              <a:t>These are</a:t>
            </a:r>
          </a:p>
          <a:p>
            <a:pPr lvl="1">
              <a:buFont typeface="Wingdings" panose="05000000000000000000" pitchFamily="2" charset="2"/>
              <a:buChar char="§"/>
            </a:pPr>
            <a:r>
              <a:rPr lang="en-US" sz="2400" dirty="0"/>
              <a:t>Union</a:t>
            </a:r>
            <a:endParaRPr lang="tr-TR" sz="2400" dirty="0"/>
          </a:p>
          <a:p>
            <a:pPr lvl="1">
              <a:buFont typeface="Wingdings" panose="05000000000000000000" pitchFamily="2" charset="2"/>
              <a:buChar char="§"/>
            </a:pPr>
            <a:r>
              <a:rPr lang="en-US" sz="2400" dirty="0"/>
              <a:t>Concatenation</a:t>
            </a:r>
            <a:endParaRPr lang="tr-TR" sz="2400" dirty="0"/>
          </a:p>
          <a:p>
            <a:pPr lvl="1">
              <a:buFont typeface="Wingdings" panose="05000000000000000000" pitchFamily="2" charset="2"/>
              <a:buChar char="§"/>
            </a:pPr>
            <a:r>
              <a:rPr lang="en-US" sz="2400" dirty="0"/>
              <a:t>Star</a:t>
            </a:r>
            <a:endParaRPr lang="tr-TR" sz="2200" dirty="0"/>
          </a:p>
        </p:txBody>
      </p:sp>
      <p:sp>
        <p:nvSpPr>
          <p:cNvPr id="4" name="Slayt Numarası Yer Tutucusu 3"/>
          <p:cNvSpPr>
            <a:spLocks noGrp="1"/>
          </p:cNvSpPr>
          <p:nvPr>
            <p:ph type="sldNum" sz="quarter" idx="5"/>
          </p:nvPr>
        </p:nvSpPr>
        <p:spPr/>
        <p:txBody>
          <a:bodyPr/>
          <a:lstStyle/>
          <a:p>
            <a:fld id="{6049F921-94E2-2146-8BC6-089D7989E1CD}" type="slidenum">
              <a:rPr lang="tr-TR" smtClean="0"/>
              <a:t>3</a:t>
            </a:fld>
            <a:endParaRPr lang="tr-TR"/>
          </a:p>
        </p:txBody>
      </p:sp>
    </p:spTree>
    <p:extLst>
      <p:ext uri="{BB962C8B-B14F-4D97-AF65-F5344CB8AC3E}">
        <p14:creationId xmlns:p14="http://schemas.microsoft.com/office/powerpoint/2010/main" val="32780935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Let A and B be two languages over the same alphabet.</a:t>
            </a:r>
          </a:p>
          <a:p>
            <a:r>
              <a:rPr lang="en-US" dirty="0"/>
              <a:t>In the first regular operation, the union of A and B is defined as</a:t>
            </a:r>
          </a:p>
          <a:p>
            <a:r>
              <a:rPr lang="en-US" dirty="0"/>
              <a:t>A. union B contains w words so that w element of A or B.</a:t>
            </a:r>
          </a:p>
          <a:p>
            <a:r>
              <a:rPr lang="en-US" dirty="0"/>
              <a:t>The second operation, the concatenation of A and B is defined as</a:t>
            </a:r>
          </a:p>
          <a:p>
            <a:r>
              <a:rPr lang="en-US" dirty="0"/>
              <a:t>A.B. covers w </a:t>
            </a:r>
            <a:r>
              <a:rPr lang="en-US" dirty="0" err="1"/>
              <a:t>w</a:t>
            </a:r>
            <a:r>
              <a:rPr lang="en-US" dirty="0"/>
              <a:t> prime so that w element of A and w prime element of B</a:t>
            </a:r>
          </a:p>
          <a:p>
            <a:r>
              <a:rPr lang="en-US" dirty="0"/>
              <a:t>In words, A.B. is the set of all strings obtained by taking an arbitrary string w in A and an arbitrary string w prime in B, and gluing them together (such that w is to the left of w prime).</a:t>
            </a:r>
          </a:p>
          <a:p>
            <a:r>
              <a:rPr lang="en-US" dirty="0"/>
              <a:t>The third one, the star of A is defined as</a:t>
            </a:r>
          </a:p>
          <a:p>
            <a:r>
              <a:rPr lang="en-US" dirty="0"/>
              <a:t>A. star includes u1 u2 dot </a:t>
            </a:r>
            <a:r>
              <a:rPr lang="en-US" dirty="0" err="1"/>
              <a:t>dot</a:t>
            </a:r>
            <a:r>
              <a:rPr lang="en-US" dirty="0"/>
              <a:t> </a:t>
            </a:r>
            <a:r>
              <a:rPr lang="en-US" dirty="0" err="1"/>
              <a:t>U.k.</a:t>
            </a:r>
            <a:r>
              <a:rPr lang="en-US" dirty="0"/>
              <a:t> Here k greater than or equals to zero and </a:t>
            </a:r>
            <a:r>
              <a:rPr lang="en-US" dirty="0" err="1"/>
              <a:t>u.i</a:t>
            </a:r>
            <a:r>
              <a:rPr lang="en-US" dirty="0"/>
              <a:t>. Elements of A for all </a:t>
            </a:r>
            <a:r>
              <a:rPr lang="en-US" dirty="0" err="1"/>
              <a:t>i</a:t>
            </a:r>
            <a:r>
              <a:rPr lang="en-US" dirty="0"/>
              <a:t> = 1, 2, dot </a:t>
            </a:r>
            <a:r>
              <a:rPr lang="en-US" dirty="0" err="1"/>
              <a:t>dot</a:t>
            </a:r>
            <a:r>
              <a:rPr lang="en-US" dirty="0"/>
              <a:t> , k}.</a:t>
            </a:r>
          </a:p>
          <a:p>
            <a:r>
              <a:rPr lang="en-US" dirty="0"/>
              <a:t>In words, A is obtained by taking any finite number of strings in A, and gluing them together. Observe that k = 0 is allowed; this corresponds to the empty string epsilon. Thus, epsilon is an element of A star.</a:t>
            </a:r>
          </a:p>
          <a:p>
            <a:endParaRPr lang="tr-TR" dirty="0"/>
          </a:p>
        </p:txBody>
      </p:sp>
      <p:sp>
        <p:nvSpPr>
          <p:cNvPr id="4" name="Slayt Numarası Yer Tutucusu 3"/>
          <p:cNvSpPr>
            <a:spLocks noGrp="1"/>
          </p:cNvSpPr>
          <p:nvPr>
            <p:ph type="sldNum" sz="quarter" idx="10"/>
          </p:nvPr>
        </p:nvSpPr>
        <p:spPr/>
        <p:txBody>
          <a:bodyPr/>
          <a:lstStyle/>
          <a:p>
            <a:fld id="{6049F921-94E2-2146-8BC6-089D7989E1CD}" type="slidenum">
              <a:rPr lang="tr-TR" smtClean="0"/>
              <a:t>4</a:t>
            </a:fld>
            <a:endParaRPr lang="tr-TR"/>
          </a:p>
        </p:txBody>
      </p:sp>
    </p:spTree>
    <p:extLst>
      <p:ext uri="{BB962C8B-B14F-4D97-AF65-F5344CB8AC3E}">
        <p14:creationId xmlns:p14="http://schemas.microsoft.com/office/powerpoint/2010/main" val="5206877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In the example below, you can see these three operations:</a:t>
            </a:r>
          </a:p>
          <a:p>
            <a:r>
              <a:rPr lang="en-US" sz="1200" b="0" i="0" u="none" strike="noStrike" kern="1200" baseline="0" dirty="0">
                <a:solidFill>
                  <a:schemeClr val="tx1"/>
                </a:solidFill>
                <a:latin typeface="+mn-lt"/>
                <a:ea typeface="+mn-ea"/>
                <a:cs typeface="+mn-cs"/>
              </a:rPr>
              <a:t>Union: (0 </a:t>
            </a:r>
            <a:r>
              <a:rPr lang="tr-TR" sz="1200" b="0" i="0" u="none" strike="noStrike" kern="1200" baseline="0" dirty="0" err="1">
                <a:solidFill>
                  <a:schemeClr val="tx1"/>
                </a:solidFill>
                <a:latin typeface="+mn-lt"/>
                <a:ea typeface="+mn-ea"/>
                <a:cs typeface="+mn-cs"/>
              </a:rPr>
              <a:t>union</a:t>
            </a:r>
            <a:r>
              <a:rPr lang="en-US" sz="1200" b="0" i="0" u="none" strike="noStrike" kern="1200" baseline="0" dirty="0">
                <a:solidFill>
                  <a:schemeClr val="tx1"/>
                </a:solidFill>
                <a:latin typeface="+mn-lt"/>
                <a:ea typeface="+mn-ea"/>
                <a:cs typeface="+mn-cs"/>
              </a:rPr>
              <a:t> 1) is an example of union operation. Here, you can choose 0 or 1 to write.</a:t>
            </a:r>
          </a:p>
          <a:p>
            <a:r>
              <a:rPr lang="en-US" sz="1200" b="0" i="0" u="none" strike="noStrike" kern="1200" baseline="0" dirty="0">
                <a:solidFill>
                  <a:schemeClr val="tx1"/>
                </a:solidFill>
                <a:latin typeface="+mn-lt"/>
                <a:ea typeface="+mn-ea"/>
                <a:cs typeface="+mn-cs"/>
              </a:rPr>
              <a:t>Concatenation: The expression glues three symbols, so this can be an example of concatenation.</a:t>
            </a:r>
          </a:p>
          <a:p>
            <a:r>
              <a:rPr lang="en-US" sz="1200" b="0" i="0" u="none" strike="noStrike" kern="1200" baseline="0" dirty="0">
                <a:solidFill>
                  <a:schemeClr val="tx1"/>
                </a:solidFill>
                <a:latin typeface="+mn-lt"/>
                <a:ea typeface="+mn-ea"/>
                <a:cs typeface="+mn-cs"/>
              </a:rPr>
              <a:t>Star: The last symbol 1 in the expression has a star operation. It can produce many 1 symbols in sequence.</a:t>
            </a:r>
          </a:p>
          <a:p>
            <a:endParaRPr lang="tr-TR" sz="1200" b="0" i="0" u="none" strike="noStrike" kern="1200" baseline="0" dirty="0">
              <a:solidFill>
                <a:schemeClr val="tx1"/>
              </a:solidFill>
              <a:latin typeface="+mn-lt"/>
              <a:ea typeface="+mn-ea"/>
              <a:cs typeface="+mn-cs"/>
            </a:endParaRPr>
          </a:p>
        </p:txBody>
      </p:sp>
      <p:sp>
        <p:nvSpPr>
          <p:cNvPr id="4" name="Slayt Numarası Yer Tutucusu 3"/>
          <p:cNvSpPr>
            <a:spLocks noGrp="1"/>
          </p:cNvSpPr>
          <p:nvPr>
            <p:ph type="sldNum" sz="quarter" idx="5"/>
          </p:nvPr>
        </p:nvSpPr>
        <p:spPr/>
        <p:txBody>
          <a:bodyPr/>
          <a:lstStyle/>
          <a:p>
            <a:fld id="{6049F921-94E2-2146-8BC6-089D7989E1CD}" type="slidenum">
              <a:rPr lang="tr-TR" smtClean="0"/>
              <a:t>5</a:t>
            </a:fld>
            <a:endParaRPr lang="tr-TR"/>
          </a:p>
        </p:txBody>
      </p:sp>
    </p:spTree>
    <p:extLst>
      <p:ext uri="{BB962C8B-B14F-4D97-AF65-F5344CB8AC3E}">
        <p14:creationId xmlns:p14="http://schemas.microsoft.com/office/powerpoint/2010/main" val="4067854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After these examples, we give a formal and inductive definition of regular expressions.</a:t>
            </a:r>
          </a:p>
          <a:p>
            <a:r>
              <a:rPr lang="en-US" sz="1200" b="0" i="0" u="none" strike="noStrike" kern="1200" baseline="0" dirty="0">
                <a:solidFill>
                  <a:schemeClr val="tx1"/>
                </a:solidFill>
                <a:latin typeface="+mn-lt"/>
                <a:ea typeface="+mn-ea"/>
                <a:cs typeface="+mn-cs"/>
              </a:rPr>
              <a:t>Definition 2.7.1 </a:t>
            </a:r>
          </a:p>
          <a:p>
            <a:r>
              <a:rPr lang="en-US" sz="1200" b="0" i="0" u="none" strike="noStrike" kern="1200" baseline="0" dirty="0">
                <a:solidFill>
                  <a:schemeClr val="tx1"/>
                </a:solidFill>
                <a:latin typeface="+mn-lt"/>
                <a:ea typeface="+mn-ea"/>
                <a:cs typeface="+mn-cs"/>
              </a:rPr>
              <a:t>Let capital Sigma be a non empty alphabet. </a:t>
            </a:r>
          </a:p>
          <a:p>
            <a:r>
              <a:rPr lang="en-US" sz="1200" b="0" i="0" u="none" strike="noStrike" kern="1200" baseline="0" dirty="0">
                <a:solidFill>
                  <a:schemeClr val="tx1"/>
                </a:solidFill>
                <a:latin typeface="+mn-lt"/>
                <a:ea typeface="+mn-ea"/>
                <a:cs typeface="+mn-cs"/>
              </a:rPr>
              <a:t>The first, epsilon is a regular expression </a:t>
            </a:r>
          </a:p>
          <a:p>
            <a:r>
              <a:rPr lang="en-US" sz="1200" b="0" i="0" u="none" strike="noStrike" kern="1200" baseline="0" dirty="0">
                <a:solidFill>
                  <a:schemeClr val="tx1"/>
                </a:solidFill>
                <a:latin typeface="+mn-lt"/>
                <a:ea typeface="+mn-ea"/>
                <a:cs typeface="+mn-cs"/>
              </a:rPr>
              <a:t>The second, empty set is a regular expression </a:t>
            </a:r>
          </a:p>
          <a:p>
            <a:r>
              <a:rPr lang="en-US" sz="1200" b="0" i="0" u="none" strike="noStrike" kern="1200" baseline="0" dirty="0">
                <a:solidFill>
                  <a:schemeClr val="tx1"/>
                </a:solidFill>
                <a:latin typeface="+mn-lt"/>
                <a:ea typeface="+mn-ea"/>
                <a:cs typeface="+mn-cs"/>
              </a:rPr>
              <a:t>The Third, for each a. element of capital Sigma, a is a regular expression </a:t>
            </a:r>
          </a:p>
          <a:p>
            <a:r>
              <a:rPr lang="en-US" sz="1200" b="0" i="0" u="none" strike="noStrike" kern="1200" baseline="0" dirty="0">
                <a:solidFill>
                  <a:schemeClr val="tx1"/>
                </a:solidFill>
                <a:latin typeface="+mn-lt"/>
                <a:ea typeface="+mn-ea"/>
                <a:cs typeface="+mn-cs"/>
              </a:rPr>
              <a:t>The Fourth, if R1 and R2 are regular Expressions, then R1 union R2 is a regular expression</a:t>
            </a:r>
          </a:p>
          <a:p>
            <a:r>
              <a:rPr lang="en-US" sz="1200" b="0" i="0" u="none" strike="noStrike" kern="1200" baseline="0" dirty="0">
                <a:solidFill>
                  <a:schemeClr val="tx1"/>
                </a:solidFill>
                <a:latin typeface="+mn-lt"/>
                <a:ea typeface="+mn-ea"/>
                <a:cs typeface="+mn-cs"/>
              </a:rPr>
              <a:t>The fifth, if R1 and R2 are regular Expressions, then R1 R2 is a regular expression </a:t>
            </a:r>
          </a:p>
          <a:p>
            <a:r>
              <a:rPr lang="en-US" sz="1200" b="0" i="0" u="none" strike="noStrike" kern="1200" baseline="0" dirty="0">
                <a:solidFill>
                  <a:schemeClr val="tx1"/>
                </a:solidFill>
                <a:latin typeface="+mn-lt"/>
                <a:ea typeface="+mn-ea"/>
                <a:cs typeface="+mn-cs"/>
              </a:rPr>
              <a:t>The sixth, if R is a regular expression, then R star is a regular expression.</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Here, you can regard first, second and third as being the "building blocks" of regular expressions. Items 4th, 5th and 6th give rules that can be used to combine regular expressions into new and larger regular expressions.</a:t>
            </a:r>
            <a:endParaRPr lang="tr-TR" sz="1200" b="0" i="0" u="none" strike="noStrike" kern="1200" baseline="0" dirty="0">
              <a:solidFill>
                <a:schemeClr val="tx1"/>
              </a:solidFill>
              <a:latin typeface="+mn-lt"/>
              <a:ea typeface="+mn-ea"/>
              <a:cs typeface="+mn-cs"/>
            </a:endParaRPr>
          </a:p>
        </p:txBody>
      </p:sp>
      <p:sp>
        <p:nvSpPr>
          <p:cNvPr id="4" name="Slayt Numarası Yer Tutucusu 3"/>
          <p:cNvSpPr>
            <a:spLocks noGrp="1"/>
          </p:cNvSpPr>
          <p:nvPr>
            <p:ph type="sldNum" sz="quarter" idx="5"/>
          </p:nvPr>
        </p:nvSpPr>
        <p:spPr/>
        <p:txBody>
          <a:bodyPr/>
          <a:lstStyle/>
          <a:p>
            <a:fld id="{6049F921-94E2-2146-8BC6-089D7989E1CD}" type="slidenum">
              <a:rPr lang="tr-TR" smtClean="0"/>
              <a:t>6</a:t>
            </a:fld>
            <a:endParaRPr lang="tr-TR"/>
          </a:p>
        </p:txBody>
      </p:sp>
    </p:spTree>
    <p:extLst>
      <p:ext uri="{BB962C8B-B14F-4D97-AF65-F5344CB8AC3E}">
        <p14:creationId xmlns:p14="http://schemas.microsoft.com/office/powerpoint/2010/main" val="8735591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buNone/>
            </a:pPr>
            <a:r>
              <a:rPr lang="en-US" dirty="0"/>
              <a:t>The language described in this example is the set of all binary strings </a:t>
            </a:r>
          </a:p>
          <a:p>
            <a:pPr marL="0" indent="0">
              <a:buNone/>
            </a:pPr>
            <a:r>
              <a:rPr lang="en-US" dirty="0"/>
              <a:t>that start with either zero or one </a:t>
            </a:r>
          </a:p>
          <a:p>
            <a:pPr marL="0" indent="0">
              <a:buNone/>
            </a:pPr>
            <a:r>
              <a:rPr lang="en-US" dirty="0"/>
              <a:t>for which the second symbol is 0 </a:t>
            </a:r>
          </a:p>
          <a:p>
            <a:pPr marL="0" indent="0">
              <a:buNone/>
            </a:pPr>
            <a:r>
              <a:rPr lang="en-US" dirty="0"/>
              <a:t>and the string can end here or produce one or more ones </a:t>
            </a:r>
          </a:p>
          <a:p>
            <a:pPr marL="0" indent="0">
              <a:buNone/>
            </a:pPr>
            <a:endParaRPr lang="en-US" dirty="0"/>
          </a:p>
          <a:p>
            <a:pPr marL="0" indent="0">
              <a:buNone/>
            </a:pPr>
            <a:r>
              <a:rPr lang="en-US" dirty="0"/>
              <a:t>that is the language described by this expression is </a:t>
            </a:r>
          </a:p>
          <a:p>
            <a:pPr marL="0" indent="0">
              <a:buNone/>
            </a:pPr>
            <a:r>
              <a:rPr lang="en-US" dirty="0"/>
              <a:t>0 0, 0 0 1, 0 0 1 1, 0 0 1 1 1, dot </a:t>
            </a:r>
            <a:r>
              <a:rPr lang="en-US" dirty="0" err="1"/>
              <a:t>dot</a:t>
            </a:r>
            <a:r>
              <a:rPr lang="en-US" dirty="0"/>
              <a:t>, 1 0, 1 0 1, 1 0 1 1, 1 0 1 1 1, and so on</a:t>
            </a:r>
          </a:p>
        </p:txBody>
      </p:sp>
      <p:sp>
        <p:nvSpPr>
          <p:cNvPr id="4" name="Slayt Numarası Yer Tutucusu 3"/>
          <p:cNvSpPr>
            <a:spLocks noGrp="1"/>
          </p:cNvSpPr>
          <p:nvPr>
            <p:ph type="sldNum" sz="quarter" idx="5"/>
          </p:nvPr>
        </p:nvSpPr>
        <p:spPr/>
        <p:txBody>
          <a:bodyPr/>
          <a:lstStyle/>
          <a:p>
            <a:fld id="{6049F921-94E2-2146-8BC6-089D7989E1CD}" type="slidenum">
              <a:rPr lang="tr-TR" smtClean="0"/>
              <a:t>7</a:t>
            </a:fld>
            <a:endParaRPr lang="tr-TR"/>
          </a:p>
        </p:txBody>
      </p:sp>
    </p:spTree>
    <p:extLst>
      <p:ext uri="{BB962C8B-B14F-4D97-AF65-F5344CB8AC3E}">
        <p14:creationId xmlns:p14="http://schemas.microsoft.com/office/powerpoint/2010/main" val="24646908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language of w words where w contains exactly two 0s is described by the following expression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star 0 1 star 0 1 star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this example, we should guarantee only two zeros in anywhere in the string. Each one star can produce epsilon or only 1 or more 1s. Therefore, it can overcome the problem and generate all the following strings.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00, 1 00, 1 1 00, dot </a:t>
            </a:r>
            <a:r>
              <a:rPr lang="en-US" dirty="0" err="1"/>
              <a:t>dot</a:t>
            </a:r>
            <a:r>
              <a:rPr lang="en-US" dirty="0"/>
              <a:t> 1 01 0, 1 01 1 0, dot </a:t>
            </a:r>
            <a:r>
              <a:rPr lang="en-US" dirty="0" err="1"/>
              <a:t>dot</a:t>
            </a:r>
            <a:r>
              <a:rPr lang="en-US" dirty="0"/>
              <a:t> 1 01 01, 1 01 01 1, dot </a:t>
            </a:r>
            <a:r>
              <a:rPr lang="en-US" dirty="0" err="1"/>
              <a:t>dot</a:t>
            </a:r>
            <a:r>
              <a:rPr lang="en-US" dirty="0"/>
              <a:t> 01 0, so 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ayt Numarası Yer Tutucusu 3"/>
          <p:cNvSpPr>
            <a:spLocks noGrp="1"/>
          </p:cNvSpPr>
          <p:nvPr>
            <p:ph type="sldNum" sz="quarter" idx="10"/>
          </p:nvPr>
        </p:nvSpPr>
        <p:spPr/>
        <p:txBody>
          <a:bodyPr/>
          <a:lstStyle/>
          <a:p>
            <a:fld id="{6049F921-94E2-2146-8BC6-089D7989E1CD}" type="slidenum">
              <a:rPr lang="tr-TR" smtClean="0"/>
              <a:t>8</a:t>
            </a:fld>
            <a:endParaRPr lang="tr-TR"/>
          </a:p>
        </p:txBody>
      </p:sp>
    </p:spTree>
    <p:extLst>
      <p:ext uri="{BB962C8B-B14F-4D97-AF65-F5344CB8AC3E}">
        <p14:creationId xmlns:p14="http://schemas.microsoft.com/office/powerpoint/2010/main" val="17169511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Let's take a look at how the same regular expression generates words. Here each star operation can turn into independent numbers. We can call the first star as a, the second as b and the third as c. While all stars are zero, the word contains only two zeros as shown in the first row of the table. But when a is 3, b is 2, and c is 4, the word produces the sequence in the last row of the table. Now, examine the table carefully.</a:t>
            </a:r>
            <a:endParaRPr lang="tr-TR" dirty="0"/>
          </a:p>
        </p:txBody>
      </p:sp>
      <p:sp>
        <p:nvSpPr>
          <p:cNvPr id="4" name="Slayt Numarası Yer Tutucusu 3"/>
          <p:cNvSpPr>
            <a:spLocks noGrp="1"/>
          </p:cNvSpPr>
          <p:nvPr>
            <p:ph type="sldNum" sz="quarter" idx="10"/>
          </p:nvPr>
        </p:nvSpPr>
        <p:spPr/>
        <p:txBody>
          <a:bodyPr/>
          <a:lstStyle/>
          <a:p>
            <a:fld id="{6049F921-94E2-2146-8BC6-089D7989E1CD}" type="slidenum">
              <a:rPr lang="tr-TR" smtClean="0"/>
              <a:t>9</a:t>
            </a:fld>
            <a:endParaRPr lang="tr-TR"/>
          </a:p>
        </p:txBody>
      </p:sp>
    </p:spTree>
    <p:extLst>
      <p:ext uri="{BB962C8B-B14F-4D97-AF65-F5344CB8AC3E}">
        <p14:creationId xmlns:p14="http://schemas.microsoft.com/office/powerpoint/2010/main" val="29153632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prstClr val="black">
                    <a:lumMod val="75000"/>
                    <a:lumOff val="25000"/>
                  </a:prstClr>
                </a:solidFill>
              </a:rPr>
              <a:t>The language of w words where w contains at least two 0s is described by the following expression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prstClr val="black">
                    <a:lumMod val="75000"/>
                    <a:lumOff val="25000"/>
                  </a:prstClr>
                </a:solidFill>
              </a:rPr>
              <a:t>zero union 1 star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prstClr val="black">
                    <a:lumMod val="75000"/>
                    <a:lumOff val="25000"/>
                  </a:prstClr>
                </a:solidFill>
              </a:rPr>
              <a:t>0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prstClr val="black">
                    <a:lumMod val="75000"/>
                    <a:lumOff val="25000"/>
                  </a:prstClr>
                </a:solidFill>
              </a:rPr>
              <a:t>zero union 1 star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prstClr val="black">
                    <a:lumMod val="75000"/>
                    <a:lumOff val="25000"/>
                  </a:prstClr>
                </a:solidFill>
              </a:rPr>
              <a:t>0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prstClr val="black">
                    <a:lumMod val="75000"/>
                    <a:lumOff val="25000"/>
                  </a:prstClr>
                </a:solidFill>
              </a:rPr>
              <a:t>zero union 1 star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prstClr val="black">
                    <a:lumMod val="75000"/>
                    <a:lumOff val="25000"/>
                  </a:prstClr>
                </a:solidFill>
              </a:rPr>
              <a:t>In this example, we should guarantee at least two zeros in anywhere in the string. It is similar to the previous question. In the answer of the previous question, one stars will be replaced with zero union 1 star </a:t>
            </a:r>
            <a:endParaRPr lang="tr-TR" dirty="0"/>
          </a:p>
        </p:txBody>
      </p:sp>
      <p:sp>
        <p:nvSpPr>
          <p:cNvPr id="4" name="Slayt Numarası Yer Tutucusu 3"/>
          <p:cNvSpPr>
            <a:spLocks noGrp="1"/>
          </p:cNvSpPr>
          <p:nvPr>
            <p:ph type="sldNum" sz="quarter" idx="10"/>
          </p:nvPr>
        </p:nvSpPr>
        <p:spPr/>
        <p:txBody>
          <a:bodyPr/>
          <a:lstStyle/>
          <a:p>
            <a:fld id="{6049F921-94E2-2146-8BC6-089D7989E1CD}" type="slidenum">
              <a:rPr lang="tr-TR" smtClean="0"/>
              <a:t>10</a:t>
            </a:fld>
            <a:endParaRPr lang="tr-TR"/>
          </a:p>
        </p:txBody>
      </p:sp>
    </p:spTree>
    <p:extLst>
      <p:ext uri="{BB962C8B-B14F-4D97-AF65-F5344CB8AC3E}">
        <p14:creationId xmlns:p14="http://schemas.microsoft.com/office/powerpoint/2010/main" val="5653530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buNone/>
            </a:pPr>
            <a:r>
              <a:rPr lang="en-US" sz="1200" noProof="0" dirty="0"/>
              <a:t>In the fourth example, we will see a substring. The language of</a:t>
            </a:r>
            <a:r>
              <a:rPr lang="en-US" sz="1200" baseline="0" noProof="0" dirty="0"/>
              <a:t> </a:t>
            </a:r>
            <a:r>
              <a:rPr lang="en-US" sz="1200" noProof="0" dirty="0"/>
              <a:t>w words where 1011 is a substring of w is described by the expression</a:t>
            </a:r>
          </a:p>
          <a:p>
            <a:pPr marL="0" indent="0">
              <a:buNone/>
            </a:pPr>
            <a:endParaRPr lang="en-US" sz="1200" noProof="0" dirty="0"/>
          </a:p>
          <a:p>
            <a:pPr marL="0" indent="0">
              <a:buNone/>
            </a:pPr>
            <a:r>
              <a:rPr lang="en-US" sz="1600" noProof="0" dirty="0"/>
              <a:t>0 union 1 star</a:t>
            </a:r>
          </a:p>
          <a:p>
            <a:pPr marL="0" indent="0">
              <a:buNone/>
            </a:pPr>
            <a:r>
              <a:rPr lang="en-US" sz="1600" noProof="0" dirty="0">
                <a:solidFill>
                  <a:srgbClr val="FF0000"/>
                </a:solidFill>
              </a:rPr>
              <a:t>1 0 1 1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noProof="0" dirty="0"/>
              <a:t>0 union 1 star</a:t>
            </a:r>
          </a:p>
          <a:p>
            <a:pPr marL="0" indent="0">
              <a:buNone/>
            </a:pPr>
            <a:endParaRPr lang="en-US" sz="1200" noProof="0" dirty="0"/>
          </a:p>
          <a:p>
            <a:pPr marL="0" indent="0">
              <a:buNone/>
            </a:pPr>
            <a:r>
              <a:rPr lang="en-US" sz="1200" noProof="0" dirty="0"/>
              <a:t>Here, when </a:t>
            </a:r>
            <a:r>
              <a:rPr lang="en-US" sz="1200" noProof="0" dirty="0">
                <a:solidFill>
                  <a:prstClr val="black">
                    <a:lumMod val="75000"/>
                    <a:lumOff val="25000"/>
                  </a:prstClr>
                </a:solidFill>
              </a:rPr>
              <a:t>we guarantee 1 0 1 1 as a substring, it doesn’t matter. The string can start and also end with any substring.</a:t>
            </a:r>
            <a:endParaRPr lang="en-US" sz="1200" noProof="0" dirty="0"/>
          </a:p>
          <a:p>
            <a:endParaRPr lang="en-US" dirty="0"/>
          </a:p>
        </p:txBody>
      </p:sp>
      <p:sp>
        <p:nvSpPr>
          <p:cNvPr id="4" name="Slayt Numarası Yer Tutucusu 3"/>
          <p:cNvSpPr>
            <a:spLocks noGrp="1"/>
          </p:cNvSpPr>
          <p:nvPr>
            <p:ph type="sldNum" sz="quarter" idx="10"/>
          </p:nvPr>
        </p:nvSpPr>
        <p:spPr/>
        <p:txBody>
          <a:bodyPr/>
          <a:lstStyle/>
          <a:p>
            <a:fld id="{6049F921-94E2-2146-8BC6-089D7989E1CD}" type="slidenum">
              <a:rPr lang="tr-TR" smtClean="0"/>
              <a:t>11</a:t>
            </a:fld>
            <a:endParaRPr lang="tr-TR"/>
          </a:p>
        </p:txBody>
      </p:sp>
    </p:spTree>
    <p:extLst>
      <p:ext uri="{BB962C8B-B14F-4D97-AF65-F5344CB8AC3E}">
        <p14:creationId xmlns:p14="http://schemas.microsoft.com/office/powerpoint/2010/main" val="36390038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There are more examples in our lecture notes. You can review these examples for a minute. After you're ready, you'll have the extra bonus question.</a:t>
            </a:r>
            <a:endParaRPr lang="tr-TR" dirty="0"/>
          </a:p>
        </p:txBody>
      </p:sp>
      <p:sp>
        <p:nvSpPr>
          <p:cNvPr id="4" name="Slayt Numarası Yer Tutucusu 3"/>
          <p:cNvSpPr>
            <a:spLocks noGrp="1"/>
          </p:cNvSpPr>
          <p:nvPr>
            <p:ph type="sldNum" sz="quarter" idx="10"/>
          </p:nvPr>
        </p:nvSpPr>
        <p:spPr/>
        <p:txBody>
          <a:bodyPr/>
          <a:lstStyle/>
          <a:p>
            <a:fld id="{6049F921-94E2-2146-8BC6-089D7989E1CD}" type="slidenum">
              <a:rPr lang="tr-TR" smtClean="0"/>
              <a:t>12</a:t>
            </a:fld>
            <a:endParaRPr lang="tr-TR"/>
          </a:p>
        </p:txBody>
      </p:sp>
    </p:spTree>
    <p:extLst>
      <p:ext uri="{BB962C8B-B14F-4D97-AF65-F5344CB8AC3E}">
        <p14:creationId xmlns:p14="http://schemas.microsoft.com/office/powerpoint/2010/main" val="41327885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a:t>That’s all.</a:t>
            </a:r>
          </a:p>
          <a:p>
            <a:endParaRPr lang="en-US" sz="1200"/>
          </a:p>
          <a:p>
            <a:r>
              <a:rPr lang="en-US" altLang="tr-TR" sz="1200"/>
              <a:t>Thanks for listening.</a:t>
            </a:r>
          </a:p>
        </p:txBody>
      </p:sp>
      <p:sp>
        <p:nvSpPr>
          <p:cNvPr id="4" name="Slayt Numarası Yer Tutucusu 3"/>
          <p:cNvSpPr>
            <a:spLocks noGrp="1"/>
          </p:cNvSpPr>
          <p:nvPr>
            <p:ph type="sldNum" sz="quarter" idx="10"/>
          </p:nvPr>
        </p:nvSpPr>
        <p:spPr/>
        <p:txBody>
          <a:bodyPr/>
          <a:lstStyle/>
          <a:p>
            <a:fld id="{464F05E7-666C-4291-B07E-B8BAE79ECBCA}" type="slidenum">
              <a:rPr lang="tr-TR" smtClean="0"/>
              <a:t>13</a:t>
            </a:fld>
            <a:endParaRPr lang="tr-TR"/>
          </a:p>
        </p:txBody>
      </p:sp>
    </p:spTree>
    <p:extLst>
      <p:ext uri="{BB962C8B-B14F-4D97-AF65-F5344CB8AC3E}">
        <p14:creationId xmlns:p14="http://schemas.microsoft.com/office/powerpoint/2010/main" val="6138402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tr-TR"/>
              <a:t>Asıl başlık stili için tıklatın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4062904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tr-TR"/>
              <a:t>Asıl başlık stili için tıklatın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945659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tr-TR"/>
              <a:t>Asıl başlık stili için tıklatın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4577443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tr-TR"/>
              <a:t>Asıl başlık stili için tıklatın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761418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tr-TR"/>
              <a:t>Asıl başlık stili için tıklatın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AF36C430-287F-DD4C-AA12-0A938495B580}" type="datetimeFigureOut">
              <a:rPr lang="tr-TR" smtClean="0"/>
              <a:t>21.11.2025</a:t>
            </a:fld>
            <a:endParaRPr lang="tr-TR"/>
          </a:p>
        </p:txBody>
      </p:sp>
      <p:sp>
        <p:nvSpPr>
          <p:cNvPr id="8" name="Footer Placeholder 7"/>
          <p:cNvSpPr>
            <a:spLocks noGrp="1"/>
          </p:cNvSpPr>
          <p:nvPr>
            <p:ph type="ftr" sz="quarter" idx="11"/>
          </p:nvPr>
        </p:nvSpPr>
        <p:spPr/>
        <p:txBody>
          <a:bodyPr/>
          <a:lstStyle/>
          <a:p>
            <a:endParaRPr lang="tr-T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063016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Date Placeholder 2"/>
          <p:cNvSpPr>
            <a:spLocks noGrp="1"/>
          </p:cNvSpPr>
          <p:nvPr>
            <p:ph type="dt" sz="half" idx="10"/>
          </p:nvPr>
        </p:nvSpPr>
        <p:spPr/>
        <p:txBody>
          <a:bodyPr/>
          <a:lstStyle/>
          <a:p>
            <a:fld id="{AF36C430-287F-DD4C-AA12-0A938495B580}" type="datetimeFigureOut">
              <a:rPr lang="tr-TR" smtClean="0"/>
              <a:t>21.11.2025</a:t>
            </a:fld>
            <a:endParaRPr lang="tr-TR"/>
          </a:p>
        </p:txBody>
      </p:sp>
      <p:sp>
        <p:nvSpPr>
          <p:cNvPr id="4" name="Footer Placeholder 3"/>
          <p:cNvSpPr>
            <a:spLocks noGrp="1"/>
          </p:cNvSpPr>
          <p:nvPr>
            <p:ph type="ftr" sz="quarter" idx="11"/>
          </p:nvPr>
        </p:nvSpPr>
        <p:spPr/>
        <p:txBody>
          <a:bodyPr/>
          <a:lstStyle/>
          <a:p>
            <a:endParaRPr lang="tr-T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701496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36C430-287F-DD4C-AA12-0A938495B580}" type="datetimeFigureOut">
              <a:rPr lang="tr-TR" smtClean="0"/>
              <a:t>21.11.2025</a:t>
            </a:fld>
            <a:endParaRPr lang="tr-TR"/>
          </a:p>
        </p:txBody>
      </p:sp>
      <p:sp>
        <p:nvSpPr>
          <p:cNvPr id="3" name="Footer Placeholder 2"/>
          <p:cNvSpPr>
            <a:spLocks noGrp="1"/>
          </p:cNvSpPr>
          <p:nvPr>
            <p:ph type="ftr" sz="quarter" idx="11"/>
          </p:nvPr>
        </p:nvSpPr>
        <p:spPr/>
        <p:txBody>
          <a:bodyPr/>
          <a:lstStyle/>
          <a:p>
            <a:endParaRPr lang="tr-T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412631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tr-TR"/>
              <a:t>Asıl başlık stili için tıklatın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517925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tr-TR"/>
              <a:t>Asıl başlık stili için tıklatın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simgeyi tıklatın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32395677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tr-TR"/>
              <a:t>Asıl başlık stili için tıklatın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41957197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tr-TR"/>
              <a:t>Asıl başlık stili için tıklatın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9DD1268-69E4-B14A-81C8-E49092695496}" type="slidenum">
              <a:rPr lang="tr-TR" smtClean="0"/>
              <a:t>‹#›</a:t>
            </a:fld>
            <a:endParaRPr lang="tr-TR"/>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6377159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tr-TR"/>
              <a:t>Asıl başlık stili için tıklatın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7501822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lıntı İsim Kartı">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tr-TR"/>
              <a:t>Asıl başlık stili için tıklatın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4553556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oğru veya Yanlış">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tr-TR"/>
              <a:t>Asıl başlık stili için tıklatın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5136148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Vertical Text Placeholder 2"/>
          <p:cNvSpPr>
            <a:spLocks noGrp="1"/>
          </p:cNvSpPr>
          <p:nvPr>
            <p:ph type="body" orient="vert" idx="1"/>
          </p:nvPr>
        </p:nvSpPr>
        <p:spPr/>
        <p:txBody>
          <a:bodyPr vert="eaVert" ancho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64624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tr-TR"/>
              <a:t>Asıl başlık stili için tıklatın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054545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tr-TR"/>
              <a:t>Asıl başlık stili için tıklatın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AF36C430-287F-DD4C-AA12-0A938495B580}" type="datetimeFigureOut">
              <a:rPr lang="tr-TR" smtClean="0"/>
              <a:t>21.11.2025</a:t>
            </a:fld>
            <a:endParaRPr lang="tr-T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tr-TR"/>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59DD1268-69E4-B14A-81C8-E49092695496}" type="slidenum">
              <a:rPr lang="tr-TR" smtClean="0"/>
              <a:t>‹#›</a:t>
            </a:fld>
            <a:endParaRPr lang="tr-TR"/>
          </a:p>
        </p:txBody>
      </p:sp>
    </p:spTree>
    <p:extLst>
      <p:ext uri="{BB962C8B-B14F-4D97-AF65-F5344CB8AC3E}">
        <p14:creationId xmlns:p14="http://schemas.microsoft.com/office/powerpoint/2010/main" val="1019043021"/>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ctrTitle"/>
          </p:nvPr>
        </p:nvSpPr>
        <p:spPr/>
        <p:txBody>
          <a:bodyPr>
            <a:normAutofit fontScale="90000"/>
          </a:bodyPr>
          <a:lstStyle/>
          <a:p>
            <a:br>
              <a:rPr lang="en-US" dirty="0"/>
            </a:br>
            <a:r>
              <a:rPr lang="en-US" dirty="0"/>
              <a:t>Theory of Computation </a:t>
            </a:r>
            <a:br>
              <a:rPr lang="en-US" dirty="0"/>
            </a:br>
            <a:r>
              <a:rPr lang="en-US" sz="3600" dirty="0"/>
              <a:t>Lesson </a:t>
            </a:r>
            <a:r>
              <a:rPr lang="tr-TR" sz="3600" dirty="0"/>
              <a:t>4</a:t>
            </a:r>
            <a:endParaRPr lang="en-US" dirty="0"/>
          </a:p>
        </p:txBody>
      </p:sp>
      <p:sp>
        <p:nvSpPr>
          <p:cNvPr id="3" name="Alt Başlık 2"/>
          <p:cNvSpPr>
            <a:spLocks noGrp="1"/>
          </p:cNvSpPr>
          <p:nvPr>
            <p:ph type="subTitle" idx="1"/>
          </p:nvPr>
        </p:nvSpPr>
        <p:spPr/>
        <p:txBody>
          <a:bodyPr>
            <a:normAutofit/>
          </a:bodyPr>
          <a:lstStyle/>
          <a:p>
            <a:endParaRPr lang="tr-TR" sz="2800" dirty="0">
              <a:solidFill>
                <a:srgbClr val="FF0000"/>
              </a:solidFill>
            </a:endParaRPr>
          </a:p>
          <a:p>
            <a:r>
              <a:rPr lang="en-US" sz="2800" dirty="0">
                <a:solidFill>
                  <a:srgbClr val="FF0000"/>
                </a:solidFill>
              </a:rPr>
              <a:t>Regular Expressions</a:t>
            </a:r>
          </a:p>
        </p:txBody>
      </p:sp>
      <p:pic>
        <p:nvPicPr>
          <p:cNvPr id="5" name="Resim 4"/>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5102356" y="588219"/>
            <a:ext cx="3889111" cy="1259631"/>
          </a:xfrm>
          <a:prstGeom prst="rect">
            <a:avLst/>
          </a:prstGeom>
        </p:spPr>
      </p:pic>
    </p:spTree>
    <p:extLst>
      <p:ext uri="{BB962C8B-B14F-4D97-AF65-F5344CB8AC3E}">
        <p14:creationId xmlns:p14="http://schemas.microsoft.com/office/powerpoint/2010/main" val="14575736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İçerik Yer Tutucusu 4"/>
          <p:cNvSpPr>
            <a:spLocks noGrp="1"/>
          </p:cNvSpPr>
          <p:nvPr>
            <p:ph idx="1"/>
          </p:nvPr>
        </p:nvSpPr>
        <p:spPr>
          <a:xfrm>
            <a:off x="2589212" y="1632855"/>
            <a:ext cx="8915400" cy="4800599"/>
          </a:xfrm>
        </p:spPr>
        <p:txBody>
          <a:bodyPr>
            <a:normAutofit/>
          </a:bodyPr>
          <a:lstStyle/>
          <a:p>
            <a:pPr marL="0" indent="0">
              <a:lnSpc>
                <a:spcPct val="150000"/>
              </a:lnSpc>
              <a:buNone/>
            </a:pPr>
            <a:r>
              <a:rPr lang="en-US" sz="2800" dirty="0"/>
              <a:t>There are three tools under the regular language</a:t>
            </a:r>
            <a:r>
              <a:rPr lang="tr-TR" sz="2800" dirty="0"/>
              <a:t>:</a:t>
            </a:r>
            <a:endParaRPr lang="tr-TR" sz="2800" dirty="0">
              <a:solidFill>
                <a:srgbClr val="FF0000"/>
              </a:solidFill>
            </a:endParaRPr>
          </a:p>
          <a:p>
            <a:pPr lvl="1">
              <a:lnSpc>
                <a:spcPct val="150000"/>
              </a:lnSpc>
            </a:pPr>
            <a:r>
              <a:rPr lang="en-US" sz="2800" dirty="0">
                <a:solidFill>
                  <a:schemeClr val="bg1">
                    <a:lumMod val="65000"/>
                  </a:schemeClr>
                </a:solidFill>
              </a:rPr>
              <a:t>Deterministic finite automata (DFA)</a:t>
            </a:r>
            <a:r>
              <a:rPr lang="en-US" sz="2800" b="1" dirty="0">
                <a:solidFill>
                  <a:srgbClr val="FF0000"/>
                </a:solidFill>
              </a:rPr>
              <a:t>√</a:t>
            </a:r>
          </a:p>
          <a:p>
            <a:pPr lvl="1">
              <a:lnSpc>
                <a:spcPct val="150000"/>
              </a:lnSpc>
            </a:pPr>
            <a:r>
              <a:rPr lang="en-US" sz="2800" dirty="0">
                <a:solidFill>
                  <a:schemeClr val="bg1">
                    <a:lumMod val="65000"/>
                  </a:schemeClr>
                </a:solidFill>
              </a:rPr>
              <a:t>Non-deterministic finite automata (NFA)</a:t>
            </a:r>
            <a:r>
              <a:rPr lang="en-US" sz="2800" b="1" dirty="0">
                <a:solidFill>
                  <a:schemeClr val="bg1">
                    <a:lumMod val="65000"/>
                  </a:schemeClr>
                </a:solidFill>
              </a:rPr>
              <a:t> </a:t>
            </a:r>
            <a:r>
              <a:rPr lang="en-US" sz="2800" b="1" dirty="0">
                <a:solidFill>
                  <a:srgbClr val="FF0000"/>
                </a:solidFill>
              </a:rPr>
              <a:t>√</a:t>
            </a:r>
            <a:endParaRPr lang="tr-TR" sz="2800" dirty="0">
              <a:solidFill>
                <a:schemeClr val="tx1"/>
              </a:solidFill>
            </a:endParaRPr>
          </a:p>
          <a:p>
            <a:pPr lvl="1">
              <a:lnSpc>
                <a:spcPct val="150000"/>
              </a:lnSpc>
            </a:pPr>
            <a:r>
              <a:rPr lang="en-US" sz="2800" dirty="0"/>
              <a:t>Regular Expressions (</a:t>
            </a:r>
            <a:r>
              <a:rPr lang="en-US" sz="2800" dirty="0" err="1"/>
              <a:t>RegEx</a:t>
            </a:r>
            <a:r>
              <a:rPr lang="en-US" sz="2800" dirty="0"/>
              <a:t>)</a:t>
            </a:r>
            <a:endParaRPr lang="tr-TR" sz="2800" dirty="0"/>
          </a:p>
          <a:p>
            <a:pPr marL="0" indent="0">
              <a:lnSpc>
                <a:spcPct val="150000"/>
              </a:lnSpc>
              <a:buNone/>
            </a:pPr>
            <a:r>
              <a:rPr lang="en-US" sz="2800" dirty="0"/>
              <a:t>We'll first review this tool and apply it to problem solving, then focus on its conversion to other tools.</a:t>
            </a:r>
          </a:p>
        </p:txBody>
      </p:sp>
      <p:sp>
        <p:nvSpPr>
          <p:cNvPr id="4" name="Unvan 3"/>
          <p:cNvSpPr>
            <a:spLocks noGrp="1"/>
          </p:cNvSpPr>
          <p:nvPr>
            <p:ph type="title"/>
          </p:nvPr>
        </p:nvSpPr>
        <p:spPr/>
        <p:txBody>
          <a:bodyPr/>
          <a:lstStyle/>
          <a:p>
            <a:r>
              <a:rPr lang="en-US" dirty="0"/>
              <a:t>Regular Language Tools</a:t>
            </a:r>
          </a:p>
        </p:txBody>
      </p:sp>
    </p:spTree>
    <p:extLst>
      <p:ext uri="{BB962C8B-B14F-4D97-AF65-F5344CB8AC3E}">
        <p14:creationId xmlns:p14="http://schemas.microsoft.com/office/powerpoint/2010/main" val="33236922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688DE54-AC7F-ADCB-5473-D9FDA4977FFD}"/>
              </a:ext>
            </a:extLst>
          </p:cNvPr>
          <p:cNvSpPr>
            <a:spLocks noGrp="1"/>
          </p:cNvSpPr>
          <p:nvPr>
            <p:ph type="title"/>
          </p:nvPr>
        </p:nvSpPr>
        <p:spPr/>
        <p:txBody>
          <a:bodyPr/>
          <a:lstStyle/>
          <a:p>
            <a:r>
              <a:rPr lang="en-US" dirty="0"/>
              <a:t>Regular</a:t>
            </a:r>
            <a:r>
              <a:rPr lang="tr-TR" dirty="0"/>
              <a:t> </a:t>
            </a:r>
            <a:r>
              <a:rPr lang="en-US" dirty="0"/>
              <a:t>Operations</a:t>
            </a:r>
          </a:p>
        </p:txBody>
      </p:sp>
      <p:sp>
        <p:nvSpPr>
          <p:cNvPr id="5" name="İçerik Yer Tutucusu 4"/>
          <p:cNvSpPr>
            <a:spLocks noGrp="1"/>
          </p:cNvSpPr>
          <p:nvPr>
            <p:ph idx="1"/>
          </p:nvPr>
        </p:nvSpPr>
        <p:spPr>
          <a:xfrm>
            <a:off x="2589212" y="1632857"/>
            <a:ext cx="8915400" cy="4898571"/>
          </a:xfrm>
        </p:spPr>
        <p:txBody>
          <a:bodyPr>
            <a:noAutofit/>
          </a:bodyPr>
          <a:lstStyle/>
          <a:p>
            <a:pPr marL="0" indent="0">
              <a:lnSpc>
                <a:spcPct val="150000"/>
              </a:lnSpc>
              <a:buNone/>
            </a:pPr>
            <a:r>
              <a:rPr lang="en-US" sz="2800" dirty="0"/>
              <a:t>In this section, we define three operations on languages. We know that the set of all regular languages is closed under these three operations. These are</a:t>
            </a:r>
            <a:r>
              <a:rPr lang="tr-TR" sz="2800" dirty="0"/>
              <a:t>:</a:t>
            </a:r>
          </a:p>
          <a:p>
            <a:pPr lvl="1">
              <a:lnSpc>
                <a:spcPct val="150000"/>
              </a:lnSpc>
              <a:buFont typeface="Wingdings" panose="05000000000000000000" pitchFamily="2" charset="2"/>
              <a:buChar char="§"/>
            </a:pPr>
            <a:r>
              <a:rPr lang="en-US" sz="2400" dirty="0"/>
              <a:t>Union</a:t>
            </a:r>
            <a:endParaRPr lang="tr-TR" sz="2400" dirty="0"/>
          </a:p>
          <a:p>
            <a:pPr lvl="1">
              <a:lnSpc>
                <a:spcPct val="150000"/>
              </a:lnSpc>
              <a:buFont typeface="Wingdings" panose="05000000000000000000" pitchFamily="2" charset="2"/>
              <a:buChar char="§"/>
            </a:pPr>
            <a:r>
              <a:rPr lang="en-US" sz="2400" dirty="0"/>
              <a:t>Concatenation</a:t>
            </a:r>
            <a:endParaRPr lang="tr-TR" sz="2400" dirty="0"/>
          </a:p>
          <a:p>
            <a:pPr lvl="1">
              <a:lnSpc>
                <a:spcPct val="150000"/>
              </a:lnSpc>
              <a:buFont typeface="Wingdings" panose="05000000000000000000" pitchFamily="2" charset="2"/>
              <a:buChar char="§"/>
            </a:pPr>
            <a:r>
              <a:rPr lang="en-US" sz="2400" dirty="0"/>
              <a:t>Star</a:t>
            </a:r>
            <a:endParaRPr lang="tr-TR" sz="2000" dirty="0"/>
          </a:p>
        </p:txBody>
      </p:sp>
    </p:spTree>
    <p:extLst>
      <p:ext uri="{BB962C8B-B14F-4D97-AF65-F5344CB8AC3E}">
        <p14:creationId xmlns:p14="http://schemas.microsoft.com/office/powerpoint/2010/main" val="18308266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Unvan 5"/>
          <p:cNvSpPr>
            <a:spLocks noGrp="1"/>
          </p:cNvSpPr>
          <p:nvPr>
            <p:ph type="title"/>
          </p:nvPr>
        </p:nvSpPr>
        <p:spPr/>
        <p:txBody>
          <a:bodyPr/>
          <a:lstStyle/>
          <a:p>
            <a:r>
              <a:rPr lang="en-US" dirty="0"/>
              <a:t>Regular Operations</a:t>
            </a:r>
          </a:p>
        </p:txBody>
      </p:sp>
      <p:pic>
        <p:nvPicPr>
          <p:cNvPr id="9" name="Resim 8"/>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907260" y="1505249"/>
            <a:ext cx="8559352" cy="2906314"/>
          </a:xfrm>
          <a:prstGeom prst="rect">
            <a:avLst/>
          </a:prstGeom>
        </p:spPr>
      </p:pic>
      <p:pic>
        <p:nvPicPr>
          <p:cNvPr id="10" name="Resim 9"/>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1907260" y="4452683"/>
            <a:ext cx="10273852" cy="1523571"/>
          </a:xfrm>
          <a:prstGeom prst="rect">
            <a:avLst/>
          </a:prstGeom>
        </p:spPr>
      </p:pic>
    </p:spTree>
    <p:extLst>
      <p:ext uri="{BB962C8B-B14F-4D97-AF65-F5344CB8AC3E}">
        <p14:creationId xmlns:p14="http://schemas.microsoft.com/office/powerpoint/2010/main" val="13006343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Resim 5"/>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4245430" y="4991006"/>
            <a:ext cx="1959428" cy="634632"/>
          </a:xfrm>
          <a:prstGeom prst="rect">
            <a:avLst/>
          </a:prstGeom>
        </p:spPr>
      </p:pic>
      <p:sp>
        <p:nvSpPr>
          <p:cNvPr id="10" name="İçerik Yer Tutucusu 4"/>
          <p:cNvSpPr>
            <a:spLocks noGrp="1"/>
          </p:cNvSpPr>
          <p:nvPr>
            <p:ph idx="1"/>
          </p:nvPr>
        </p:nvSpPr>
        <p:spPr>
          <a:xfrm>
            <a:off x="2589212" y="1741712"/>
            <a:ext cx="8915400" cy="3249294"/>
          </a:xfrm>
        </p:spPr>
        <p:txBody>
          <a:bodyPr>
            <a:normAutofit/>
          </a:bodyPr>
          <a:lstStyle/>
          <a:p>
            <a:pPr marL="0" indent="0">
              <a:buNone/>
            </a:pPr>
            <a:r>
              <a:rPr lang="en-US" sz="2400" dirty="0"/>
              <a:t>In the example below, you can see these three operations:</a:t>
            </a:r>
          </a:p>
          <a:p>
            <a:r>
              <a:rPr lang="en-US" sz="2400" dirty="0"/>
              <a:t>Union: (0 U 1) is an example of union operation. Here, you can choose 0 or 1 to write.</a:t>
            </a:r>
          </a:p>
          <a:p>
            <a:r>
              <a:rPr lang="en-US" sz="2400" dirty="0"/>
              <a:t>Concatenation: The expression glues three symbols, so this can be an example of concatenation.</a:t>
            </a:r>
          </a:p>
          <a:p>
            <a:r>
              <a:rPr lang="en-US" sz="2400" dirty="0"/>
              <a:t>Star: The last symbol 1 in the expression has a star operation. It can produce many 1 symbols in sequence.</a:t>
            </a:r>
          </a:p>
        </p:txBody>
      </p:sp>
      <p:sp>
        <p:nvSpPr>
          <p:cNvPr id="12" name="Unvan 11"/>
          <p:cNvSpPr>
            <a:spLocks noGrp="1"/>
          </p:cNvSpPr>
          <p:nvPr>
            <p:ph type="title"/>
          </p:nvPr>
        </p:nvSpPr>
        <p:spPr/>
        <p:txBody>
          <a:bodyPr/>
          <a:lstStyle/>
          <a:p>
            <a:r>
              <a:rPr lang="en-US" dirty="0"/>
              <a:t>An Example</a:t>
            </a:r>
          </a:p>
        </p:txBody>
      </p:sp>
    </p:spTree>
    <p:extLst>
      <p:ext uri="{BB962C8B-B14F-4D97-AF65-F5344CB8AC3E}">
        <p14:creationId xmlns:p14="http://schemas.microsoft.com/office/powerpoint/2010/main" val="1237055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p:cNvPicPr>
            <a:picLocks noChangeAspect="1"/>
          </p:cNvPicPr>
          <p:nvPr/>
        </p:nvPicPr>
        <p:blipFill rotWithShape="1">
          <a:blip r:embed="rId3">
            <a:clrChange>
              <a:clrFrom>
                <a:srgbClr val="FFFFFF"/>
              </a:clrFrom>
              <a:clrTo>
                <a:srgbClr val="FFFFFF">
                  <a:alpha val="0"/>
                </a:srgbClr>
              </a:clrTo>
            </a:clrChange>
          </a:blip>
          <a:srcRect l="23602" t="23261" r="28494" b="40896"/>
          <a:stretch/>
        </p:blipFill>
        <p:spPr>
          <a:xfrm>
            <a:off x="966825" y="1513114"/>
            <a:ext cx="11225175" cy="4724400"/>
          </a:xfrm>
          <a:prstGeom prst="rect">
            <a:avLst/>
          </a:prstGeom>
        </p:spPr>
      </p:pic>
      <p:sp>
        <p:nvSpPr>
          <p:cNvPr id="5" name="Unvan 4"/>
          <p:cNvSpPr>
            <a:spLocks noGrp="1"/>
          </p:cNvSpPr>
          <p:nvPr>
            <p:ph type="title"/>
          </p:nvPr>
        </p:nvSpPr>
        <p:spPr/>
        <p:txBody>
          <a:bodyPr/>
          <a:lstStyle/>
          <a:p>
            <a:r>
              <a:rPr lang="en-US" dirty="0"/>
              <a:t>Formal Definition</a:t>
            </a:r>
          </a:p>
        </p:txBody>
      </p:sp>
    </p:spTree>
    <p:extLst>
      <p:ext uri="{BB962C8B-B14F-4D97-AF65-F5344CB8AC3E}">
        <p14:creationId xmlns:p14="http://schemas.microsoft.com/office/powerpoint/2010/main" val="2494977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van 5"/>
          <p:cNvSpPr txBox="1">
            <a:spLocks/>
          </p:cNvSpPr>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A first example</a:t>
            </a:r>
          </a:p>
        </p:txBody>
      </p:sp>
      <p:pic>
        <p:nvPicPr>
          <p:cNvPr id="5" name="Resim 4"/>
          <p:cNvPicPr>
            <a:picLocks noChangeAspect="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979768" y="1905000"/>
            <a:ext cx="11212232" cy="4112342"/>
          </a:xfrm>
          <a:prstGeom prst="rect">
            <a:avLst/>
          </a:prstGeom>
        </p:spPr>
      </p:pic>
      <p:pic>
        <p:nvPicPr>
          <p:cNvPr id="8" name="Resim 7"/>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5630662" y="1286233"/>
            <a:ext cx="1910443" cy="618767"/>
          </a:xfrm>
          <a:prstGeom prst="rect">
            <a:avLst/>
          </a:prstGeom>
        </p:spPr>
      </p:pic>
    </p:spTree>
    <p:extLst>
      <p:ext uri="{BB962C8B-B14F-4D97-AF65-F5344CB8AC3E}">
        <p14:creationId xmlns:p14="http://schemas.microsoft.com/office/powerpoint/2010/main" val="24390831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3EF5E5E3-7930-0576-4986-133CE2BD37B7}"/>
              </a:ext>
            </a:extLst>
          </p:cNvPr>
          <p:cNvSpPr>
            <a:spLocks noGrp="1"/>
          </p:cNvSpPr>
          <p:nvPr>
            <p:ph idx="1"/>
          </p:nvPr>
        </p:nvSpPr>
        <p:spPr>
          <a:xfrm>
            <a:off x="1593459" y="1733107"/>
            <a:ext cx="10024729" cy="4348163"/>
          </a:xfrm>
        </p:spPr>
        <p:txBody>
          <a:bodyPr anchor="t" anchorCtr="0">
            <a:normAutofit/>
          </a:bodyPr>
          <a:lstStyle/>
          <a:p>
            <a:pPr marL="0" indent="0">
              <a:buNone/>
            </a:pPr>
            <a:r>
              <a:rPr lang="en-US" sz="2600" dirty="0"/>
              <a:t>The language {w : w contains exactly two 0s} is described by the following expression</a:t>
            </a:r>
            <a:endParaRPr lang="tr-TR" sz="2600" dirty="0"/>
          </a:p>
          <a:p>
            <a:pPr marL="0" indent="0" algn="ctr">
              <a:buNone/>
            </a:pPr>
            <a:r>
              <a:rPr lang="en-US" sz="3200" dirty="0"/>
              <a:t>1</a:t>
            </a:r>
            <a:r>
              <a:rPr lang="tr-TR" sz="3200" dirty="0"/>
              <a:t>*</a:t>
            </a:r>
            <a:r>
              <a:rPr lang="en-US" sz="3200" dirty="0"/>
              <a:t>01</a:t>
            </a:r>
            <a:r>
              <a:rPr lang="tr-TR" sz="3200" dirty="0"/>
              <a:t>*</a:t>
            </a:r>
            <a:r>
              <a:rPr lang="en-US" sz="3200" dirty="0"/>
              <a:t>01</a:t>
            </a:r>
            <a:r>
              <a:rPr lang="tr-TR" sz="3200" dirty="0"/>
              <a:t>*</a:t>
            </a:r>
          </a:p>
          <a:p>
            <a:pPr marL="0" indent="0">
              <a:buNone/>
            </a:pPr>
            <a:r>
              <a:rPr lang="en-US" sz="2600" dirty="0">
                <a:solidFill>
                  <a:prstClr val="black">
                    <a:lumMod val="75000"/>
                    <a:lumOff val="25000"/>
                  </a:prstClr>
                </a:solidFill>
              </a:rPr>
              <a:t>In this example, we should guarantee only two zeros in</a:t>
            </a:r>
            <a:r>
              <a:rPr lang="tr-TR" sz="2600" dirty="0">
                <a:solidFill>
                  <a:prstClr val="black">
                    <a:lumMod val="75000"/>
                    <a:lumOff val="25000"/>
                  </a:prstClr>
                </a:solidFill>
              </a:rPr>
              <a:t> </a:t>
            </a:r>
            <a:r>
              <a:rPr lang="en-US" sz="2600" dirty="0">
                <a:solidFill>
                  <a:prstClr val="black">
                    <a:lumMod val="75000"/>
                    <a:lumOff val="25000"/>
                  </a:prstClr>
                </a:solidFill>
              </a:rPr>
              <a:t>anywhere </a:t>
            </a:r>
            <a:r>
              <a:rPr lang="tr-TR" sz="2600" dirty="0">
                <a:solidFill>
                  <a:prstClr val="black">
                    <a:lumMod val="75000"/>
                    <a:lumOff val="25000"/>
                  </a:prstClr>
                </a:solidFill>
              </a:rPr>
              <a:t>in</a:t>
            </a:r>
            <a:r>
              <a:rPr lang="en-US" sz="2600" dirty="0">
                <a:solidFill>
                  <a:prstClr val="black">
                    <a:lumMod val="75000"/>
                    <a:lumOff val="25000"/>
                  </a:prstClr>
                </a:solidFill>
              </a:rPr>
              <a:t> the string. Each 1* can produce </a:t>
            </a:r>
            <a:r>
              <a:rPr lang="el-GR" sz="2600" dirty="0">
                <a:solidFill>
                  <a:prstClr val="black">
                    <a:lumMod val="75000"/>
                    <a:lumOff val="25000"/>
                  </a:prstClr>
                </a:solidFill>
              </a:rPr>
              <a:t>ε</a:t>
            </a:r>
            <a:r>
              <a:rPr lang="en-US" sz="2600" dirty="0">
                <a:solidFill>
                  <a:prstClr val="black">
                    <a:lumMod val="75000"/>
                    <a:lumOff val="25000"/>
                  </a:prstClr>
                </a:solidFill>
              </a:rPr>
              <a:t> or only 1 or more 1s. Therefore, it can overcome the problem and generate all the following strings.</a:t>
            </a:r>
            <a:endParaRPr lang="tr-TR" sz="2600" dirty="0">
              <a:solidFill>
                <a:prstClr val="black">
                  <a:lumMod val="75000"/>
                  <a:lumOff val="25000"/>
                </a:prstClr>
              </a:solidFill>
            </a:endParaRPr>
          </a:p>
          <a:p>
            <a:pPr marL="0" indent="0">
              <a:buNone/>
            </a:pPr>
            <a:endParaRPr lang="tr-TR" sz="900" dirty="0"/>
          </a:p>
          <a:p>
            <a:pPr marL="0" indent="0" algn="ctr">
              <a:buNone/>
            </a:pPr>
            <a:r>
              <a:rPr lang="en-US" sz="2800" dirty="0"/>
              <a:t>00,100</a:t>
            </a:r>
            <a:r>
              <a:rPr lang="tr-TR" sz="2800" dirty="0"/>
              <a:t>,1100,…</a:t>
            </a:r>
            <a:r>
              <a:rPr lang="en-US" sz="2800" dirty="0"/>
              <a:t>,1010,101</a:t>
            </a:r>
            <a:r>
              <a:rPr lang="tr-TR" sz="2800" dirty="0"/>
              <a:t>1</a:t>
            </a:r>
            <a:r>
              <a:rPr lang="en-US" sz="2800" dirty="0"/>
              <a:t>0,</a:t>
            </a:r>
            <a:r>
              <a:rPr lang="tr-TR" sz="2800" dirty="0"/>
              <a:t>…,</a:t>
            </a:r>
            <a:r>
              <a:rPr lang="en-US" sz="2800" dirty="0"/>
              <a:t>10101</a:t>
            </a:r>
            <a:r>
              <a:rPr lang="tr-TR" sz="2800" dirty="0"/>
              <a:t>,</a:t>
            </a:r>
            <a:r>
              <a:rPr lang="en-US" sz="2800" dirty="0"/>
              <a:t>10101</a:t>
            </a:r>
            <a:r>
              <a:rPr lang="tr-TR" sz="2800" dirty="0"/>
              <a:t>1</a:t>
            </a:r>
            <a:r>
              <a:rPr lang="en-US" sz="2800" dirty="0"/>
              <a:t>,</a:t>
            </a:r>
            <a:r>
              <a:rPr lang="tr-TR" sz="2800" dirty="0"/>
              <a:t>…,</a:t>
            </a:r>
            <a:r>
              <a:rPr lang="en-US" sz="2800" dirty="0"/>
              <a:t> 010, </a:t>
            </a:r>
            <a:r>
              <a:rPr lang="tr-TR" sz="2800" dirty="0"/>
              <a:t>…</a:t>
            </a:r>
          </a:p>
          <a:p>
            <a:pPr marL="0" indent="0" algn="ctr">
              <a:buNone/>
            </a:pPr>
            <a:endParaRPr lang="tr-TR" sz="2800" dirty="0"/>
          </a:p>
        </p:txBody>
      </p:sp>
      <p:sp>
        <p:nvSpPr>
          <p:cNvPr id="7" name="Unvan 5"/>
          <p:cNvSpPr txBox="1">
            <a:spLocks/>
          </p:cNvSpPr>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A second example</a:t>
            </a:r>
          </a:p>
        </p:txBody>
      </p:sp>
    </p:spTree>
    <p:extLst>
      <p:ext uri="{BB962C8B-B14F-4D97-AF65-F5344CB8AC3E}">
        <p14:creationId xmlns:p14="http://schemas.microsoft.com/office/powerpoint/2010/main" val="7637426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3EF5E5E3-7930-0576-4986-133CE2BD37B7}"/>
              </a:ext>
            </a:extLst>
          </p:cNvPr>
          <p:cNvSpPr>
            <a:spLocks noGrp="1"/>
          </p:cNvSpPr>
          <p:nvPr>
            <p:ph idx="1"/>
          </p:nvPr>
        </p:nvSpPr>
        <p:spPr>
          <a:xfrm>
            <a:off x="1593459" y="1733107"/>
            <a:ext cx="10024729" cy="4348163"/>
          </a:xfrm>
        </p:spPr>
        <p:txBody>
          <a:bodyPr anchor="t" anchorCtr="0">
            <a:normAutofit/>
          </a:bodyPr>
          <a:lstStyle/>
          <a:p>
            <a:pPr marL="0" indent="0">
              <a:buNone/>
            </a:pPr>
            <a:r>
              <a:rPr lang="en-US" sz="2600" dirty="0"/>
              <a:t>Let's take a look at how the same regular expression generates words. Here each star operation can turn into independent numbers. </a:t>
            </a:r>
            <a:endParaRPr lang="tr-TR" sz="2600" dirty="0"/>
          </a:p>
          <a:p>
            <a:pPr marL="0" indent="0">
              <a:buNone/>
            </a:pPr>
            <a:endParaRPr lang="tr-TR" sz="2000" dirty="0"/>
          </a:p>
          <a:p>
            <a:pPr marL="0" indent="0">
              <a:buNone/>
            </a:pPr>
            <a:r>
              <a:rPr lang="en-US" sz="3200" dirty="0"/>
              <a:t>1</a:t>
            </a:r>
            <a:r>
              <a:rPr lang="tr-TR" sz="3200" dirty="0"/>
              <a:t>*</a:t>
            </a:r>
            <a:r>
              <a:rPr lang="en-US" sz="3200" dirty="0"/>
              <a:t>01</a:t>
            </a:r>
            <a:r>
              <a:rPr lang="tr-TR" sz="3200" dirty="0"/>
              <a:t>*</a:t>
            </a:r>
            <a:r>
              <a:rPr lang="en-US" sz="3200" dirty="0"/>
              <a:t>01</a:t>
            </a:r>
            <a:r>
              <a:rPr lang="tr-TR" sz="3200" dirty="0"/>
              <a:t>*</a:t>
            </a:r>
          </a:p>
          <a:p>
            <a:pPr marL="0" indent="0">
              <a:buNone/>
            </a:pPr>
            <a:r>
              <a:rPr lang="tr-TR" sz="2800" dirty="0">
                <a:solidFill>
                  <a:srgbClr val="FF0000"/>
                </a:solidFill>
              </a:rPr>
              <a:t>1</a:t>
            </a:r>
            <a:r>
              <a:rPr lang="tr-TR" sz="2800" baseline="30000" dirty="0">
                <a:solidFill>
                  <a:srgbClr val="FF0000"/>
                </a:solidFill>
              </a:rPr>
              <a:t>a </a:t>
            </a:r>
            <a:r>
              <a:rPr lang="en-US" sz="2800" dirty="0"/>
              <a:t>0</a:t>
            </a:r>
            <a:r>
              <a:rPr lang="tr-TR" sz="2800" dirty="0">
                <a:solidFill>
                  <a:srgbClr val="FF0000"/>
                </a:solidFill>
              </a:rPr>
              <a:t>1</a:t>
            </a:r>
            <a:r>
              <a:rPr lang="tr-TR" sz="2800" baseline="30000" dirty="0">
                <a:solidFill>
                  <a:srgbClr val="FF0000"/>
                </a:solidFill>
              </a:rPr>
              <a:t>b </a:t>
            </a:r>
            <a:r>
              <a:rPr lang="en-US" sz="2800" dirty="0"/>
              <a:t>0</a:t>
            </a:r>
            <a:r>
              <a:rPr lang="tr-TR" sz="2800" dirty="0">
                <a:solidFill>
                  <a:srgbClr val="FF0000"/>
                </a:solidFill>
              </a:rPr>
              <a:t>1</a:t>
            </a:r>
            <a:r>
              <a:rPr lang="tr-TR" sz="2800" baseline="30000" dirty="0">
                <a:solidFill>
                  <a:srgbClr val="FF0000"/>
                </a:solidFill>
              </a:rPr>
              <a:t>c</a:t>
            </a:r>
            <a:endParaRPr lang="tr-TR" sz="2800" dirty="0">
              <a:solidFill>
                <a:srgbClr val="FF0000"/>
              </a:solidFill>
            </a:endParaRPr>
          </a:p>
          <a:p>
            <a:pPr marL="0" indent="0">
              <a:buNone/>
            </a:pPr>
            <a:endParaRPr lang="tr-TR" sz="2800" dirty="0">
              <a:solidFill>
                <a:srgbClr val="FF0000"/>
              </a:solidFill>
            </a:endParaRPr>
          </a:p>
          <a:p>
            <a:pPr marL="0" indent="0">
              <a:buNone/>
            </a:pPr>
            <a:endParaRPr lang="tr-TR" sz="2800" dirty="0">
              <a:solidFill>
                <a:srgbClr val="FF0000"/>
              </a:solidFill>
            </a:endParaRPr>
          </a:p>
          <a:p>
            <a:pPr marL="0" indent="0" algn="ctr">
              <a:buNone/>
            </a:pPr>
            <a:endParaRPr lang="tr-TR" sz="2800" dirty="0"/>
          </a:p>
        </p:txBody>
      </p:sp>
      <p:sp>
        <p:nvSpPr>
          <p:cNvPr id="7" name="Unvan 5"/>
          <p:cNvSpPr txBox="1">
            <a:spLocks/>
          </p:cNvSpPr>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A second example</a:t>
            </a:r>
          </a:p>
        </p:txBody>
      </p:sp>
      <p:graphicFrame>
        <p:nvGraphicFramePr>
          <p:cNvPr id="2" name="Tablo 1"/>
          <p:cNvGraphicFramePr>
            <a:graphicFrameLocks noGrp="1"/>
          </p:cNvGraphicFramePr>
          <p:nvPr>
            <p:extLst>
              <p:ext uri="{D42A27DB-BD31-4B8C-83A1-F6EECF244321}">
                <p14:modId xmlns:p14="http://schemas.microsoft.com/office/powerpoint/2010/main" val="3513381047"/>
              </p:ext>
            </p:extLst>
          </p:nvPr>
        </p:nvGraphicFramePr>
        <p:xfrm>
          <a:off x="4843063" y="3348566"/>
          <a:ext cx="3525520" cy="2966720"/>
        </p:xfrm>
        <a:graphic>
          <a:graphicData uri="http://schemas.openxmlformats.org/drawingml/2006/table">
            <a:tbl>
              <a:tblPr firstRow="1" bandRow="1">
                <a:tableStyleId>{5C22544A-7EE6-4342-B048-85BDC9FD1C3A}</a:tableStyleId>
              </a:tblPr>
              <a:tblGrid>
                <a:gridCol w="627380">
                  <a:extLst>
                    <a:ext uri="{9D8B030D-6E8A-4147-A177-3AD203B41FA5}">
                      <a16:colId xmlns:a16="http://schemas.microsoft.com/office/drawing/2014/main" val="908994784"/>
                    </a:ext>
                  </a:extLst>
                </a:gridCol>
                <a:gridCol w="627380">
                  <a:extLst>
                    <a:ext uri="{9D8B030D-6E8A-4147-A177-3AD203B41FA5}">
                      <a16:colId xmlns:a16="http://schemas.microsoft.com/office/drawing/2014/main" val="326025822"/>
                    </a:ext>
                  </a:extLst>
                </a:gridCol>
                <a:gridCol w="627380">
                  <a:extLst>
                    <a:ext uri="{9D8B030D-6E8A-4147-A177-3AD203B41FA5}">
                      <a16:colId xmlns:a16="http://schemas.microsoft.com/office/drawing/2014/main" val="1246592338"/>
                    </a:ext>
                  </a:extLst>
                </a:gridCol>
                <a:gridCol w="1643380">
                  <a:extLst>
                    <a:ext uri="{9D8B030D-6E8A-4147-A177-3AD203B41FA5}">
                      <a16:colId xmlns:a16="http://schemas.microsoft.com/office/drawing/2014/main" val="3364262968"/>
                    </a:ext>
                  </a:extLst>
                </a:gridCol>
              </a:tblGrid>
              <a:tr h="370840">
                <a:tc>
                  <a:txBody>
                    <a:bodyPr/>
                    <a:lstStyle/>
                    <a:p>
                      <a:pPr algn="ctr"/>
                      <a:r>
                        <a:rPr lang="en-US" noProof="0" dirty="0"/>
                        <a:t>a</a:t>
                      </a:r>
                    </a:p>
                  </a:txBody>
                  <a:tcPr/>
                </a:tc>
                <a:tc>
                  <a:txBody>
                    <a:bodyPr/>
                    <a:lstStyle/>
                    <a:p>
                      <a:pPr algn="ctr"/>
                      <a:r>
                        <a:rPr lang="en-US" noProof="0" dirty="0"/>
                        <a:t>b</a:t>
                      </a:r>
                    </a:p>
                  </a:txBody>
                  <a:tcPr/>
                </a:tc>
                <a:tc>
                  <a:txBody>
                    <a:bodyPr/>
                    <a:lstStyle/>
                    <a:p>
                      <a:pPr algn="ctr"/>
                      <a:r>
                        <a:rPr lang="en-US" noProof="0" dirty="0"/>
                        <a:t>c</a:t>
                      </a:r>
                    </a:p>
                  </a:txBody>
                  <a:tcPr/>
                </a:tc>
                <a:tc>
                  <a:txBody>
                    <a:bodyPr/>
                    <a:lstStyle/>
                    <a:p>
                      <a:pPr algn="ctr"/>
                      <a:r>
                        <a:rPr lang="en-US" noProof="0" dirty="0"/>
                        <a:t>string</a:t>
                      </a:r>
                    </a:p>
                  </a:txBody>
                  <a:tcPr/>
                </a:tc>
                <a:extLst>
                  <a:ext uri="{0D108BD9-81ED-4DB2-BD59-A6C34878D82A}">
                    <a16:rowId xmlns:a16="http://schemas.microsoft.com/office/drawing/2014/main" val="3228835117"/>
                  </a:ext>
                </a:extLst>
              </a:tr>
              <a:tr h="370840">
                <a:tc>
                  <a:txBody>
                    <a:bodyPr/>
                    <a:lstStyle/>
                    <a:p>
                      <a:pPr algn="ctr"/>
                      <a:r>
                        <a:rPr lang="en-US" noProof="0" dirty="0"/>
                        <a:t>0</a:t>
                      </a:r>
                    </a:p>
                  </a:txBody>
                  <a:tcPr/>
                </a:tc>
                <a:tc>
                  <a:txBody>
                    <a:bodyPr/>
                    <a:lstStyle/>
                    <a:p>
                      <a:pPr algn="ctr"/>
                      <a:r>
                        <a:rPr lang="en-US" noProof="0" dirty="0"/>
                        <a:t>0</a:t>
                      </a:r>
                    </a:p>
                  </a:txBody>
                  <a:tcPr/>
                </a:tc>
                <a:tc>
                  <a:txBody>
                    <a:bodyPr/>
                    <a:lstStyle/>
                    <a:p>
                      <a:pPr algn="ctr"/>
                      <a:r>
                        <a:rPr lang="en-US" noProof="0" dirty="0"/>
                        <a:t>0</a:t>
                      </a:r>
                    </a:p>
                  </a:txBody>
                  <a:tcPr/>
                </a:tc>
                <a:tc>
                  <a:txBody>
                    <a:bodyPr/>
                    <a:lstStyle/>
                    <a:p>
                      <a:pPr algn="ctr"/>
                      <a:r>
                        <a:rPr lang="en-US" noProof="0" dirty="0"/>
                        <a:t>00</a:t>
                      </a:r>
                    </a:p>
                  </a:txBody>
                  <a:tcPr/>
                </a:tc>
                <a:extLst>
                  <a:ext uri="{0D108BD9-81ED-4DB2-BD59-A6C34878D82A}">
                    <a16:rowId xmlns:a16="http://schemas.microsoft.com/office/drawing/2014/main" val="1247422234"/>
                  </a:ext>
                </a:extLst>
              </a:tr>
              <a:tr h="370840">
                <a:tc>
                  <a:txBody>
                    <a:bodyPr/>
                    <a:lstStyle/>
                    <a:p>
                      <a:pPr algn="ctr"/>
                      <a:r>
                        <a:rPr lang="en-US" noProof="0" dirty="0"/>
                        <a:t>0</a:t>
                      </a:r>
                    </a:p>
                  </a:txBody>
                  <a:tcPr/>
                </a:tc>
                <a:tc>
                  <a:txBody>
                    <a:bodyPr/>
                    <a:lstStyle/>
                    <a:p>
                      <a:pPr algn="ctr"/>
                      <a:r>
                        <a:rPr lang="en-US" noProof="0" dirty="0"/>
                        <a:t>0</a:t>
                      </a:r>
                    </a:p>
                  </a:txBody>
                  <a:tcPr/>
                </a:tc>
                <a:tc>
                  <a:txBody>
                    <a:bodyPr/>
                    <a:lstStyle/>
                    <a:p>
                      <a:pPr algn="ctr"/>
                      <a:r>
                        <a:rPr lang="en-US" noProof="0" dirty="0"/>
                        <a:t>1</a:t>
                      </a:r>
                    </a:p>
                  </a:txBody>
                  <a:tcPr/>
                </a:tc>
                <a:tc>
                  <a:txBody>
                    <a:bodyPr/>
                    <a:lstStyle/>
                    <a:p>
                      <a:pPr algn="ctr"/>
                      <a:r>
                        <a:rPr lang="en-US" noProof="0" dirty="0"/>
                        <a:t>001</a:t>
                      </a:r>
                    </a:p>
                  </a:txBody>
                  <a:tcPr/>
                </a:tc>
                <a:extLst>
                  <a:ext uri="{0D108BD9-81ED-4DB2-BD59-A6C34878D82A}">
                    <a16:rowId xmlns:a16="http://schemas.microsoft.com/office/drawing/2014/main" val="113960382"/>
                  </a:ext>
                </a:extLst>
              </a:tr>
              <a:tr h="370840">
                <a:tc>
                  <a:txBody>
                    <a:bodyPr/>
                    <a:lstStyle/>
                    <a:p>
                      <a:pPr algn="ctr"/>
                      <a:r>
                        <a:rPr lang="en-US" noProof="0" dirty="0"/>
                        <a:t>0</a:t>
                      </a:r>
                    </a:p>
                  </a:txBody>
                  <a:tcPr/>
                </a:tc>
                <a:tc>
                  <a:txBody>
                    <a:bodyPr/>
                    <a:lstStyle/>
                    <a:p>
                      <a:pPr algn="ctr"/>
                      <a:r>
                        <a:rPr lang="en-US" noProof="0" dirty="0"/>
                        <a:t>0</a:t>
                      </a:r>
                    </a:p>
                  </a:txBody>
                  <a:tcPr/>
                </a:tc>
                <a:tc>
                  <a:txBody>
                    <a:bodyPr/>
                    <a:lstStyle/>
                    <a:p>
                      <a:pPr algn="ctr"/>
                      <a:r>
                        <a:rPr lang="en-US" noProof="0" dirty="0"/>
                        <a:t>2</a:t>
                      </a:r>
                    </a:p>
                  </a:txBody>
                  <a:tcPr/>
                </a:tc>
                <a:tc>
                  <a:txBody>
                    <a:bodyPr/>
                    <a:lstStyle/>
                    <a:p>
                      <a:pPr algn="ctr"/>
                      <a:r>
                        <a:rPr lang="en-US" noProof="0" dirty="0"/>
                        <a:t>0011</a:t>
                      </a:r>
                    </a:p>
                  </a:txBody>
                  <a:tcPr/>
                </a:tc>
                <a:extLst>
                  <a:ext uri="{0D108BD9-81ED-4DB2-BD59-A6C34878D82A}">
                    <a16:rowId xmlns:a16="http://schemas.microsoft.com/office/drawing/2014/main" val="1380482788"/>
                  </a:ext>
                </a:extLst>
              </a:tr>
              <a:tr h="370840">
                <a:tc>
                  <a:txBody>
                    <a:bodyPr/>
                    <a:lstStyle/>
                    <a:p>
                      <a:pPr algn="ctr"/>
                      <a:r>
                        <a:rPr lang="en-US" noProof="0" dirty="0"/>
                        <a:t>0</a:t>
                      </a:r>
                    </a:p>
                  </a:txBody>
                  <a:tcPr/>
                </a:tc>
                <a:tc>
                  <a:txBody>
                    <a:bodyPr/>
                    <a:lstStyle/>
                    <a:p>
                      <a:pPr algn="ctr"/>
                      <a:r>
                        <a:rPr lang="en-US" noProof="0" dirty="0"/>
                        <a:t>1</a:t>
                      </a:r>
                    </a:p>
                  </a:txBody>
                  <a:tcPr/>
                </a:tc>
                <a:tc>
                  <a:txBody>
                    <a:bodyPr/>
                    <a:lstStyle/>
                    <a:p>
                      <a:pPr algn="ctr"/>
                      <a:r>
                        <a:rPr lang="en-US" noProof="0" dirty="0"/>
                        <a:t>0</a:t>
                      </a:r>
                    </a:p>
                  </a:txBody>
                  <a:tcPr/>
                </a:tc>
                <a:tc>
                  <a:txBody>
                    <a:bodyPr/>
                    <a:lstStyle/>
                    <a:p>
                      <a:pPr algn="ctr"/>
                      <a:r>
                        <a:rPr lang="en-US" noProof="0" dirty="0"/>
                        <a:t>010</a:t>
                      </a:r>
                    </a:p>
                  </a:txBody>
                  <a:tcPr/>
                </a:tc>
                <a:extLst>
                  <a:ext uri="{0D108BD9-81ED-4DB2-BD59-A6C34878D82A}">
                    <a16:rowId xmlns:a16="http://schemas.microsoft.com/office/drawing/2014/main" val="2673469857"/>
                  </a:ext>
                </a:extLst>
              </a:tr>
              <a:tr h="370840">
                <a:tc>
                  <a:txBody>
                    <a:bodyPr/>
                    <a:lstStyle/>
                    <a:p>
                      <a:pPr algn="ctr"/>
                      <a:r>
                        <a:rPr lang="en-US" noProof="0" dirty="0"/>
                        <a:t>0</a:t>
                      </a:r>
                    </a:p>
                  </a:txBody>
                  <a:tcPr/>
                </a:tc>
                <a:tc>
                  <a:txBody>
                    <a:bodyPr/>
                    <a:lstStyle/>
                    <a:p>
                      <a:pPr algn="ctr"/>
                      <a:r>
                        <a:rPr lang="en-US" noProof="0" dirty="0"/>
                        <a:t>2</a:t>
                      </a:r>
                    </a:p>
                  </a:txBody>
                  <a:tcPr/>
                </a:tc>
                <a:tc>
                  <a:txBody>
                    <a:bodyPr/>
                    <a:lstStyle/>
                    <a:p>
                      <a:pPr algn="ctr"/>
                      <a:r>
                        <a:rPr lang="en-US" noProof="0" dirty="0"/>
                        <a:t>0</a:t>
                      </a:r>
                    </a:p>
                  </a:txBody>
                  <a:tcPr/>
                </a:tc>
                <a:tc>
                  <a:txBody>
                    <a:bodyPr/>
                    <a:lstStyle/>
                    <a:p>
                      <a:pPr algn="ctr"/>
                      <a:r>
                        <a:rPr lang="en-US" noProof="0" dirty="0"/>
                        <a:t>0110</a:t>
                      </a:r>
                    </a:p>
                  </a:txBody>
                  <a:tcPr/>
                </a:tc>
                <a:extLst>
                  <a:ext uri="{0D108BD9-81ED-4DB2-BD59-A6C34878D82A}">
                    <a16:rowId xmlns:a16="http://schemas.microsoft.com/office/drawing/2014/main" val="1865300941"/>
                  </a:ext>
                </a:extLst>
              </a:tr>
              <a:tr h="370840">
                <a:tc>
                  <a:txBody>
                    <a:bodyPr/>
                    <a:lstStyle/>
                    <a:p>
                      <a:pPr algn="ctr"/>
                      <a:r>
                        <a:rPr lang="en-US" noProof="0" dirty="0"/>
                        <a:t>1</a:t>
                      </a:r>
                    </a:p>
                  </a:txBody>
                  <a:tcPr/>
                </a:tc>
                <a:tc>
                  <a:txBody>
                    <a:bodyPr/>
                    <a:lstStyle/>
                    <a:p>
                      <a:pPr algn="ctr"/>
                      <a:r>
                        <a:rPr lang="en-US" noProof="0" dirty="0"/>
                        <a:t>0</a:t>
                      </a:r>
                    </a:p>
                  </a:txBody>
                  <a:tcPr/>
                </a:tc>
                <a:tc>
                  <a:txBody>
                    <a:bodyPr/>
                    <a:lstStyle/>
                    <a:p>
                      <a:pPr algn="ctr"/>
                      <a:r>
                        <a:rPr lang="en-US" noProof="0" dirty="0"/>
                        <a:t>0</a:t>
                      </a:r>
                    </a:p>
                  </a:txBody>
                  <a:tcPr/>
                </a:tc>
                <a:tc>
                  <a:txBody>
                    <a:bodyPr/>
                    <a:lstStyle/>
                    <a:p>
                      <a:pPr algn="ctr"/>
                      <a:r>
                        <a:rPr lang="en-US" noProof="0" dirty="0"/>
                        <a:t>100</a:t>
                      </a:r>
                    </a:p>
                  </a:txBody>
                  <a:tcPr/>
                </a:tc>
                <a:extLst>
                  <a:ext uri="{0D108BD9-81ED-4DB2-BD59-A6C34878D82A}">
                    <a16:rowId xmlns:a16="http://schemas.microsoft.com/office/drawing/2014/main" val="1271214401"/>
                  </a:ext>
                </a:extLst>
              </a:tr>
              <a:tr h="370840">
                <a:tc>
                  <a:txBody>
                    <a:bodyPr/>
                    <a:lstStyle/>
                    <a:p>
                      <a:pPr algn="ctr"/>
                      <a:r>
                        <a:rPr lang="en-US" noProof="0" dirty="0"/>
                        <a:t>3</a:t>
                      </a:r>
                    </a:p>
                  </a:txBody>
                  <a:tcPr/>
                </a:tc>
                <a:tc>
                  <a:txBody>
                    <a:bodyPr/>
                    <a:lstStyle/>
                    <a:p>
                      <a:pPr algn="ctr"/>
                      <a:r>
                        <a:rPr lang="en-US" noProof="0" dirty="0"/>
                        <a:t>2</a:t>
                      </a:r>
                    </a:p>
                  </a:txBody>
                  <a:tcPr/>
                </a:tc>
                <a:tc>
                  <a:txBody>
                    <a:bodyPr/>
                    <a:lstStyle/>
                    <a:p>
                      <a:pPr algn="ctr"/>
                      <a:r>
                        <a:rPr lang="en-US" noProof="0" dirty="0"/>
                        <a:t>4</a:t>
                      </a:r>
                    </a:p>
                  </a:txBody>
                  <a:tcPr/>
                </a:tc>
                <a:tc>
                  <a:txBody>
                    <a:bodyPr/>
                    <a:lstStyle/>
                    <a:p>
                      <a:pPr algn="ctr"/>
                      <a:r>
                        <a:rPr lang="en-US" noProof="0" dirty="0"/>
                        <a:t>11101101111</a:t>
                      </a:r>
                    </a:p>
                  </a:txBody>
                  <a:tcPr/>
                </a:tc>
                <a:extLst>
                  <a:ext uri="{0D108BD9-81ED-4DB2-BD59-A6C34878D82A}">
                    <a16:rowId xmlns:a16="http://schemas.microsoft.com/office/drawing/2014/main" val="3262647995"/>
                  </a:ext>
                </a:extLst>
              </a:tr>
            </a:tbl>
          </a:graphicData>
        </a:graphic>
      </p:graphicFrame>
      <p:sp>
        <p:nvSpPr>
          <p:cNvPr id="4" name="Serbest Form 3"/>
          <p:cNvSpPr/>
          <p:nvPr/>
        </p:nvSpPr>
        <p:spPr>
          <a:xfrm>
            <a:off x="1959429" y="3013997"/>
            <a:ext cx="3184071" cy="2815303"/>
          </a:xfrm>
          <a:custGeom>
            <a:avLst/>
            <a:gdLst>
              <a:gd name="connsiteX0" fmla="*/ 0 w 3184071"/>
              <a:gd name="connsiteY0" fmla="*/ 1865314 h 3740705"/>
              <a:gd name="connsiteX1" fmla="*/ 1551214 w 3184071"/>
              <a:gd name="connsiteY1" fmla="*/ 3694114 h 3740705"/>
              <a:gd name="connsiteX2" fmla="*/ 2726871 w 3184071"/>
              <a:gd name="connsiteY2" fmla="*/ 167142 h 3740705"/>
              <a:gd name="connsiteX3" fmla="*/ 3184071 w 3184071"/>
              <a:gd name="connsiteY3" fmla="*/ 591685 h 3740705"/>
            </a:gdLst>
            <a:ahLst/>
            <a:cxnLst>
              <a:cxn ang="0">
                <a:pos x="connsiteX0" y="connsiteY0"/>
              </a:cxn>
              <a:cxn ang="0">
                <a:pos x="connsiteX1" y="connsiteY1"/>
              </a:cxn>
              <a:cxn ang="0">
                <a:pos x="connsiteX2" y="connsiteY2"/>
              </a:cxn>
              <a:cxn ang="0">
                <a:pos x="connsiteX3" y="connsiteY3"/>
              </a:cxn>
            </a:cxnLst>
            <a:rect l="l" t="t" r="r" b="b"/>
            <a:pathLst>
              <a:path w="3184071" h="3740705">
                <a:moveTo>
                  <a:pt x="0" y="1865314"/>
                </a:moveTo>
                <a:cubicBezTo>
                  <a:pt x="548368" y="2921228"/>
                  <a:pt x="1096736" y="3977143"/>
                  <a:pt x="1551214" y="3694114"/>
                </a:cubicBezTo>
                <a:cubicBezTo>
                  <a:pt x="2005693" y="3411085"/>
                  <a:pt x="2454728" y="684213"/>
                  <a:pt x="2726871" y="167142"/>
                </a:cubicBezTo>
                <a:cubicBezTo>
                  <a:pt x="2999014" y="-349929"/>
                  <a:pt x="3116035" y="488271"/>
                  <a:pt x="3184071" y="591685"/>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US">
              <a:solidFill>
                <a:srgbClr val="FF0000"/>
              </a:solidFill>
            </a:endParaRPr>
          </a:p>
        </p:txBody>
      </p:sp>
      <p:sp>
        <p:nvSpPr>
          <p:cNvPr id="6" name="Serbest Form 5"/>
          <p:cNvSpPr/>
          <p:nvPr/>
        </p:nvSpPr>
        <p:spPr>
          <a:xfrm>
            <a:off x="3278584" y="3019436"/>
            <a:ext cx="3184071" cy="2815303"/>
          </a:xfrm>
          <a:custGeom>
            <a:avLst/>
            <a:gdLst>
              <a:gd name="connsiteX0" fmla="*/ 0 w 3184071"/>
              <a:gd name="connsiteY0" fmla="*/ 1865314 h 3740705"/>
              <a:gd name="connsiteX1" fmla="*/ 1551214 w 3184071"/>
              <a:gd name="connsiteY1" fmla="*/ 3694114 h 3740705"/>
              <a:gd name="connsiteX2" fmla="*/ 2726871 w 3184071"/>
              <a:gd name="connsiteY2" fmla="*/ 167142 h 3740705"/>
              <a:gd name="connsiteX3" fmla="*/ 3184071 w 3184071"/>
              <a:gd name="connsiteY3" fmla="*/ 591685 h 3740705"/>
            </a:gdLst>
            <a:ahLst/>
            <a:cxnLst>
              <a:cxn ang="0">
                <a:pos x="connsiteX0" y="connsiteY0"/>
              </a:cxn>
              <a:cxn ang="0">
                <a:pos x="connsiteX1" y="connsiteY1"/>
              </a:cxn>
              <a:cxn ang="0">
                <a:pos x="connsiteX2" y="connsiteY2"/>
              </a:cxn>
              <a:cxn ang="0">
                <a:pos x="connsiteX3" y="connsiteY3"/>
              </a:cxn>
            </a:cxnLst>
            <a:rect l="l" t="t" r="r" b="b"/>
            <a:pathLst>
              <a:path w="3184071" h="3740705">
                <a:moveTo>
                  <a:pt x="0" y="1865314"/>
                </a:moveTo>
                <a:cubicBezTo>
                  <a:pt x="548368" y="2921228"/>
                  <a:pt x="1096736" y="3977143"/>
                  <a:pt x="1551214" y="3694114"/>
                </a:cubicBezTo>
                <a:cubicBezTo>
                  <a:pt x="2005693" y="3411085"/>
                  <a:pt x="2454728" y="684213"/>
                  <a:pt x="2726871" y="167142"/>
                </a:cubicBezTo>
                <a:cubicBezTo>
                  <a:pt x="2999014" y="-349929"/>
                  <a:pt x="3116035" y="488271"/>
                  <a:pt x="3184071" y="591685"/>
                </a:cubicBezTo>
              </a:path>
            </a:pathLst>
          </a:custGeom>
          <a:ln>
            <a:prstDash val="sysDot"/>
          </a:ln>
        </p:spPr>
        <p:style>
          <a:lnRef idx="1">
            <a:schemeClr val="dk1"/>
          </a:lnRef>
          <a:fillRef idx="0">
            <a:schemeClr val="dk1"/>
          </a:fillRef>
          <a:effectRef idx="0">
            <a:schemeClr val="dk1"/>
          </a:effectRef>
          <a:fontRef idx="minor">
            <a:schemeClr val="tx1"/>
          </a:fontRef>
        </p:style>
        <p:txBody>
          <a:bodyPr rtlCol="0" anchor="ctr"/>
          <a:lstStyle/>
          <a:p>
            <a:pPr algn="ctr"/>
            <a:endParaRPr lang="en-US">
              <a:solidFill>
                <a:srgbClr val="FF0000"/>
              </a:solidFill>
            </a:endParaRPr>
          </a:p>
        </p:txBody>
      </p:sp>
      <p:sp>
        <p:nvSpPr>
          <p:cNvPr id="8" name="Serbest Form 7"/>
          <p:cNvSpPr/>
          <p:nvPr/>
        </p:nvSpPr>
        <p:spPr>
          <a:xfrm>
            <a:off x="2615045" y="3019436"/>
            <a:ext cx="3184071" cy="2815303"/>
          </a:xfrm>
          <a:custGeom>
            <a:avLst/>
            <a:gdLst>
              <a:gd name="connsiteX0" fmla="*/ 0 w 3184071"/>
              <a:gd name="connsiteY0" fmla="*/ 1865314 h 3740705"/>
              <a:gd name="connsiteX1" fmla="*/ 1551214 w 3184071"/>
              <a:gd name="connsiteY1" fmla="*/ 3694114 h 3740705"/>
              <a:gd name="connsiteX2" fmla="*/ 2726871 w 3184071"/>
              <a:gd name="connsiteY2" fmla="*/ 167142 h 3740705"/>
              <a:gd name="connsiteX3" fmla="*/ 3184071 w 3184071"/>
              <a:gd name="connsiteY3" fmla="*/ 591685 h 3740705"/>
            </a:gdLst>
            <a:ahLst/>
            <a:cxnLst>
              <a:cxn ang="0">
                <a:pos x="connsiteX0" y="connsiteY0"/>
              </a:cxn>
              <a:cxn ang="0">
                <a:pos x="connsiteX1" y="connsiteY1"/>
              </a:cxn>
              <a:cxn ang="0">
                <a:pos x="connsiteX2" y="connsiteY2"/>
              </a:cxn>
              <a:cxn ang="0">
                <a:pos x="connsiteX3" y="connsiteY3"/>
              </a:cxn>
            </a:cxnLst>
            <a:rect l="l" t="t" r="r" b="b"/>
            <a:pathLst>
              <a:path w="3184071" h="3740705">
                <a:moveTo>
                  <a:pt x="0" y="1865314"/>
                </a:moveTo>
                <a:cubicBezTo>
                  <a:pt x="548368" y="2921228"/>
                  <a:pt x="1096736" y="3977143"/>
                  <a:pt x="1551214" y="3694114"/>
                </a:cubicBezTo>
                <a:cubicBezTo>
                  <a:pt x="2005693" y="3411085"/>
                  <a:pt x="2454728" y="684213"/>
                  <a:pt x="2726871" y="167142"/>
                </a:cubicBezTo>
                <a:cubicBezTo>
                  <a:pt x="2999014" y="-349929"/>
                  <a:pt x="3116035" y="488271"/>
                  <a:pt x="3184071" y="591685"/>
                </a:cubicBezTo>
              </a:path>
            </a:pathLst>
          </a:custGeom>
          <a:ln>
            <a:prstDash val="sysDash"/>
          </a:ln>
        </p:spPr>
        <p:style>
          <a:lnRef idx="1">
            <a:schemeClr val="dk1"/>
          </a:lnRef>
          <a:fillRef idx="0">
            <a:schemeClr val="dk1"/>
          </a:fillRef>
          <a:effectRef idx="0">
            <a:schemeClr val="dk1"/>
          </a:effectRef>
          <a:fontRef idx="minor">
            <a:schemeClr val="tx1"/>
          </a:fontRef>
        </p:style>
        <p:txBody>
          <a:bodyPr rtlCol="0" anchor="ctr"/>
          <a:lstStyle/>
          <a:p>
            <a:pPr algn="ctr"/>
            <a:endParaRPr lang="en-US">
              <a:solidFill>
                <a:srgbClr val="FF0000"/>
              </a:solidFill>
            </a:endParaRPr>
          </a:p>
        </p:txBody>
      </p:sp>
      <p:sp>
        <p:nvSpPr>
          <p:cNvPr id="9" name="Yuvarlatılmış Dikdörtgen 8"/>
          <p:cNvSpPr/>
          <p:nvPr/>
        </p:nvSpPr>
        <p:spPr>
          <a:xfrm>
            <a:off x="4592782" y="5956957"/>
            <a:ext cx="4027621" cy="342900"/>
          </a:xfrm>
          <a:prstGeom prst="roundRect">
            <a:avLst/>
          </a:prstGeom>
          <a:solidFill>
            <a:srgbClr val="FFFF00">
              <a:alpha val="30000"/>
            </a:srgb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Yuvarlatılmış Dikdörtgen 9"/>
          <p:cNvSpPr/>
          <p:nvPr/>
        </p:nvSpPr>
        <p:spPr>
          <a:xfrm>
            <a:off x="4592782" y="3733305"/>
            <a:ext cx="4027621" cy="342900"/>
          </a:xfrm>
          <a:prstGeom prst="roundRect">
            <a:avLst/>
          </a:prstGeom>
          <a:solidFill>
            <a:srgbClr val="FFFF00">
              <a:alpha val="30000"/>
            </a:srgb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442593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517864A-F47D-2507-8442-849E1B143425}"/>
              </a:ext>
            </a:extLst>
          </p:cNvPr>
          <p:cNvSpPr>
            <a:spLocks noGrp="1"/>
          </p:cNvSpPr>
          <p:nvPr>
            <p:ph idx="1"/>
          </p:nvPr>
        </p:nvSpPr>
        <p:spPr>
          <a:xfrm>
            <a:off x="1593460" y="1637414"/>
            <a:ext cx="9760340" cy="4539549"/>
          </a:xfrm>
        </p:spPr>
        <p:txBody>
          <a:bodyPr anchor="t" anchorCtr="0">
            <a:normAutofit/>
          </a:bodyPr>
          <a:lstStyle/>
          <a:p>
            <a:pPr marL="0" indent="0">
              <a:buNone/>
            </a:pPr>
            <a:r>
              <a:rPr lang="en-US" sz="2600" dirty="0"/>
              <a:t>The language {w : w contains at least two 0s} is described by the following</a:t>
            </a:r>
            <a:r>
              <a:rPr lang="tr-TR" sz="2600" dirty="0"/>
              <a:t> </a:t>
            </a:r>
            <a:r>
              <a:rPr lang="en-US" sz="2600" dirty="0"/>
              <a:t>expression</a:t>
            </a:r>
            <a:endParaRPr lang="tr-TR" sz="2600" dirty="0"/>
          </a:p>
          <a:p>
            <a:pPr marL="0" indent="0">
              <a:buNone/>
            </a:pPr>
            <a:endParaRPr lang="tr-TR" sz="2600" dirty="0"/>
          </a:p>
          <a:p>
            <a:pPr marL="0" indent="0" algn="ctr">
              <a:buNone/>
            </a:pPr>
            <a:r>
              <a:rPr lang="tr-TR" sz="3200" dirty="0"/>
              <a:t>(0 U </a:t>
            </a:r>
            <a:r>
              <a:rPr lang="en-US" sz="3200" dirty="0"/>
              <a:t>1</a:t>
            </a:r>
            <a:r>
              <a:rPr lang="tr-TR" sz="3200" dirty="0"/>
              <a:t>)* </a:t>
            </a:r>
            <a:r>
              <a:rPr lang="en-US" sz="3200" dirty="0">
                <a:solidFill>
                  <a:srgbClr val="FF0000"/>
                </a:solidFill>
              </a:rPr>
              <a:t>0</a:t>
            </a:r>
            <a:r>
              <a:rPr lang="tr-TR" sz="3200" dirty="0">
                <a:solidFill>
                  <a:srgbClr val="FF0000"/>
                </a:solidFill>
              </a:rPr>
              <a:t> </a:t>
            </a:r>
            <a:r>
              <a:rPr lang="tr-TR" sz="3200" dirty="0"/>
              <a:t>(0 U </a:t>
            </a:r>
            <a:r>
              <a:rPr lang="en-US" sz="3200" dirty="0"/>
              <a:t>1</a:t>
            </a:r>
            <a:r>
              <a:rPr lang="tr-TR" sz="3200" dirty="0"/>
              <a:t>)* </a:t>
            </a:r>
            <a:r>
              <a:rPr lang="en-US" sz="3200" dirty="0">
                <a:solidFill>
                  <a:srgbClr val="FF0000"/>
                </a:solidFill>
              </a:rPr>
              <a:t>0</a:t>
            </a:r>
            <a:r>
              <a:rPr lang="tr-TR" sz="3200" dirty="0">
                <a:solidFill>
                  <a:srgbClr val="FF0000"/>
                </a:solidFill>
              </a:rPr>
              <a:t> </a:t>
            </a:r>
            <a:r>
              <a:rPr lang="tr-TR" sz="3200" dirty="0"/>
              <a:t>(0 U </a:t>
            </a:r>
            <a:r>
              <a:rPr lang="en-US" sz="3200" dirty="0"/>
              <a:t>1</a:t>
            </a:r>
            <a:r>
              <a:rPr lang="tr-TR" sz="3200" dirty="0"/>
              <a:t>)*</a:t>
            </a:r>
          </a:p>
          <a:p>
            <a:pPr marL="0" indent="0" algn="ctr">
              <a:buNone/>
            </a:pPr>
            <a:endParaRPr lang="tr-TR" sz="3200" dirty="0"/>
          </a:p>
          <a:p>
            <a:pPr marL="0" indent="0">
              <a:buNone/>
            </a:pPr>
            <a:r>
              <a:rPr lang="en-US" sz="2600" dirty="0">
                <a:solidFill>
                  <a:prstClr val="black">
                    <a:lumMod val="75000"/>
                    <a:lumOff val="25000"/>
                  </a:prstClr>
                </a:solidFill>
              </a:rPr>
              <a:t>In this example, we should guarantee at</a:t>
            </a:r>
            <a:r>
              <a:rPr lang="tr-TR" sz="2600" dirty="0">
                <a:solidFill>
                  <a:prstClr val="black">
                    <a:lumMod val="75000"/>
                    <a:lumOff val="25000"/>
                  </a:prstClr>
                </a:solidFill>
              </a:rPr>
              <a:t> </a:t>
            </a:r>
            <a:r>
              <a:rPr lang="en-US" sz="2600" dirty="0">
                <a:solidFill>
                  <a:prstClr val="black">
                    <a:lumMod val="75000"/>
                    <a:lumOff val="25000"/>
                  </a:prstClr>
                </a:solidFill>
              </a:rPr>
              <a:t>least two zeros in</a:t>
            </a:r>
            <a:r>
              <a:rPr lang="tr-TR" sz="2600" dirty="0">
                <a:solidFill>
                  <a:prstClr val="black">
                    <a:lumMod val="75000"/>
                    <a:lumOff val="25000"/>
                  </a:prstClr>
                </a:solidFill>
              </a:rPr>
              <a:t> </a:t>
            </a:r>
            <a:r>
              <a:rPr lang="en-US" sz="2600" dirty="0">
                <a:solidFill>
                  <a:prstClr val="black">
                    <a:lumMod val="75000"/>
                    <a:lumOff val="25000"/>
                  </a:prstClr>
                </a:solidFill>
              </a:rPr>
              <a:t>anywhere </a:t>
            </a:r>
            <a:r>
              <a:rPr lang="tr-TR" sz="2600" dirty="0">
                <a:solidFill>
                  <a:prstClr val="black">
                    <a:lumMod val="75000"/>
                    <a:lumOff val="25000"/>
                  </a:prstClr>
                </a:solidFill>
              </a:rPr>
              <a:t>in</a:t>
            </a:r>
            <a:r>
              <a:rPr lang="en-US" sz="2600" dirty="0">
                <a:solidFill>
                  <a:prstClr val="black">
                    <a:lumMod val="75000"/>
                    <a:lumOff val="25000"/>
                  </a:prstClr>
                </a:solidFill>
              </a:rPr>
              <a:t> the string. In the answer of the previous question, 1*'s will be replaced with (0 U 1)*.</a:t>
            </a:r>
            <a:r>
              <a:rPr lang="tr-TR" sz="2600" dirty="0">
                <a:solidFill>
                  <a:prstClr val="black">
                    <a:lumMod val="75000"/>
                    <a:lumOff val="25000"/>
                  </a:prstClr>
                </a:solidFill>
              </a:rPr>
              <a:t> </a:t>
            </a:r>
            <a:endParaRPr lang="en-US" sz="2600" dirty="0"/>
          </a:p>
        </p:txBody>
      </p:sp>
      <p:sp>
        <p:nvSpPr>
          <p:cNvPr id="9" name="Unvan 5"/>
          <p:cNvSpPr txBox="1">
            <a:spLocks/>
          </p:cNvSpPr>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A </a:t>
            </a:r>
            <a:r>
              <a:rPr lang="en-US" dirty="0">
                <a:solidFill>
                  <a:schemeClr val="tx1"/>
                </a:solidFill>
              </a:rPr>
              <a:t>third</a:t>
            </a:r>
            <a:r>
              <a:rPr lang="en-US" dirty="0"/>
              <a:t> example</a:t>
            </a:r>
          </a:p>
        </p:txBody>
      </p:sp>
    </p:spTree>
    <p:extLst>
      <p:ext uri="{BB962C8B-B14F-4D97-AF65-F5344CB8AC3E}">
        <p14:creationId xmlns:p14="http://schemas.microsoft.com/office/powerpoint/2010/main" val="10492925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39D389ED-23BE-D02A-5F50-E76B12995137}"/>
              </a:ext>
            </a:extLst>
          </p:cNvPr>
          <p:cNvSpPr>
            <a:spLocks noGrp="1"/>
          </p:cNvSpPr>
          <p:nvPr>
            <p:ph idx="1"/>
          </p:nvPr>
        </p:nvSpPr>
        <p:spPr>
          <a:xfrm>
            <a:off x="1593460" y="1509824"/>
            <a:ext cx="9760340" cy="4667140"/>
          </a:xfrm>
        </p:spPr>
        <p:txBody>
          <a:bodyPr anchor="t" anchorCtr="0">
            <a:normAutofit/>
          </a:bodyPr>
          <a:lstStyle/>
          <a:p>
            <a:pPr marL="0" indent="0">
              <a:buNone/>
            </a:pPr>
            <a:r>
              <a:rPr lang="en-US" sz="2400" dirty="0"/>
              <a:t>The language {w : 1011 is a substring of w} is described by the expression</a:t>
            </a:r>
          </a:p>
          <a:p>
            <a:pPr marL="0" indent="0" algn="ctr">
              <a:buNone/>
            </a:pPr>
            <a:r>
              <a:rPr lang="en-US" sz="3200" dirty="0"/>
              <a:t>(0 U 1)* </a:t>
            </a:r>
            <a:r>
              <a:rPr lang="en-US" sz="3200" dirty="0">
                <a:solidFill>
                  <a:srgbClr val="FF0000"/>
                </a:solidFill>
              </a:rPr>
              <a:t>1011</a:t>
            </a:r>
            <a:r>
              <a:rPr lang="en-US" sz="3200" dirty="0"/>
              <a:t> (0 U 1)*</a:t>
            </a:r>
          </a:p>
          <a:p>
            <a:pPr marL="0" indent="0">
              <a:buNone/>
            </a:pPr>
            <a:endParaRPr lang="en-US" sz="2400" dirty="0"/>
          </a:p>
          <a:p>
            <a:pPr marL="0" indent="0">
              <a:buNone/>
            </a:pPr>
            <a:r>
              <a:rPr lang="en-US" sz="2400" dirty="0"/>
              <a:t>Here, when </a:t>
            </a:r>
            <a:r>
              <a:rPr lang="en-US" sz="2400" dirty="0">
                <a:solidFill>
                  <a:prstClr val="black">
                    <a:lumMod val="75000"/>
                    <a:lumOff val="25000"/>
                  </a:prstClr>
                </a:solidFill>
              </a:rPr>
              <a:t>we guarantee 1011 as a substring, it doesn’t matter. The string can start and also end with any substring.</a:t>
            </a:r>
            <a:endParaRPr lang="tr-TR" sz="2400" dirty="0">
              <a:solidFill>
                <a:prstClr val="black">
                  <a:lumMod val="75000"/>
                  <a:lumOff val="25000"/>
                </a:prstClr>
              </a:solidFill>
            </a:endParaRPr>
          </a:p>
          <a:p>
            <a:pPr marL="0" indent="0">
              <a:buNone/>
            </a:pPr>
            <a:endParaRPr lang="tr-TR" sz="2400" dirty="0">
              <a:solidFill>
                <a:prstClr val="black">
                  <a:lumMod val="75000"/>
                  <a:lumOff val="25000"/>
                </a:prstClr>
              </a:solidFill>
            </a:endParaRPr>
          </a:p>
        </p:txBody>
      </p:sp>
      <p:sp>
        <p:nvSpPr>
          <p:cNvPr id="8" name="Unvan 5"/>
          <p:cNvSpPr txBox="1">
            <a:spLocks/>
          </p:cNvSpPr>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A fourth example</a:t>
            </a:r>
          </a:p>
        </p:txBody>
      </p:sp>
    </p:spTree>
    <p:extLst>
      <p:ext uri="{BB962C8B-B14F-4D97-AF65-F5344CB8AC3E}">
        <p14:creationId xmlns:p14="http://schemas.microsoft.com/office/powerpoint/2010/main" val="29859120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Unvan 5"/>
          <p:cNvSpPr txBox="1">
            <a:spLocks/>
          </p:cNvSpPr>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A other examples</a:t>
            </a:r>
          </a:p>
        </p:txBody>
      </p:sp>
      <p:pic>
        <p:nvPicPr>
          <p:cNvPr id="4" name="Resim 3"/>
          <p:cNvPicPr>
            <a:picLocks noChangeAspect="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1593459" y="1264555"/>
            <a:ext cx="9517878" cy="5593445"/>
          </a:xfrm>
          <a:prstGeom prst="rect">
            <a:avLst/>
          </a:prstGeom>
        </p:spPr>
      </p:pic>
    </p:spTree>
    <p:extLst>
      <p:ext uri="{BB962C8B-B14F-4D97-AF65-F5344CB8AC3E}">
        <p14:creationId xmlns:p14="http://schemas.microsoft.com/office/powerpoint/2010/main" val="5121540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normAutofit/>
          </a:bodyPr>
          <a:lstStyle/>
          <a:p>
            <a:endParaRPr lang="en-US" sz="2800"/>
          </a:p>
          <a:p>
            <a:r>
              <a:rPr lang="en-US" sz="2800"/>
              <a:t>That’s all.</a:t>
            </a:r>
          </a:p>
          <a:p>
            <a:endParaRPr lang="en-US" sz="2800"/>
          </a:p>
          <a:p>
            <a:r>
              <a:rPr lang="en-US" altLang="tr-TR" sz="2800"/>
              <a:t>Thanks for listening.</a:t>
            </a:r>
          </a:p>
        </p:txBody>
      </p:sp>
    </p:spTree>
    <p:extLst>
      <p:ext uri="{BB962C8B-B14F-4D97-AF65-F5344CB8AC3E}">
        <p14:creationId xmlns:p14="http://schemas.microsoft.com/office/powerpoint/2010/main" val="999634771"/>
      </p:ext>
    </p:extLst>
  </p:cSld>
  <p:clrMapOvr>
    <a:masterClrMapping/>
  </p:clrMapOvr>
</p:sld>
</file>

<file path=ppt/theme/theme1.xml><?xml version="1.0" encoding="utf-8"?>
<a:theme xmlns:a="http://schemas.openxmlformats.org/drawingml/2006/main" name="Duman">
  <a:themeElements>
    <a:clrScheme name="Turuncu Kırmızı">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Duman">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uman">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1103</TotalTime>
  <Words>1549</Words>
  <Application>Microsoft Macintosh PowerPoint</Application>
  <PresentationFormat>Geniş ekran</PresentationFormat>
  <Paragraphs>157</Paragraphs>
  <Slides>13</Slides>
  <Notes>13</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13</vt:i4>
      </vt:variant>
    </vt:vector>
  </HeadingPairs>
  <TitlesOfParts>
    <vt:vector size="19" baseType="lpstr">
      <vt:lpstr>Arial</vt:lpstr>
      <vt:lpstr>Calibri</vt:lpstr>
      <vt:lpstr>Century Gothic</vt:lpstr>
      <vt:lpstr>Wingdings</vt:lpstr>
      <vt:lpstr>Wingdings 3</vt:lpstr>
      <vt:lpstr>Duman</vt:lpstr>
      <vt:lpstr> Theory of Computation  Lesson 4</vt:lpstr>
      <vt:lpstr>Regular Language Tools</vt:lpstr>
      <vt:lpstr>Regular Operations</vt:lpstr>
      <vt:lpstr>Regular Operations</vt:lpstr>
      <vt:lpstr>An Example</vt:lpstr>
      <vt:lpstr>Formal Definition</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Theory of Computation</dc:title>
  <dc:creator>Prof.Dr. Umut ORHAN</dc:creator>
  <cp:lastModifiedBy>Prof.Dr. Umut ORHAN</cp:lastModifiedBy>
  <cp:revision>64</cp:revision>
  <dcterms:created xsi:type="dcterms:W3CDTF">2022-09-29T06:50:07Z</dcterms:created>
  <dcterms:modified xsi:type="dcterms:W3CDTF">2025-11-21T06:55:28Z</dcterms:modified>
</cp:coreProperties>
</file>