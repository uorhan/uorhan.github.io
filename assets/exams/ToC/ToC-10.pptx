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23"/>
  </p:notesMasterIdLst>
  <p:sldIdLst>
    <p:sldId id="284" r:id="rId2"/>
    <p:sldId id="369" r:id="rId3"/>
    <p:sldId id="307" r:id="rId4"/>
    <p:sldId id="370" r:id="rId5"/>
    <p:sldId id="371" r:id="rId6"/>
    <p:sldId id="348" r:id="rId7"/>
    <p:sldId id="349" r:id="rId8"/>
    <p:sldId id="352" r:id="rId9"/>
    <p:sldId id="285" r:id="rId10"/>
    <p:sldId id="313" r:id="rId11"/>
    <p:sldId id="353" r:id="rId12"/>
    <p:sldId id="354" r:id="rId13"/>
    <p:sldId id="355" r:id="rId14"/>
    <p:sldId id="372" r:id="rId15"/>
    <p:sldId id="286" r:id="rId16"/>
    <p:sldId id="357" r:id="rId17"/>
    <p:sldId id="358" r:id="rId18"/>
    <p:sldId id="359" r:id="rId19"/>
    <p:sldId id="373" r:id="rId20"/>
    <p:sldId id="321" r:id="rId21"/>
    <p:sldId id="37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B"/>
    <a:srgbClr val="CCFF99"/>
    <a:srgbClr val="4F75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3670" autoAdjust="0"/>
  </p:normalViewPr>
  <p:slideViewPr>
    <p:cSldViewPr snapToGrid="0">
      <p:cViewPr varScale="1">
        <p:scale>
          <a:sx n="87" d="100"/>
          <a:sy n="87" d="100"/>
        </p:scale>
        <p:origin x="1984" y="200"/>
      </p:cViewPr>
      <p:guideLst/>
    </p:cSldViewPr>
  </p:slideViewPr>
  <p:outlineViewPr>
    <p:cViewPr>
      <p:scale>
        <a:sx n="33" d="100"/>
        <a:sy n="33" d="100"/>
      </p:scale>
      <p:origin x="0" y="-54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DDE67-59A0-3C4A-890A-468253F431D6}" type="datetimeFigureOut">
              <a:rPr lang="tr-TR" smtClean="0"/>
              <a:t>21.11.2025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49F921-94E2-2146-8BC6-089D7989E1CD}" type="slidenum">
              <a:rPr lang="tr-TR" smtClean="0"/>
              <a:t>‹#›</a:t>
            </a:fld>
            <a:endParaRPr lang="tr-TR"/>
          </a:p>
        </p:txBody>
      </p:sp>
    </p:spTree>
    <p:extLst>
      <p:ext uri="{BB962C8B-B14F-4D97-AF65-F5344CB8AC3E}">
        <p14:creationId xmlns:p14="http://schemas.microsoft.com/office/powerpoint/2010/main" val="4031870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a:t>This is lesson </a:t>
            </a:r>
            <a:r>
              <a:rPr lang="tr-TR" noProof="0" dirty="0"/>
              <a:t>ten </a:t>
            </a:r>
            <a:r>
              <a:rPr lang="en-US" noProof="0" dirty="0"/>
              <a:t>in Theory of Computation. We start to the new chapter </a:t>
            </a:r>
            <a:r>
              <a:rPr lang="tr-TR" noProof="0" dirty="0" err="1"/>
              <a:t>called</a:t>
            </a:r>
            <a:r>
              <a:rPr lang="tr-TR" baseline="0" noProof="0" dirty="0"/>
              <a:t> as </a:t>
            </a:r>
            <a:r>
              <a:rPr lang="en-US" noProof="0" dirty="0"/>
              <a:t>Turing Machines. </a:t>
            </a:r>
            <a:r>
              <a:rPr lang="tr-TR" noProof="0" dirty="0" err="1"/>
              <a:t>In</a:t>
            </a:r>
            <a:r>
              <a:rPr lang="tr-TR" noProof="0" dirty="0"/>
              <a:t> </a:t>
            </a:r>
            <a:r>
              <a:rPr lang="tr-TR" noProof="0" dirty="0" err="1"/>
              <a:t>this</a:t>
            </a:r>
            <a:r>
              <a:rPr lang="tr-TR" noProof="0" dirty="0"/>
              <a:t> </a:t>
            </a:r>
            <a:r>
              <a:rPr lang="tr-TR" noProof="0" dirty="0" err="1"/>
              <a:t>lesson</a:t>
            </a:r>
            <a:r>
              <a:rPr lang="en-US" noProof="0" dirty="0"/>
              <a:t>, we will learn Turing Machines.</a:t>
            </a:r>
          </a:p>
        </p:txBody>
      </p:sp>
      <p:sp>
        <p:nvSpPr>
          <p:cNvPr id="4" name="Slayt Numarası Yer Tutucusu 3"/>
          <p:cNvSpPr>
            <a:spLocks noGrp="1"/>
          </p:cNvSpPr>
          <p:nvPr>
            <p:ph type="sldNum" sz="quarter" idx="10"/>
          </p:nvPr>
        </p:nvSpPr>
        <p:spPr/>
        <p:txBody>
          <a:bodyPr/>
          <a:lstStyle/>
          <a:p>
            <a:fld id="{6049F921-94E2-2146-8BC6-089D7989E1CD}" type="slidenum">
              <a:rPr lang="tr-TR" smtClean="0"/>
              <a:t>1</a:t>
            </a:fld>
            <a:endParaRPr lang="tr-TR"/>
          </a:p>
        </p:txBody>
      </p:sp>
    </p:spTree>
    <p:extLst>
      <p:ext uri="{BB962C8B-B14F-4D97-AF65-F5344CB8AC3E}">
        <p14:creationId xmlns:p14="http://schemas.microsoft.com/office/powerpoint/2010/main" val="2892103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Turing machines were invented by Alan Turing in 1936. He proved that any mathematical problem imaginable can be solved using such a machine, if it can be represented by an algorithm. </a:t>
            </a:r>
          </a:p>
        </p:txBody>
      </p:sp>
      <p:sp>
        <p:nvSpPr>
          <p:cNvPr id="4" name="Slayt Numarası Yer Tutucusu 3"/>
          <p:cNvSpPr>
            <a:spLocks noGrp="1"/>
          </p:cNvSpPr>
          <p:nvPr>
            <p:ph type="sldNum" sz="quarter" idx="10"/>
          </p:nvPr>
        </p:nvSpPr>
        <p:spPr/>
        <p:txBody>
          <a:bodyPr/>
          <a:lstStyle/>
          <a:p>
            <a:fld id="{6049F921-94E2-2146-8BC6-089D7989E1CD}" type="slidenum">
              <a:rPr lang="tr-TR" smtClean="0"/>
              <a:t>2</a:t>
            </a:fld>
            <a:endParaRPr lang="tr-TR"/>
          </a:p>
        </p:txBody>
      </p:sp>
    </p:spTree>
    <p:extLst>
      <p:ext uri="{BB962C8B-B14F-4D97-AF65-F5344CB8AC3E}">
        <p14:creationId xmlns:p14="http://schemas.microsoft.com/office/powerpoint/2010/main" val="1693972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The whole world then got to know Alan Turing better with the Bombe machine in 1940 that cracked the Enigma codes.</a:t>
            </a:r>
          </a:p>
        </p:txBody>
      </p:sp>
      <p:sp>
        <p:nvSpPr>
          <p:cNvPr id="4" name="Slayt Numarası Yer Tutucusu 3"/>
          <p:cNvSpPr>
            <a:spLocks noGrp="1"/>
          </p:cNvSpPr>
          <p:nvPr>
            <p:ph type="sldNum" sz="quarter" idx="10"/>
          </p:nvPr>
        </p:nvSpPr>
        <p:spPr/>
        <p:txBody>
          <a:bodyPr/>
          <a:lstStyle/>
          <a:p>
            <a:fld id="{6049F921-94E2-2146-8BC6-089D7989E1CD}" type="slidenum">
              <a:rPr lang="tr-TR" smtClean="0"/>
              <a:t>3</a:t>
            </a:fld>
            <a:endParaRPr lang="tr-TR"/>
          </a:p>
        </p:txBody>
      </p:sp>
    </p:spTree>
    <p:extLst>
      <p:ext uri="{BB962C8B-B14F-4D97-AF65-F5344CB8AC3E}">
        <p14:creationId xmlns:p14="http://schemas.microsoft.com/office/powerpoint/2010/main" val="2589314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Thanks to this experience, programmable electrical machines began to appear. While devices such as the ABC in 1942 and the Colossus in 1943 were exciting, the ENIAC completed in 1946 is considered the first digital computer. Therefore, we can say that the idea of Turing Machines actually played the most important role in the theoretical formation of today's computers.</a:t>
            </a:r>
          </a:p>
        </p:txBody>
      </p:sp>
      <p:sp>
        <p:nvSpPr>
          <p:cNvPr id="4" name="Slayt Numarası Yer Tutucusu 3"/>
          <p:cNvSpPr>
            <a:spLocks noGrp="1"/>
          </p:cNvSpPr>
          <p:nvPr>
            <p:ph type="sldNum" sz="quarter" idx="10"/>
          </p:nvPr>
        </p:nvSpPr>
        <p:spPr/>
        <p:txBody>
          <a:bodyPr/>
          <a:lstStyle/>
          <a:p>
            <a:fld id="{6049F921-94E2-2146-8BC6-089D7989E1CD}" type="slidenum">
              <a:rPr lang="tr-TR" smtClean="0"/>
              <a:t>4</a:t>
            </a:fld>
            <a:endParaRPr lang="tr-TR"/>
          </a:p>
        </p:txBody>
      </p:sp>
    </p:spTree>
    <p:extLst>
      <p:ext uri="{BB962C8B-B14F-4D97-AF65-F5344CB8AC3E}">
        <p14:creationId xmlns:p14="http://schemas.microsoft.com/office/powerpoint/2010/main" val="3820224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Let's start by getting to know the Turing Machines, which form the basis of the computers we use today.</a:t>
            </a:r>
          </a:p>
          <a:p>
            <a:endParaRPr lang="en-US" dirty="0"/>
          </a:p>
          <a:p>
            <a:r>
              <a:rPr lang="en-US" dirty="0"/>
              <a:t>A Turing machine is an abstract computational model that performs computations by reading and writing to an infinite tape. It provides a powerful computational model for solving problems in computer science and testing the limits of computation. </a:t>
            </a:r>
          </a:p>
          <a:p>
            <a:endParaRPr lang="en-US" dirty="0"/>
          </a:p>
          <a:p>
            <a:r>
              <a:rPr lang="en-US" dirty="0"/>
              <a:t>Although Turing machines are similar to finite automata, because of infinite length writable tape, have the advantage of unlimited memory.</a:t>
            </a:r>
          </a:p>
        </p:txBody>
      </p:sp>
      <p:sp>
        <p:nvSpPr>
          <p:cNvPr id="4" name="Slayt Numarası Yer Tutucusu 3"/>
          <p:cNvSpPr>
            <a:spLocks noGrp="1"/>
          </p:cNvSpPr>
          <p:nvPr>
            <p:ph type="sldNum" sz="quarter" idx="10"/>
          </p:nvPr>
        </p:nvSpPr>
        <p:spPr/>
        <p:txBody>
          <a:bodyPr/>
          <a:lstStyle/>
          <a:p>
            <a:fld id="{6049F921-94E2-2146-8BC6-089D7989E1CD}" type="slidenum">
              <a:rPr lang="tr-TR" smtClean="0"/>
              <a:t>5</a:t>
            </a:fld>
            <a:endParaRPr lang="tr-TR"/>
          </a:p>
        </p:txBody>
      </p:sp>
    </p:spTree>
    <p:extLst>
      <p:ext uri="{BB962C8B-B14F-4D97-AF65-F5344CB8AC3E}">
        <p14:creationId xmlns:p14="http://schemas.microsoft.com/office/powerpoint/2010/main" val="3614647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Just like Pushdown Automata, Turing Machines have some parts. Let's start by getting to know them. First, we should talk about infinite-length tapes. We have k tapes. Here k is greater than or equal to 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Each tape is divided into cells, and is infinite both to the left and to the right. Each cell stores a symbol belonging to a finite set gamma, which is called the tape alphabet. The tape alphabet contains the blank symbol. If a cell contains blank symbol, then this means that the cell is actually empty. </a:t>
            </a:r>
          </a:p>
        </p:txBody>
      </p:sp>
      <p:sp>
        <p:nvSpPr>
          <p:cNvPr id="4" name="Slayt Numarası Yer Tutucusu 3"/>
          <p:cNvSpPr>
            <a:spLocks noGrp="1"/>
          </p:cNvSpPr>
          <p:nvPr>
            <p:ph type="sldNum" sz="quarter" idx="10"/>
          </p:nvPr>
        </p:nvSpPr>
        <p:spPr/>
        <p:txBody>
          <a:bodyPr/>
          <a:lstStyle/>
          <a:p>
            <a:fld id="{6049F921-94E2-2146-8BC6-089D7989E1CD}" type="slidenum">
              <a:rPr lang="tr-TR" smtClean="0"/>
              <a:t>6</a:t>
            </a:fld>
            <a:endParaRPr lang="tr-TR"/>
          </a:p>
        </p:txBody>
      </p:sp>
    </p:spTree>
    <p:extLst>
      <p:ext uri="{BB962C8B-B14F-4D97-AF65-F5344CB8AC3E}">
        <p14:creationId xmlns:p14="http://schemas.microsoft.com/office/powerpoint/2010/main" val="3839016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second, Each tape has a tape head which can move along the tape, one cell per move. It can also read the cell it currently scans and replace the symbol in this cell by another symbol.</a:t>
            </a:r>
          </a:p>
        </p:txBody>
      </p:sp>
      <p:sp>
        <p:nvSpPr>
          <p:cNvPr id="4" name="Slayt Numarası Yer Tutucusu 3"/>
          <p:cNvSpPr>
            <a:spLocks noGrp="1"/>
          </p:cNvSpPr>
          <p:nvPr>
            <p:ph type="sldNum" sz="quarter" idx="10"/>
          </p:nvPr>
        </p:nvSpPr>
        <p:spPr/>
        <p:txBody>
          <a:bodyPr/>
          <a:lstStyle/>
          <a:p>
            <a:fld id="{6049F921-94E2-2146-8BC6-089D7989E1CD}" type="slidenum">
              <a:rPr lang="tr-TR" smtClean="0"/>
              <a:t>7</a:t>
            </a:fld>
            <a:endParaRPr lang="tr-TR"/>
          </a:p>
        </p:txBody>
      </p:sp>
    </p:spTree>
    <p:extLst>
      <p:ext uri="{BB962C8B-B14F-4D97-AF65-F5344CB8AC3E}">
        <p14:creationId xmlns:p14="http://schemas.microsoft.com/office/powerpoint/2010/main" val="34099568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third, There is a state control, which can be in any one of a finite number of states. The finite set of states is denoted by capital Q. The set capital Q contains three special states: a start state, an accept state, and a reject state.</a:t>
            </a:r>
          </a:p>
        </p:txBody>
      </p:sp>
      <p:sp>
        <p:nvSpPr>
          <p:cNvPr id="4" name="Slayt Numarası Yer Tutucusu 3"/>
          <p:cNvSpPr>
            <a:spLocks noGrp="1"/>
          </p:cNvSpPr>
          <p:nvPr>
            <p:ph type="sldNum" sz="quarter" idx="10"/>
          </p:nvPr>
        </p:nvSpPr>
        <p:spPr/>
        <p:txBody>
          <a:bodyPr/>
          <a:lstStyle/>
          <a:p>
            <a:fld id="{6049F921-94E2-2146-8BC6-089D7989E1CD}" type="slidenum">
              <a:rPr lang="tr-TR" smtClean="0"/>
              <a:t>8</a:t>
            </a:fld>
            <a:endParaRPr lang="tr-TR"/>
          </a:p>
        </p:txBody>
      </p:sp>
    </p:spTree>
    <p:extLst>
      <p:ext uri="{BB962C8B-B14F-4D97-AF65-F5344CB8AC3E}">
        <p14:creationId xmlns:p14="http://schemas.microsoft.com/office/powerpoint/2010/main" val="17752225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Formal Definition of Turing Machine</a:t>
            </a:r>
          </a:p>
          <a:p>
            <a:r>
              <a:rPr lang="en-US" sz="1200" b="0" i="0" u="none" strike="noStrike" kern="1200" baseline="0" dirty="0">
                <a:solidFill>
                  <a:schemeClr val="tx1"/>
                </a:solidFill>
                <a:latin typeface="+mn-lt"/>
                <a:ea typeface="+mn-ea"/>
                <a:cs typeface="+mn-cs"/>
              </a:rPr>
              <a:t>A deterministic Turing Machine is a 7-tuple, capital M = sigma, gamma, capital Q, delta, lowercase q, lowercase q accept, and lowercase q reject), where</a:t>
            </a:r>
          </a:p>
          <a:p>
            <a:r>
              <a:rPr lang="en-US" sz="1200" b="0" i="0" u="none" strike="noStrike" kern="1200" baseline="0" dirty="0">
                <a:solidFill>
                  <a:schemeClr val="tx1"/>
                </a:solidFill>
                <a:latin typeface="+mn-lt"/>
                <a:ea typeface="+mn-ea"/>
                <a:cs typeface="+mn-cs"/>
              </a:rPr>
              <a:t>sigma is a finite set, called the input alphabet; the blank symbol is not contained in sigma,</a:t>
            </a:r>
          </a:p>
          <a:p>
            <a:r>
              <a:rPr lang="en-US" sz="1200" b="0" i="0" u="none" strike="noStrike" kern="1200" baseline="0" dirty="0">
                <a:solidFill>
                  <a:schemeClr val="tx1"/>
                </a:solidFill>
                <a:latin typeface="+mn-lt"/>
                <a:ea typeface="+mn-ea"/>
                <a:cs typeface="+mn-cs"/>
              </a:rPr>
              <a:t>Gamma is a finite set, called the tape alphabet; this alphabet contains the blank symbol,</a:t>
            </a:r>
          </a:p>
          <a:p>
            <a:r>
              <a:rPr lang="en-US" sz="1200" b="0" i="0" u="none" strike="noStrike" kern="1200" baseline="0" dirty="0">
                <a:solidFill>
                  <a:schemeClr val="tx1"/>
                </a:solidFill>
                <a:latin typeface="+mn-lt"/>
                <a:ea typeface="+mn-ea"/>
                <a:cs typeface="+mn-cs"/>
              </a:rPr>
              <a:t>Capital Q is a finite set, whose elements are called states,</a:t>
            </a:r>
          </a:p>
          <a:p>
            <a:r>
              <a:rPr lang="en-US" sz="1200" b="0" i="0" u="none" strike="noStrike" kern="1200" baseline="0" dirty="0">
                <a:solidFill>
                  <a:schemeClr val="tx1"/>
                </a:solidFill>
                <a:latin typeface="+mn-lt"/>
                <a:ea typeface="+mn-ea"/>
                <a:cs typeface="+mn-cs"/>
              </a:rPr>
              <a:t>Lowercase q is an element of capital Q; it is called the start state,</a:t>
            </a:r>
          </a:p>
          <a:p>
            <a:r>
              <a:rPr lang="en-US" sz="1200" b="0" i="0" u="none" strike="noStrike" kern="1200" baseline="0" dirty="0">
                <a:solidFill>
                  <a:schemeClr val="tx1"/>
                </a:solidFill>
                <a:latin typeface="+mn-lt"/>
                <a:ea typeface="+mn-ea"/>
                <a:cs typeface="+mn-cs"/>
              </a:rPr>
              <a:t>Lowercase q accept is an element of capital Q; it is called the accept state,</a:t>
            </a:r>
          </a:p>
          <a:p>
            <a:r>
              <a:rPr lang="en-US" sz="1200" b="0" i="0" u="none" strike="noStrike" kern="1200" baseline="0" dirty="0">
                <a:solidFill>
                  <a:schemeClr val="tx1"/>
                </a:solidFill>
                <a:latin typeface="+mn-lt"/>
                <a:ea typeface="+mn-ea"/>
                <a:cs typeface="+mn-cs"/>
              </a:rPr>
              <a:t>Lowercase q reject is an element of capital Q; it is called the reject state,</a:t>
            </a:r>
          </a:p>
          <a:p>
            <a:r>
              <a:rPr lang="en-US" sz="1200" b="0" i="0" u="none" strike="noStrike" kern="1200" baseline="0" dirty="0">
                <a:solidFill>
                  <a:schemeClr val="tx1"/>
                </a:solidFill>
                <a:latin typeface="+mn-lt"/>
                <a:ea typeface="+mn-ea"/>
                <a:cs typeface="+mn-cs"/>
              </a:rPr>
              <a:t>Delta is called the transition function, which is a function</a:t>
            </a:r>
          </a:p>
          <a:p>
            <a:r>
              <a:rPr lang="en-US" sz="1200" b="0" i="0" u="none" strike="noStrike" kern="1200" baseline="0" dirty="0">
                <a:solidFill>
                  <a:schemeClr val="tx1"/>
                </a:solidFill>
                <a:latin typeface="+mn-lt"/>
                <a:ea typeface="+mn-ea"/>
                <a:cs typeface="+mn-cs"/>
              </a:rPr>
              <a:t>Capital Q Cartesian product, </a:t>
            </a:r>
            <a:r>
              <a:rPr lang="en-US" sz="1200" b="0" i="0" u="none" strike="noStrike" kern="1200" baseline="0" noProof="0" dirty="0">
                <a:solidFill>
                  <a:schemeClr val="tx1"/>
                </a:solidFill>
                <a:latin typeface="+mn-lt"/>
                <a:ea typeface="+mn-ea"/>
                <a:cs typeface="+mn-cs"/>
              </a:rPr>
              <a:t>gamma</a:t>
            </a:r>
            <a:r>
              <a:rPr lang="en-US" sz="1200" b="0" i="0" u="none" strike="noStrike" kern="1200" baseline="0" dirty="0">
                <a:solidFill>
                  <a:schemeClr val="tx1"/>
                </a:solidFill>
                <a:latin typeface="+mn-lt"/>
                <a:ea typeface="+mn-ea"/>
                <a:cs typeface="+mn-cs"/>
              </a:rPr>
              <a:t> to the k goes to, capital Q Cartesian product, Gamma to the k Cartesian product, L, N, or R to the k</a:t>
            </a:r>
          </a:p>
        </p:txBody>
      </p:sp>
      <p:sp>
        <p:nvSpPr>
          <p:cNvPr id="4" name="Slayt Numarası Yer Tutucusu 3"/>
          <p:cNvSpPr>
            <a:spLocks noGrp="1"/>
          </p:cNvSpPr>
          <p:nvPr>
            <p:ph type="sldNum" sz="quarter" idx="5"/>
          </p:nvPr>
        </p:nvSpPr>
        <p:spPr/>
        <p:txBody>
          <a:bodyPr/>
          <a:lstStyle/>
          <a:p>
            <a:fld id="{6049F921-94E2-2146-8BC6-089D7989E1CD}" type="slidenum">
              <a:rPr lang="tr-TR" smtClean="0"/>
              <a:t>9</a:t>
            </a:fld>
            <a:endParaRPr lang="tr-TR"/>
          </a:p>
        </p:txBody>
      </p:sp>
    </p:spTree>
    <p:extLst>
      <p:ext uri="{BB962C8B-B14F-4D97-AF65-F5344CB8AC3E}">
        <p14:creationId xmlns:p14="http://schemas.microsoft.com/office/powerpoint/2010/main" val="1096034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For easy understanding, we will first give an example delta rule.</a:t>
            </a:r>
          </a:p>
          <a:p>
            <a:r>
              <a:rPr lang="en-US" sz="1200" dirty="0"/>
              <a:t>When we focus on the states here, we will see that the state has not changed. Thus, we can read it as 'stay in the same state'.</a:t>
            </a:r>
          </a:p>
        </p:txBody>
      </p:sp>
      <p:sp>
        <p:nvSpPr>
          <p:cNvPr id="4" name="Slayt Numarası Yer Tutucusu 3"/>
          <p:cNvSpPr>
            <a:spLocks noGrp="1"/>
          </p:cNvSpPr>
          <p:nvPr>
            <p:ph type="sldNum" sz="quarter" idx="5"/>
          </p:nvPr>
        </p:nvSpPr>
        <p:spPr/>
        <p:txBody>
          <a:bodyPr/>
          <a:lstStyle/>
          <a:p>
            <a:fld id="{6049F921-94E2-2146-8BC6-089D7989E1CD}" type="slidenum">
              <a:rPr lang="tr-TR" smtClean="0"/>
              <a:t>10</a:t>
            </a:fld>
            <a:endParaRPr lang="tr-TR"/>
          </a:p>
        </p:txBody>
      </p:sp>
    </p:spTree>
    <p:extLst>
      <p:ext uri="{BB962C8B-B14F-4D97-AF65-F5344CB8AC3E}">
        <p14:creationId xmlns:p14="http://schemas.microsoft.com/office/powerpoint/2010/main" val="35588217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noProof="0" dirty="0"/>
              <a:t>Then, we can focus at the second letters on the rule. The second letter is a symbol-a on the left. It means that if the tape head read this symbol. </a:t>
            </a:r>
          </a:p>
          <a:p>
            <a:r>
              <a:rPr lang="en-US" sz="1200" noProof="0" dirty="0"/>
              <a:t>The second letter on the right is a blank-symbol. This means, 'delete symbol-a by writing a blank symbol on it'. Now we can read the rule as </a:t>
            </a:r>
          </a:p>
          <a:p>
            <a:r>
              <a:rPr lang="en-US" sz="1200" noProof="0" dirty="0"/>
              <a:t>when the tape head reads a symbol-a from the tape in the state q, the tape head must delete it by staying in the same state.</a:t>
            </a:r>
          </a:p>
        </p:txBody>
      </p:sp>
      <p:sp>
        <p:nvSpPr>
          <p:cNvPr id="4" name="Slayt Numarası Yer Tutucusu 3"/>
          <p:cNvSpPr>
            <a:spLocks noGrp="1"/>
          </p:cNvSpPr>
          <p:nvPr>
            <p:ph type="sldNum" sz="quarter" idx="5"/>
          </p:nvPr>
        </p:nvSpPr>
        <p:spPr/>
        <p:txBody>
          <a:bodyPr/>
          <a:lstStyle/>
          <a:p>
            <a:fld id="{6049F921-94E2-2146-8BC6-089D7989E1CD}" type="slidenum">
              <a:rPr lang="tr-TR" smtClean="0"/>
              <a:t>11</a:t>
            </a:fld>
            <a:endParaRPr lang="tr-TR"/>
          </a:p>
        </p:txBody>
      </p:sp>
    </p:spTree>
    <p:extLst>
      <p:ext uri="{BB962C8B-B14F-4D97-AF65-F5344CB8AC3E}">
        <p14:creationId xmlns:p14="http://schemas.microsoft.com/office/powerpoint/2010/main" val="1429485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And last, the third part of the rule is read. On the right hand-side, there is a capital R symbol. We can understand that 'tape head must move to the right'. </a:t>
            </a:r>
          </a:p>
        </p:txBody>
      </p:sp>
      <p:sp>
        <p:nvSpPr>
          <p:cNvPr id="4" name="Slayt Numarası Yer Tutucusu 3"/>
          <p:cNvSpPr>
            <a:spLocks noGrp="1"/>
          </p:cNvSpPr>
          <p:nvPr>
            <p:ph type="sldNum" sz="quarter" idx="5"/>
          </p:nvPr>
        </p:nvSpPr>
        <p:spPr/>
        <p:txBody>
          <a:bodyPr/>
          <a:lstStyle/>
          <a:p>
            <a:fld id="{6049F921-94E2-2146-8BC6-089D7989E1CD}" type="slidenum">
              <a:rPr lang="tr-TR" smtClean="0"/>
              <a:t>12</a:t>
            </a:fld>
            <a:endParaRPr lang="tr-TR"/>
          </a:p>
        </p:txBody>
      </p:sp>
    </p:spTree>
    <p:extLst>
      <p:ext uri="{BB962C8B-B14F-4D97-AF65-F5344CB8AC3E}">
        <p14:creationId xmlns:p14="http://schemas.microsoft.com/office/powerpoint/2010/main" val="725174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If the system uses two tapes, one sample can seen like this rule. When the state controller is in the state q, if the first tape head reads a symbol a and the second tape head shows a symbol b, </a:t>
            </a:r>
          </a:p>
        </p:txBody>
      </p:sp>
      <p:sp>
        <p:nvSpPr>
          <p:cNvPr id="4" name="Slayt Numarası Yer Tutucusu 3"/>
          <p:cNvSpPr>
            <a:spLocks noGrp="1"/>
          </p:cNvSpPr>
          <p:nvPr>
            <p:ph type="sldNum" sz="quarter" idx="5"/>
          </p:nvPr>
        </p:nvSpPr>
        <p:spPr/>
        <p:txBody>
          <a:bodyPr/>
          <a:lstStyle/>
          <a:p>
            <a:fld id="{6049F921-94E2-2146-8BC6-089D7989E1CD}" type="slidenum">
              <a:rPr lang="tr-TR" smtClean="0"/>
              <a:t>13</a:t>
            </a:fld>
            <a:endParaRPr lang="tr-TR"/>
          </a:p>
        </p:txBody>
      </p:sp>
    </p:spTree>
    <p:extLst>
      <p:ext uri="{BB962C8B-B14F-4D97-AF65-F5344CB8AC3E}">
        <p14:creationId xmlns:p14="http://schemas.microsoft.com/office/powerpoint/2010/main" val="2987080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then stay in the same state, </a:t>
            </a:r>
          </a:p>
          <a:p>
            <a:r>
              <a:rPr lang="en-US" sz="1200" dirty="0"/>
              <a:t>in the first tape, delete the symbol by moving right, </a:t>
            </a:r>
          </a:p>
          <a:p>
            <a:r>
              <a:rPr lang="en-US" sz="1200" dirty="0"/>
              <a:t>in the second tape, do not change tape symbol and not move.</a:t>
            </a:r>
          </a:p>
        </p:txBody>
      </p:sp>
      <p:sp>
        <p:nvSpPr>
          <p:cNvPr id="4" name="Slayt Numarası Yer Tutucusu 3"/>
          <p:cNvSpPr>
            <a:spLocks noGrp="1"/>
          </p:cNvSpPr>
          <p:nvPr>
            <p:ph type="sldNum" sz="quarter" idx="5"/>
          </p:nvPr>
        </p:nvSpPr>
        <p:spPr/>
        <p:txBody>
          <a:bodyPr/>
          <a:lstStyle/>
          <a:p>
            <a:fld id="{6049F921-94E2-2146-8BC6-089D7989E1CD}" type="slidenum">
              <a:rPr lang="tr-TR" smtClean="0"/>
              <a:t>14</a:t>
            </a:fld>
            <a:endParaRPr lang="tr-TR"/>
          </a:p>
        </p:txBody>
      </p:sp>
    </p:spTree>
    <p:extLst>
      <p:ext uri="{BB962C8B-B14F-4D97-AF65-F5344CB8AC3E}">
        <p14:creationId xmlns:p14="http://schemas.microsoft.com/office/powerpoint/2010/main" val="30624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The input is a string over the input alphabet sigma. Initially, this input string is stored on the first tape, and the head of this tape is on the leftmost symbol of the input string. Initially, all other k − 1 tapes are empty, i.e., only contain blank symbols, and the Turing machine is in the start state q.</a:t>
            </a:r>
          </a:p>
        </p:txBody>
      </p:sp>
      <p:sp>
        <p:nvSpPr>
          <p:cNvPr id="4" name="Slayt Numarası Yer Tutucusu 3"/>
          <p:cNvSpPr>
            <a:spLocks noGrp="1"/>
          </p:cNvSpPr>
          <p:nvPr>
            <p:ph type="sldNum" sz="quarter" idx="5"/>
          </p:nvPr>
        </p:nvSpPr>
        <p:spPr/>
        <p:txBody>
          <a:bodyPr/>
          <a:lstStyle/>
          <a:p>
            <a:fld id="{6049F921-94E2-2146-8BC6-089D7989E1CD}" type="slidenum">
              <a:rPr lang="tr-TR" smtClean="0"/>
              <a:t>15</a:t>
            </a:fld>
            <a:endParaRPr lang="tr-TR"/>
          </a:p>
        </p:txBody>
      </p:sp>
    </p:spTree>
    <p:extLst>
      <p:ext uri="{BB962C8B-B14F-4D97-AF65-F5344CB8AC3E}">
        <p14:creationId xmlns:p14="http://schemas.microsoft.com/office/powerpoint/2010/main" val="2423764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Starting in the start configuration, the Turing machine performs a sequence of computation steps as described before. The computation terminates at the moment when the Turing machine enters the accept state q-accept or the reject state q-reject. Hence, if the Turing machine never enters these two states, the computation does not terminate.</a:t>
            </a:r>
          </a:p>
        </p:txBody>
      </p:sp>
      <p:sp>
        <p:nvSpPr>
          <p:cNvPr id="4" name="Slayt Numarası Yer Tutucusu 3"/>
          <p:cNvSpPr>
            <a:spLocks noGrp="1"/>
          </p:cNvSpPr>
          <p:nvPr>
            <p:ph type="sldNum" sz="quarter" idx="5"/>
          </p:nvPr>
        </p:nvSpPr>
        <p:spPr/>
        <p:txBody>
          <a:bodyPr/>
          <a:lstStyle/>
          <a:p>
            <a:fld id="{6049F921-94E2-2146-8BC6-089D7989E1CD}" type="slidenum">
              <a:rPr lang="tr-TR" smtClean="0"/>
              <a:t>16</a:t>
            </a:fld>
            <a:endParaRPr lang="tr-TR"/>
          </a:p>
        </p:txBody>
      </p:sp>
    </p:spTree>
    <p:extLst>
      <p:ext uri="{BB962C8B-B14F-4D97-AF65-F5344CB8AC3E}">
        <p14:creationId xmlns:p14="http://schemas.microsoft.com/office/powerpoint/2010/main" val="20749801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If the computation on the input string terminates in the accept state, the Turing machine M accepts this input. If the computation on this input terminates in the reject state, then M rejects the input string.</a:t>
            </a:r>
          </a:p>
        </p:txBody>
      </p:sp>
      <p:sp>
        <p:nvSpPr>
          <p:cNvPr id="4" name="Slayt Numarası Yer Tutucusu 3"/>
          <p:cNvSpPr>
            <a:spLocks noGrp="1"/>
          </p:cNvSpPr>
          <p:nvPr>
            <p:ph type="sldNum" sz="quarter" idx="5"/>
          </p:nvPr>
        </p:nvSpPr>
        <p:spPr/>
        <p:txBody>
          <a:bodyPr/>
          <a:lstStyle/>
          <a:p>
            <a:fld id="{6049F921-94E2-2146-8BC6-089D7989E1CD}" type="slidenum">
              <a:rPr lang="tr-TR" smtClean="0"/>
              <a:t>17</a:t>
            </a:fld>
            <a:endParaRPr lang="tr-TR"/>
          </a:p>
        </p:txBody>
      </p:sp>
    </p:spTree>
    <p:extLst>
      <p:ext uri="{BB962C8B-B14F-4D97-AF65-F5344CB8AC3E}">
        <p14:creationId xmlns:p14="http://schemas.microsoft.com/office/powerpoint/2010/main" val="782638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In this example, we will show how to construct a Turing machine with one tape, that decides whether or not any input string is a palindrome. Recall that a string is called a palindrome, if reading it from left to right gives the same result as reading it from right to left. The tape contains the input string, the tape head is on the leftmost symbol of the string, and the Turing machine is in the start state q0. The main algorithm is that, the first, the tape head reads the leftmost symbol of the string, deletes this symbol and “remembers” it by means of a state, let say q prime a. Then the tape head moves to the rightmost symbol and tests whether it is equal to the leftmost symbol using the remembered state. If they are not equal, the Turing machine enters the reject state, and the computation terminates. If they are equal, then the rightmost symbol is deleted, the tape head moves to the new leftmost symbol, and the whole process is repeated. The Turing machine enters the accept state as soon as the string currently stored on the tape is empty.</a:t>
            </a:r>
          </a:p>
          <a:p>
            <a:endParaRPr lang="en-US" dirty="0"/>
          </a:p>
        </p:txBody>
      </p:sp>
      <p:sp>
        <p:nvSpPr>
          <p:cNvPr id="4" name="Slayt Numarası Yer Tutucusu 3"/>
          <p:cNvSpPr>
            <a:spLocks noGrp="1"/>
          </p:cNvSpPr>
          <p:nvPr>
            <p:ph type="sldNum" sz="quarter" idx="10"/>
          </p:nvPr>
        </p:nvSpPr>
        <p:spPr/>
        <p:txBody>
          <a:bodyPr/>
          <a:lstStyle/>
          <a:p>
            <a:fld id="{464F05E7-666C-4291-B07E-B8BAE79ECBCA}" type="slidenum">
              <a:rPr lang="tr-TR" smtClean="0"/>
              <a:t>18</a:t>
            </a:fld>
            <a:endParaRPr lang="tr-TR"/>
          </a:p>
        </p:txBody>
      </p:sp>
    </p:spTree>
    <p:extLst>
      <p:ext uri="{BB962C8B-B14F-4D97-AF65-F5344CB8AC3E}">
        <p14:creationId xmlns:p14="http://schemas.microsoft.com/office/powerpoint/2010/main" val="34458652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In the animation, a four-letter palindrome given as a-b-b-a is studied. Since we have only one tape on which the string is also given, we also have to use the tape as a memory. In this way, problems that need to be solved with one tape have more states and therefore longer code than multi-tape solutions. Soon we will solve the same problem with two tapes.</a:t>
            </a:r>
          </a:p>
        </p:txBody>
      </p:sp>
      <p:sp>
        <p:nvSpPr>
          <p:cNvPr id="4" name="Slayt Numarası Yer Tutucusu 3"/>
          <p:cNvSpPr>
            <a:spLocks noGrp="1"/>
          </p:cNvSpPr>
          <p:nvPr>
            <p:ph type="sldNum" sz="quarter" idx="10"/>
          </p:nvPr>
        </p:nvSpPr>
        <p:spPr/>
        <p:txBody>
          <a:bodyPr/>
          <a:lstStyle/>
          <a:p>
            <a:fld id="{464F05E7-666C-4291-B07E-B8BAE79ECBCA}" type="slidenum">
              <a:rPr lang="tr-TR" smtClean="0"/>
              <a:t>19</a:t>
            </a:fld>
            <a:endParaRPr lang="tr-TR"/>
          </a:p>
        </p:txBody>
      </p:sp>
    </p:spTree>
    <p:extLst>
      <p:ext uri="{BB962C8B-B14F-4D97-AF65-F5344CB8AC3E}">
        <p14:creationId xmlns:p14="http://schemas.microsoft.com/office/powerpoint/2010/main" val="719850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dirty="0"/>
              <a:t>We again consider the palindrome problem, but now we use a Turing machine with two tapes. </a:t>
            </a:r>
          </a:p>
          <a:p>
            <a:pPr marL="0" indent="0">
              <a:lnSpc>
                <a:spcPct val="150000"/>
              </a:lnSpc>
              <a:buNone/>
            </a:pPr>
            <a:endParaRPr lang="en-US" sz="1200" dirty="0"/>
          </a:p>
          <a:p>
            <a:pPr marL="0" indent="0">
              <a:lnSpc>
                <a:spcPct val="150000"/>
              </a:lnSpc>
              <a:buNone/>
            </a:pPr>
            <a:r>
              <a:rPr lang="en-US" sz="1200" dirty="0"/>
              <a:t>The first tape contains the input string and the head of the first tape is on the leftmost symbol. The second tape is</a:t>
            </a:r>
            <a:r>
              <a:rPr lang="tr-TR" sz="1200" baseline="0" dirty="0"/>
              <a:t> </a:t>
            </a:r>
            <a:r>
              <a:rPr lang="en-US" sz="1200" dirty="0"/>
              <a:t>empty and its tape head is at an arbitrary position. The Turing machine is in the start state. </a:t>
            </a:r>
          </a:p>
          <a:p>
            <a:pPr marL="0" indent="0">
              <a:lnSpc>
                <a:spcPct val="150000"/>
              </a:lnSpc>
              <a:buNone/>
            </a:pPr>
            <a:endParaRPr lang="en-US" sz="1200" dirty="0"/>
          </a:p>
          <a:p>
            <a:pPr marL="0" indent="0">
              <a:lnSpc>
                <a:spcPct val="150000"/>
              </a:lnSpc>
              <a:buNone/>
            </a:pPr>
            <a:r>
              <a:rPr lang="en-US" sz="1200" dirty="0"/>
              <a:t>First, the input string is copied to the second tape. Then the head of the first tape moves back to the leftmost symbol of w, while the head of the second tape stays at the rightmost symbol. Finally, the actual test starts. The head of the first tape moves to the right and, at the same time, the head of the second tape moves to the left. While moving, the Turing machine tests whether the two tape heads read the same symbol in each step.</a:t>
            </a:r>
            <a:endParaRPr lang="tr-TR" sz="1200" dirty="0"/>
          </a:p>
        </p:txBody>
      </p:sp>
      <p:sp>
        <p:nvSpPr>
          <p:cNvPr id="4" name="Slayt Numarası Yer Tutucusu 3"/>
          <p:cNvSpPr>
            <a:spLocks noGrp="1"/>
          </p:cNvSpPr>
          <p:nvPr>
            <p:ph type="sldNum" sz="quarter" idx="5"/>
          </p:nvPr>
        </p:nvSpPr>
        <p:spPr/>
        <p:txBody>
          <a:bodyPr/>
          <a:lstStyle/>
          <a:p>
            <a:fld id="{6049F921-94E2-2146-8BC6-089D7989E1CD}" type="slidenum">
              <a:rPr lang="tr-TR" smtClean="0"/>
              <a:t>20</a:t>
            </a:fld>
            <a:endParaRPr lang="tr-TR"/>
          </a:p>
        </p:txBody>
      </p:sp>
    </p:spTree>
    <p:extLst>
      <p:ext uri="{BB962C8B-B14F-4D97-AF65-F5344CB8AC3E}">
        <p14:creationId xmlns:p14="http://schemas.microsoft.com/office/powerpoint/2010/main" val="2292895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That’s all.</a:t>
            </a:r>
          </a:p>
          <a:p>
            <a:endParaRPr lang="en-US" sz="1200" dirty="0"/>
          </a:p>
          <a:p>
            <a:r>
              <a:rPr lang="en-US" altLang="tr-TR" sz="1200" dirty="0"/>
              <a:t>Thanks for listening.</a:t>
            </a:r>
          </a:p>
        </p:txBody>
      </p:sp>
      <p:sp>
        <p:nvSpPr>
          <p:cNvPr id="4" name="Slayt Numarası Yer Tutucusu 3"/>
          <p:cNvSpPr>
            <a:spLocks noGrp="1"/>
          </p:cNvSpPr>
          <p:nvPr>
            <p:ph type="sldNum" sz="quarter" idx="10"/>
          </p:nvPr>
        </p:nvSpPr>
        <p:spPr/>
        <p:txBody>
          <a:bodyPr/>
          <a:lstStyle/>
          <a:p>
            <a:fld id="{464F05E7-666C-4291-B07E-B8BAE79ECBCA}" type="slidenum">
              <a:rPr lang="tr-TR" smtClean="0"/>
              <a:t>21</a:t>
            </a:fld>
            <a:endParaRPr lang="tr-TR"/>
          </a:p>
        </p:txBody>
      </p:sp>
    </p:spTree>
    <p:extLst>
      <p:ext uri="{BB962C8B-B14F-4D97-AF65-F5344CB8AC3E}">
        <p14:creationId xmlns:p14="http://schemas.microsoft.com/office/powerpoint/2010/main" val="2113035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 için tıklatın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062904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 için tıklatın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945659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45774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61418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 için tıklatın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AF36C430-287F-DD4C-AA12-0A938495B580}" type="datetimeFigureOut">
              <a:rPr lang="tr-TR" smtClean="0"/>
              <a:t>21.11.2025</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63016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AF36C430-287F-DD4C-AA12-0A938495B580}" type="datetimeFigureOut">
              <a:rPr lang="tr-TR" smtClean="0"/>
              <a:t>21.11.2025</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701496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36C430-287F-DD4C-AA12-0A938495B580}" type="datetimeFigureOut">
              <a:rPr lang="tr-TR" smtClean="0"/>
              <a:t>21.11.2025</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41263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 için tıklatın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7925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3239567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19571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37715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 için tıklatın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50182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55355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36148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6462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 için tıklatın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5454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 için tıklatın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F36C430-287F-DD4C-AA12-0A938495B580}" type="datetimeFigureOut">
              <a:rPr lang="tr-TR" smtClean="0"/>
              <a:t>21.11.2025</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9DD1268-69E4-B14A-81C8-E49092695496}" type="slidenum">
              <a:rPr lang="tr-TR" smtClean="0"/>
              <a:t>‹#›</a:t>
            </a:fld>
            <a:endParaRPr lang="tr-TR"/>
          </a:p>
        </p:txBody>
      </p:sp>
    </p:spTree>
    <p:extLst>
      <p:ext uri="{BB962C8B-B14F-4D97-AF65-F5344CB8AC3E}">
        <p14:creationId xmlns:p14="http://schemas.microsoft.com/office/powerpoint/2010/main" val="101904302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0.gif"/></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p:cNvPicPr>
            <a:picLocks noChangeAspect="1"/>
          </p:cNvPicPr>
          <p:nvPr/>
        </p:nvPicPr>
        <p:blipFill>
          <a:blip r:embed="rId3"/>
          <a:stretch>
            <a:fillRect/>
          </a:stretch>
        </p:blipFill>
        <p:spPr>
          <a:xfrm>
            <a:off x="4393754" y="304800"/>
            <a:ext cx="3982006" cy="2610214"/>
          </a:xfrm>
          <a:prstGeom prst="rect">
            <a:avLst/>
          </a:prstGeom>
        </p:spPr>
      </p:pic>
      <p:sp>
        <p:nvSpPr>
          <p:cNvPr id="10" name="Unvan 1"/>
          <p:cNvSpPr>
            <a:spLocks noGrp="1"/>
          </p:cNvSpPr>
          <p:nvPr>
            <p:ph type="ctrTitle"/>
          </p:nvPr>
        </p:nvSpPr>
        <p:spPr>
          <a:xfrm>
            <a:off x="2589213" y="2514600"/>
            <a:ext cx="8915399" cy="2262781"/>
          </a:xfrm>
        </p:spPr>
        <p:txBody>
          <a:bodyPr>
            <a:normAutofit fontScale="90000"/>
          </a:bodyPr>
          <a:lstStyle/>
          <a:p>
            <a:br>
              <a:rPr lang="en-US" dirty="0"/>
            </a:br>
            <a:r>
              <a:rPr lang="en-US" dirty="0"/>
              <a:t>Theory of Computation </a:t>
            </a:r>
            <a:br>
              <a:rPr lang="tr-TR" dirty="0"/>
            </a:br>
            <a:r>
              <a:rPr lang="en-US" sz="3600" dirty="0"/>
              <a:t>Lesson </a:t>
            </a:r>
            <a:r>
              <a:rPr lang="tr-TR" sz="3600" dirty="0"/>
              <a:t>10</a:t>
            </a:r>
            <a:endParaRPr lang="en-US" sz="3600" dirty="0"/>
          </a:p>
        </p:txBody>
      </p:sp>
      <p:sp>
        <p:nvSpPr>
          <p:cNvPr id="11" name="Alt Başlık 2"/>
          <p:cNvSpPr>
            <a:spLocks noGrp="1"/>
          </p:cNvSpPr>
          <p:nvPr>
            <p:ph type="subTitle" idx="1"/>
          </p:nvPr>
        </p:nvSpPr>
        <p:spPr>
          <a:xfrm>
            <a:off x="2589213" y="4777379"/>
            <a:ext cx="8915399" cy="1126283"/>
          </a:xfrm>
        </p:spPr>
        <p:txBody>
          <a:bodyPr anchor="b">
            <a:normAutofit/>
          </a:bodyPr>
          <a:lstStyle/>
          <a:p>
            <a:r>
              <a:rPr lang="tr-TR" sz="2800" dirty="0">
                <a:solidFill>
                  <a:srgbClr val="FF0000"/>
                </a:solidFill>
              </a:rPr>
              <a:t>Turing </a:t>
            </a:r>
            <a:r>
              <a:rPr lang="en-US" sz="2800" dirty="0">
                <a:solidFill>
                  <a:srgbClr val="FF0000"/>
                </a:solidFill>
              </a:rPr>
              <a:t>Machines</a:t>
            </a:r>
          </a:p>
        </p:txBody>
      </p:sp>
    </p:spTree>
    <p:extLst>
      <p:ext uri="{BB962C8B-B14F-4D97-AF65-F5344CB8AC3E}">
        <p14:creationId xmlns:p14="http://schemas.microsoft.com/office/powerpoint/2010/main" val="1457573698"/>
      </p:ext>
    </p:extLst>
  </p:cSld>
  <p:clrMapOvr>
    <a:masterClrMapping/>
  </p:clrMapOvr>
  <mc:AlternateContent xmlns:mc="http://schemas.openxmlformats.org/markup-compatibility/2006" xmlns:p14="http://schemas.microsoft.com/office/powerpoint/2010/main">
    <mc:Choice Requires="p14">
      <p:transition spd="slow" p14:dur="2000" advClick="0" advTm="2000"/>
    </mc:Choice>
    <mc:Fallback xmlns="">
      <p:transition spd="slow" advClick="0" advTm="2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dirty="0"/>
              <a:t>Turing Machines</a:t>
            </a:r>
          </a:p>
        </p:txBody>
      </p:sp>
      <p:pic>
        <p:nvPicPr>
          <p:cNvPr id="4" name="Resim 3"/>
          <p:cNvPicPr>
            <a:picLocks noChangeAspect="1"/>
          </p:cNvPicPr>
          <p:nvPr/>
        </p:nvPicPr>
        <p:blipFill>
          <a:blip r:embed="rId3"/>
          <a:stretch>
            <a:fillRect/>
          </a:stretch>
        </p:blipFill>
        <p:spPr>
          <a:xfrm>
            <a:off x="2211095" y="1713948"/>
            <a:ext cx="6582694" cy="4296375"/>
          </a:xfrm>
          <a:prstGeom prst="rect">
            <a:avLst/>
          </a:prstGeom>
        </p:spPr>
      </p:pic>
    </p:spTree>
    <p:extLst>
      <p:ext uri="{BB962C8B-B14F-4D97-AF65-F5344CB8AC3E}">
        <p14:creationId xmlns:p14="http://schemas.microsoft.com/office/powerpoint/2010/main" val="1082478469"/>
      </p:ext>
    </p:extLst>
  </p:cSld>
  <p:clrMapOvr>
    <a:masterClrMapping/>
  </p:clrMapOvr>
  <mc:AlternateContent xmlns:mc="http://schemas.openxmlformats.org/markup-compatibility/2006" xmlns:p14="http://schemas.microsoft.com/office/powerpoint/2010/main">
    <mc:Choice Requires="p14">
      <p:transition spd="slow" p14:dur="2000" advClick="0" advTm="15000"/>
    </mc:Choice>
    <mc:Fallback xmlns="">
      <p:transition spd="slow" advClick="0" advTm="150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 name="Picture 10" descr="Bombe - Wikipedi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0247" y="992237"/>
            <a:ext cx="6518402" cy="5788011"/>
          </a:xfrm>
          <a:prstGeom prst="rect">
            <a:avLst/>
          </a:prstGeom>
          <a:noFill/>
          <a:extLst>
            <a:ext uri="{909E8E84-426E-40DD-AFC4-6F175D3DCCD1}">
              <a14:hiddenFill xmlns:a14="http://schemas.microsoft.com/office/drawing/2010/main">
                <a:solidFill>
                  <a:srgbClr val="FFFFFF"/>
                </a:solidFill>
              </a14:hiddenFill>
            </a:ext>
          </a:extLst>
        </p:spPr>
      </p:pic>
      <p:sp>
        <p:nvSpPr>
          <p:cNvPr id="2" name="Unvan 1"/>
          <p:cNvSpPr>
            <a:spLocks noGrp="1"/>
          </p:cNvSpPr>
          <p:nvPr>
            <p:ph type="title"/>
          </p:nvPr>
        </p:nvSpPr>
        <p:spPr/>
        <p:txBody>
          <a:bodyPr/>
          <a:lstStyle/>
          <a:p>
            <a:r>
              <a:rPr lang="en-US" dirty="0"/>
              <a:t>Turing Machines</a:t>
            </a:r>
          </a:p>
        </p:txBody>
      </p:sp>
      <p:pic>
        <p:nvPicPr>
          <p:cNvPr id="1028" name="Picture 4" descr="Enigma I"/>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054" y="1543049"/>
            <a:ext cx="4146496" cy="5097729"/>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a:extLst>
            <a:ext uri="{909E8E84-426E-40DD-AFC4-6F175D3DCCD1}">
              <a14:hiddenFill xmlns:a14="http://schemas.microsoft.com/office/drawing/2010/main">
                <a:solidFill>
                  <a:srgbClr val="FFFFFF"/>
                </a:solidFill>
              </a14:hiddenFill>
            </a:ext>
          </a:extLst>
        </p:spPr>
      </p:pic>
      <p:sp>
        <p:nvSpPr>
          <p:cNvPr id="9" name="Dikdörtgen 8"/>
          <p:cNvSpPr/>
          <p:nvPr/>
        </p:nvSpPr>
        <p:spPr>
          <a:xfrm>
            <a:off x="2035721" y="5672456"/>
            <a:ext cx="1114408" cy="369332"/>
          </a:xfrm>
          <a:prstGeom prst="rect">
            <a:avLst/>
          </a:prstGeom>
        </p:spPr>
        <p:txBody>
          <a:bodyPr wrap="none">
            <a:spAutoFit/>
          </a:bodyPr>
          <a:lstStyle/>
          <a:p>
            <a:r>
              <a:rPr lang="en-US" b="1" dirty="0">
                <a:solidFill>
                  <a:srgbClr val="FFFF00"/>
                </a:solidFill>
                <a:effectLst>
                  <a:outerShdw blurRad="38100" dist="38100" dir="2700000" algn="tl">
                    <a:srgbClr val="000000">
                      <a:alpha val="43137"/>
                    </a:srgbClr>
                  </a:outerShdw>
                </a:effectLst>
              </a:rPr>
              <a:t>ENIGMA</a:t>
            </a:r>
          </a:p>
        </p:txBody>
      </p:sp>
      <p:sp>
        <p:nvSpPr>
          <p:cNvPr id="11" name="Dikdörtgen 10"/>
          <p:cNvSpPr/>
          <p:nvPr/>
        </p:nvSpPr>
        <p:spPr>
          <a:xfrm>
            <a:off x="7490378" y="5857122"/>
            <a:ext cx="2348720" cy="369332"/>
          </a:xfrm>
          <a:prstGeom prst="rect">
            <a:avLst/>
          </a:prstGeom>
        </p:spPr>
        <p:txBody>
          <a:bodyPr wrap="none">
            <a:spAutoFit/>
          </a:bodyPr>
          <a:lstStyle/>
          <a:p>
            <a:r>
              <a:rPr lang="tr-TR" b="1" dirty="0">
                <a:solidFill>
                  <a:srgbClr val="FFFF00"/>
                </a:solidFill>
                <a:effectLst>
                  <a:outerShdw blurRad="38100" dist="38100" dir="2700000" algn="tl">
                    <a:srgbClr val="000000">
                      <a:alpha val="43137"/>
                    </a:srgbClr>
                  </a:outerShdw>
                </a:effectLst>
              </a:rPr>
              <a:t>Turing Bombe, </a:t>
            </a:r>
            <a:r>
              <a:rPr lang="en-US" b="1" dirty="0">
                <a:solidFill>
                  <a:srgbClr val="FFFF00"/>
                </a:solidFill>
                <a:effectLst>
                  <a:outerShdw blurRad="38100" dist="38100" dir="2700000" algn="tl">
                    <a:srgbClr val="000000">
                      <a:alpha val="43137"/>
                    </a:srgbClr>
                  </a:outerShdw>
                </a:effectLst>
              </a:rPr>
              <a:t>194</a:t>
            </a:r>
            <a:r>
              <a:rPr lang="tr-TR" b="1" dirty="0">
                <a:solidFill>
                  <a:srgbClr val="FFFF00"/>
                </a:solidFill>
                <a:effectLst>
                  <a:outerShdw blurRad="38100" dist="38100" dir="2700000" algn="tl">
                    <a:srgbClr val="000000">
                      <a:alpha val="43137"/>
                    </a:srgbClr>
                  </a:outerShdw>
                </a:effectLst>
              </a:rPr>
              <a:t>0</a:t>
            </a:r>
            <a:endParaRPr lang="en-US" b="1" dirty="0">
              <a:solidFill>
                <a:srgbClr val="FFFF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403853284"/>
      </p:ext>
    </p:extLst>
  </p:cSld>
  <p:clrMapOvr>
    <a:masterClrMapping/>
  </p:clrMapOvr>
  <mc:AlternateContent xmlns:mc="http://schemas.openxmlformats.org/markup-compatibility/2006" xmlns:p14="http://schemas.microsoft.com/office/powerpoint/2010/main">
    <mc:Choice Requires="p14">
      <p:transition spd="slow" p14:dur="2000" advClick="0" advTm="9000"/>
    </mc:Choice>
    <mc:Fallback xmlns="">
      <p:transition spd="slow" advClick="0" advTm="9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dirty="0"/>
              <a:t>Turing Machines</a:t>
            </a:r>
          </a:p>
        </p:txBody>
      </p:sp>
      <p:pic>
        <p:nvPicPr>
          <p:cNvPr id="1026" name="Picture 2" descr="Colossus | computer | Britannic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4944" y="4005824"/>
            <a:ext cx="4138863" cy="2767865"/>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a:solidFill>
                  <a:srgbClr val="FFFFFF"/>
                </a:solidFill>
              </a14:hiddenFill>
            </a:ext>
          </a:extLst>
        </p:spPr>
      </p:pic>
      <p:pic>
        <p:nvPicPr>
          <p:cNvPr id="1030" name="Picture 6" descr="ENIAC | History, Computer, Stands For, Machine, &amp; Facts | Britannic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0" y="1691736"/>
            <a:ext cx="6473825" cy="508195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032" name="Picture 8" descr="Atanasoff-Berry Computer | Britannic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34944" y="464565"/>
            <a:ext cx="3756024" cy="288087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3" name="Dikdörtgen 2"/>
          <p:cNvSpPr/>
          <p:nvPr/>
        </p:nvSpPr>
        <p:spPr>
          <a:xfrm>
            <a:off x="8199666" y="808173"/>
            <a:ext cx="2473754" cy="369332"/>
          </a:xfrm>
          <a:prstGeom prst="rect">
            <a:avLst/>
          </a:prstGeom>
        </p:spPr>
        <p:txBody>
          <a:bodyPr wrap="none">
            <a:spAutoFit/>
          </a:bodyPr>
          <a:lstStyle/>
          <a:p>
            <a:r>
              <a:rPr lang="en-US" b="1" dirty="0">
                <a:solidFill>
                  <a:srgbClr val="FFFF00"/>
                </a:solidFill>
                <a:effectLst>
                  <a:outerShdw blurRad="38100" dist="38100" dir="2700000" algn="tl">
                    <a:srgbClr val="000000">
                      <a:alpha val="43137"/>
                    </a:srgbClr>
                  </a:outerShdw>
                </a:effectLst>
              </a:rPr>
              <a:t>ABC</a:t>
            </a:r>
            <a:r>
              <a:rPr lang="tr-TR" b="1" dirty="0">
                <a:solidFill>
                  <a:srgbClr val="FFFF00"/>
                </a:solidFill>
                <a:effectLst>
                  <a:outerShdw blurRad="38100" dist="38100" dir="2700000" algn="tl">
                    <a:srgbClr val="000000">
                      <a:alpha val="43137"/>
                    </a:srgbClr>
                  </a:outerShdw>
                </a:effectLst>
              </a:rPr>
              <a:t> </a:t>
            </a:r>
            <a:r>
              <a:rPr lang="en-US" b="1" dirty="0">
                <a:solidFill>
                  <a:srgbClr val="FFFF00"/>
                </a:solidFill>
                <a:effectLst>
                  <a:outerShdw blurRad="38100" dist="38100" dir="2700000" algn="tl">
                    <a:srgbClr val="000000">
                      <a:alpha val="43137"/>
                    </a:srgbClr>
                  </a:outerShdw>
                </a:effectLst>
              </a:rPr>
              <a:t>computer</a:t>
            </a:r>
            <a:r>
              <a:rPr lang="tr-TR" b="1" dirty="0">
                <a:solidFill>
                  <a:srgbClr val="FFFF00"/>
                </a:solidFill>
                <a:effectLst>
                  <a:outerShdw blurRad="38100" dist="38100" dir="2700000" algn="tl">
                    <a:srgbClr val="000000">
                      <a:alpha val="43137"/>
                    </a:srgbClr>
                  </a:outerShdw>
                </a:effectLst>
              </a:rPr>
              <a:t>, 1942</a:t>
            </a:r>
            <a:endParaRPr lang="en-US" b="1" dirty="0">
              <a:solidFill>
                <a:srgbClr val="FFFF00"/>
              </a:solidFill>
              <a:effectLst>
                <a:outerShdw blurRad="38100" dist="38100" dir="2700000" algn="tl">
                  <a:srgbClr val="000000">
                    <a:alpha val="43137"/>
                  </a:srgbClr>
                </a:outerShdw>
              </a:effectLst>
            </a:endParaRPr>
          </a:p>
        </p:txBody>
      </p:sp>
      <p:sp>
        <p:nvSpPr>
          <p:cNvPr id="10" name="Dikdörtgen 9"/>
          <p:cNvSpPr/>
          <p:nvPr/>
        </p:nvSpPr>
        <p:spPr>
          <a:xfrm>
            <a:off x="8927648" y="6305477"/>
            <a:ext cx="3164649" cy="369332"/>
          </a:xfrm>
          <a:prstGeom prst="rect">
            <a:avLst/>
          </a:prstGeom>
        </p:spPr>
        <p:txBody>
          <a:bodyPr wrap="none">
            <a:spAutoFit/>
          </a:bodyPr>
          <a:lstStyle/>
          <a:p>
            <a:r>
              <a:rPr lang="en-US" b="1" dirty="0">
                <a:solidFill>
                  <a:srgbClr val="FFFF00"/>
                </a:solidFill>
                <a:effectLst>
                  <a:outerShdw blurRad="38100" dist="38100" dir="2700000" algn="tl">
                    <a:srgbClr val="000000">
                      <a:alpha val="43137"/>
                    </a:srgbClr>
                  </a:outerShdw>
                </a:effectLst>
              </a:rPr>
              <a:t>COLOSSUS</a:t>
            </a:r>
            <a:r>
              <a:rPr lang="tr-TR" b="1" dirty="0">
                <a:solidFill>
                  <a:srgbClr val="FFFF00"/>
                </a:solidFill>
                <a:effectLst>
                  <a:outerShdw blurRad="38100" dist="38100" dir="2700000" algn="tl">
                    <a:srgbClr val="000000">
                      <a:alpha val="43137"/>
                    </a:srgbClr>
                  </a:outerShdw>
                </a:effectLst>
              </a:rPr>
              <a:t> </a:t>
            </a:r>
            <a:r>
              <a:rPr lang="en-US" b="1" dirty="0">
                <a:solidFill>
                  <a:srgbClr val="FFFF00"/>
                </a:solidFill>
                <a:effectLst>
                  <a:outerShdw blurRad="38100" dist="38100" dir="2700000" algn="tl">
                    <a:srgbClr val="000000">
                      <a:alpha val="43137"/>
                    </a:srgbClr>
                  </a:outerShdw>
                </a:effectLst>
              </a:rPr>
              <a:t>computer</a:t>
            </a:r>
            <a:r>
              <a:rPr lang="tr-TR" b="1" dirty="0">
                <a:solidFill>
                  <a:srgbClr val="FFFF00"/>
                </a:solidFill>
                <a:effectLst>
                  <a:outerShdw blurRad="38100" dist="38100" dir="2700000" algn="tl">
                    <a:srgbClr val="000000">
                      <a:alpha val="43137"/>
                    </a:srgbClr>
                  </a:outerShdw>
                </a:effectLst>
              </a:rPr>
              <a:t>, 1943</a:t>
            </a:r>
            <a:endParaRPr lang="en-US" b="1" dirty="0">
              <a:solidFill>
                <a:srgbClr val="FFFF00"/>
              </a:solidFill>
              <a:effectLst>
                <a:outerShdw blurRad="38100" dist="38100" dir="2700000" algn="tl">
                  <a:srgbClr val="000000">
                    <a:alpha val="43137"/>
                  </a:srgbClr>
                </a:outerShdw>
              </a:effectLst>
            </a:endParaRPr>
          </a:p>
        </p:txBody>
      </p:sp>
      <p:sp>
        <p:nvSpPr>
          <p:cNvPr id="11" name="Dikdörtgen 10"/>
          <p:cNvSpPr/>
          <p:nvPr/>
        </p:nvSpPr>
        <p:spPr>
          <a:xfrm>
            <a:off x="3204128" y="6216061"/>
            <a:ext cx="1532792" cy="369332"/>
          </a:xfrm>
          <a:prstGeom prst="rect">
            <a:avLst/>
          </a:prstGeom>
        </p:spPr>
        <p:txBody>
          <a:bodyPr wrap="none">
            <a:spAutoFit/>
          </a:bodyPr>
          <a:lstStyle/>
          <a:p>
            <a:r>
              <a:rPr lang="en-US" b="1" dirty="0">
                <a:solidFill>
                  <a:srgbClr val="FFFF00"/>
                </a:solidFill>
                <a:effectLst>
                  <a:outerShdw blurRad="38100" dist="38100" dir="2700000" algn="tl">
                    <a:srgbClr val="000000">
                      <a:alpha val="43137"/>
                    </a:srgbClr>
                  </a:outerShdw>
                </a:effectLst>
              </a:rPr>
              <a:t>ENIAC</a:t>
            </a:r>
            <a:r>
              <a:rPr lang="tr-TR" b="1" dirty="0">
                <a:solidFill>
                  <a:srgbClr val="FFFF00"/>
                </a:solidFill>
                <a:effectLst>
                  <a:outerShdw blurRad="38100" dist="38100" dir="2700000" algn="tl">
                    <a:srgbClr val="000000">
                      <a:alpha val="43137"/>
                    </a:srgbClr>
                  </a:outerShdw>
                </a:effectLst>
              </a:rPr>
              <a:t>, </a:t>
            </a:r>
            <a:r>
              <a:rPr lang="en-US" b="1" dirty="0">
                <a:solidFill>
                  <a:srgbClr val="FFFF00"/>
                </a:solidFill>
                <a:effectLst>
                  <a:outerShdw blurRad="38100" dist="38100" dir="2700000" algn="tl">
                    <a:srgbClr val="000000">
                      <a:alpha val="43137"/>
                    </a:srgbClr>
                  </a:outerShdw>
                </a:effectLst>
              </a:rPr>
              <a:t>1946</a:t>
            </a:r>
          </a:p>
        </p:txBody>
      </p:sp>
    </p:spTree>
    <p:extLst>
      <p:ext uri="{BB962C8B-B14F-4D97-AF65-F5344CB8AC3E}">
        <p14:creationId xmlns:p14="http://schemas.microsoft.com/office/powerpoint/2010/main" val="1419278594"/>
      </p:ext>
    </p:extLst>
  </p:cSld>
  <p:clrMapOvr>
    <a:masterClrMapping/>
  </p:clrMapOvr>
  <mc:AlternateContent xmlns:mc="http://schemas.openxmlformats.org/markup-compatibility/2006" xmlns:p14="http://schemas.microsoft.com/office/powerpoint/2010/main">
    <mc:Choice Requires="p14">
      <p:transition spd="slow" p14:dur="2000" advClick="0" advTm="35000"/>
    </mc:Choice>
    <mc:Fallback xmlns="">
      <p:transition spd="slow" advClick="0" advTm="35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dirty="0"/>
              <a:t>Turing Machines</a:t>
            </a:r>
          </a:p>
        </p:txBody>
      </p:sp>
      <p:sp>
        <p:nvSpPr>
          <p:cNvPr id="3" name="Dikdörtgen 2"/>
          <p:cNvSpPr/>
          <p:nvPr/>
        </p:nvSpPr>
        <p:spPr>
          <a:xfrm>
            <a:off x="7365869" y="1844770"/>
            <a:ext cx="4781550" cy="3539430"/>
          </a:xfrm>
          <a:prstGeom prst="rect">
            <a:avLst/>
          </a:prstGeom>
        </p:spPr>
        <p:txBody>
          <a:bodyPr wrap="square">
            <a:spAutoFit/>
          </a:bodyPr>
          <a:lstStyle/>
          <a:p>
            <a:pPr algn="ctr"/>
            <a:r>
              <a:rPr lang="en-US" sz="3200" dirty="0"/>
              <a:t>Although Turing machines are similar to finite automata, because of infinite length writable tape, have the advantage of unlimited memory.</a:t>
            </a:r>
          </a:p>
        </p:txBody>
      </p:sp>
      <p:pic>
        <p:nvPicPr>
          <p:cNvPr id="5" name="Resim 4"/>
          <p:cNvPicPr>
            <a:picLocks noChangeAspect="1"/>
          </p:cNvPicPr>
          <p:nvPr/>
        </p:nvPicPr>
        <p:blipFill>
          <a:blip r:embed="rId3">
            <a:clrChange>
              <a:clrFrom>
                <a:srgbClr val="FFFFFF"/>
              </a:clrFrom>
              <a:clrTo>
                <a:srgbClr val="FFFFFF">
                  <a:alpha val="0"/>
                </a:srgbClr>
              </a:clrTo>
            </a:clrChange>
          </a:blip>
          <a:stretch>
            <a:fillRect/>
          </a:stretch>
        </p:blipFill>
        <p:spPr>
          <a:xfrm>
            <a:off x="741505" y="1585611"/>
            <a:ext cx="6582694" cy="4296375"/>
          </a:xfrm>
          <a:prstGeom prst="rect">
            <a:avLst/>
          </a:prstGeom>
        </p:spPr>
      </p:pic>
    </p:spTree>
    <p:extLst>
      <p:ext uri="{BB962C8B-B14F-4D97-AF65-F5344CB8AC3E}">
        <p14:creationId xmlns:p14="http://schemas.microsoft.com/office/powerpoint/2010/main" val="1101930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Resim 8"/>
          <p:cNvPicPr>
            <a:picLocks noChangeAspect="1"/>
          </p:cNvPicPr>
          <p:nvPr/>
        </p:nvPicPr>
        <p:blipFill>
          <a:blip r:embed="rId3">
            <a:clrChange>
              <a:clrFrom>
                <a:srgbClr val="FFFFFF"/>
              </a:clrFrom>
              <a:clrTo>
                <a:srgbClr val="FFFFFF">
                  <a:alpha val="0"/>
                </a:srgbClr>
              </a:clrTo>
            </a:clrChange>
          </a:blip>
          <a:stretch>
            <a:fillRect/>
          </a:stretch>
        </p:blipFill>
        <p:spPr>
          <a:xfrm>
            <a:off x="741505" y="1585611"/>
            <a:ext cx="6582694" cy="4296375"/>
          </a:xfrm>
          <a:prstGeom prst="rect">
            <a:avLst/>
          </a:prstGeom>
        </p:spPr>
      </p:pic>
      <p:sp>
        <p:nvSpPr>
          <p:cNvPr id="2" name="Unvan 1"/>
          <p:cNvSpPr>
            <a:spLocks noGrp="1"/>
          </p:cNvSpPr>
          <p:nvPr>
            <p:ph type="title"/>
          </p:nvPr>
        </p:nvSpPr>
        <p:spPr/>
        <p:txBody>
          <a:bodyPr/>
          <a:lstStyle/>
          <a:p>
            <a:r>
              <a:rPr lang="en-US" dirty="0"/>
              <a:t>Turing Machines</a:t>
            </a:r>
          </a:p>
        </p:txBody>
      </p:sp>
      <p:sp>
        <p:nvSpPr>
          <p:cNvPr id="4" name="Dikdörtgen 3"/>
          <p:cNvSpPr/>
          <p:nvPr/>
        </p:nvSpPr>
        <p:spPr>
          <a:xfrm>
            <a:off x="7324199" y="1443115"/>
            <a:ext cx="4867801" cy="3108543"/>
          </a:xfrm>
          <a:prstGeom prst="rect">
            <a:avLst/>
          </a:prstGeom>
        </p:spPr>
        <p:txBody>
          <a:bodyPr wrap="square">
            <a:spAutoFit/>
          </a:bodyPr>
          <a:lstStyle/>
          <a:p>
            <a:r>
              <a:rPr lang="en-US" sz="2800" b="1" dirty="0"/>
              <a:t>1.</a:t>
            </a:r>
            <a:r>
              <a:rPr lang="en-US" sz="2800" dirty="0"/>
              <a:t> There are k tapes, k ≥ 1. Each tape </a:t>
            </a:r>
            <a:r>
              <a:rPr lang="tr-TR" sz="2800" dirty="0"/>
              <a:t>ha</a:t>
            </a:r>
            <a:r>
              <a:rPr lang="en-US" sz="2800" dirty="0"/>
              <a:t>s infinite cells. Each cell stores a symbol belonging to a finite set Γ. If a cell contains </a:t>
            </a:r>
            <a:r>
              <a:rPr lang="tr-TR" sz="2800" dirty="0"/>
              <a:t>#</a:t>
            </a:r>
            <a:r>
              <a:rPr lang="en-US" sz="2800" dirty="0"/>
              <a:t>, then this means that the cell is actually empty. </a:t>
            </a:r>
          </a:p>
        </p:txBody>
      </p:sp>
      <p:sp>
        <p:nvSpPr>
          <p:cNvPr id="8" name="Oval 7"/>
          <p:cNvSpPr/>
          <p:nvPr/>
        </p:nvSpPr>
        <p:spPr>
          <a:xfrm>
            <a:off x="1311722" y="5017166"/>
            <a:ext cx="5442261" cy="950497"/>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Oval 9"/>
          <p:cNvSpPr/>
          <p:nvPr/>
        </p:nvSpPr>
        <p:spPr>
          <a:xfrm>
            <a:off x="1311722" y="3733797"/>
            <a:ext cx="5442261" cy="950497"/>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96617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Resim 6"/>
          <p:cNvPicPr>
            <a:picLocks noChangeAspect="1"/>
          </p:cNvPicPr>
          <p:nvPr/>
        </p:nvPicPr>
        <p:blipFill>
          <a:blip r:embed="rId3">
            <a:clrChange>
              <a:clrFrom>
                <a:srgbClr val="FFFFFF"/>
              </a:clrFrom>
              <a:clrTo>
                <a:srgbClr val="FFFFFF">
                  <a:alpha val="0"/>
                </a:srgbClr>
              </a:clrTo>
            </a:clrChange>
          </a:blip>
          <a:stretch>
            <a:fillRect/>
          </a:stretch>
        </p:blipFill>
        <p:spPr>
          <a:xfrm>
            <a:off x="741505" y="1585611"/>
            <a:ext cx="6582694" cy="4296375"/>
          </a:xfrm>
          <a:prstGeom prst="rect">
            <a:avLst/>
          </a:prstGeom>
        </p:spPr>
      </p:pic>
      <p:sp>
        <p:nvSpPr>
          <p:cNvPr id="2" name="Unvan 1"/>
          <p:cNvSpPr>
            <a:spLocks noGrp="1"/>
          </p:cNvSpPr>
          <p:nvPr>
            <p:ph type="title"/>
          </p:nvPr>
        </p:nvSpPr>
        <p:spPr/>
        <p:txBody>
          <a:bodyPr/>
          <a:lstStyle/>
          <a:p>
            <a:r>
              <a:rPr lang="en-US" dirty="0"/>
              <a:t>Turing Machines</a:t>
            </a:r>
          </a:p>
        </p:txBody>
      </p:sp>
      <p:sp>
        <p:nvSpPr>
          <p:cNvPr id="4" name="Dikdörtgen 3"/>
          <p:cNvSpPr/>
          <p:nvPr/>
        </p:nvSpPr>
        <p:spPr>
          <a:xfrm>
            <a:off x="7324199" y="1443115"/>
            <a:ext cx="4867801" cy="3108543"/>
          </a:xfrm>
          <a:prstGeom prst="rect">
            <a:avLst/>
          </a:prstGeom>
        </p:spPr>
        <p:txBody>
          <a:bodyPr wrap="square">
            <a:spAutoFit/>
          </a:bodyPr>
          <a:lstStyle/>
          <a:p>
            <a:r>
              <a:rPr lang="en-US" sz="2800" b="1" dirty="0"/>
              <a:t>2. </a:t>
            </a:r>
            <a:r>
              <a:rPr lang="en-US" sz="2800" dirty="0"/>
              <a:t>Each tape has a tape head which can move along the tape, one cell per move. It can also read the cell it currently scans and replace the symbol in this cell by another symbol.</a:t>
            </a:r>
          </a:p>
        </p:txBody>
      </p:sp>
      <p:sp>
        <p:nvSpPr>
          <p:cNvPr id="8" name="Oval 7"/>
          <p:cNvSpPr/>
          <p:nvPr/>
        </p:nvSpPr>
        <p:spPr>
          <a:xfrm>
            <a:off x="2056395" y="2927324"/>
            <a:ext cx="2762251" cy="1103930"/>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9" name="Oval 8"/>
          <p:cNvSpPr/>
          <p:nvPr/>
        </p:nvSpPr>
        <p:spPr>
          <a:xfrm>
            <a:off x="2970795" y="4551658"/>
            <a:ext cx="2762251" cy="704944"/>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952961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Resim 7"/>
          <p:cNvPicPr>
            <a:picLocks noChangeAspect="1"/>
          </p:cNvPicPr>
          <p:nvPr/>
        </p:nvPicPr>
        <p:blipFill>
          <a:blip r:embed="rId3">
            <a:clrChange>
              <a:clrFrom>
                <a:srgbClr val="FFFFFF"/>
              </a:clrFrom>
              <a:clrTo>
                <a:srgbClr val="FFFFFF">
                  <a:alpha val="0"/>
                </a:srgbClr>
              </a:clrTo>
            </a:clrChange>
          </a:blip>
          <a:stretch>
            <a:fillRect/>
          </a:stretch>
        </p:blipFill>
        <p:spPr>
          <a:xfrm>
            <a:off x="741505" y="1585611"/>
            <a:ext cx="6582694" cy="4296375"/>
          </a:xfrm>
          <a:prstGeom prst="rect">
            <a:avLst/>
          </a:prstGeom>
        </p:spPr>
      </p:pic>
      <p:sp>
        <p:nvSpPr>
          <p:cNvPr id="2" name="Unvan 1"/>
          <p:cNvSpPr>
            <a:spLocks noGrp="1"/>
          </p:cNvSpPr>
          <p:nvPr>
            <p:ph type="title"/>
          </p:nvPr>
        </p:nvSpPr>
        <p:spPr/>
        <p:txBody>
          <a:bodyPr/>
          <a:lstStyle/>
          <a:p>
            <a:r>
              <a:rPr lang="en-US" dirty="0"/>
              <a:t>Turing Machines</a:t>
            </a:r>
          </a:p>
        </p:txBody>
      </p:sp>
      <p:sp>
        <p:nvSpPr>
          <p:cNvPr id="4" name="Dikdörtgen 3"/>
          <p:cNvSpPr/>
          <p:nvPr/>
        </p:nvSpPr>
        <p:spPr>
          <a:xfrm>
            <a:off x="7324199" y="1443115"/>
            <a:ext cx="4867801" cy="3970318"/>
          </a:xfrm>
          <a:prstGeom prst="rect">
            <a:avLst/>
          </a:prstGeom>
        </p:spPr>
        <p:txBody>
          <a:bodyPr wrap="square">
            <a:spAutoFit/>
          </a:bodyPr>
          <a:lstStyle/>
          <a:p>
            <a:r>
              <a:rPr lang="tr-TR" sz="2800" b="1" dirty="0"/>
              <a:t>3</a:t>
            </a:r>
            <a:r>
              <a:rPr lang="en-US" sz="2800" b="1" dirty="0"/>
              <a:t>. </a:t>
            </a:r>
            <a:r>
              <a:rPr lang="en-US" sz="2800" dirty="0"/>
              <a:t>There is a state control, which can be in any one of a finite number of states. The finite set of states is denoted by Q. The set Q contains three special states: a start state, an accept state, and a reject state.</a:t>
            </a:r>
          </a:p>
        </p:txBody>
      </p:sp>
      <p:sp>
        <p:nvSpPr>
          <p:cNvPr id="6" name="Oval 5"/>
          <p:cNvSpPr/>
          <p:nvPr/>
        </p:nvSpPr>
        <p:spPr>
          <a:xfrm>
            <a:off x="2067002" y="1507283"/>
            <a:ext cx="3931700" cy="1534251"/>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7911067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8911687" cy="1280890"/>
          </a:xfrm>
        </p:spPr>
        <p:txBody>
          <a:bodyPr/>
          <a:lstStyle/>
          <a:p>
            <a:r>
              <a:rPr lang="en-US" b="1" dirty="0"/>
              <a:t>Formal Definition</a:t>
            </a:r>
          </a:p>
        </p:txBody>
      </p:sp>
      <p:sp>
        <p:nvSpPr>
          <p:cNvPr id="6"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A deterministic Turing machine is a 7-tuple </a:t>
            </a:r>
          </a:p>
          <a:p>
            <a:pPr marL="0" indent="0">
              <a:buNone/>
            </a:pPr>
            <a:r>
              <a:rPr lang="en-US" sz="2800" dirty="0"/>
              <a:t>	M = (Σ, Γ, Q, δ, q, </a:t>
            </a:r>
            <a:r>
              <a:rPr lang="en-US" sz="2800" dirty="0" err="1"/>
              <a:t>q</a:t>
            </a:r>
            <a:r>
              <a:rPr lang="en-US" sz="2800" baseline="-25000" dirty="0" err="1"/>
              <a:t>accept</a:t>
            </a:r>
            <a:r>
              <a:rPr lang="en-US" sz="2800" dirty="0"/>
              <a:t>, </a:t>
            </a:r>
            <a:r>
              <a:rPr lang="en-US" sz="2800" dirty="0" err="1"/>
              <a:t>q</a:t>
            </a:r>
            <a:r>
              <a:rPr lang="en-US" sz="2800" baseline="-25000" dirty="0" err="1"/>
              <a:t>reject</a:t>
            </a:r>
            <a:r>
              <a:rPr lang="en-US" sz="2800" dirty="0"/>
              <a:t>), where</a:t>
            </a:r>
            <a:endParaRPr lang="en-US" sz="2800" dirty="0">
              <a:solidFill>
                <a:schemeClr val="tx1"/>
              </a:solidFill>
            </a:endParaRPr>
          </a:p>
          <a:p>
            <a:r>
              <a:rPr lang="en-US" sz="2800" dirty="0"/>
              <a:t>Σ</a:t>
            </a:r>
            <a:r>
              <a:rPr lang="en-US" sz="2800" dirty="0">
                <a:solidFill>
                  <a:schemeClr val="tx1"/>
                </a:solidFill>
              </a:rPr>
              <a:t> </a:t>
            </a:r>
            <a:r>
              <a:rPr lang="en-US" sz="2800" dirty="0"/>
              <a:t>is a finite set, called the input alphabet; the blank symbol # is not contained in Σ</a:t>
            </a:r>
            <a:r>
              <a:rPr lang="en-US" sz="2800" dirty="0">
                <a:solidFill>
                  <a:schemeClr val="tx1"/>
                </a:solidFill>
              </a:rPr>
              <a:t>,</a:t>
            </a:r>
          </a:p>
          <a:p>
            <a:r>
              <a:rPr lang="en-US" sz="2800" dirty="0"/>
              <a:t>Γ is a finite set, called the tape alphabet; this alphabet contains the blank symbol #</a:t>
            </a:r>
            <a:r>
              <a:rPr lang="en-US" sz="2800" dirty="0">
                <a:solidFill>
                  <a:schemeClr val="tx1"/>
                </a:solidFill>
              </a:rPr>
              <a:t>,</a:t>
            </a:r>
          </a:p>
          <a:p>
            <a:r>
              <a:rPr lang="en-US" sz="2800" dirty="0"/>
              <a:t>Q is a finite set, whose elements are called states,</a:t>
            </a:r>
            <a:endParaRPr lang="en-US" sz="2800" dirty="0">
              <a:solidFill>
                <a:schemeClr val="tx1"/>
              </a:solidFill>
            </a:endParaRPr>
          </a:p>
          <a:p>
            <a:r>
              <a:rPr lang="en-US" sz="2800" dirty="0"/>
              <a:t>q</a:t>
            </a:r>
            <a:r>
              <a:rPr lang="en-US" sz="2800" dirty="0">
                <a:solidFill>
                  <a:schemeClr val="tx1"/>
                </a:solidFill>
              </a:rPr>
              <a:t>, </a:t>
            </a:r>
            <a:r>
              <a:rPr lang="en-US" sz="2800" dirty="0" err="1"/>
              <a:t>q</a:t>
            </a:r>
            <a:r>
              <a:rPr lang="en-US" sz="2800" baseline="-25000" dirty="0" err="1"/>
              <a:t>accept</a:t>
            </a:r>
            <a:r>
              <a:rPr lang="en-US" sz="2800" dirty="0"/>
              <a:t>, </a:t>
            </a:r>
            <a:r>
              <a:rPr lang="en-US" sz="2800" dirty="0" err="1"/>
              <a:t>q</a:t>
            </a:r>
            <a:r>
              <a:rPr lang="en-US" sz="2800" baseline="-25000" dirty="0" err="1"/>
              <a:t>reject</a:t>
            </a:r>
            <a:r>
              <a:rPr lang="en-US" sz="2800" dirty="0"/>
              <a:t> are the start, accept, reject states.</a:t>
            </a:r>
            <a:endParaRPr lang="en-US" sz="2800" dirty="0">
              <a:solidFill>
                <a:schemeClr val="tx1"/>
              </a:solidFill>
            </a:endParaRPr>
          </a:p>
          <a:p>
            <a:r>
              <a:rPr lang="en-US" sz="2800" dirty="0"/>
              <a:t>δ is called the transition function, which is a function</a:t>
            </a:r>
          </a:p>
          <a:p>
            <a:pPr marL="0" indent="0">
              <a:buNone/>
            </a:pPr>
            <a:r>
              <a:rPr lang="en-US" sz="2800" dirty="0">
                <a:solidFill>
                  <a:schemeClr val="tx1"/>
                </a:solidFill>
              </a:rPr>
              <a:t>		</a:t>
            </a:r>
            <a:r>
              <a:rPr lang="en-US" sz="2800" dirty="0"/>
              <a:t> Q × Γ</a:t>
            </a:r>
            <a:r>
              <a:rPr lang="tr-TR" sz="2800" baseline="30000" dirty="0"/>
              <a:t>k</a:t>
            </a:r>
            <a:r>
              <a:rPr lang="en-US" sz="2800" dirty="0"/>
              <a:t> → Q × Γ</a:t>
            </a:r>
            <a:r>
              <a:rPr lang="tr-TR" sz="2800" baseline="30000" dirty="0"/>
              <a:t>k</a:t>
            </a:r>
            <a:r>
              <a:rPr lang="tr-TR" sz="2800" dirty="0"/>
              <a:t> </a:t>
            </a:r>
            <a:r>
              <a:rPr lang="en-US" sz="2800" dirty="0"/>
              <a:t>× {</a:t>
            </a:r>
            <a:r>
              <a:rPr lang="tr-TR" sz="2800" dirty="0"/>
              <a:t>L, </a:t>
            </a:r>
            <a:r>
              <a:rPr lang="en-US" sz="2800" dirty="0"/>
              <a:t>N, R}</a:t>
            </a:r>
            <a:r>
              <a:rPr lang="tr-TR" sz="2800" baseline="30000" dirty="0"/>
              <a:t> k</a:t>
            </a:r>
            <a:endParaRPr lang="en-US" sz="2800" dirty="0">
              <a:solidFill>
                <a:schemeClr val="tx1"/>
              </a:solidFill>
            </a:endParaRPr>
          </a:p>
          <a:p>
            <a:pPr marL="0" indent="0">
              <a:buFont typeface="Wingdings 3" charset="2"/>
              <a:buNone/>
            </a:pPr>
            <a:endParaRPr lang="en-US" sz="2800" dirty="0"/>
          </a:p>
        </p:txBody>
      </p:sp>
    </p:spTree>
    <p:extLst>
      <p:ext uri="{BB962C8B-B14F-4D97-AF65-F5344CB8AC3E}">
        <p14:creationId xmlns:p14="http://schemas.microsoft.com/office/powerpoint/2010/main" val="1143300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A Sample Delta Rule</a:t>
            </a:r>
          </a:p>
        </p:txBody>
      </p:sp>
      <p:sp>
        <p:nvSpPr>
          <p:cNvPr id="7" name="İçerik Yer Tutucusu 4"/>
          <p:cNvSpPr>
            <a:spLocks noGrp="1"/>
          </p:cNvSpPr>
          <p:nvPr>
            <p:ph idx="1"/>
          </p:nvPr>
        </p:nvSpPr>
        <p:spPr>
          <a:xfrm>
            <a:off x="2592925" y="1885950"/>
            <a:ext cx="8273324" cy="3178615"/>
          </a:xfrm>
        </p:spPr>
        <p:txBody>
          <a:bodyPr>
            <a:normAutofit/>
          </a:bodyPr>
          <a:lstStyle/>
          <a:p>
            <a:pPr marL="0" indent="0">
              <a:lnSpc>
                <a:spcPct val="165000"/>
              </a:lnSpc>
              <a:buNone/>
            </a:pPr>
            <a:r>
              <a:rPr lang="tr-TR" sz="3600" dirty="0" err="1"/>
              <a:t>qa</a:t>
            </a:r>
            <a:r>
              <a:rPr lang="tr-TR" sz="3600" dirty="0"/>
              <a:t> → </a:t>
            </a:r>
            <a:r>
              <a:rPr lang="tr-TR" sz="3600" dirty="0" err="1"/>
              <a:t>q#R</a:t>
            </a:r>
            <a:r>
              <a:rPr lang="tr-TR" sz="3600" dirty="0"/>
              <a:t>				</a:t>
            </a:r>
            <a:endParaRPr lang="tr-TR" sz="3600" b="1" dirty="0">
              <a:solidFill>
                <a:srgbClr val="FF0000"/>
              </a:solidFill>
            </a:endParaRPr>
          </a:p>
        </p:txBody>
      </p:sp>
      <p:cxnSp>
        <p:nvCxnSpPr>
          <p:cNvPr id="8" name="Düz Ok Bağlayıcısı 7"/>
          <p:cNvCxnSpPr/>
          <p:nvPr/>
        </p:nvCxnSpPr>
        <p:spPr>
          <a:xfrm flipH="1" flipV="1">
            <a:off x="2876550" y="2686050"/>
            <a:ext cx="190500" cy="2378515"/>
          </a:xfrm>
          <a:prstGeom prst="straightConnector1">
            <a:avLst/>
          </a:prstGeom>
          <a:ln>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Düz Ok Bağlayıcısı 10"/>
          <p:cNvCxnSpPr/>
          <p:nvPr/>
        </p:nvCxnSpPr>
        <p:spPr>
          <a:xfrm flipV="1">
            <a:off x="3290981" y="2686050"/>
            <a:ext cx="912051" cy="2348572"/>
          </a:xfrm>
          <a:prstGeom prst="straightConnector1">
            <a:avLst/>
          </a:prstGeom>
          <a:ln>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Dikdörtgen 11"/>
          <p:cNvSpPr/>
          <p:nvPr/>
        </p:nvSpPr>
        <p:spPr>
          <a:xfrm>
            <a:off x="2652513" y="5069031"/>
            <a:ext cx="1043876" cy="461665"/>
          </a:xfrm>
          <a:prstGeom prst="rect">
            <a:avLst/>
          </a:prstGeom>
        </p:spPr>
        <p:txBody>
          <a:bodyPr wrap="none">
            <a:spAutoFit/>
          </a:bodyPr>
          <a:lstStyle/>
          <a:p>
            <a:r>
              <a:rPr lang="en-US" sz="2400"/>
              <a:t>states</a:t>
            </a:r>
            <a:endParaRPr lang="en-US" sz="2400" dirty="0"/>
          </a:p>
        </p:txBody>
      </p:sp>
      <p:sp>
        <p:nvSpPr>
          <p:cNvPr id="13" name="Dikdörtgen 12"/>
          <p:cNvSpPr/>
          <p:nvPr/>
        </p:nvSpPr>
        <p:spPr>
          <a:xfrm>
            <a:off x="6539087" y="1943100"/>
            <a:ext cx="5619750" cy="4042582"/>
          </a:xfrm>
          <a:prstGeom prst="rect">
            <a:avLst/>
          </a:prstGeom>
        </p:spPr>
        <p:txBody>
          <a:bodyPr wrap="square">
            <a:spAutoFit/>
          </a:bodyPr>
          <a:lstStyle/>
          <a:p>
            <a:pPr>
              <a:lnSpc>
                <a:spcPct val="165000"/>
              </a:lnSpc>
            </a:pPr>
            <a:r>
              <a:rPr lang="en-US" sz="3200" dirty="0"/>
              <a:t>When we focus on the states here, we will see that the state has not changed. Thus, we can read it as 'stay in the same state'.</a:t>
            </a:r>
            <a:endParaRPr lang="tr-TR" sz="3200" b="1" dirty="0"/>
          </a:p>
        </p:txBody>
      </p:sp>
    </p:spTree>
    <p:extLst>
      <p:ext uri="{BB962C8B-B14F-4D97-AF65-F5344CB8AC3E}">
        <p14:creationId xmlns:p14="http://schemas.microsoft.com/office/powerpoint/2010/main" val="889613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A Sample Delta Rule</a:t>
            </a:r>
          </a:p>
        </p:txBody>
      </p:sp>
      <p:sp>
        <p:nvSpPr>
          <p:cNvPr id="7" name="İçerik Yer Tutucusu 4"/>
          <p:cNvSpPr>
            <a:spLocks noGrp="1"/>
          </p:cNvSpPr>
          <p:nvPr>
            <p:ph idx="1"/>
          </p:nvPr>
        </p:nvSpPr>
        <p:spPr>
          <a:xfrm>
            <a:off x="2592925" y="1885950"/>
            <a:ext cx="8273324" cy="3178615"/>
          </a:xfrm>
        </p:spPr>
        <p:txBody>
          <a:bodyPr>
            <a:normAutofit/>
          </a:bodyPr>
          <a:lstStyle/>
          <a:p>
            <a:pPr marL="0" indent="0">
              <a:lnSpc>
                <a:spcPct val="165000"/>
              </a:lnSpc>
              <a:buNone/>
            </a:pPr>
            <a:r>
              <a:rPr lang="tr-TR" sz="3600" dirty="0" err="1"/>
              <a:t>qa</a:t>
            </a:r>
            <a:r>
              <a:rPr lang="tr-TR" sz="3600" dirty="0"/>
              <a:t> → </a:t>
            </a:r>
            <a:r>
              <a:rPr lang="tr-TR" sz="3600" dirty="0" err="1"/>
              <a:t>q#R</a:t>
            </a:r>
            <a:r>
              <a:rPr lang="tr-TR" sz="3600" dirty="0"/>
              <a:t>					</a:t>
            </a:r>
            <a:endParaRPr lang="tr-TR" sz="3600" b="1" dirty="0">
              <a:solidFill>
                <a:srgbClr val="FF0000"/>
              </a:solidFill>
            </a:endParaRPr>
          </a:p>
        </p:txBody>
      </p:sp>
      <p:cxnSp>
        <p:nvCxnSpPr>
          <p:cNvPr id="8" name="Düz Ok Bağlayıcısı 7"/>
          <p:cNvCxnSpPr/>
          <p:nvPr/>
        </p:nvCxnSpPr>
        <p:spPr>
          <a:xfrm flipV="1">
            <a:off x="3067050" y="2656108"/>
            <a:ext cx="85725" cy="2408458"/>
          </a:xfrm>
          <a:prstGeom prst="straightConnector1">
            <a:avLst/>
          </a:prstGeom>
          <a:ln>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Düz Ok Bağlayıcısı 10"/>
          <p:cNvCxnSpPr/>
          <p:nvPr/>
        </p:nvCxnSpPr>
        <p:spPr>
          <a:xfrm flipV="1">
            <a:off x="3290981" y="2656108"/>
            <a:ext cx="1136640" cy="2378514"/>
          </a:xfrm>
          <a:prstGeom prst="straightConnector1">
            <a:avLst/>
          </a:prstGeom>
          <a:ln>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Dikdörtgen 11"/>
          <p:cNvSpPr/>
          <p:nvPr/>
        </p:nvSpPr>
        <p:spPr>
          <a:xfrm>
            <a:off x="2652513" y="5069031"/>
            <a:ext cx="909223" cy="461665"/>
          </a:xfrm>
          <a:prstGeom prst="rect">
            <a:avLst/>
          </a:prstGeom>
        </p:spPr>
        <p:txBody>
          <a:bodyPr wrap="none">
            <a:spAutoFit/>
          </a:bodyPr>
          <a:lstStyle/>
          <a:p>
            <a:r>
              <a:rPr lang="en-US" sz="2400"/>
              <a:t>tape</a:t>
            </a:r>
            <a:endParaRPr lang="en-US" sz="2400" dirty="0"/>
          </a:p>
        </p:txBody>
      </p:sp>
      <p:sp>
        <p:nvSpPr>
          <p:cNvPr id="13" name="Dikdörtgen 12"/>
          <p:cNvSpPr/>
          <p:nvPr/>
        </p:nvSpPr>
        <p:spPr>
          <a:xfrm>
            <a:off x="6539087" y="1943100"/>
            <a:ext cx="5619750" cy="3342453"/>
          </a:xfrm>
          <a:prstGeom prst="rect">
            <a:avLst/>
          </a:prstGeom>
        </p:spPr>
        <p:txBody>
          <a:bodyPr wrap="square">
            <a:spAutoFit/>
          </a:bodyPr>
          <a:lstStyle/>
          <a:p>
            <a:pPr>
              <a:lnSpc>
                <a:spcPct val="165000"/>
              </a:lnSpc>
            </a:pPr>
            <a:r>
              <a:rPr lang="en-US" sz="3200" dirty="0"/>
              <a:t>When the tape head reads a</a:t>
            </a:r>
            <a:r>
              <a:rPr lang="tr-TR" sz="3200" dirty="0"/>
              <a:t> </a:t>
            </a:r>
            <a:r>
              <a:rPr lang="en-US" sz="3200" dirty="0"/>
              <a:t>symbol </a:t>
            </a:r>
            <a:r>
              <a:rPr lang="tr-TR" sz="3200" dirty="0"/>
              <a:t>‘</a:t>
            </a:r>
            <a:r>
              <a:rPr lang="en-US" sz="3200" dirty="0"/>
              <a:t>a</a:t>
            </a:r>
            <a:r>
              <a:rPr lang="tr-TR" sz="3200" dirty="0"/>
              <a:t>’ </a:t>
            </a:r>
            <a:r>
              <a:rPr lang="en-US" sz="3200" dirty="0"/>
              <a:t>from the tape, the tape head must delete it.</a:t>
            </a:r>
          </a:p>
        </p:txBody>
      </p:sp>
    </p:spTree>
    <p:extLst>
      <p:ext uri="{BB962C8B-B14F-4D97-AF65-F5344CB8AC3E}">
        <p14:creationId xmlns:p14="http://schemas.microsoft.com/office/powerpoint/2010/main" val="373470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A Sample Delta Rule</a:t>
            </a:r>
          </a:p>
        </p:txBody>
      </p:sp>
      <p:sp>
        <p:nvSpPr>
          <p:cNvPr id="7" name="İçerik Yer Tutucusu 4"/>
          <p:cNvSpPr>
            <a:spLocks noGrp="1"/>
          </p:cNvSpPr>
          <p:nvPr>
            <p:ph idx="1"/>
          </p:nvPr>
        </p:nvSpPr>
        <p:spPr>
          <a:xfrm>
            <a:off x="2592925" y="1885950"/>
            <a:ext cx="8273324" cy="3178615"/>
          </a:xfrm>
        </p:spPr>
        <p:txBody>
          <a:bodyPr>
            <a:normAutofit/>
          </a:bodyPr>
          <a:lstStyle/>
          <a:p>
            <a:pPr marL="0" indent="0">
              <a:lnSpc>
                <a:spcPct val="165000"/>
              </a:lnSpc>
              <a:buNone/>
            </a:pPr>
            <a:r>
              <a:rPr lang="tr-TR" sz="3600" dirty="0" err="1"/>
              <a:t>qa</a:t>
            </a:r>
            <a:r>
              <a:rPr lang="tr-TR" sz="3600" dirty="0"/>
              <a:t> → </a:t>
            </a:r>
            <a:r>
              <a:rPr lang="tr-TR" sz="3600" dirty="0" err="1"/>
              <a:t>q#R</a:t>
            </a:r>
            <a:r>
              <a:rPr lang="tr-TR" sz="3600" dirty="0"/>
              <a:t>					</a:t>
            </a:r>
            <a:endParaRPr lang="tr-TR" sz="3600" b="1" dirty="0">
              <a:solidFill>
                <a:srgbClr val="FF0000"/>
              </a:solidFill>
            </a:endParaRPr>
          </a:p>
        </p:txBody>
      </p:sp>
      <p:cxnSp>
        <p:nvCxnSpPr>
          <p:cNvPr id="11" name="Düz Ok Bağlayıcısı 10"/>
          <p:cNvCxnSpPr/>
          <p:nvPr/>
        </p:nvCxnSpPr>
        <p:spPr>
          <a:xfrm flipV="1">
            <a:off x="3290981" y="2662989"/>
            <a:ext cx="1505608" cy="2371633"/>
          </a:xfrm>
          <a:prstGeom prst="straightConnector1">
            <a:avLst/>
          </a:prstGeom>
          <a:ln>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Dikdörtgen 11"/>
          <p:cNvSpPr/>
          <p:nvPr/>
        </p:nvSpPr>
        <p:spPr>
          <a:xfrm>
            <a:off x="1986646" y="5034622"/>
            <a:ext cx="2852063" cy="461665"/>
          </a:xfrm>
          <a:prstGeom prst="rect">
            <a:avLst/>
          </a:prstGeom>
        </p:spPr>
        <p:txBody>
          <a:bodyPr wrap="none">
            <a:spAutoFit/>
          </a:bodyPr>
          <a:lstStyle/>
          <a:p>
            <a:r>
              <a:rPr lang="en-US" sz="2400" dirty="0"/>
              <a:t>tape head action</a:t>
            </a:r>
          </a:p>
        </p:txBody>
      </p:sp>
      <p:sp>
        <p:nvSpPr>
          <p:cNvPr id="13" name="Dikdörtgen 12"/>
          <p:cNvSpPr/>
          <p:nvPr/>
        </p:nvSpPr>
        <p:spPr>
          <a:xfrm>
            <a:off x="6539087" y="1943100"/>
            <a:ext cx="5619750" cy="4042838"/>
          </a:xfrm>
          <a:prstGeom prst="rect">
            <a:avLst/>
          </a:prstGeom>
        </p:spPr>
        <p:txBody>
          <a:bodyPr wrap="square">
            <a:spAutoFit/>
          </a:bodyPr>
          <a:lstStyle/>
          <a:p>
            <a:pPr>
              <a:lnSpc>
                <a:spcPct val="165000"/>
              </a:lnSpc>
            </a:pPr>
            <a:r>
              <a:rPr lang="en-US" sz="3200" dirty="0"/>
              <a:t>On the right hand-side, there is a capital R symbol. We can understand that 'tape head must move to the right'. </a:t>
            </a:r>
          </a:p>
        </p:txBody>
      </p:sp>
    </p:spTree>
    <p:extLst>
      <p:ext uri="{BB962C8B-B14F-4D97-AF65-F5344CB8AC3E}">
        <p14:creationId xmlns:p14="http://schemas.microsoft.com/office/powerpoint/2010/main" val="3941311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A Sample Delta Rule</a:t>
            </a:r>
          </a:p>
        </p:txBody>
      </p:sp>
      <p:sp>
        <p:nvSpPr>
          <p:cNvPr id="7" name="İçerik Yer Tutucusu 4"/>
          <p:cNvSpPr>
            <a:spLocks noGrp="1"/>
          </p:cNvSpPr>
          <p:nvPr>
            <p:ph idx="1"/>
          </p:nvPr>
        </p:nvSpPr>
        <p:spPr>
          <a:xfrm>
            <a:off x="2592925" y="1885950"/>
            <a:ext cx="8273324" cy="3178615"/>
          </a:xfrm>
        </p:spPr>
        <p:txBody>
          <a:bodyPr>
            <a:normAutofit/>
          </a:bodyPr>
          <a:lstStyle/>
          <a:p>
            <a:pPr marL="0" indent="0">
              <a:lnSpc>
                <a:spcPct val="165000"/>
              </a:lnSpc>
              <a:buNone/>
            </a:pPr>
            <a:r>
              <a:rPr lang="tr-TR" sz="3600" dirty="0" err="1">
                <a:solidFill>
                  <a:srgbClr val="FF0000"/>
                </a:solidFill>
              </a:rPr>
              <a:t>qab</a:t>
            </a:r>
            <a:r>
              <a:rPr lang="tr-TR" sz="3600" dirty="0"/>
              <a:t> → </a:t>
            </a:r>
            <a:r>
              <a:rPr lang="tr-TR" sz="3600" dirty="0" err="1"/>
              <a:t>q#bRN</a:t>
            </a:r>
            <a:r>
              <a:rPr lang="tr-TR" sz="3600" dirty="0"/>
              <a:t> 				</a:t>
            </a:r>
            <a:endParaRPr lang="tr-TR" sz="3600" b="1" dirty="0">
              <a:solidFill>
                <a:srgbClr val="FF0000"/>
              </a:solidFill>
            </a:endParaRPr>
          </a:p>
        </p:txBody>
      </p:sp>
      <p:sp>
        <p:nvSpPr>
          <p:cNvPr id="15" name="Dikdörtgen 14"/>
          <p:cNvSpPr/>
          <p:nvPr/>
        </p:nvSpPr>
        <p:spPr>
          <a:xfrm>
            <a:off x="6539087" y="1943100"/>
            <a:ext cx="5619750" cy="4042838"/>
          </a:xfrm>
          <a:prstGeom prst="rect">
            <a:avLst/>
          </a:prstGeom>
        </p:spPr>
        <p:txBody>
          <a:bodyPr wrap="square">
            <a:spAutoFit/>
          </a:bodyPr>
          <a:lstStyle/>
          <a:p>
            <a:pPr>
              <a:lnSpc>
                <a:spcPct val="165000"/>
              </a:lnSpc>
            </a:pPr>
            <a:r>
              <a:rPr lang="en-US" sz="3200" dirty="0"/>
              <a:t>When the state controller is in the state q, if the first tape head reads a symbol a and the second tape head shows a symbol b, </a:t>
            </a:r>
          </a:p>
        </p:txBody>
      </p:sp>
    </p:spTree>
    <p:extLst>
      <p:ext uri="{BB962C8B-B14F-4D97-AF65-F5344CB8AC3E}">
        <p14:creationId xmlns:p14="http://schemas.microsoft.com/office/powerpoint/2010/main" val="293773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A Sample Delta Rule</a:t>
            </a:r>
          </a:p>
        </p:txBody>
      </p:sp>
      <p:sp>
        <p:nvSpPr>
          <p:cNvPr id="7" name="İçerik Yer Tutucusu 4"/>
          <p:cNvSpPr>
            <a:spLocks noGrp="1"/>
          </p:cNvSpPr>
          <p:nvPr>
            <p:ph idx="1"/>
          </p:nvPr>
        </p:nvSpPr>
        <p:spPr>
          <a:xfrm>
            <a:off x="2592925" y="1885950"/>
            <a:ext cx="8273324" cy="3178615"/>
          </a:xfrm>
        </p:spPr>
        <p:txBody>
          <a:bodyPr>
            <a:normAutofit/>
          </a:bodyPr>
          <a:lstStyle/>
          <a:p>
            <a:pPr marL="0" indent="0">
              <a:lnSpc>
                <a:spcPct val="165000"/>
              </a:lnSpc>
              <a:buNone/>
            </a:pPr>
            <a:r>
              <a:rPr lang="tr-TR" sz="3600" dirty="0" err="1">
                <a:solidFill>
                  <a:schemeClr val="tx1"/>
                </a:solidFill>
              </a:rPr>
              <a:t>qab</a:t>
            </a:r>
            <a:r>
              <a:rPr lang="tr-TR" sz="3600" dirty="0"/>
              <a:t> → </a:t>
            </a:r>
            <a:r>
              <a:rPr lang="tr-TR" sz="3600" dirty="0" err="1">
                <a:solidFill>
                  <a:srgbClr val="FF0000"/>
                </a:solidFill>
              </a:rPr>
              <a:t>q#bRN</a:t>
            </a:r>
            <a:r>
              <a:rPr lang="tr-TR" sz="3600" dirty="0"/>
              <a:t> 				</a:t>
            </a:r>
            <a:endParaRPr lang="tr-TR" sz="3600" b="1" dirty="0">
              <a:solidFill>
                <a:srgbClr val="FF0000"/>
              </a:solidFill>
            </a:endParaRPr>
          </a:p>
        </p:txBody>
      </p:sp>
      <p:sp>
        <p:nvSpPr>
          <p:cNvPr id="15" name="Dikdörtgen 14"/>
          <p:cNvSpPr/>
          <p:nvPr/>
        </p:nvSpPr>
        <p:spPr>
          <a:xfrm>
            <a:off x="6539087" y="1943100"/>
            <a:ext cx="5619750" cy="4855368"/>
          </a:xfrm>
          <a:prstGeom prst="rect">
            <a:avLst/>
          </a:prstGeom>
        </p:spPr>
        <p:txBody>
          <a:bodyPr wrap="square">
            <a:spAutoFit/>
          </a:bodyPr>
          <a:lstStyle/>
          <a:p>
            <a:pPr>
              <a:lnSpc>
                <a:spcPct val="165000"/>
              </a:lnSpc>
            </a:pPr>
            <a:r>
              <a:rPr lang="en-US" sz="3200" dirty="0"/>
              <a:t>Then stay in the same state, </a:t>
            </a:r>
          </a:p>
          <a:p>
            <a:pPr>
              <a:lnSpc>
                <a:spcPct val="165000"/>
              </a:lnSpc>
            </a:pPr>
            <a:r>
              <a:rPr lang="en-US" sz="3200" dirty="0"/>
              <a:t>In the first tape, delete the symbol by moving right, </a:t>
            </a:r>
          </a:p>
          <a:p>
            <a:pPr>
              <a:lnSpc>
                <a:spcPct val="165000"/>
              </a:lnSpc>
            </a:pPr>
            <a:r>
              <a:rPr lang="en-US" sz="3200" dirty="0"/>
              <a:t>In the second tape, do not change tape symbol and not move.</a:t>
            </a:r>
          </a:p>
        </p:txBody>
      </p:sp>
    </p:spTree>
    <p:extLst>
      <p:ext uri="{BB962C8B-B14F-4D97-AF65-F5344CB8AC3E}">
        <p14:creationId xmlns:p14="http://schemas.microsoft.com/office/powerpoint/2010/main" val="2048751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Start Configuration of TM</a:t>
            </a:r>
          </a:p>
        </p:txBody>
      </p:sp>
      <p:sp>
        <p:nvSpPr>
          <p:cNvPr id="13" name="Dikdörtgen 12"/>
          <p:cNvSpPr/>
          <p:nvPr/>
        </p:nvSpPr>
        <p:spPr>
          <a:xfrm>
            <a:off x="7324199" y="1443115"/>
            <a:ext cx="4867801" cy="5262979"/>
          </a:xfrm>
          <a:prstGeom prst="rect">
            <a:avLst/>
          </a:prstGeom>
        </p:spPr>
        <p:txBody>
          <a:bodyPr wrap="square">
            <a:spAutoFit/>
          </a:bodyPr>
          <a:lstStyle/>
          <a:p>
            <a:r>
              <a:rPr lang="en-US" sz="2800" dirty="0"/>
              <a:t>The input is a string over the input alphabet Σ. Initially, this input string is stored on the first tape, and the head of this tape is on the leftmost symbol of the input string. Initially, all other k − 1 tapes are empty, i.e., only contain blank symbols, and the Turing machine is in the start state q.</a:t>
            </a:r>
          </a:p>
        </p:txBody>
      </p:sp>
      <p:pic>
        <p:nvPicPr>
          <p:cNvPr id="18" name="Resim 17"/>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291556" y="1638300"/>
            <a:ext cx="3875087" cy="419100"/>
          </a:xfrm>
          <a:prstGeom prst="rect">
            <a:avLst/>
          </a:prstGeom>
        </p:spPr>
      </p:pic>
      <p:pic>
        <p:nvPicPr>
          <p:cNvPr id="9" name="Resim 8"/>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600868" y="2057400"/>
            <a:ext cx="4165600" cy="2381250"/>
          </a:xfrm>
          <a:prstGeom prst="rect">
            <a:avLst/>
          </a:prstGeom>
        </p:spPr>
      </p:pic>
    </p:spTree>
    <p:extLst>
      <p:ext uri="{BB962C8B-B14F-4D97-AF65-F5344CB8AC3E}">
        <p14:creationId xmlns:p14="http://schemas.microsoft.com/office/powerpoint/2010/main" val="171903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Execution of TM</a:t>
            </a:r>
          </a:p>
        </p:txBody>
      </p:sp>
      <p:sp>
        <p:nvSpPr>
          <p:cNvPr id="13" name="Dikdörtgen 12"/>
          <p:cNvSpPr/>
          <p:nvPr/>
        </p:nvSpPr>
        <p:spPr>
          <a:xfrm>
            <a:off x="7324199" y="1443115"/>
            <a:ext cx="4867801" cy="3970318"/>
          </a:xfrm>
          <a:prstGeom prst="rect">
            <a:avLst/>
          </a:prstGeom>
        </p:spPr>
        <p:txBody>
          <a:bodyPr wrap="square">
            <a:spAutoFit/>
          </a:bodyPr>
          <a:lstStyle/>
          <a:p>
            <a:r>
              <a:rPr lang="en-US" sz="2800" dirty="0"/>
              <a:t>Starting in the start configuration, the Turing machine performs a sequence of computation steps as described before. The computation terminates at the moment when the Turing machine enters </a:t>
            </a:r>
            <a:r>
              <a:rPr lang="en-US" sz="2800" dirty="0" err="1"/>
              <a:t>q</a:t>
            </a:r>
            <a:r>
              <a:rPr lang="en-US" sz="2800" baseline="-25000" dirty="0" err="1"/>
              <a:t>accept</a:t>
            </a:r>
            <a:r>
              <a:rPr lang="en-US" sz="2800" dirty="0"/>
              <a:t> or </a:t>
            </a:r>
            <a:r>
              <a:rPr lang="en-US" sz="2800" dirty="0" err="1"/>
              <a:t>q</a:t>
            </a:r>
            <a:r>
              <a:rPr lang="en-US" sz="2800" baseline="-25000" dirty="0" err="1"/>
              <a:t>reject</a:t>
            </a:r>
            <a:r>
              <a:rPr lang="en-US" sz="2800" dirty="0"/>
              <a:t>. </a:t>
            </a:r>
          </a:p>
        </p:txBody>
      </p:sp>
      <p:pic>
        <p:nvPicPr>
          <p:cNvPr id="18" name="Resim 17"/>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291556" y="1638300"/>
            <a:ext cx="3875087" cy="419100"/>
          </a:xfrm>
          <a:prstGeom prst="rect">
            <a:avLst/>
          </a:prstGeom>
        </p:spPr>
      </p:pic>
      <p:pic>
        <p:nvPicPr>
          <p:cNvPr id="9" name="Resim 8"/>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1600868" y="2057400"/>
            <a:ext cx="4165600" cy="2381250"/>
          </a:xfrm>
          <a:prstGeom prst="rect">
            <a:avLst/>
          </a:prstGeom>
        </p:spPr>
      </p:pic>
    </p:spTree>
    <p:extLst>
      <p:ext uri="{BB962C8B-B14F-4D97-AF65-F5344CB8AC3E}">
        <p14:creationId xmlns:p14="http://schemas.microsoft.com/office/powerpoint/2010/main" val="3562614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Acceptance of TM</a:t>
            </a:r>
          </a:p>
        </p:txBody>
      </p:sp>
      <p:sp>
        <p:nvSpPr>
          <p:cNvPr id="13" name="Dikdörtgen 12"/>
          <p:cNvSpPr/>
          <p:nvPr/>
        </p:nvSpPr>
        <p:spPr>
          <a:xfrm>
            <a:off x="7324199" y="1062115"/>
            <a:ext cx="4867801" cy="3108543"/>
          </a:xfrm>
          <a:prstGeom prst="rect">
            <a:avLst/>
          </a:prstGeom>
        </p:spPr>
        <p:txBody>
          <a:bodyPr wrap="square">
            <a:spAutoFit/>
          </a:bodyPr>
          <a:lstStyle/>
          <a:p>
            <a:r>
              <a:rPr lang="en-US" sz="2800" dirty="0"/>
              <a:t>If the computation on the input string terminates in </a:t>
            </a:r>
            <a:r>
              <a:rPr lang="en-US" sz="2800" dirty="0" err="1"/>
              <a:t>q</a:t>
            </a:r>
            <a:r>
              <a:rPr lang="en-US" sz="2800" baseline="-25000" dirty="0" err="1"/>
              <a:t>accept</a:t>
            </a:r>
            <a:r>
              <a:rPr lang="en-US" sz="2800" dirty="0"/>
              <a:t>, the Turing machine M accepts this input. If the computation on this input terminates in </a:t>
            </a:r>
            <a:r>
              <a:rPr lang="en-US" sz="2800" dirty="0" err="1"/>
              <a:t>q</a:t>
            </a:r>
            <a:r>
              <a:rPr lang="en-US" sz="2800" baseline="-25000" dirty="0" err="1"/>
              <a:t>reject</a:t>
            </a:r>
            <a:r>
              <a:rPr lang="en-US" sz="2800" dirty="0"/>
              <a:t>, then M rejects the input string.</a:t>
            </a:r>
          </a:p>
        </p:txBody>
      </p:sp>
      <p:pic>
        <p:nvPicPr>
          <p:cNvPr id="14" name="Resim 13"/>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00868" y="2057400"/>
            <a:ext cx="4165600" cy="2381250"/>
          </a:xfrm>
          <a:prstGeom prst="rect">
            <a:avLst/>
          </a:prstGeom>
        </p:spPr>
      </p:pic>
      <p:pic>
        <p:nvPicPr>
          <p:cNvPr id="6" name="Resim 5"/>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291556" y="1638300"/>
            <a:ext cx="3875087" cy="419100"/>
          </a:xfrm>
          <a:prstGeom prst="rect">
            <a:avLst/>
          </a:prstGeom>
        </p:spPr>
      </p:pic>
    </p:spTree>
    <p:extLst>
      <p:ext uri="{BB962C8B-B14F-4D97-AF65-F5344CB8AC3E}">
        <p14:creationId xmlns:p14="http://schemas.microsoft.com/office/powerpoint/2010/main" val="737841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Example</a:t>
            </a:r>
            <a:r>
              <a:rPr lang="tr-TR" dirty="0"/>
              <a:t> 1: </a:t>
            </a:r>
            <a:r>
              <a:rPr lang="en-US" dirty="0"/>
              <a:t>Palindromes using one tape</a:t>
            </a:r>
          </a:p>
        </p:txBody>
      </p:sp>
      <p:pic>
        <p:nvPicPr>
          <p:cNvPr id="3" name="Resi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9958" y="1143000"/>
            <a:ext cx="7620000" cy="5715000"/>
          </a:xfrm>
          <a:prstGeom prst="rect">
            <a:avLst/>
          </a:prstGeom>
        </p:spPr>
      </p:pic>
    </p:spTree>
    <p:extLst>
      <p:ext uri="{BB962C8B-B14F-4D97-AF65-F5344CB8AC3E}">
        <p14:creationId xmlns:p14="http://schemas.microsoft.com/office/powerpoint/2010/main" val="4282579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Example</a:t>
            </a:r>
            <a:r>
              <a:rPr lang="tr-TR" dirty="0"/>
              <a:t> 1: </a:t>
            </a:r>
            <a:r>
              <a:rPr lang="en-US" dirty="0"/>
              <a:t>Palindromes using one tape</a:t>
            </a:r>
          </a:p>
        </p:txBody>
      </p:sp>
      <p:pic>
        <p:nvPicPr>
          <p:cNvPr id="2" name="Resim 1"/>
          <p:cNvPicPr>
            <a:picLocks noChangeAspect="1"/>
          </p:cNvPicPr>
          <p:nvPr/>
        </p:nvPicPr>
        <p:blipFill>
          <a:blip r:embed="rId3"/>
          <a:stretch>
            <a:fillRect/>
          </a:stretch>
        </p:blipFill>
        <p:spPr>
          <a:xfrm>
            <a:off x="1449080" y="1502415"/>
            <a:ext cx="9555804" cy="3371189"/>
          </a:xfrm>
          <a:prstGeom prst="rect">
            <a:avLst/>
          </a:prstGeom>
        </p:spPr>
      </p:pic>
      <p:pic>
        <p:nvPicPr>
          <p:cNvPr id="6" name="Resim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72527" y="5005137"/>
            <a:ext cx="2470484" cy="1852863"/>
          </a:xfrm>
          <a:prstGeom prst="rect">
            <a:avLst/>
          </a:prstGeom>
        </p:spPr>
      </p:pic>
    </p:spTree>
    <p:extLst>
      <p:ext uri="{BB962C8B-B14F-4D97-AF65-F5344CB8AC3E}">
        <p14:creationId xmlns:p14="http://schemas.microsoft.com/office/powerpoint/2010/main" val="2667012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9972899"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Example</a:t>
            </a:r>
            <a:r>
              <a:rPr lang="tr-TR" dirty="0"/>
              <a:t> 2</a:t>
            </a:r>
            <a:r>
              <a:rPr lang="en-US" dirty="0"/>
              <a:t>: Palindromes using two tapes</a:t>
            </a:r>
          </a:p>
        </p:txBody>
      </p:sp>
      <p:pic>
        <p:nvPicPr>
          <p:cNvPr id="4" name="Resim 3"/>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523902" y="1521227"/>
            <a:ext cx="7351528" cy="3227234"/>
          </a:xfrm>
          <a:prstGeom prst="rect">
            <a:avLst/>
          </a:prstGeom>
        </p:spPr>
      </p:pic>
      <p:pic>
        <p:nvPicPr>
          <p:cNvPr id="9" name="Resim 8"/>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523902" y="3304671"/>
            <a:ext cx="2999873" cy="2476274"/>
          </a:xfrm>
          <a:prstGeom prst="rect">
            <a:avLst/>
          </a:prstGeom>
        </p:spPr>
      </p:pic>
    </p:spTree>
    <p:extLst>
      <p:ext uri="{BB962C8B-B14F-4D97-AF65-F5344CB8AC3E}">
        <p14:creationId xmlns:p14="http://schemas.microsoft.com/office/powerpoint/2010/main" val="3356935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endParaRPr lang="en-US" sz="2800" dirty="0"/>
          </a:p>
          <a:p>
            <a:r>
              <a:rPr lang="en-US" sz="2800" dirty="0"/>
              <a:t>That’s all.</a:t>
            </a:r>
          </a:p>
          <a:p>
            <a:endParaRPr lang="en-US" sz="2800" dirty="0"/>
          </a:p>
          <a:p>
            <a:r>
              <a:rPr lang="en-US" altLang="tr-TR" sz="2800" dirty="0"/>
              <a:t>Thanks for listening.</a:t>
            </a:r>
          </a:p>
        </p:txBody>
      </p:sp>
    </p:spTree>
    <p:extLst>
      <p:ext uri="{BB962C8B-B14F-4D97-AF65-F5344CB8AC3E}">
        <p14:creationId xmlns:p14="http://schemas.microsoft.com/office/powerpoint/2010/main" val="1935104993"/>
      </p:ext>
    </p:extLst>
  </p:cSld>
  <p:clrMapOvr>
    <a:masterClrMapping/>
  </p:clrMapOvr>
</p:sld>
</file>

<file path=ppt/theme/theme1.xml><?xml version="1.0" encoding="utf-8"?>
<a:theme xmlns:a="http://schemas.openxmlformats.org/drawingml/2006/main" name="Duman">
  <a:themeElements>
    <a:clrScheme name="Turuncu Kırmız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uma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3139</TotalTime>
  <Words>2228</Words>
  <Application>Microsoft Macintosh PowerPoint</Application>
  <PresentationFormat>Geniş ekran</PresentationFormat>
  <Paragraphs>128</Paragraphs>
  <Slides>21</Slides>
  <Notes>21</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21</vt:i4>
      </vt:variant>
    </vt:vector>
  </HeadingPairs>
  <TitlesOfParts>
    <vt:vector size="26" baseType="lpstr">
      <vt:lpstr>Arial</vt:lpstr>
      <vt:lpstr>Calibri</vt:lpstr>
      <vt:lpstr>Century Gothic</vt:lpstr>
      <vt:lpstr>Wingdings 3</vt:lpstr>
      <vt:lpstr>Duman</vt:lpstr>
      <vt:lpstr> Theory of Computation  Lesson 10</vt:lpstr>
      <vt:lpstr>Turing Machines</vt:lpstr>
      <vt:lpstr>Turing Machines</vt:lpstr>
      <vt:lpstr>Turing Machines</vt:lpstr>
      <vt:lpstr>Turing Machines</vt:lpstr>
      <vt:lpstr>Turing Machines</vt:lpstr>
      <vt:lpstr>Turing Machines</vt:lpstr>
      <vt:lpstr>Turing Machines</vt:lpstr>
      <vt:lpstr>Formal Definition</vt:lpstr>
      <vt:lpstr>A Sample Delta Rule</vt:lpstr>
      <vt:lpstr>A Sample Delta Rule</vt:lpstr>
      <vt:lpstr>A Sample Delta Rule</vt:lpstr>
      <vt:lpstr>A Sample Delta Rule</vt:lpstr>
      <vt:lpstr>A Sample Delta Rule</vt:lpstr>
      <vt:lpstr>Start Configuration of TM</vt:lpstr>
      <vt:lpstr>Execution of TM</vt:lpstr>
      <vt:lpstr>Acceptance of TM</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Computation</dc:title>
  <dc:creator>Prof.Dr. Umut ORHAN</dc:creator>
  <cp:lastModifiedBy>Prof.Dr. Umut ORHAN</cp:lastModifiedBy>
  <cp:revision>237</cp:revision>
  <dcterms:created xsi:type="dcterms:W3CDTF">2022-09-29T06:50:07Z</dcterms:created>
  <dcterms:modified xsi:type="dcterms:W3CDTF">2025-11-21T06:46:11Z</dcterms:modified>
</cp:coreProperties>
</file>