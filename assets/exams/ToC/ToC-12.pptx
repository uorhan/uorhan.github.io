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16"/>
  </p:notesMasterIdLst>
  <p:sldIdLst>
    <p:sldId id="404" r:id="rId2"/>
    <p:sldId id="369" r:id="rId3"/>
    <p:sldId id="285" r:id="rId4"/>
    <p:sldId id="403" r:id="rId5"/>
    <p:sldId id="394" r:id="rId6"/>
    <p:sldId id="395" r:id="rId7"/>
    <p:sldId id="397" r:id="rId8"/>
    <p:sldId id="396" r:id="rId9"/>
    <p:sldId id="399" r:id="rId10"/>
    <p:sldId id="402" r:id="rId11"/>
    <p:sldId id="400" r:id="rId12"/>
    <p:sldId id="398" r:id="rId13"/>
    <p:sldId id="385" r:id="rId14"/>
    <p:sldId id="31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B"/>
    <a:srgbClr val="CCFF99"/>
    <a:srgbClr val="4F75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95101" autoAdjust="0"/>
  </p:normalViewPr>
  <p:slideViewPr>
    <p:cSldViewPr snapToGrid="0">
      <p:cViewPr varScale="1">
        <p:scale>
          <a:sx n="101" d="100"/>
          <a:sy n="101" d="100"/>
        </p:scale>
        <p:origin x="1464" y="184"/>
      </p:cViewPr>
      <p:guideLst/>
    </p:cSldViewPr>
  </p:slideViewPr>
  <p:outlineViewPr>
    <p:cViewPr>
      <p:scale>
        <a:sx n="33" d="100"/>
        <a:sy n="33" d="100"/>
      </p:scale>
      <p:origin x="0" y="-54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This is the lesson </a:t>
            </a:r>
            <a:r>
              <a:rPr lang="tr-TR" noProof="0" dirty="0" err="1"/>
              <a:t>twelve</a:t>
            </a:r>
            <a:r>
              <a:rPr lang="en-US" noProof="0" dirty="0"/>
              <a:t> in Theory of Computation. We go on to the decidability chapter. </a:t>
            </a:r>
            <a:r>
              <a:rPr lang="tr-TR" noProof="0" dirty="0" err="1"/>
              <a:t>In</a:t>
            </a:r>
            <a:r>
              <a:rPr lang="tr-TR" noProof="0" dirty="0"/>
              <a:t> </a:t>
            </a:r>
            <a:r>
              <a:rPr lang="tr-TR" noProof="0" dirty="0" err="1"/>
              <a:t>this</a:t>
            </a:r>
            <a:r>
              <a:rPr lang="tr-TR" noProof="0" dirty="0"/>
              <a:t> </a:t>
            </a:r>
            <a:r>
              <a:rPr lang="tr-TR" noProof="0" dirty="0" err="1"/>
              <a:t>lesson</a:t>
            </a:r>
            <a:r>
              <a:rPr lang="en-US" noProof="0" dirty="0"/>
              <a:t>, we will talk about Countable &amp; Un-countable Languages.</a:t>
            </a:r>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3177087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We must first begin by defining the term cardinality. Later we will talk about the cardinality of the set of numbers and countable sets.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Simply, Cardinality is a measure of the number of elements of a set. For example, the set A contains four elements a, b, a-b, b-a, and therefore the cardinality of the set A is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In other words, the size or cardinality of A is 4. You may remember this term from your background in set theory.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Mostly in mathematics, students use this term for a finite number of sets. But, what about those with infinite elements? For example, what is the cardinality of a language-L made up of binary words?</a:t>
            </a:r>
            <a:endParaRPr lang="tr-TR" sz="1200" i="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1693972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Any set X with cardinality less than that of the natural numbers is said to be a countable or finite set.</a:t>
            </a:r>
          </a:p>
          <a:p>
            <a:r>
              <a:rPr lang="en-US" sz="1200" b="0" i="0" u="none" strike="noStrike" kern="1200" baseline="0" dirty="0">
                <a:solidFill>
                  <a:schemeClr val="tx1"/>
                </a:solidFill>
                <a:latin typeface="+mn-lt"/>
                <a:ea typeface="+mn-ea"/>
                <a:cs typeface="+mn-cs"/>
              </a:rPr>
              <a:t>Any set X that has the same cardinality as the set of the natural numbers is said to be a countable or countably infinite set. Notice that both finite and countably infinite are called countable here.</a:t>
            </a:r>
          </a:p>
          <a:p>
            <a:r>
              <a:rPr lang="en-US" sz="1200" b="0" i="0" u="none" strike="noStrike" kern="1200" baseline="0" dirty="0">
                <a:solidFill>
                  <a:schemeClr val="tx1"/>
                </a:solidFill>
                <a:latin typeface="+mn-lt"/>
                <a:ea typeface="+mn-ea"/>
                <a:cs typeface="+mn-cs"/>
              </a:rPr>
              <a:t>Any set X with cardinality greater than that of the natural numbers is said to be uncountable.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Therefore, we will focus on counting using Natural numbers.</a:t>
            </a:r>
          </a:p>
        </p:txBody>
      </p:sp>
      <p:sp>
        <p:nvSpPr>
          <p:cNvPr id="4" name="Slayt Numarası Yer Tutucusu 3"/>
          <p:cNvSpPr>
            <a:spLocks noGrp="1"/>
          </p:cNvSpPr>
          <p:nvPr>
            <p:ph type="sldNum" sz="quarter" idx="5"/>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1096034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set of integers is Countable. </a:t>
            </a:r>
          </a:p>
          <a:p>
            <a:r>
              <a:rPr lang="en-US" sz="1200" b="0" i="0" u="none" strike="noStrike" kern="1200" baseline="0" dirty="0">
                <a:solidFill>
                  <a:schemeClr val="tx1"/>
                </a:solidFill>
                <a:latin typeface="+mn-lt"/>
                <a:ea typeface="+mn-ea"/>
                <a:cs typeface="+mn-cs"/>
              </a:rPr>
              <a:t>Here, with a little animation, we show how we label integers with the elements of the set of natural numbers, in other words, how we count. The number line of the set of natural numbers is used by stretching it as if it were made of rubber to count a set that appears to be twice as long as itself.</a:t>
            </a:r>
            <a:r>
              <a:rPr lang="tr-TR"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Now you can imagine how we could use natural numbers to count other sets.</a:t>
            </a:r>
          </a:p>
        </p:txBody>
      </p:sp>
      <p:sp>
        <p:nvSpPr>
          <p:cNvPr id="4" name="Slayt Numarası Yer Tutucusu 3"/>
          <p:cNvSpPr>
            <a:spLocks noGrp="1"/>
          </p:cNvSpPr>
          <p:nvPr>
            <p:ph type="sldNum" sz="quarter" idx="5"/>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40463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set of </a:t>
            </a:r>
            <a:r>
              <a:rPr lang="en-US" sz="1200" dirty="0"/>
              <a:t>Kleene star </a:t>
            </a:r>
            <a:r>
              <a:rPr lang="en-US" sz="1200" b="0" i="0" u="none" strike="noStrike" kern="1200" baseline="0" dirty="0">
                <a:solidFill>
                  <a:schemeClr val="tx1"/>
                </a:solidFill>
                <a:latin typeface="+mn-lt"/>
                <a:ea typeface="+mn-ea"/>
                <a:cs typeface="+mn-cs"/>
              </a:rPr>
              <a:t>is Countable. </a:t>
            </a:r>
            <a:endParaRPr lang="tr-TR"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Here our sigma contains only symbols a and b. Sigma star starts with epsilon and it contains strings a, b, a-a, a-b, b-a, b-b etc. When we use natural numbers to count all the elements in a sigma star, a pyramid and a red spiral are made as follows. Here, red numbers are natural numbers. You see, counting the set of Kleene star is easy.</a:t>
            </a:r>
          </a:p>
        </p:txBody>
      </p:sp>
      <p:sp>
        <p:nvSpPr>
          <p:cNvPr id="4" name="Slayt Numarası Yer Tutucusu 3"/>
          <p:cNvSpPr>
            <a:spLocks noGrp="1"/>
          </p:cNvSpPr>
          <p:nvPr>
            <p:ph type="sldNum" sz="quarter" idx="5"/>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1008382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set of rational numbers is also countable.</a:t>
            </a:r>
          </a:p>
          <a:p>
            <a:r>
              <a:rPr lang="en-US" sz="1200" b="0" i="0" u="none" strike="noStrike" kern="1200" baseline="0" dirty="0">
                <a:solidFill>
                  <a:schemeClr val="tx1"/>
                </a:solidFill>
                <a:latin typeface="+mn-lt"/>
                <a:ea typeface="+mn-ea"/>
                <a:cs typeface="+mn-cs"/>
              </a:rPr>
              <a:t>In this representation, we first need to remember that rational numbers are calculated by taking the ratio of two integers to each other. With this logic, in a two-dimensional table, the rows change the numerator value and the columns change the denominator value. After preparing such a table, natural numbers start counting rational numbers using Cantor's zigzag labeling method. The example on the right shows which rational number is marked by a few natural number labels.</a:t>
            </a:r>
          </a:p>
        </p:txBody>
      </p:sp>
      <p:sp>
        <p:nvSpPr>
          <p:cNvPr id="4" name="Slayt Numarası Yer Tutucusu 3"/>
          <p:cNvSpPr>
            <a:spLocks noGrp="1"/>
          </p:cNvSpPr>
          <p:nvPr>
            <p:ph type="sldNum" sz="quarter" idx="5"/>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1080725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Both integers and rational numbers are countable with this logic. But what about the set of real numbers?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Is it also a countable set? Could Cantor's zigzag labeling method be used here as well? Considering that the real numbers are indeed an incredibly large set, we can say that this will not be enough.</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Okay, but have you heard of Cantor's diagonal argument?</a:t>
            </a:r>
          </a:p>
        </p:txBody>
      </p:sp>
      <p:sp>
        <p:nvSpPr>
          <p:cNvPr id="4" name="Slayt Numarası Yer Tutucusu 3"/>
          <p:cNvSpPr>
            <a:spLocks noGrp="1"/>
          </p:cNvSpPr>
          <p:nvPr>
            <p:ph type="sldNum" sz="quarter" idx="5"/>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2707138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Here we will see Cantor's diagonal argument about real numbers. </a:t>
            </a:r>
            <a:endParaRPr lang="tr-TR" sz="1200" b="0" i="0" u="none" strike="noStrike" kern="1200" baseline="0" dirty="0">
              <a:solidFill>
                <a:schemeClr val="tx1"/>
              </a:solidFill>
              <a:latin typeface="+mn-lt"/>
              <a:ea typeface="+mn-ea"/>
              <a:cs typeface="+mn-cs"/>
            </a:endParaRPr>
          </a:p>
          <a:p>
            <a:endParaRPr lang="tr-TR"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Considering that the real numbers are very large, it was thought that it would be very difficult to discard the integer part and label only the real numbers between 0 and 1.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Therefore, after the point, infinite numbers that are assumed to be of infinite length are written one down the other. In the example here, the numbers are specifically mixed up. After all, we can say that this is not a concern as we have to write infinite numbers.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After this process, each digit on the diagonal in the list is marked in red. Like the first digit after the dot in the first line, the second digit after the dot in the second line.</a:t>
            </a:r>
          </a:p>
        </p:txBody>
      </p:sp>
      <p:sp>
        <p:nvSpPr>
          <p:cNvPr id="4" name="Slayt Numarası Yer Tutucusu 3"/>
          <p:cNvSpPr>
            <a:spLocks noGrp="1"/>
          </p:cNvSpPr>
          <p:nvPr>
            <p:ph type="sldNum" sz="quarter" idx="5"/>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226611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Selected red digits are written at the bottom and it is evaluated whether there is a new number. Do you think it could be a new number?</a:t>
            </a:r>
          </a:p>
        </p:txBody>
      </p:sp>
      <p:sp>
        <p:nvSpPr>
          <p:cNvPr id="4" name="Slayt Numarası Yer Tutucusu 3"/>
          <p:cNvSpPr>
            <a:spLocks noGrp="1"/>
          </p:cNvSpPr>
          <p:nvPr>
            <p:ph type="sldNum" sz="quarter" idx="5"/>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4031801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You can say No. The red number is probably somewhere in the list.</a:t>
            </a:r>
          </a:p>
        </p:txBody>
      </p:sp>
      <p:sp>
        <p:nvSpPr>
          <p:cNvPr id="4" name="Slayt Numarası Yer Tutucusu 3"/>
          <p:cNvSpPr>
            <a:spLocks noGrp="1"/>
          </p:cNvSpPr>
          <p:nvPr>
            <p:ph type="sldNum" sz="quarter" idx="5"/>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4143133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And now it's magic time.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We will try a method to write a new number. Each digit on the diagonal marked in red is changed and written at the bottom. If the first digit is 2 then we have to write a digit other than the number 2. Here we started with 7. Red 9 appears in the second digit. So we have to find a different number. In the figure, 4 is written instead. So we try to write a new number.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number has been written, but we need to explain with a logical explanation that the new number is really new.</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bottom number is different from the first row because its first digit is changed, and it is also different from the second row because its second digit is changed. This explanation goes on like this to an infinite number of numbers. Therefore, it is considered that a new number has been added, and we say that it is not possible to count real numbers with natural numbers.</a:t>
            </a:r>
          </a:p>
        </p:txBody>
      </p:sp>
      <p:sp>
        <p:nvSpPr>
          <p:cNvPr id="4" name="Slayt Numarası Yer Tutucusu 3"/>
          <p:cNvSpPr>
            <a:spLocks noGrp="1"/>
          </p:cNvSpPr>
          <p:nvPr>
            <p:ph type="sldNum" sz="quarter" idx="5"/>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81702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If Cantor's diagonal argument is applied on the set of all languages over a ﬁnite alphabet such as binary symbols.</a:t>
            </a:r>
          </a:p>
          <a:p>
            <a:r>
              <a:rPr lang="en-US" sz="1200" b="0" i="0" u="none" strike="noStrike" kern="1200" baseline="0" dirty="0">
                <a:solidFill>
                  <a:schemeClr val="tx1"/>
                </a:solidFill>
                <a:latin typeface="+mn-lt"/>
                <a:ea typeface="+mn-ea"/>
                <a:cs typeface="+mn-cs"/>
              </a:rPr>
              <a:t>We can first think of the symbols 0 and 1, then a and b in the same way.</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lists we have prepared here represent a set of infinitely long binary strings and, in fact, all possible languages. Again we make the diagonal red, try to add a new string below. But we say that it is not possible to count the set of all languages, since it is possible to add a new string here, as in real numbers.</a:t>
            </a:r>
          </a:p>
        </p:txBody>
      </p:sp>
      <p:sp>
        <p:nvSpPr>
          <p:cNvPr id="4" name="Slayt Numarası Yer Tutucusu 3"/>
          <p:cNvSpPr>
            <a:spLocks noGrp="1"/>
          </p:cNvSpPr>
          <p:nvPr>
            <p:ph type="sldNum" sz="quarter" idx="5"/>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921271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Now we will talk about the relationship between countable and enumerable languages.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P is an Enumerable problem or language, then the P is also Countable. But not vice versa. Because we know that sigma star is countable, so all its subsets are countable.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every countable language were enumerable, then every language would be decidable.</a:t>
            </a:r>
          </a:p>
          <a:p>
            <a:endParaRPr lang="en-US" noProof="0"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13</a:t>
            </a:fld>
            <a:endParaRPr lang="tr-TR"/>
          </a:p>
        </p:txBody>
      </p:sp>
    </p:spTree>
    <p:extLst>
      <p:ext uri="{BB962C8B-B14F-4D97-AF65-F5344CB8AC3E}">
        <p14:creationId xmlns:p14="http://schemas.microsoft.com/office/powerpoint/2010/main" val="1009693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14</a:t>
            </a:fld>
            <a:endParaRPr lang="tr-TR"/>
          </a:p>
        </p:txBody>
      </p:sp>
    </p:spTree>
    <p:extLst>
      <p:ext uri="{BB962C8B-B14F-4D97-AF65-F5344CB8AC3E}">
        <p14:creationId xmlns:p14="http://schemas.microsoft.com/office/powerpoint/2010/main" val="613840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 5"/>
          <p:cNvGrpSpPr/>
          <p:nvPr/>
        </p:nvGrpSpPr>
        <p:grpSpPr>
          <a:xfrm>
            <a:off x="3367039" y="449088"/>
            <a:ext cx="6545179" cy="3984368"/>
            <a:chOff x="4106779" y="326142"/>
            <a:chExt cx="6545179" cy="3984368"/>
          </a:xfrm>
        </p:grpSpPr>
        <p:pic>
          <p:nvPicPr>
            <p:cNvPr id="1026" name="Picture 2" descr="Reducibility &amp; Undecidable Problems"/>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8386" t="8380" r="17807" b="13529"/>
            <a:stretch/>
          </p:blipFill>
          <p:spPr bwMode="auto">
            <a:xfrm rot="2485983">
              <a:off x="4347410" y="326142"/>
              <a:ext cx="4363453" cy="3288632"/>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p:cNvSpPr txBox="1"/>
            <p:nvPr/>
          </p:nvSpPr>
          <p:spPr>
            <a:xfrm>
              <a:off x="4106779" y="2833182"/>
              <a:ext cx="6545179" cy="147732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tr-TR" dirty="0"/>
                <a:t> </a:t>
              </a:r>
            </a:p>
            <a:p>
              <a:endParaRPr lang="tr-TR" dirty="0"/>
            </a:p>
            <a:p>
              <a:endParaRPr lang="tr-TR" dirty="0"/>
            </a:p>
            <a:p>
              <a:endParaRPr lang="tr-TR" dirty="0"/>
            </a:p>
            <a:p>
              <a:endParaRPr lang="en-US" dirty="0"/>
            </a:p>
          </p:txBody>
        </p:sp>
      </p:grpSp>
      <p:sp>
        <p:nvSpPr>
          <p:cNvPr id="2" name="Unvan 1"/>
          <p:cNvSpPr>
            <a:spLocks noGrp="1"/>
          </p:cNvSpPr>
          <p:nvPr>
            <p:ph type="ctrTitle"/>
          </p:nvPr>
        </p:nvSpPr>
        <p:spPr>
          <a:xfrm>
            <a:off x="1927058" y="2714806"/>
            <a:ext cx="8915399" cy="2262781"/>
          </a:xfrm>
        </p:spPr>
        <p:txBody>
          <a:bodyPr>
            <a:normAutofit/>
          </a:bodyPr>
          <a:lstStyle/>
          <a:p>
            <a:pPr algn="ctr"/>
            <a:r>
              <a:rPr lang="tr-TR" sz="800" dirty="0"/>
              <a:t> </a:t>
            </a:r>
            <a:br>
              <a:rPr lang="en-US" dirty="0"/>
            </a:br>
            <a:r>
              <a:rPr lang="en-US" dirty="0"/>
              <a:t>Theory of Computation </a:t>
            </a:r>
            <a:br>
              <a:rPr lang="tr-TR" dirty="0"/>
            </a:br>
            <a:br>
              <a:rPr lang="tr-TR" sz="3100" dirty="0"/>
            </a:br>
            <a:r>
              <a:rPr lang="tr-TR" sz="800" dirty="0"/>
              <a:t> </a:t>
            </a:r>
            <a:endParaRPr lang="en-US" sz="4000" dirty="0"/>
          </a:p>
        </p:txBody>
      </p:sp>
      <p:sp>
        <p:nvSpPr>
          <p:cNvPr id="3" name="Alt Başlık 2"/>
          <p:cNvSpPr>
            <a:spLocks noGrp="1"/>
          </p:cNvSpPr>
          <p:nvPr>
            <p:ph type="subTitle" idx="1"/>
          </p:nvPr>
        </p:nvSpPr>
        <p:spPr>
          <a:xfrm>
            <a:off x="1927058" y="4761878"/>
            <a:ext cx="8915399" cy="1126283"/>
          </a:xfrm>
        </p:spPr>
        <p:txBody>
          <a:bodyPr>
            <a:normAutofit/>
          </a:bodyPr>
          <a:lstStyle/>
          <a:p>
            <a:pPr algn="ctr"/>
            <a:r>
              <a:rPr lang="en-US" sz="3200" b="1" dirty="0">
                <a:solidFill>
                  <a:srgbClr val="FF0000"/>
                </a:solidFill>
              </a:rPr>
              <a:t>Countable &amp; Uncountable Languages</a:t>
            </a:r>
            <a:endParaRPr lang="en-US" sz="3200" dirty="0">
              <a:solidFill>
                <a:srgbClr val="FF0000"/>
              </a:solidFill>
            </a:endParaRPr>
          </a:p>
        </p:txBody>
      </p:sp>
    </p:spTree>
    <p:extLst>
      <p:ext uri="{BB962C8B-B14F-4D97-AF65-F5344CB8AC3E}">
        <p14:creationId xmlns:p14="http://schemas.microsoft.com/office/powerpoint/2010/main" val="661395491"/>
      </p:ext>
    </p:extLst>
  </p:cSld>
  <p:clrMapOvr>
    <a:masterClrMapping/>
  </p:clrMapOvr>
  <mc:AlternateContent xmlns:mc="http://schemas.openxmlformats.org/markup-compatibility/2006" xmlns:p14="http://schemas.microsoft.com/office/powerpoint/2010/main">
    <mc:Choice Requires="p14">
      <p:transition spd="slow" p14:dur="2000" advClick="0" advTm="14400"/>
    </mc:Choice>
    <mc:Fallback xmlns="">
      <p:transition spd="slow" advClick="0" advTm="144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çerik Yer Tutucusu 2"/>
          <p:cNvSpPr txBox="1">
            <a:spLocks/>
          </p:cNvSpPr>
          <p:nvPr/>
        </p:nvSpPr>
        <p:spPr>
          <a:xfrm>
            <a:off x="1601919" y="1640114"/>
            <a:ext cx="101890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Cardinality is simply a measure of the number of elements of a set. For example, the set A={a, b, ab, </a:t>
            </a:r>
            <a:r>
              <a:rPr lang="en-US" sz="2800" dirty="0" err="1"/>
              <a:t>ba</a:t>
            </a:r>
            <a:r>
              <a:rPr lang="en-US" sz="2800" dirty="0"/>
              <a:t>} contains 4 elements, and therefore A has a cardinality of 4.</a:t>
            </a:r>
            <a:endParaRPr lang="tr-TR" sz="2800" dirty="0"/>
          </a:p>
          <a:p>
            <a:r>
              <a:rPr lang="tr-TR" sz="2800" i="1" dirty="0" err="1">
                <a:solidFill>
                  <a:srgbClr val="FF0000"/>
                </a:solidFill>
              </a:rPr>
              <a:t>The</a:t>
            </a:r>
            <a:r>
              <a:rPr lang="tr-TR" sz="2800" i="1" dirty="0">
                <a:solidFill>
                  <a:srgbClr val="FF0000"/>
                </a:solidFill>
              </a:rPr>
              <a:t> size </a:t>
            </a:r>
            <a:r>
              <a:rPr lang="tr-TR" sz="2800" i="1" dirty="0" err="1">
                <a:solidFill>
                  <a:srgbClr val="FF0000"/>
                </a:solidFill>
              </a:rPr>
              <a:t>or</a:t>
            </a:r>
            <a:r>
              <a:rPr lang="tr-TR" sz="2800" i="1" dirty="0">
                <a:solidFill>
                  <a:srgbClr val="FF0000"/>
                </a:solidFill>
              </a:rPr>
              <a:t> </a:t>
            </a:r>
            <a:r>
              <a:rPr lang="tr-TR" sz="2800" i="1" dirty="0" err="1">
                <a:solidFill>
                  <a:srgbClr val="FF0000"/>
                </a:solidFill>
              </a:rPr>
              <a:t>Cardinality</a:t>
            </a:r>
            <a:r>
              <a:rPr lang="tr-TR" sz="2800" i="1" dirty="0">
                <a:solidFill>
                  <a:srgbClr val="FF0000"/>
                </a:solidFill>
              </a:rPr>
              <a:t> of A is 4</a:t>
            </a:r>
            <a:endParaRPr lang="en-US" sz="2800" i="1" dirty="0"/>
          </a:p>
          <a:p>
            <a:r>
              <a:rPr lang="tr-TR" sz="2800" dirty="0"/>
              <a:t>|A|=4</a:t>
            </a:r>
          </a:p>
          <a:p>
            <a:pPr marL="0" indent="0">
              <a:buNone/>
            </a:pPr>
            <a:endParaRPr lang="tr-TR" sz="1050" dirty="0"/>
          </a:p>
          <a:p>
            <a:pPr marL="0" indent="0">
              <a:buNone/>
            </a:pPr>
            <a:r>
              <a:rPr lang="en-US" sz="2800" dirty="0"/>
              <a:t>But what about those with infinite elements? For example, what is the cardinality of a language-L made up of binary words?</a:t>
            </a:r>
          </a:p>
        </p:txBody>
      </p:sp>
      <p:sp>
        <p:nvSpPr>
          <p:cNvPr id="7" name="Unvan 3"/>
          <p:cNvSpPr txBox="1">
            <a:spLocks/>
          </p:cNvSpPr>
          <p:nvPr/>
        </p:nvSpPr>
        <p:spPr>
          <a:xfrm>
            <a:off x="2054083"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Cardinality</a:t>
            </a:r>
          </a:p>
        </p:txBody>
      </p:sp>
    </p:spTree>
    <p:extLst>
      <p:ext uri="{BB962C8B-B14F-4D97-AF65-F5344CB8AC3E}">
        <p14:creationId xmlns:p14="http://schemas.microsoft.com/office/powerpoint/2010/main" val="1082478469"/>
      </p:ext>
    </p:extLst>
  </p:cSld>
  <p:clrMapOvr>
    <a:masterClrMapping/>
  </p:clrMapOvr>
  <mc:AlternateContent xmlns:mc="http://schemas.openxmlformats.org/markup-compatibility/2006" xmlns:p14="http://schemas.microsoft.com/office/powerpoint/2010/main">
    <mc:Choice Requires="p14">
      <p:transition spd="slow" p14:dur="2000" advClick="0" advTm="34000"/>
    </mc:Choice>
    <mc:Fallback xmlns="">
      <p:transition spd="slow" advClick="0" advTm="34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Any set X with cardinality less than that of the natural numbers is said to be a </a:t>
            </a:r>
            <a:r>
              <a:rPr lang="en-US" sz="2800" b="1" dirty="0"/>
              <a:t>countable</a:t>
            </a:r>
            <a:r>
              <a:rPr lang="en-US" sz="2800" dirty="0"/>
              <a:t> </a:t>
            </a:r>
            <a:r>
              <a:rPr lang="tr-TR" sz="2800" dirty="0"/>
              <a:t>(</a:t>
            </a:r>
            <a:r>
              <a:rPr lang="en-US" sz="2800" dirty="0"/>
              <a:t>finite</a:t>
            </a:r>
            <a:r>
              <a:rPr lang="tr-TR" sz="2800" dirty="0"/>
              <a:t>)</a:t>
            </a:r>
            <a:r>
              <a:rPr lang="en-US" sz="2800" dirty="0"/>
              <a:t> set.</a:t>
            </a:r>
          </a:p>
          <a:p>
            <a:pPr>
              <a:buFont typeface="Wingdings" panose="05000000000000000000" pitchFamily="2" charset="2"/>
              <a:buChar char="ü"/>
            </a:pPr>
            <a:r>
              <a:rPr lang="en-US" sz="2800" dirty="0"/>
              <a:t>Any set X that has the same cardinality as the set of the natural numbers is said to be a </a:t>
            </a:r>
            <a:r>
              <a:rPr lang="en-US" sz="2800" b="1" dirty="0"/>
              <a:t>countable </a:t>
            </a:r>
            <a:r>
              <a:rPr lang="tr-TR" sz="2800" dirty="0"/>
              <a:t>(</a:t>
            </a:r>
            <a:r>
              <a:rPr lang="en-US" sz="2800" dirty="0"/>
              <a:t>countably infinite</a:t>
            </a:r>
            <a:r>
              <a:rPr lang="tr-TR" sz="2800" dirty="0"/>
              <a:t>)</a:t>
            </a:r>
            <a:r>
              <a:rPr lang="en-US" sz="2800" b="1" dirty="0"/>
              <a:t> </a:t>
            </a:r>
            <a:r>
              <a:rPr lang="en-US" sz="2800" dirty="0"/>
              <a:t>set.</a:t>
            </a:r>
          </a:p>
          <a:p>
            <a:pPr>
              <a:buFont typeface="Wingdings" panose="05000000000000000000" pitchFamily="2" charset="2"/>
              <a:buChar char="ü"/>
            </a:pPr>
            <a:r>
              <a:rPr lang="en-US" sz="2800" dirty="0"/>
              <a:t>Any set X with cardinality greater than that of the natural numbers is said to be </a:t>
            </a:r>
            <a:r>
              <a:rPr lang="en-US" sz="2800" b="1" dirty="0"/>
              <a:t>uncountable</a:t>
            </a:r>
            <a:r>
              <a:rPr lang="en-US" sz="2800" dirty="0"/>
              <a:t>.</a:t>
            </a:r>
            <a:endParaRPr lang="tr-TR" sz="2800" dirty="0"/>
          </a:p>
          <a:p>
            <a:pPr>
              <a:buFont typeface="Wingdings" panose="05000000000000000000" pitchFamily="2" charset="2"/>
              <a:buChar char="ü"/>
            </a:pPr>
            <a:endParaRPr lang="tr-TR" sz="2800" dirty="0"/>
          </a:p>
          <a:p>
            <a:pPr marL="0" indent="0">
              <a:buNone/>
            </a:pPr>
            <a:r>
              <a:rPr lang="en-US" sz="2800" dirty="0"/>
              <a:t>We will focus on counting using </a:t>
            </a:r>
            <a:r>
              <a:rPr lang="en-US" sz="2800" b="1" dirty="0"/>
              <a:t>Natural numbers</a:t>
            </a:r>
            <a:r>
              <a:rPr lang="en-US" sz="2800" dirty="0"/>
              <a:t>.</a:t>
            </a:r>
          </a:p>
        </p:txBody>
      </p:sp>
    </p:spTree>
    <p:extLst>
      <p:ext uri="{BB962C8B-B14F-4D97-AF65-F5344CB8AC3E}">
        <p14:creationId xmlns:p14="http://schemas.microsoft.com/office/powerpoint/2010/main" val="1143300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The set of integer numbers is </a:t>
            </a:r>
            <a:r>
              <a:rPr lang="en-US" sz="2800" b="1" dirty="0"/>
              <a:t>Countable</a:t>
            </a:r>
            <a:r>
              <a:rPr lang="en-US" sz="2800" dirty="0"/>
              <a:t>.</a:t>
            </a:r>
          </a:p>
        </p:txBody>
      </p:sp>
      <p:pic>
        <p:nvPicPr>
          <p:cNvPr id="2" name="Resi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8211" y="3067050"/>
            <a:ext cx="6096000" cy="3429000"/>
          </a:xfrm>
          <a:prstGeom prst="rect">
            <a:avLst/>
          </a:prstGeom>
        </p:spPr>
      </p:pic>
    </p:spTree>
    <p:extLst>
      <p:ext uri="{BB962C8B-B14F-4D97-AF65-F5344CB8AC3E}">
        <p14:creationId xmlns:p14="http://schemas.microsoft.com/office/powerpoint/2010/main" val="2976454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3" name="Serbest Form 2"/>
          <p:cNvSpPr/>
          <p:nvPr/>
        </p:nvSpPr>
        <p:spPr>
          <a:xfrm>
            <a:off x="3118982" y="3083385"/>
            <a:ext cx="6883494" cy="2352806"/>
          </a:xfrm>
          <a:custGeom>
            <a:avLst/>
            <a:gdLst>
              <a:gd name="connsiteX0" fmla="*/ 3107157 w 6883494"/>
              <a:gd name="connsiteY0" fmla="*/ 492022 h 2352806"/>
              <a:gd name="connsiteX1" fmla="*/ 3754429 w 6883494"/>
              <a:gd name="connsiteY1" fmla="*/ 481748 h 2352806"/>
              <a:gd name="connsiteX2" fmla="*/ 4216766 w 6883494"/>
              <a:gd name="connsiteY2" fmla="*/ 728327 h 2352806"/>
              <a:gd name="connsiteX3" fmla="*/ 3846897 w 6883494"/>
              <a:gd name="connsiteY3" fmla="*/ 1057100 h 2352806"/>
              <a:gd name="connsiteX4" fmla="*/ 2459885 w 6883494"/>
              <a:gd name="connsiteY4" fmla="*/ 1077649 h 2352806"/>
              <a:gd name="connsiteX5" fmla="*/ 2326321 w 6883494"/>
              <a:gd name="connsiteY5" fmla="*/ 522844 h 2352806"/>
              <a:gd name="connsiteX6" fmla="*/ 3692784 w 6883494"/>
              <a:gd name="connsiteY6" fmla="*/ 255716 h 2352806"/>
              <a:gd name="connsiteX7" fmla="*/ 5275005 w 6883494"/>
              <a:gd name="connsiteY7" fmla="*/ 1046826 h 2352806"/>
              <a:gd name="connsiteX8" fmla="*/ 5151715 w 6883494"/>
              <a:gd name="connsiteY8" fmla="*/ 1519437 h 2352806"/>
              <a:gd name="connsiteX9" fmla="*/ 1576308 w 6883494"/>
              <a:gd name="connsiteY9" fmla="*/ 1611905 h 2352806"/>
              <a:gd name="connsiteX10" fmla="*/ 2367418 w 6883494"/>
              <a:gd name="connsiteY10" fmla="*/ 296813 h 2352806"/>
              <a:gd name="connsiteX11" fmla="*/ 4617458 w 6883494"/>
              <a:gd name="connsiteY11" fmla="*/ 142700 h 2352806"/>
              <a:gd name="connsiteX12" fmla="*/ 6733935 w 6883494"/>
              <a:gd name="connsiteY12" fmla="*/ 2022871 h 2352806"/>
              <a:gd name="connsiteX13" fmla="*/ 261216 w 6883494"/>
              <a:gd name="connsiteY13" fmla="*/ 2176984 h 2352806"/>
              <a:gd name="connsiteX14" fmla="*/ 1884533 w 6883494"/>
              <a:gd name="connsiteY14" fmla="*/ 183797 h 235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83494" h="2352806">
                <a:moveTo>
                  <a:pt x="3107157" y="492022"/>
                </a:moveTo>
                <a:cubicBezTo>
                  <a:pt x="3338325" y="467193"/>
                  <a:pt x="3569494" y="442364"/>
                  <a:pt x="3754429" y="481748"/>
                </a:cubicBezTo>
                <a:cubicBezTo>
                  <a:pt x="3939364" y="521132"/>
                  <a:pt x="4201355" y="632435"/>
                  <a:pt x="4216766" y="728327"/>
                </a:cubicBezTo>
                <a:cubicBezTo>
                  <a:pt x="4232177" y="824219"/>
                  <a:pt x="4139711" y="998880"/>
                  <a:pt x="3846897" y="1057100"/>
                </a:cubicBezTo>
                <a:cubicBezTo>
                  <a:pt x="3554084" y="1115320"/>
                  <a:pt x="2713314" y="1166692"/>
                  <a:pt x="2459885" y="1077649"/>
                </a:cubicBezTo>
                <a:cubicBezTo>
                  <a:pt x="2206456" y="988606"/>
                  <a:pt x="2120838" y="659833"/>
                  <a:pt x="2326321" y="522844"/>
                </a:cubicBezTo>
                <a:cubicBezTo>
                  <a:pt x="2531804" y="385855"/>
                  <a:pt x="3201337" y="168386"/>
                  <a:pt x="3692784" y="255716"/>
                </a:cubicBezTo>
                <a:cubicBezTo>
                  <a:pt x="4184231" y="343046"/>
                  <a:pt x="5031850" y="836206"/>
                  <a:pt x="5275005" y="1046826"/>
                </a:cubicBezTo>
                <a:cubicBezTo>
                  <a:pt x="5518160" y="1257446"/>
                  <a:pt x="5768165" y="1425257"/>
                  <a:pt x="5151715" y="1519437"/>
                </a:cubicBezTo>
                <a:cubicBezTo>
                  <a:pt x="4535265" y="1613617"/>
                  <a:pt x="2040357" y="1815676"/>
                  <a:pt x="1576308" y="1611905"/>
                </a:cubicBezTo>
                <a:cubicBezTo>
                  <a:pt x="1112259" y="1408134"/>
                  <a:pt x="1860560" y="541680"/>
                  <a:pt x="2367418" y="296813"/>
                </a:cubicBezTo>
                <a:cubicBezTo>
                  <a:pt x="2874276" y="51946"/>
                  <a:pt x="3889705" y="-144976"/>
                  <a:pt x="4617458" y="142700"/>
                </a:cubicBezTo>
                <a:cubicBezTo>
                  <a:pt x="5345211" y="430376"/>
                  <a:pt x="7459975" y="1683824"/>
                  <a:pt x="6733935" y="2022871"/>
                </a:cubicBezTo>
                <a:cubicBezTo>
                  <a:pt x="6007895" y="2361918"/>
                  <a:pt x="1069450" y="2483496"/>
                  <a:pt x="261216" y="2176984"/>
                </a:cubicBezTo>
                <a:cubicBezTo>
                  <a:pt x="-547018" y="1870472"/>
                  <a:pt x="668757" y="1027134"/>
                  <a:pt x="1884533" y="183797"/>
                </a:cubicBezTo>
              </a:path>
            </a:pathLst>
          </a:custGeom>
          <a:ln>
            <a:solidFill>
              <a:srgbClr val="FF0000"/>
            </a:solidFill>
            <a:headEnd type="oval"/>
            <a:tailEnd type="triangle"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The set of Kleene star</a:t>
            </a:r>
            <a:r>
              <a:rPr lang="tr-TR" sz="2800" dirty="0"/>
              <a:t> (</a:t>
            </a:r>
            <a:r>
              <a:rPr lang="el-GR" sz="2800" dirty="0"/>
              <a:t>Σ</a:t>
            </a:r>
            <a:r>
              <a:rPr lang="tr-TR" sz="2800" dirty="0"/>
              <a:t>*)</a:t>
            </a:r>
            <a:r>
              <a:rPr lang="en-US" sz="2800" dirty="0"/>
              <a:t> is </a:t>
            </a:r>
            <a:r>
              <a:rPr lang="en-US" sz="2800" b="1" dirty="0"/>
              <a:t>Countable</a:t>
            </a:r>
            <a:r>
              <a:rPr lang="en-US" sz="2800" dirty="0"/>
              <a:t>.</a:t>
            </a:r>
            <a:endParaRPr lang="tr-TR" sz="2800" dirty="0"/>
          </a:p>
          <a:p>
            <a:pPr>
              <a:buFont typeface="Wingdings" panose="05000000000000000000" pitchFamily="2" charset="2"/>
              <a:buChar char="ü"/>
            </a:pPr>
            <a:r>
              <a:rPr lang="el-GR" sz="2800" dirty="0"/>
              <a:t>Σ</a:t>
            </a:r>
            <a:r>
              <a:rPr lang="tr-TR" sz="2800" dirty="0"/>
              <a:t>={a, b}				</a:t>
            </a:r>
            <a:r>
              <a:rPr lang="el-GR" sz="2800" dirty="0"/>
              <a:t>Σ</a:t>
            </a:r>
            <a:r>
              <a:rPr lang="tr-TR" sz="2800" dirty="0"/>
              <a:t>* = {</a:t>
            </a:r>
            <a:r>
              <a:rPr lang="el-GR" sz="2800" dirty="0"/>
              <a:t>ε</a:t>
            </a:r>
            <a:r>
              <a:rPr lang="tr-TR" sz="2800" dirty="0"/>
              <a:t>, a, b, </a:t>
            </a:r>
            <a:r>
              <a:rPr lang="tr-TR" sz="2800" dirty="0" err="1"/>
              <a:t>aa</a:t>
            </a:r>
            <a:r>
              <a:rPr lang="tr-TR" sz="2800" dirty="0"/>
              <a:t>, ab, </a:t>
            </a:r>
            <a:r>
              <a:rPr lang="tr-TR" sz="2800" dirty="0" err="1"/>
              <a:t>ba</a:t>
            </a:r>
            <a:r>
              <a:rPr lang="tr-TR" sz="2800" dirty="0"/>
              <a:t>, </a:t>
            </a:r>
            <a:r>
              <a:rPr lang="tr-TR" sz="2800" dirty="0" err="1"/>
              <a:t>bb</a:t>
            </a:r>
            <a:r>
              <a:rPr lang="tr-TR" sz="2800" dirty="0"/>
              <a:t>, </a:t>
            </a:r>
            <a:r>
              <a:rPr lang="tr-TR" sz="2800" dirty="0" err="1"/>
              <a:t>aaa</a:t>
            </a:r>
            <a:r>
              <a:rPr lang="tr-TR" sz="2800" dirty="0"/>
              <a:t>, …}</a:t>
            </a:r>
          </a:p>
          <a:p>
            <a:pPr marL="0" indent="0">
              <a:buNone/>
            </a:pPr>
            <a:endParaRPr lang="tr-TR" sz="2800" dirty="0"/>
          </a:p>
          <a:p>
            <a:pPr marL="0" indent="0">
              <a:buNone/>
            </a:pPr>
            <a:r>
              <a:rPr lang="tr-TR" sz="2800" dirty="0"/>
              <a:t>									</a:t>
            </a:r>
            <a:r>
              <a:rPr lang="el-GR" sz="2800" dirty="0"/>
              <a:t> ε</a:t>
            </a:r>
            <a:endParaRPr lang="tr-TR" sz="2800" dirty="0"/>
          </a:p>
          <a:p>
            <a:pPr marL="0" indent="0">
              <a:buNone/>
            </a:pPr>
            <a:r>
              <a:rPr lang="tr-TR" sz="2800" dirty="0"/>
              <a:t>								a		b</a:t>
            </a:r>
          </a:p>
          <a:p>
            <a:pPr marL="0" indent="0">
              <a:buNone/>
            </a:pPr>
            <a:r>
              <a:rPr lang="tr-TR" sz="2800" dirty="0"/>
              <a:t>						  aa	  ab	  ba	  bb</a:t>
            </a:r>
          </a:p>
          <a:p>
            <a:pPr marL="0" indent="0">
              <a:buNone/>
            </a:pPr>
            <a:r>
              <a:rPr lang="tr-TR" sz="2800" dirty="0"/>
              <a:t>		aaa	   aab	   aba	   abb	  …		…		   bbb</a:t>
            </a:r>
            <a:endParaRPr lang="en-US" sz="2800" dirty="0"/>
          </a:p>
        </p:txBody>
      </p:sp>
      <p:sp>
        <p:nvSpPr>
          <p:cNvPr id="9" name="Dikdörtgen 8"/>
          <p:cNvSpPr/>
          <p:nvPr/>
        </p:nvSpPr>
        <p:spPr>
          <a:xfrm>
            <a:off x="5966426" y="3444359"/>
            <a:ext cx="312906" cy="369332"/>
          </a:xfrm>
          <a:prstGeom prst="rect">
            <a:avLst/>
          </a:prstGeom>
        </p:spPr>
        <p:txBody>
          <a:bodyPr wrap="none">
            <a:spAutoFit/>
          </a:bodyPr>
          <a:lstStyle/>
          <a:p>
            <a:r>
              <a:rPr lang="tr-TR" dirty="0">
                <a:solidFill>
                  <a:srgbClr val="FF0000"/>
                </a:solidFill>
              </a:rPr>
              <a:t>0</a:t>
            </a:r>
            <a:endParaRPr lang="en-US" dirty="0">
              <a:solidFill>
                <a:srgbClr val="FF0000"/>
              </a:solidFill>
            </a:endParaRPr>
          </a:p>
        </p:txBody>
      </p:sp>
      <p:sp>
        <p:nvSpPr>
          <p:cNvPr id="10" name="Dikdörtgen 9"/>
          <p:cNvSpPr/>
          <p:nvPr/>
        </p:nvSpPr>
        <p:spPr>
          <a:xfrm>
            <a:off x="6814151" y="4104759"/>
            <a:ext cx="312906" cy="369332"/>
          </a:xfrm>
          <a:prstGeom prst="rect">
            <a:avLst/>
          </a:prstGeom>
        </p:spPr>
        <p:txBody>
          <a:bodyPr wrap="none">
            <a:spAutoFit/>
          </a:bodyPr>
          <a:lstStyle/>
          <a:p>
            <a:r>
              <a:rPr lang="tr-TR" dirty="0">
                <a:solidFill>
                  <a:srgbClr val="FF0000"/>
                </a:solidFill>
              </a:rPr>
              <a:t>1</a:t>
            </a:r>
            <a:endParaRPr lang="en-US" dirty="0">
              <a:solidFill>
                <a:srgbClr val="FF0000"/>
              </a:solidFill>
            </a:endParaRPr>
          </a:p>
        </p:txBody>
      </p:sp>
      <p:sp>
        <p:nvSpPr>
          <p:cNvPr id="11" name="Dikdörtgen 10"/>
          <p:cNvSpPr/>
          <p:nvPr/>
        </p:nvSpPr>
        <p:spPr>
          <a:xfrm>
            <a:off x="5626701" y="4149209"/>
            <a:ext cx="312906" cy="369332"/>
          </a:xfrm>
          <a:prstGeom prst="rect">
            <a:avLst/>
          </a:prstGeom>
        </p:spPr>
        <p:txBody>
          <a:bodyPr wrap="none">
            <a:spAutoFit/>
          </a:bodyPr>
          <a:lstStyle/>
          <a:p>
            <a:r>
              <a:rPr lang="tr-TR" dirty="0">
                <a:solidFill>
                  <a:srgbClr val="FF0000"/>
                </a:solidFill>
              </a:rPr>
              <a:t>2</a:t>
            </a:r>
            <a:endParaRPr lang="en-US" dirty="0">
              <a:solidFill>
                <a:srgbClr val="FF0000"/>
              </a:solidFill>
            </a:endParaRPr>
          </a:p>
        </p:txBody>
      </p:sp>
      <p:sp>
        <p:nvSpPr>
          <p:cNvPr id="12" name="Dikdörtgen 11"/>
          <p:cNvSpPr/>
          <p:nvPr/>
        </p:nvSpPr>
        <p:spPr>
          <a:xfrm>
            <a:off x="7842460" y="4697527"/>
            <a:ext cx="312906" cy="369332"/>
          </a:xfrm>
          <a:prstGeom prst="rect">
            <a:avLst/>
          </a:prstGeom>
        </p:spPr>
        <p:txBody>
          <a:bodyPr wrap="none">
            <a:spAutoFit/>
          </a:bodyPr>
          <a:lstStyle/>
          <a:p>
            <a:r>
              <a:rPr lang="tr-TR" dirty="0">
                <a:solidFill>
                  <a:srgbClr val="FF0000"/>
                </a:solidFill>
              </a:rPr>
              <a:t>3</a:t>
            </a:r>
            <a:endParaRPr lang="en-US" dirty="0">
              <a:solidFill>
                <a:srgbClr val="FF0000"/>
              </a:solidFill>
            </a:endParaRPr>
          </a:p>
        </p:txBody>
      </p:sp>
      <p:sp>
        <p:nvSpPr>
          <p:cNvPr id="13" name="Dikdörtgen 12"/>
          <p:cNvSpPr/>
          <p:nvPr/>
        </p:nvSpPr>
        <p:spPr>
          <a:xfrm>
            <a:off x="6937712" y="4697527"/>
            <a:ext cx="312906" cy="369332"/>
          </a:xfrm>
          <a:prstGeom prst="rect">
            <a:avLst/>
          </a:prstGeom>
        </p:spPr>
        <p:txBody>
          <a:bodyPr wrap="none">
            <a:spAutoFit/>
          </a:bodyPr>
          <a:lstStyle/>
          <a:p>
            <a:r>
              <a:rPr lang="tr-TR" dirty="0">
                <a:solidFill>
                  <a:srgbClr val="FF0000"/>
                </a:solidFill>
              </a:rPr>
              <a:t>4</a:t>
            </a:r>
            <a:endParaRPr lang="en-US" dirty="0">
              <a:solidFill>
                <a:srgbClr val="FF0000"/>
              </a:solidFill>
            </a:endParaRPr>
          </a:p>
        </p:txBody>
      </p:sp>
      <p:sp>
        <p:nvSpPr>
          <p:cNvPr id="14" name="Dikdörtgen 13"/>
          <p:cNvSpPr/>
          <p:nvPr/>
        </p:nvSpPr>
        <p:spPr>
          <a:xfrm>
            <a:off x="5995350" y="4703392"/>
            <a:ext cx="312906" cy="369332"/>
          </a:xfrm>
          <a:prstGeom prst="rect">
            <a:avLst/>
          </a:prstGeom>
        </p:spPr>
        <p:txBody>
          <a:bodyPr wrap="none">
            <a:spAutoFit/>
          </a:bodyPr>
          <a:lstStyle/>
          <a:p>
            <a:r>
              <a:rPr lang="tr-TR" dirty="0">
                <a:solidFill>
                  <a:srgbClr val="FF0000"/>
                </a:solidFill>
              </a:rPr>
              <a:t>5</a:t>
            </a:r>
            <a:endParaRPr lang="en-US" dirty="0">
              <a:solidFill>
                <a:srgbClr val="FF0000"/>
              </a:solidFill>
            </a:endParaRPr>
          </a:p>
        </p:txBody>
      </p:sp>
      <p:sp>
        <p:nvSpPr>
          <p:cNvPr id="15" name="Dikdörtgen 14"/>
          <p:cNvSpPr/>
          <p:nvPr/>
        </p:nvSpPr>
        <p:spPr>
          <a:xfrm>
            <a:off x="5052988" y="4697527"/>
            <a:ext cx="312906" cy="369332"/>
          </a:xfrm>
          <a:prstGeom prst="rect">
            <a:avLst/>
          </a:prstGeom>
        </p:spPr>
        <p:txBody>
          <a:bodyPr wrap="none">
            <a:spAutoFit/>
          </a:bodyPr>
          <a:lstStyle/>
          <a:p>
            <a:r>
              <a:rPr lang="tr-TR" dirty="0">
                <a:solidFill>
                  <a:srgbClr val="FF0000"/>
                </a:solidFill>
              </a:rPr>
              <a:t>6</a:t>
            </a:r>
            <a:endParaRPr lang="en-US" dirty="0">
              <a:solidFill>
                <a:srgbClr val="FF0000"/>
              </a:solidFill>
            </a:endParaRPr>
          </a:p>
        </p:txBody>
      </p:sp>
      <p:sp>
        <p:nvSpPr>
          <p:cNvPr id="16" name="Dikdörtgen 15"/>
          <p:cNvSpPr/>
          <p:nvPr/>
        </p:nvSpPr>
        <p:spPr>
          <a:xfrm>
            <a:off x="4750831" y="5343858"/>
            <a:ext cx="441146" cy="369332"/>
          </a:xfrm>
          <a:prstGeom prst="rect">
            <a:avLst/>
          </a:prstGeom>
        </p:spPr>
        <p:txBody>
          <a:bodyPr wrap="none">
            <a:spAutoFit/>
          </a:bodyPr>
          <a:lstStyle/>
          <a:p>
            <a:r>
              <a:rPr lang="tr-TR" dirty="0">
                <a:solidFill>
                  <a:srgbClr val="FF0000"/>
                </a:solidFill>
              </a:rPr>
              <a:t>13</a:t>
            </a:r>
            <a:endParaRPr lang="en-US" dirty="0">
              <a:solidFill>
                <a:srgbClr val="FF0000"/>
              </a:solidFill>
            </a:endParaRPr>
          </a:p>
        </p:txBody>
      </p:sp>
      <p:sp>
        <p:nvSpPr>
          <p:cNvPr id="17" name="Dikdörtgen 16"/>
          <p:cNvSpPr/>
          <p:nvPr/>
        </p:nvSpPr>
        <p:spPr>
          <a:xfrm>
            <a:off x="3825637" y="5343858"/>
            <a:ext cx="441146" cy="369332"/>
          </a:xfrm>
          <a:prstGeom prst="rect">
            <a:avLst/>
          </a:prstGeom>
        </p:spPr>
        <p:txBody>
          <a:bodyPr wrap="none">
            <a:spAutoFit/>
          </a:bodyPr>
          <a:lstStyle/>
          <a:p>
            <a:r>
              <a:rPr lang="tr-TR" dirty="0">
                <a:solidFill>
                  <a:srgbClr val="FF0000"/>
                </a:solidFill>
              </a:rPr>
              <a:t>14</a:t>
            </a:r>
            <a:endParaRPr lang="en-US" dirty="0">
              <a:solidFill>
                <a:srgbClr val="FF0000"/>
              </a:solidFill>
            </a:endParaRPr>
          </a:p>
        </p:txBody>
      </p:sp>
      <p:sp>
        <p:nvSpPr>
          <p:cNvPr id="18" name="Dikdörtgen 17"/>
          <p:cNvSpPr/>
          <p:nvPr/>
        </p:nvSpPr>
        <p:spPr>
          <a:xfrm>
            <a:off x="5664085" y="5343373"/>
            <a:ext cx="441146" cy="369332"/>
          </a:xfrm>
          <a:prstGeom prst="rect">
            <a:avLst/>
          </a:prstGeom>
        </p:spPr>
        <p:txBody>
          <a:bodyPr wrap="none">
            <a:spAutoFit/>
          </a:bodyPr>
          <a:lstStyle/>
          <a:p>
            <a:r>
              <a:rPr lang="tr-TR" dirty="0">
                <a:solidFill>
                  <a:srgbClr val="FF0000"/>
                </a:solidFill>
              </a:rPr>
              <a:t>12</a:t>
            </a:r>
            <a:endParaRPr lang="en-US" dirty="0">
              <a:solidFill>
                <a:srgbClr val="FF0000"/>
              </a:solidFill>
            </a:endParaRPr>
          </a:p>
        </p:txBody>
      </p:sp>
      <p:sp>
        <p:nvSpPr>
          <p:cNvPr id="19" name="Dikdörtgen 18"/>
          <p:cNvSpPr/>
          <p:nvPr/>
        </p:nvSpPr>
        <p:spPr>
          <a:xfrm>
            <a:off x="9407502" y="5343373"/>
            <a:ext cx="312906" cy="369332"/>
          </a:xfrm>
          <a:prstGeom prst="rect">
            <a:avLst/>
          </a:prstGeom>
        </p:spPr>
        <p:txBody>
          <a:bodyPr wrap="none">
            <a:spAutoFit/>
          </a:bodyPr>
          <a:lstStyle/>
          <a:p>
            <a:r>
              <a:rPr lang="tr-TR" dirty="0">
                <a:solidFill>
                  <a:srgbClr val="FF0000"/>
                </a:solidFill>
              </a:rPr>
              <a:t>7</a:t>
            </a:r>
            <a:endParaRPr lang="en-US" dirty="0">
              <a:solidFill>
                <a:srgbClr val="FF0000"/>
              </a:solidFill>
            </a:endParaRPr>
          </a:p>
        </p:txBody>
      </p:sp>
      <p:sp>
        <p:nvSpPr>
          <p:cNvPr id="20" name="Dikdörtgen 19"/>
          <p:cNvSpPr/>
          <p:nvPr/>
        </p:nvSpPr>
        <p:spPr>
          <a:xfrm>
            <a:off x="6577339" y="5343373"/>
            <a:ext cx="441146" cy="369332"/>
          </a:xfrm>
          <a:prstGeom prst="rect">
            <a:avLst/>
          </a:prstGeom>
        </p:spPr>
        <p:txBody>
          <a:bodyPr wrap="none">
            <a:spAutoFit/>
          </a:bodyPr>
          <a:lstStyle/>
          <a:p>
            <a:r>
              <a:rPr lang="tr-TR" dirty="0">
                <a:solidFill>
                  <a:srgbClr val="FF0000"/>
                </a:solidFill>
              </a:rPr>
              <a:t>11</a:t>
            </a:r>
            <a:endParaRPr lang="en-US" dirty="0">
              <a:solidFill>
                <a:srgbClr val="FF0000"/>
              </a:solidFill>
            </a:endParaRPr>
          </a:p>
        </p:txBody>
      </p:sp>
    </p:spTree>
    <p:extLst>
      <p:ext uri="{BB962C8B-B14F-4D97-AF65-F5344CB8AC3E}">
        <p14:creationId xmlns:p14="http://schemas.microsoft.com/office/powerpoint/2010/main" val="1285876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The set of rational numbers is </a:t>
            </a:r>
            <a:r>
              <a:rPr lang="en-US" sz="2800" b="1" dirty="0"/>
              <a:t>Countable</a:t>
            </a:r>
            <a:r>
              <a:rPr lang="en-US" sz="2800" dirty="0"/>
              <a:t>.</a:t>
            </a:r>
            <a:endParaRPr lang="tr-TR" sz="2800" dirty="0"/>
          </a:p>
          <a:p>
            <a:pPr marL="0" indent="0">
              <a:buNone/>
            </a:pPr>
            <a:r>
              <a:rPr lang="tr-TR" sz="2800" dirty="0"/>
              <a:t>												f(N)→f(Q)</a:t>
            </a:r>
          </a:p>
          <a:p>
            <a:pPr marL="0" indent="0">
              <a:buNone/>
            </a:pPr>
            <a:r>
              <a:rPr lang="tr-TR" sz="2800" dirty="0"/>
              <a:t>												f(0)→f(1/1)</a:t>
            </a:r>
            <a:endParaRPr lang="en-US" sz="2800" dirty="0"/>
          </a:p>
          <a:p>
            <a:pPr marL="0" indent="0">
              <a:buNone/>
            </a:pPr>
            <a:r>
              <a:rPr lang="tr-TR" sz="2800" dirty="0"/>
              <a:t>												f(1)→f(1/2)</a:t>
            </a:r>
            <a:endParaRPr lang="en-US" sz="2800" dirty="0"/>
          </a:p>
          <a:p>
            <a:pPr marL="0" indent="0">
              <a:buNone/>
            </a:pPr>
            <a:r>
              <a:rPr lang="tr-TR" sz="2800" dirty="0"/>
              <a:t>												f(2)→f(2/1)</a:t>
            </a:r>
            <a:endParaRPr lang="en-US" sz="2800" dirty="0"/>
          </a:p>
          <a:p>
            <a:pPr marL="0" indent="0">
              <a:buNone/>
            </a:pPr>
            <a:r>
              <a:rPr lang="tr-TR" sz="2800" dirty="0"/>
              <a:t>												f(3)→f(3/1)</a:t>
            </a:r>
            <a:endParaRPr lang="en-US" sz="2800" dirty="0"/>
          </a:p>
          <a:p>
            <a:pPr marL="0" indent="0">
              <a:buNone/>
            </a:pPr>
            <a:r>
              <a:rPr lang="tr-TR" sz="2800" dirty="0"/>
              <a:t>												f(4)→f(1/3)</a:t>
            </a:r>
          </a:p>
          <a:p>
            <a:pPr marL="0" indent="0">
              <a:buNone/>
            </a:pPr>
            <a:r>
              <a:rPr lang="tr-TR" sz="2800" dirty="0"/>
              <a:t>												f(5)→f(1/4)</a:t>
            </a:r>
          </a:p>
          <a:p>
            <a:pPr marL="0" indent="0">
              <a:buNone/>
            </a:pPr>
            <a:r>
              <a:rPr lang="tr-TR" sz="2800" dirty="0"/>
              <a:t>													. . .</a:t>
            </a:r>
            <a:endParaRPr lang="en-US" sz="2800" dirty="0"/>
          </a:p>
          <a:p>
            <a:pPr marL="0" indent="0">
              <a:buNone/>
            </a:pPr>
            <a:endParaRPr lang="en-US" sz="2800" dirty="0"/>
          </a:p>
        </p:txBody>
      </p:sp>
      <p:pic>
        <p:nvPicPr>
          <p:cNvPr id="1026" name="Picture 2" descr="Countability of the rationals drawn using TikZ – David Richeson: Division  by Zer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0735" y="2441498"/>
            <a:ext cx="4324350" cy="3848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40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What about the set of </a:t>
            </a:r>
            <a:r>
              <a:rPr lang="en-US" sz="2800" b="1" dirty="0"/>
              <a:t>real numbers</a:t>
            </a:r>
            <a:r>
              <a:rPr lang="en-US" sz="2800" dirty="0"/>
              <a:t>?</a:t>
            </a:r>
          </a:p>
          <a:p>
            <a:pPr>
              <a:buFont typeface="Wingdings" panose="05000000000000000000" pitchFamily="2" charset="2"/>
              <a:buChar char="ü"/>
            </a:pPr>
            <a:endParaRPr lang="tr-TR" sz="2800" dirty="0"/>
          </a:p>
          <a:p>
            <a:pPr>
              <a:buFont typeface="Wingdings" panose="05000000000000000000" pitchFamily="2" charset="2"/>
              <a:buChar char="ü"/>
            </a:pPr>
            <a:r>
              <a:rPr lang="en-US" sz="2800" dirty="0"/>
              <a:t>Is it a </a:t>
            </a:r>
            <a:r>
              <a:rPr lang="en-US" sz="2800" b="1" dirty="0"/>
              <a:t>countable</a:t>
            </a:r>
            <a:r>
              <a:rPr lang="en-US" sz="2800" dirty="0"/>
              <a:t> set?</a:t>
            </a:r>
            <a:endParaRPr lang="tr-TR" sz="2800" dirty="0"/>
          </a:p>
          <a:p>
            <a:pPr>
              <a:buFont typeface="Wingdings" panose="05000000000000000000" pitchFamily="2" charset="2"/>
              <a:buChar char="ü"/>
            </a:pPr>
            <a:endParaRPr lang="tr-TR" sz="2800" dirty="0"/>
          </a:p>
          <a:p>
            <a:pPr>
              <a:buFont typeface="Wingdings" panose="05000000000000000000" pitchFamily="2" charset="2"/>
              <a:buChar char="ü"/>
            </a:pPr>
            <a:r>
              <a:rPr lang="en-US" sz="2800" dirty="0"/>
              <a:t>Did you hear Cantor's diagonal argument?</a:t>
            </a:r>
          </a:p>
        </p:txBody>
      </p:sp>
    </p:spTree>
    <p:extLst>
      <p:ext uri="{BB962C8B-B14F-4D97-AF65-F5344CB8AC3E}">
        <p14:creationId xmlns:p14="http://schemas.microsoft.com/office/powerpoint/2010/main" val="1442303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Cantor's diagonal argument about </a:t>
            </a:r>
            <a:r>
              <a:rPr lang="en-US" sz="2800" b="1" dirty="0"/>
              <a:t>real numbers</a:t>
            </a:r>
          </a:p>
          <a:p>
            <a:pPr>
              <a:buFont typeface="Wingdings" panose="05000000000000000000" pitchFamily="2" charset="2"/>
              <a:buChar char="ü"/>
            </a:pPr>
            <a:endParaRPr lang="en-US" sz="2800" b="1" dirty="0"/>
          </a:p>
          <a:p>
            <a:pPr marL="0" indent="0">
              <a:buNone/>
            </a:pPr>
            <a:r>
              <a:rPr lang="en-US" sz="2800" b="1" dirty="0"/>
              <a:t>													</a:t>
            </a:r>
            <a:r>
              <a:rPr lang="en-US" sz="2000" dirty="0"/>
              <a:t>In this list, we wrote</a:t>
            </a:r>
            <a:r>
              <a:rPr lang="tr-TR" sz="2000" dirty="0"/>
              <a:t> </a:t>
            </a:r>
            <a:r>
              <a:rPr lang="en-US" sz="2000" dirty="0"/>
              <a:t>all </a:t>
            </a:r>
            <a:endParaRPr lang="tr-TR" sz="2000" dirty="0"/>
          </a:p>
          <a:p>
            <a:pPr marL="0" indent="0">
              <a:buNone/>
            </a:pPr>
            <a:r>
              <a:rPr lang="tr-TR" sz="2000" dirty="0"/>
              <a:t>													</a:t>
            </a:r>
            <a:r>
              <a:rPr lang="en-US" sz="2000" dirty="0"/>
              <a:t>numbers between [0 1].</a:t>
            </a:r>
          </a:p>
          <a:p>
            <a:pPr marL="0" indent="0">
              <a:buNone/>
            </a:pPr>
            <a:r>
              <a:rPr lang="en-US" sz="2000" dirty="0"/>
              <a:t>													Infinite numbers with</a:t>
            </a:r>
          </a:p>
          <a:p>
            <a:pPr marL="0" indent="0">
              <a:buNone/>
            </a:pPr>
            <a:r>
              <a:rPr lang="en-US" sz="2000" dirty="0"/>
              <a:t>													each line of infinite length.</a:t>
            </a:r>
          </a:p>
        </p:txBody>
      </p:sp>
      <p:pic>
        <p:nvPicPr>
          <p:cNvPr id="5" name="Picture 6" descr="Irregular Webcomic! #2292"/>
          <p:cNvPicPr>
            <a:picLocks noChangeAspect="1" noChangeArrowheads="1"/>
          </p:cNvPicPr>
          <p:nvPr/>
        </p:nvPicPr>
        <p:blipFill rotWithShape="1">
          <a:blip r:embed="rId3">
            <a:extLst>
              <a:ext uri="{28A0092B-C50C-407E-A947-70E740481C1C}">
                <a14:useLocalDpi xmlns:a14="http://schemas.microsoft.com/office/drawing/2010/main" val="0"/>
              </a:ext>
            </a:extLst>
          </a:blip>
          <a:srcRect b="6663"/>
          <a:stretch/>
        </p:blipFill>
        <p:spPr bwMode="auto">
          <a:xfrm>
            <a:off x="3114532" y="2358961"/>
            <a:ext cx="4109304" cy="3610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443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Cantor's diagonal argument on </a:t>
            </a:r>
            <a:r>
              <a:rPr lang="en-US" sz="2800" b="1" dirty="0"/>
              <a:t>real numbers</a:t>
            </a:r>
          </a:p>
          <a:p>
            <a:pPr>
              <a:buFont typeface="Wingdings" panose="05000000000000000000" pitchFamily="2" charset="2"/>
              <a:buChar char="ü"/>
            </a:pPr>
            <a:endParaRPr lang="en-US" sz="2800" b="1" dirty="0"/>
          </a:p>
          <a:p>
            <a:pPr marL="0" indent="0">
              <a:buNone/>
            </a:pPr>
            <a:r>
              <a:rPr lang="en-US" sz="2800" b="1" dirty="0"/>
              <a:t>													</a:t>
            </a:r>
            <a:r>
              <a:rPr lang="en-US" sz="2000" dirty="0"/>
              <a:t>Can we find </a:t>
            </a:r>
            <a:r>
              <a:rPr lang="en-US" sz="2000" b="1" dirty="0"/>
              <a:t>a new number?</a:t>
            </a:r>
            <a:endParaRPr lang="tr-TR" sz="2000" b="1" dirty="0"/>
          </a:p>
          <a:p>
            <a:pPr marL="0" indent="0">
              <a:buNone/>
            </a:pPr>
            <a:endParaRPr lang="tr-TR" sz="2000" b="1" dirty="0"/>
          </a:p>
          <a:p>
            <a:pPr marL="0" indent="0">
              <a:buNone/>
            </a:pPr>
            <a:r>
              <a:rPr lang="tr-TR" sz="2000" b="1" dirty="0"/>
              <a:t>													</a:t>
            </a:r>
            <a:r>
              <a:rPr lang="en-US" sz="2000" dirty="0"/>
              <a:t>Let's select the symbols on </a:t>
            </a:r>
            <a:endParaRPr lang="tr-TR" sz="2000" dirty="0"/>
          </a:p>
          <a:p>
            <a:pPr marL="0" indent="0">
              <a:buNone/>
            </a:pPr>
            <a:r>
              <a:rPr lang="tr-TR" sz="2000" dirty="0"/>
              <a:t>													</a:t>
            </a:r>
            <a:r>
              <a:rPr lang="en-US" sz="2000" dirty="0"/>
              <a:t>the diagonal in red</a:t>
            </a:r>
            <a:r>
              <a:rPr lang="tr-TR" sz="2000" dirty="0"/>
              <a:t>.</a:t>
            </a:r>
          </a:p>
          <a:p>
            <a:pPr marL="0" indent="0">
              <a:buNone/>
            </a:pPr>
            <a:endParaRPr lang="tr-TR" sz="2000" dirty="0"/>
          </a:p>
          <a:p>
            <a:pPr marL="0" indent="0">
              <a:buNone/>
            </a:pPr>
            <a:endParaRPr lang="tr-TR" sz="2000" dirty="0"/>
          </a:p>
          <a:p>
            <a:pPr marL="0" indent="0">
              <a:buNone/>
            </a:pPr>
            <a:endParaRPr lang="tr-TR" sz="2000" dirty="0"/>
          </a:p>
          <a:p>
            <a:pPr marL="0" indent="0">
              <a:buNone/>
            </a:pPr>
            <a:r>
              <a:rPr lang="tr-TR" sz="2000" dirty="0"/>
              <a:t>													</a:t>
            </a:r>
            <a:r>
              <a:rPr lang="en-US" sz="2000" dirty="0"/>
              <a:t> </a:t>
            </a:r>
            <a:r>
              <a:rPr lang="tr-TR" sz="2000" dirty="0"/>
              <a:t>???</a:t>
            </a:r>
          </a:p>
        </p:txBody>
      </p:sp>
      <p:pic>
        <p:nvPicPr>
          <p:cNvPr id="4102" name="Picture 6" descr="Irregular Webcomic! #2292"/>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3114532" y="2358961"/>
            <a:ext cx="4109304" cy="386806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Düz Ok Bağlayıcısı 4"/>
          <p:cNvCxnSpPr/>
          <p:nvPr/>
        </p:nvCxnSpPr>
        <p:spPr>
          <a:xfrm>
            <a:off x="7316304" y="6126448"/>
            <a:ext cx="6564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94000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Cantor's diagonal argument on </a:t>
            </a:r>
            <a:r>
              <a:rPr lang="en-US" sz="2800" b="1" dirty="0"/>
              <a:t>real numbers</a:t>
            </a:r>
          </a:p>
          <a:p>
            <a:pPr>
              <a:buFont typeface="Wingdings" panose="05000000000000000000" pitchFamily="2" charset="2"/>
              <a:buChar char="ü"/>
            </a:pPr>
            <a:endParaRPr lang="en-US" sz="2800" b="1" dirty="0"/>
          </a:p>
          <a:p>
            <a:pPr marL="0" indent="0">
              <a:buNone/>
            </a:pPr>
            <a:r>
              <a:rPr lang="en-US" sz="2800" b="1" dirty="0"/>
              <a:t>													</a:t>
            </a:r>
            <a:r>
              <a:rPr lang="en-US" sz="2000" dirty="0"/>
              <a:t>Can we find </a:t>
            </a:r>
            <a:r>
              <a:rPr lang="en-US" sz="2000" b="1" dirty="0"/>
              <a:t>a new number?</a:t>
            </a:r>
            <a:endParaRPr lang="tr-TR" sz="2000" b="1" dirty="0"/>
          </a:p>
          <a:p>
            <a:pPr marL="0" indent="0">
              <a:buNone/>
            </a:pPr>
            <a:endParaRPr lang="tr-TR" sz="2000" b="1" dirty="0"/>
          </a:p>
          <a:p>
            <a:pPr marL="0" indent="0">
              <a:buNone/>
            </a:pPr>
            <a:r>
              <a:rPr lang="tr-TR" sz="2000" b="1" dirty="0"/>
              <a:t>													</a:t>
            </a:r>
            <a:r>
              <a:rPr lang="en-US" sz="2000" dirty="0"/>
              <a:t>Let's select the symbols on </a:t>
            </a:r>
            <a:endParaRPr lang="tr-TR" sz="2000" dirty="0"/>
          </a:p>
          <a:p>
            <a:pPr marL="0" indent="0">
              <a:buNone/>
            </a:pPr>
            <a:r>
              <a:rPr lang="tr-TR" sz="2000" dirty="0"/>
              <a:t>													</a:t>
            </a:r>
            <a:r>
              <a:rPr lang="en-US" sz="2000" dirty="0"/>
              <a:t>the diagonal in red</a:t>
            </a:r>
            <a:r>
              <a:rPr lang="tr-TR" sz="2000" dirty="0"/>
              <a:t>.</a:t>
            </a:r>
          </a:p>
          <a:p>
            <a:pPr marL="0" indent="0">
              <a:buNone/>
            </a:pPr>
            <a:endParaRPr lang="tr-TR" sz="2000" dirty="0"/>
          </a:p>
          <a:p>
            <a:pPr marL="0" indent="0">
              <a:buNone/>
            </a:pPr>
            <a:endParaRPr lang="tr-TR" sz="2000" dirty="0"/>
          </a:p>
          <a:p>
            <a:pPr marL="0" indent="0">
              <a:buNone/>
            </a:pPr>
            <a:endParaRPr lang="tr-TR" sz="2000" dirty="0"/>
          </a:p>
          <a:p>
            <a:pPr marL="0" indent="0">
              <a:buNone/>
            </a:pPr>
            <a:r>
              <a:rPr lang="tr-TR" sz="2000" dirty="0"/>
              <a:t>													</a:t>
            </a:r>
            <a:r>
              <a:rPr lang="en-US" sz="2000" dirty="0"/>
              <a:t> it is probably somewhere up</a:t>
            </a:r>
            <a:endParaRPr lang="tr-TR" sz="2000" dirty="0"/>
          </a:p>
        </p:txBody>
      </p:sp>
      <p:pic>
        <p:nvPicPr>
          <p:cNvPr id="4102" name="Picture 6" descr="Irregular Webcomic! #2292"/>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3114532" y="2358961"/>
            <a:ext cx="4109304" cy="386806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Düz Ok Bağlayıcısı 4"/>
          <p:cNvCxnSpPr/>
          <p:nvPr/>
        </p:nvCxnSpPr>
        <p:spPr>
          <a:xfrm>
            <a:off x="7316304" y="6126448"/>
            <a:ext cx="6564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11868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Cantor's diagonal argument on </a:t>
            </a:r>
            <a:r>
              <a:rPr lang="en-US" sz="2800" b="1" dirty="0"/>
              <a:t>real numbers</a:t>
            </a:r>
          </a:p>
          <a:p>
            <a:pPr marL="0" indent="0">
              <a:buNone/>
            </a:pPr>
            <a:endParaRPr lang="en-US" sz="2800" b="1" dirty="0"/>
          </a:p>
          <a:p>
            <a:pPr marL="0" indent="0">
              <a:buNone/>
            </a:pPr>
            <a:endParaRPr lang="en-US" sz="2800" b="1" dirty="0"/>
          </a:p>
          <a:p>
            <a:pPr marL="0" indent="0">
              <a:buNone/>
            </a:pPr>
            <a:endParaRPr lang="en-US" sz="2800" b="1" dirty="0"/>
          </a:p>
          <a:p>
            <a:pPr marL="0" indent="0">
              <a:buNone/>
            </a:pPr>
            <a:endParaRPr lang="en-US" sz="2800" b="1" dirty="0"/>
          </a:p>
          <a:p>
            <a:pPr marL="0" indent="0">
              <a:buNone/>
            </a:pPr>
            <a:endParaRPr lang="en-US" sz="2000" b="1" dirty="0"/>
          </a:p>
          <a:p>
            <a:pPr marL="0" indent="0">
              <a:buNone/>
            </a:pPr>
            <a:endParaRPr lang="en-US" sz="2400" b="1" dirty="0"/>
          </a:p>
          <a:p>
            <a:pPr marL="0" indent="0">
              <a:buNone/>
            </a:pPr>
            <a:endParaRPr lang="en-US" sz="2400" b="1" dirty="0"/>
          </a:p>
          <a:p>
            <a:pPr marL="0" indent="0">
              <a:buNone/>
            </a:pPr>
            <a:r>
              <a:rPr lang="en-US" sz="2000" b="1" dirty="0"/>
              <a:t>													</a:t>
            </a:r>
            <a:r>
              <a:rPr lang="en-US" sz="2000" dirty="0"/>
              <a:t>If we change symbols in red</a:t>
            </a:r>
            <a:endParaRPr lang="en-US" sz="2000" b="1" dirty="0"/>
          </a:p>
          <a:p>
            <a:pPr>
              <a:buFont typeface="Wingdings" panose="05000000000000000000" pitchFamily="2" charset="2"/>
              <a:buChar char="ü"/>
            </a:pPr>
            <a:endParaRPr lang="en-US" sz="2800" dirty="0"/>
          </a:p>
        </p:txBody>
      </p:sp>
      <p:sp>
        <p:nvSpPr>
          <p:cNvPr id="2" name="Dikdörtgen 1"/>
          <p:cNvSpPr/>
          <p:nvPr/>
        </p:nvSpPr>
        <p:spPr>
          <a:xfrm>
            <a:off x="7950591" y="6152422"/>
            <a:ext cx="2994731" cy="400110"/>
          </a:xfrm>
          <a:prstGeom prst="rect">
            <a:avLst/>
          </a:prstGeom>
        </p:spPr>
        <p:txBody>
          <a:bodyPr wrap="none">
            <a:spAutoFit/>
          </a:bodyPr>
          <a:lstStyle/>
          <a:p>
            <a:r>
              <a:rPr lang="en-US" sz="2000" dirty="0"/>
              <a:t>we find a new number</a:t>
            </a:r>
          </a:p>
        </p:txBody>
      </p:sp>
      <p:pic>
        <p:nvPicPr>
          <p:cNvPr id="9" name="Picture 6" descr="Irregular Webcomic! #229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3114530" y="2358076"/>
            <a:ext cx="4109304" cy="4114642"/>
          </a:xfrm>
          <a:prstGeom prst="rect">
            <a:avLst/>
          </a:prstGeom>
          <a:extLst>
            <a:ext uri="{909E8E84-426E-40DD-AFC4-6F175D3DCCD1}">
              <a14:hiddenFill xmlns:a14="http://schemas.microsoft.com/office/drawing/2010/main">
                <a:solidFill>
                  <a:srgbClr val="FFFFFF"/>
                </a:solidFill>
              </a14:hiddenFill>
            </a:ext>
          </a:extLst>
        </p:spPr>
      </p:pic>
      <p:cxnSp>
        <p:nvCxnSpPr>
          <p:cNvPr id="10" name="Düz Ok Bağlayıcısı 9"/>
          <p:cNvCxnSpPr/>
          <p:nvPr/>
        </p:nvCxnSpPr>
        <p:spPr>
          <a:xfrm>
            <a:off x="7316304" y="6383299"/>
            <a:ext cx="6564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050" name="Picture 2" descr="1,054 Uncountable Images, Stock Photos &amp; Vectors | Shutterstock"/>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8579472" y="3068077"/>
            <a:ext cx="1952090" cy="1921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3285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Countable Sets</a:t>
            </a:r>
          </a:p>
        </p:txBody>
      </p:sp>
      <p:sp>
        <p:nvSpPr>
          <p:cNvPr id="6" name="İçerik Yer Tutucusu 2"/>
          <p:cNvSpPr txBox="1">
            <a:spLocks/>
          </p:cNvSpPr>
          <p:nvPr/>
        </p:nvSpPr>
        <p:spPr>
          <a:xfrm>
            <a:off x="2002972" y="1640114"/>
            <a:ext cx="8820200"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ü"/>
            </a:pPr>
            <a:r>
              <a:rPr lang="en-US" sz="2800" dirty="0"/>
              <a:t>If Cantor's diagonal argument is applied on the set of all languages over a ﬁnite alphabet such as binary symbols</a:t>
            </a:r>
            <a:endParaRPr lang="tr-TR" sz="2000" dirty="0"/>
          </a:p>
          <a:p>
            <a:pPr marL="0" indent="0">
              <a:buNone/>
            </a:pPr>
            <a:r>
              <a:rPr lang="tr-TR" sz="2000" dirty="0"/>
              <a:t>	s</a:t>
            </a:r>
            <a:r>
              <a:rPr lang="tr-TR" sz="2000" baseline="-25000" dirty="0"/>
              <a:t>1</a:t>
            </a:r>
            <a:r>
              <a:rPr lang="tr-TR" sz="2000" dirty="0"/>
              <a:t> : </a:t>
            </a:r>
            <a:r>
              <a:rPr lang="tr-TR" sz="2000" dirty="0">
                <a:solidFill>
                  <a:srgbClr val="FF0000"/>
                </a:solidFill>
              </a:rPr>
              <a:t>0</a:t>
            </a:r>
            <a:r>
              <a:rPr lang="tr-TR" sz="2000" dirty="0"/>
              <a:t>000000…				w</a:t>
            </a:r>
            <a:r>
              <a:rPr lang="tr-TR" sz="2000" baseline="-25000" dirty="0"/>
              <a:t>1</a:t>
            </a:r>
            <a:r>
              <a:rPr lang="tr-TR" sz="2000" dirty="0"/>
              <a:t> : </a:t>
            </a:r>
            <a:r>
              <a:rPr lang="tr-TR" sz="2000" dirty="0" err="1">
                <a:solidFill>
                  <a:srgbClr val="FF0000"/>
                </a:solidFill>
              </a:rPr>
              <a:t>a</a:t>
            </a:r>
            <a:r>
              <a:rPr lang="tr-TR" sz="2000" dirty="0" err="1"/>
              <a:t>aaaaaa</a:t>
            </a:r>
            <a:r>
              <a:rPr lang="tr-TR" sz="2000" dirty="0"/>
              <a:t>…</a:t>
            </a:r>
          </a:p>
          <a:p>
            <a:pPr marL="0" indent="0">
              <a:buNone/>
            </a:pPr>
            <a:r>
              <a:rPr lang="tr-TR" sz="2000" dirty="0"/>
              <a:t>	s</a:t>
            </a:r>
            <a:r>
              <a:rPr lang="tr-TR" sz="2000" baseline="-25000" dirty="0"/>
              <a:t>2</a:t>
            </a:r>
            <a:r>
              <a:rPr lang="tr-TR" sz="2000" dirty="0"/>
              <a:t> : 1</a:t>
            </a:r>
            <a:r>
              <a:rPr lang="tr-TR" sz="2000" dirty="0">
                <a:solidFill>
                  <a:srgbClr val="FF0000"/>
                </a:solidFill>
              </a:rPr>
              <a:t>1</a:t>
            </a:r>
            <a:r>
              <a:rPr lang="tr-TR" sz="2000" dirty="0"/>
              <a:t>11111…				w</a:t>
            </a:r>
            <a:r>
              <a:rPr lang="tr-TR" sz="2000" baseline="-25000" dirty="0"/>
              <a:t>2</a:t>
            </a:r>
            <a:r>
              <a:rPr lang="tr-TR" sz="2000" dirty="0"/>
              <a:t> : </a:t>
            </a:r>
            <a:r>
              <a:rPr lang="tr-TR" sz="2000" dirty="0" err="1"/>
              <a:t>b</a:t>
            </a:r>
            <a:r>
              <a:rPr lang="tr-TR" sz="2000" dirty="0" err="1">
                <a:solidFill>
                  <a:srgbClr val="FF0000"/>
                </a:solidFill>
              </a:rPr>
              <a:t>b</a:t>
            </a:r>
            <a:r>
              <a:rPr lang="tr-TR" sz="2000" dirty="0" err="1"/>
              <a:t>bbbbb</a:t>
            </a:r>
            <a:r>
              <a:rPr lang="tr-TR" sz="2000" dirty="0"/>
              <a:t>…</a:t>
            </a:r>
          </a:p>
          <a:p>
            <a:pPr marL="0" indent="0">
              <a:buNone/>
            </a:pPr>
            <a:r>
              <a:rPr lang="tr-TR" sz="2000" dirty="0"/>
              <a:t>	s</a:t>
            </a:r>
            <a:r>
              <a:rPr lang="tr-TR" sz="2000" baseline="-25000" dirty="0"/>
              <a:t>3</a:t>
            </a:r>
            <a:r>
              <a:rPr lang="tr-TR" sz="2000" dirty="0"/>
              <a:t> : 01</a:t>
            </a:r>
            <a:r>
              <a:rPr lang="tr-TR" sz="2000" dirty="0">
                <a:solidFill>
                  <a:srgbClr val="FF0000"/>
                </a:solidFill>
              </a:rPr>
              <a:t>0</a:t>
            </a:r>
            <a:r>
              <a:rPr lang="tr-TR" sz="2000" dirty="0"/>
              <a:t>1010…				w</a:t>
            </a:r>
            <a:r>
              <a:rPr lang="tr-TR" sz="2000" baseline="-25000" dirty="0"/>
              <a:t>3</a:t>
            </a:r>
            <a:r>
              <a:rPr lang="tr-TR" sz="2000" dirty="0"/>
              <a:t> : </a:t>
            </a:r>
            <a:r>
              <a:rPr lang="tr-TR" sz="2000" dirty="0" err="1"/>
              <a:t>ab</a:t>
            </a:r>
            <a:r>
              <a:rPr lang="tr-TR" sz="2000" dirty="0" err="1">
                <a:solidFill>
                  <a:srgbClr val="FF0000"/>
                </a:solidFill>
              </a:rPr>
              <a:t>a</a:t>
            </a:r>
            <a:r>
              <a:rPr lang="tr-TR" sz="2000" dirty="0" err="1"/>
              <a:t>baba</a:t>
            </a:r>
            <a:r>
              <a:rPr lang="tr-TR" sz="2000" dirty="0"/>
              <a:t>…</a:t>
            </a:r>
          </a:p>
          <a:p>
            <a:pPr marL="0" indent="0">
              <a:buNone/>
            </a:pPr>
            <a:r>
              <a:rPr lang="tr-TR" sz="2000" dirty="0"/>
              <a:t>	s</a:t>
            </a:r>
            <a:r>
              <a:rPr lang="tr-TR" sz="2000" baseline="-25000" dirty="0"/>
              <a:t>4</a:t>
            </a:r>
            <a:r>
              <a:rPr lang="tr-TR" sz="2000" dirty="0"/>
              <a:t> : 101</a:t>
            </a:r>
            <a:r>
              <a:rPr lang="tr-TR" sz="2000" dirty="0">
                <a:solidFill>
                  <a:srgbClr val="FF0000"/>
                </a:solidFill>
              </a:rPr>
              <a:t>0</a:t>
            </a:r>
            <a:r>
              <a:rPr lang="tr-TR" sz="2000" dirty="0"/>
              <a:t>101…				w</a:t>
            </a:r>
            <a:r>
              <a:rPr lang="tr-TR" sz="2000" baseline="-25000" dirty="0"/>
              <a:t>4</a:t>
            </a:r>
            <a:r>
              <a:rPr lang="tr-TR" sz="2000" dirty="0"/>
              <a:t> : </a:t>
            </a:r>
            <a:r>
              <a:rPr lang="tr-TR" sz="2000" dirty="0" err="1"/>
              <a:t>bab</a:t>
            </a:r>
            <a:r>
              <a:rPr lang="tr-TR" sz="2000" dirty="0" err="1">
                <a:solidFill>
                  <a:srgbClr val="FF0000"/>
                </a:solidFill>
              </a:rPr>
              <a:t>a</a:t>
            </a:r>
            <a:r>
              <a:rPr lang="tr-TR" sz="2000" dirty="0" err="1"/>
              <a:t>bab</a:t>
            </a:r>
            <a:r>
              <a:rPr lang="tr-TR" sz="2000" dirty="0"/>
              <a:t>…</a:t>
            </a:r>
          </a:p>
          <a:p>
            <a:pPr marL="0" indent="0">
              <a:buNone/>
            </a:pPr>
            <a:r>
              <a:rPr lang="tr-TR" sz="2000" dirty="0"/>
              <a:t>	s</a:t>
            </a:r>
            <a:r>
              <a:rPr lang="tr-TR" sz="2000" baseline="-25000" dirty="0"/>
              <a:t>5</a:t>
            </a:r>
            <a:r>
              <a:rPr lang="tr-TR" sz="2000" dirty="0"/>
              <a:t> : 1100</a:t>
            </a:r>
            <a:r>
              <a:rPr lang="tr-TR" sz="2000" dirty="0">
                <a:solidFill>
                  <a:srgbClr val="FF0000"/>
                </a:solidFill>
              </a:rPr>
              <a:t>1</a:t>
            </a:r>
            <a:r>
              <a:rPr lang="tr-TR" sz="2000" dirty="0"/>
              <a:t>10…				w</a:t>
            </a:r>
            <a:r>
              <a:rPr lang="tr-TR" sz="2000" baseline="-25000" dirty="0"/>
              <a:t>5</a:t>
            </a:r>
            <a:r>
              <a:rPr lang="tr-TR" sz="2000" dirty="0"/>
              <a:t> : </a:t>
            </a:r>
            <a:r>
              <a:rPr lang="tr-TR" sz="2000" dirty="0" err="1"/>
              <a:t>aaba</a:t>
            </a:r>
            <a:r>
              <a:rPr lang="tr-TR" sz="2000" dirty="0" err="1">
                <a:solidFill>
                  <a:srgbClr val="FF0000"/>
                </a:solidFill>
              </a:rPr>
              <a:t>a</a:t>
            </a:r>
            <a:r>
              <a:rPr lang="tr-TR" sz="2000" dirty="0" err="1"/>
              <a:t>ba</a:t>
            </a:r>
            <a:r>
              <a:rPr lang="tr-TR" sz="2000" dirty="0"/>
              <a:t>…</a:t>
            </a:r>
          </a:p>
          <a:p>
            <a:pPr marL="0" indent="0">
              <a:buNone/>
            </a:pPr>
            <a:r>
              <a:rPr lang="tr-TR" sz="2000" dirty="0"/>
              <a:t>	s</a:t>
            </a:r>
            <a:r>
              <a:rPr lang="tr-TR" sz="2000" baseline="-25000" dirty="0"/>
              <a:t>6</a:t>
            </a:r>
            <a:r>
              <a:rPr lang="tr-TR" sz="2000" dirty="0"/>
              <a:t> : 00110</a:t>
            </a:r>
            <a:r>
              <a:rPr lang="tr-TR" sz="2000" dirty="0">
                <a:solidFill>
                  <a:srgbClr val="FF0000"/>
                </a:solidFill>
              </a:rPr>
              <a:t>0</a:t>
            </a:r>
            <a:r>
              <a:rPr lang="tr-TR" sz="2000" dirty="0"/>
              <a:t>1…				w</a:t>
            </a:r>
            <a:r>
              <a:rPr lang="tr-TR" sz="2000" baseline="-25000" dirty="0"/>
              <a:t>6</a:t>
            </a:r>
            <a:r>
              <a:rPr lang="tr-TR" sz="2000" dirty="0"/>
              <a:t> : </a:t>
            </a:r>
            <a:r>
              <a:rPr lang="tr-TR" sz="2000" dirty="0" err="1"/>
              <a:t>bbbab</a:t>
            </a:r>
            <a:r>
              <a:rPr lang="tr-TR" sz="2000" dirty="0" err="1">
                <a:solidFill>
                  <a:srgbClr val="FF0000"/>
                </a:solidFill>
              </a:rPr>
              <a:t>b</a:t>
            </a:r>
            <a:r>
              <a:rPr lang="tr-TR" sz="2000" dirty="0" err="1"/>
              <a:t>b</a:t>
            </a:r>
            <a:r>
              <a:rPr lang="tr-TR" sz="2000" dirty="0"/>
              <a:t>…</a:t>
            </a:r>
          </a:p>
          <a:p>
            <a:pPr marL="0" indent="0">
              <a:buNone/>
            </a:pPr>
            <a:r>
              <a:rPr lang="tr-TR" sz="2000" dirty="0"/>
              <a:t>	s</a:t>
            </a:r>
            <a:r>
              <a:rPr lang="tr-TR" sz="2000" baseline="-25000" dirty="0"/>
              <a:t>7</a:t>
            </a:r>
            <a:r>
              <a:rPr lang="tr-TR" sz="2000" dirty="0"/>
              <a:t> : 100100</a:t>
            </a:r>
            <a:r>
              <a:rPr lang="tr-TR" sz="2000" dirty="0">
                <a:solidFill>
                  <a:srgbClr val="FF0000"/>
                </a:solidFill>
              </a:rPr>
              <a:t>1</a:t>
            </a:r>
            <a:r>
              <a:rPr lang="tr-TR" sz="2000" dirty="0"/>
              <a:t>…				w</a:t>
            </a:r>
            <a:r>
              <a:rPr lang="tr-TR" sz="2000" baseline="-25000" dirty="0"/>
              <a:t>7</a:t>
            </a:r>
            <a:r>
              <a:rPr lang="tr-TR" sz="2000" dirty="0"/>
              <a:t> : </a:t>
            </a:r>
            <a:r>
              <a:rPr lang="tr-TR" sz="2000" dirty="0" err="1"/>
              <a:t>aabaab</a:t>
            </a:r>
            <a:r>
              <a:rPr lang="tr-TR" sz="2000" dirty="0" err="1">
                <a:solidFill>
                  <a:srgbClr val="FF0000"/>
                </a:solidFill>
              </a:rPr>
              <a:t>a</a:t>
            </a:r>
            <a:r>
              <a:rPr lang="tr-TR" sz="2000" dirty="0"/>
              <a:t>…</a:t>
            </a:r>
          </a:p>
          <a:p>
            <a:pPr marL="0" indent="0">
              <a:buNone/>
            </a:pPr>
            <a:r>
              <a:rPr lang="tr-TR" sz="2000" dirty="0"/>
              <a:t>	</a:t>
            </a:r>
            <a:r>
              <a:rPr lang="tr-TR" sz="2000" dirty="0" err="1"/>
              <a:t>s</a:t>
            </a:r>
            <a:r>
              <a:rPr lang="tr-TR" sz="2000" baseline="-25000" dirty="0" err="1"/>
              <a:t>d</a:t>
            </a:r>
            <a:r>
              <a:rPr lang="tr-TR" sz="2000" dirty="0"/>
              <a:t>: </a:t>
            </a:r>
            <a:r>
              <a:rPr lang="tr-TR" sz="2000" dirty="0">
                <a:solidFill>
                  <a:srgbClr val="FF0000"/>
                </a:solidFill>
              </a:rPr>
              <a:t>0100101</a:t>
            </a:r>
            <a:r>
              <a:rPr lang="tr-TR" sz="2000" dirty="0"/>
              <a:t>…				</a:t>
            </a:r>
            <a:r>
              <a:rPr lang="tr-TR" sz="2000" dirty="0" err="1"/>
              <a:t>w</a:t>
            </a:r>
            <a:r>
              <a:rPr lang="tr-TR" sz="2000" baseline="-25000" dirty="0" err="1"/>
              <a:t>d</a:t>
            </a:r>
            <a:r>
              <a:rPr lang="tr-TR" sz="2000" dirty="0"/>
              <a:t> : </a:t>
            </a:r>
            <a:r>
              <a:rPr lang="tr-TR" sz="2000" dirty="0" err="1">
                <a:solidFill>
                  <a:srgbClr val="FF0000"/>
                </a:solidFill>
              </a:rPr>
              <a:t>abaaaba</a:t>
            </a:r>
            <a:r>
              <a:rPr lang="tr-TR" sz="2000" dirty="0"/>
              <a:t>…</a:t>
            </a:r>
            <a:endParaRPr lang="en-US" sz="2000" dirty="0"/>
          </a:p>
        </p:txBody>
      </p:sp>
      <p:cxnSp>
        <p:nvCxnSpPr>
          <p:cNvPr id="3" name="Düz Bağlayıcı 2"/>
          <p:cNvCxnSpPr/>
          <p:nvPr/>
        </p:nvCxnSpPr>
        <p:spPr>
          <a:xfrm>
            <a:off x="2486345" y="6053710"/>
            <a:ext cx="5301466" cy="0"/>
          </a:xfrm>
          <a:prstGeom prst="line">
            <a:avLst/>
          </a:prstGeom>
          <a:ln w="19050"/>
        </p:spPr>
        <p:style>
          <a:lnRef idx="1">
            <a:schemeClr val="dk1"/>
          </a:lnRef>
          <a:fillRef idx="0">
            <a:schemeClr val="dk1"/>
          </a:fillRef>
          <a:effectRef idx="0">
            <a:schemeClr val="dk1"/>
          </a:effectRef>
          <a:fontRef idx="minor">
            <a:schemeClr val="tx1"/>
          </a:fontRef>
        </p:style>
      </p:cxnSp>
      <p:pic>
        <p:nvPicPr>
          <p:cNvPr id="2" name="Picture 2" descr="1,054 Uncountable Images, Stock Photos &amp; Vectors | Shutterstock">
            <a:extLst>
              <a:ext uri="{FF2B5EF4-FFF2-40B4-BE49-F238E27FC236}">
                <a16:creationId xmlns:a16="http://schemas.microsoft.com/office/drawing/2014/main" id="{1CB17178-F5A7-0915-41D1-EC6F8633CBC6}"/>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8579472" y="3068077"/>
            <a:ext cx="1952090" cy="1921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9951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If P is Enumerable, then P is Countable. </a:t>
            </a:r>
          </a:p>
          <a:p>
            <a:r>
              <a:rPr lang="en-US" sz="2800" dirty="0"/>
              <a:t>(P ∈ E) →  (P ∈ C)</a:t>
            </a:r>
            <a:endParaRPr lang="tr-TR" sz="2800" dirty="0"/>
          </a:p>
          <a:p>
            <a:pPr marL="0" indent="0">
              <a:buNone/>
            </a:pPr>
            <a:endParaRPr lang="en-US" sz="800" baseline="-25000" dirty="0"/>
          </a:p>
          <a:p>
            <a:pPr marL="0" indent="0">
              <a:buNone/>
            </a:pPr>
            <a:r>
              <a:rPr lang="en-US" sz="2800" dirty="0"/>
              <a:t>But not vice versa. Σ* is countable, so all its subsets are countable. </a:t>
            </a:r>
            <a:endParaRPr lang="tr-TR" sz="2800" dirty="0"/>
          </a:p>
          <a:p>
            <a:pPr marL="0" indent="0">
              <a:buNone/>
            </a:pPr>
            <a:endParaRPr lang="tr-TR" sz="2800" dirty="0"/>
          </a:p>
          <a:p>
            <a:pPr marL="0" indent="0">
              <a:buNone/>
            </a:pPr>
            <a:r>
              <a:rPr lang="en-US" sz="2800" dirty="0"/>
              <a:t>If every countable language were enumerable, then every language would be decidable.</a:t>
            </a:r>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Countable vs. Enumerable</a:t>
            </a:r>
          </a:p>
        </p:txBody>
      </p:sp>
    </p:spTree>
    <p:extLst>
      <p:ext uri="{BB962C8B-B14F-4D97-AF65-F5344CB8AC3E}">
        <p14:creationId xmlns:p14="http://schemas.microsoft.com/office/powerpoint/2010/main" val="4111428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999634771"/>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4402</TotalTime>
  <Words>2122</Words>
  <Application>Microsoft Macintosh PowerPoint</Application>
  <PresentationFormat>Geniş ekran</PresentationFormat>
  <Paragraphs>179</Paragraphs>
  <Slides>14</Slides>
  <Notes>14</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14</vt:i4>
      </vt:variant>
    </vt:vector>
  </HeadingPairs>
  <TitlesOfParts>
    <vt:vector size="20" baseType="lpstr">
      <vt:lpstr>Arial</vt:lpstr>
      <vt:lpstr>Calibri</vt:lpstr>
      <vt:lpstr>Century Gothic</vt:lpstr>
      <vt:lpstr>Wingdings</vt:lpstr>
      <vt:lpstr>Wingdings 3</vt:lpstr>
      <vt:lpstr>Duman</vt:lpstr>
      <vt:lpstr>  Theory of Computation    </vt:lpstr>
      <vt:lpstr>PowerPoint Sunusu</vt:lpstr>
      <vt:lpstr>Countable Sets</vt:lpstr>
      <vt:lpstr>Countable Sets</vt:lpstr>
      <vt:lpstr>Countable Sets</vt:lpstr>
      <vt:lpstr>Countable Sets</vt:lpstr>
      <vt:lpstr>Countable Sets</vt:lpstr>
      <vt:lpstr>Countable Sets</vt:lpstr>
      <vt:lpstr>Countable Sets</vt:lpstr>
      <vt:lpstr>Countable Sets</vt:lpstr>
      <vt:lpstr>Countable Sets</vt:lpstr>
      <vt:lpstr>Countable Sets</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315</cp:revision>
  <dcterms:created xsi:type="dcterms:W3CDTF">2022-09-29T06:50:07Z</dcterms:created>
  <dcterms:modified xsi:type="dcterms:W3CDTF">2025-11-21T06:58:29Z</dcterms:modified>
</cp:coreProperties>
</file>